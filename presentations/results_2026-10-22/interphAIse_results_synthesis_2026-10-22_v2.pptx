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9181d7d6a44190" /><Relationship Type="http://schemas.openxmlformats.org/officeDocument/2006/relationships/extended-properties" Target="/docProps/app.xml" Id="R174c6b277a6a4281" /><Relationship Type="http://schemas.openxmlformats.org/officeDocument/2006/relationships/officeDocument" Target="/ppt/presentation.xml" Id="Reee004cce6a94184" /></Relationships>
</file>

<file path=ppt/presentation.xml><?xml version="1.0" encoding="utf-8"?>
<p:presentation xmlns:p="http://schemas.openxmlformats.org/presentationml/2006/main">
  <p:sldMasterIdLst>
    <p:sldMasterId xmlns:r="http://schemas.openxmlformats.org/officeDocument/2006/relationships" id="2147483648" r:id="R9bebb542304547b4"/>
  </p:sldMasterIdLst>
  <p:notesMasterIdLst>
    <p:notesMasterId xmlns:r="http://schemas.openxmlformats.org/officeDocument/2006/relationships" r:id="R5de3e5fbbb814362"/>
  </p:notesMasterIdLst>
  <p:sldIdLst>
    <p:sldId xmlns:r="http://schemas.openxmlformats.org/officeDocument/2006/relationships" id="256" r:id="R3b732d7f1a454ec3"/>
    <p:sldId xmlns:r="http://schemas.openxmlformats.org/officeDocument/2006/relationships" id="257" r:id="Rb307c51b60fd4394"/>
    <p:sldId xmlns:r="http://schemas.openxmlformats.org/officeDocument/2006/relationships" id="258" r:id="R04dc872dd1234d71"/>
    <p:sldId xmlns:r="http://schemas.openxmlformats.org/officeDocument/2006/relationships" id="259" r:id="R88c6dd8575a146a8"/>
    <p:sldId xmlns:r="http://schemas.openxmlformats.org/officeDocument/2006/relationships" id="260" r:id="Re9bc2b2228224921"/>
    <p:sldId xmlns:r="http://schemas.openxmlformats.org/officeDocument/2006/relationships" id="261" r:id="R2ccaa460ca3543a8"/>
    <p:sldId xmlns:r="http://schemas.openxmlformats.org/officeDocument/2006/relationships" id="262" r:id="Ra160f3fa5851489d"/>
    <p:sldId xmlns:r="http://schemas.openxmlformats.org/officeDocument/2006/relationships" id="263" r:id="Rfc31d8eac1784fdf"/>
    <p:sldId xmlns:r="http://schemas.openxmlformats.org/officeDocument/2006/relationships" id="264" r:id="R0a9187ca38a946a4"/>
    <p:sldId xmlns:r="http://schemas.openxmlformats.org/officeDocument/2006/relationships" id="265" r:id="Rcba9d811480f4fae"/>
    <p:sldId xmlns:r="http://schemas.openxmlformats.org/officeDocument/2006/relationships" id="266" r:id="R77aac00906614a9f"/>
    <p:sldId xmlns:r="http://schemas.openxmlformats.org/officeDocument/2006/relationships" id="267" r:id="R6d1adb0969f745e6"/>
    <p:sldId xmlns:r="http://schemas.openxmlformats.org/officeDocument/2006/relationships" id="268" r:id="R4142c4031c414e20"/>
    <p:sldId xmlns:r="http://schemas.openxmlformats.org/officeDocument/2006/relationships" id="269" r:id="R69c92720960f4a5d"/>
    <p:sldId xmlns:r="http://schemas.openxmlformats.org/officeDocument/2006/relationships" id="270" r:id="R67e9d31d898f46ce"/>
    <p:sldId xmlns:r="http://schemas.openxmlformats.org/officeDocument/2006/relationships" id="271" r:id="R3086bd842a554721"/>
    <p:sldId xmlns:r="http://schemas.openxmlformats.org/officeDocument/2006/relationships" id="272" r:id="R59c82e11eb77426d"/>
    <p:sldId xmlns:r="http://schemas.openxmlformats.org/officeDocument/2006/relationships" id="273" r:id="R60eea4d41524479b"/>
    <p:sldId xmlns:r="http://schemas.openxmlformats.org/officeDocument/2006/relationships" id="274" r:id="Rb60af96c120446fd"/>
    <p:sldId xmlns:r="http://schemas.openxmlformats.org/officeDocument/2006/relationships" id="275" r:id="R07459b320eba4745"/>
    <p:sldId xmlns:r="http://schemas.openxmlformats.org/officeDocument/2006/relationships" id="276" r:id="R9a4a71e0dc114ce4"/>
    <p:sldId xmlns:r="http://schemas.openxmlformats.org/officeDocument/2006/relationships" id="277" r:id="R48555ee0f1414c29"/>
    <p:sldId xmlns:r="http://schemas.openxmlformats.org/officeDocument/2006/relationships" id="278" r:id="Rd4811a0893c840df"/>
    <p:sldId xmlns:r="http://schemas.openxmlformats.org/officeDocument/2006/relationships" id="279" r:id="R29079490806c47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25a7d2cd7e4a38" /><Relationship Type="http://schemas.openxmlformats.org/officeDocument/2006/relationships/slideMaster" Target="/ppt/slideMasters/slideMaster1.xml" Id="R9bebb542304547b4" /><Relationship Type="http://schemas.openxmlformats.org/officeDocument/2006/relationships/notesMaster" Target="/ppt/notesMasters/notesMaster1.xml" Id="R5de3e5fbbb814362" /><Relationship Type="http://schemas.openxmlformats.org/officeDocument/2006/relationships/presProps" Target="/ppt/presProps.xml" Id="R2b5568e0a6db4641" /><Relationship Type="http://schemas.openxmlformats.org/officeDocument/2006/relationships/tableStyles" Target="/ppt/tableStyles.xml" Id="Rd66dc02b4d6e42b6" /><Relationship Type="http://schemas.openxmlformats.org/officeDocument/2006/relationships/slide" Target="/ppt/slides/slide1.xml" Id="R3b732d7f1a454ec3" /><Relationship Type="http://schemas.openxmlformats.org/officeDocument/2006/relationships/slide" Target="/ppt/slides/slide2.xml" Id="Rb307c51b60fd4394" /><Relationship Type="http://schemas.openxmlformats.org/officeDocument/2006/relationships/slide" Target="/ppt/slides/slide3.xml" Id="R04dc872dd1234d71" /><Relationship Type="http://schemas.openxmlformats.org/officeDocument/2006/relationships/slide" Target="/ppt/slides/slide4.xml" Id="R88c6dd8575a146a8" /><Relationship Type="http://schemas.openxmlformats.org/officeDocument/2006/relationships/slide" Target="/ppt/slides/slide5.xml" Id="Re9bc2b2228224921" /><Relationship Type="http://schemas.openxmlformats.org/officeDocument/2006/relationships/slide" Target="/ppt/slides/slide6.xml" Id="R2ccaa460ca3543a8" /><Relationship Type="http://schemas.openxmlformats.org/officeDocument/2006/relationships/slide" Target="/ppt/slides/slide7.xml" Id="Ra160f3fa5851489d" /><Relationship Type="http://schemas.openxmlformats.org/officeDocument/2006/relationships/slide" Target="/ppt/slides/slide8.xml" Id="Rfc31d8eac1784fdf" /><Relationship Type="http://schemas.openxmlformats.org/officeDocument/2006/relationships/slide" Target="/ppt/slides/slide9.xml" Id="R0a9187ca38a946a4" /><Relationship Type="http://schemas.openxmlformats.org/officeDocument/2006/relationships/slide" Target="/ppt/slides/slide10.xml" Id="Rcba9d811480f4fae" /><Relationship Type="http://schemas.openxmlformats.org/officeDocument/2006/relationships/slide" Target="/ppt/slides/slide11.xml" Id="R77aac00906614a9f" /><Relationship Type="http://schemas.openxmlformats.org/officeDocument/2006/relationships/slide" Target="/ppt/slides/slide12.xml" Id="R6d1adb0969f745e6" /><Relationship Type="http://schemas.openxmlformats.org/officeDocument/2006/relationships/slide" Target="/ppt/slides/slide13.xml" Id="R4142c4031c414e20" /><Relationship Type="http://schemas.openxmlformats.org/officeDocument/2006/relationships/slide" Target="/ppt/slides/slide14.xml" Id="R69c92720960f4a5d" /><Relationship Type="http://schemas.openxmlformats.org/officeDocument/2006/relationships/slide" Target="/ppt/slides/slide15.xml" Id="R67e9d31d898f46ce" /><Relationship Type="http://schemas.openxmlformats.org/officeDocument/2006/relationships/slide" Target="/ppt/slides/slide16.xml" Id="R3086bd842a554721" /><Relationship Type="http://schemas.openxmlformats.org/officeDocument/2006/relationships/slide" Target="/ppt/slides/slide17.xml" Id="R59c82e11eb77426d" /><Relationship Type="http://schemas.openxmlformats.org/officeDocument/2006/relationships/slide" Target="/ppt/slides/slide18.xml" Id="R60eea4d41524479b" /><Relationship Type="http://schemas.openxmlformats.org/officeDocument/2006/relationships/slide" Target="/ppt/slides/slide19.xml" Id="Rb60af96c120446fd" /><Relationship Type="http://schemas.openxmlformats.org/officeDocument/2006/relationships/slide" Target="/ppt/slides/slide20.xml" Id="R07459b320eba4745" /><Relationship Type="http://schemas.openxmlformats.org/officeDocument/2006/relationships/slide" Target="/ppt/slides/slide21.xml" Id="R9a4a71e0dc114ce4" /><Relationship Type="http://schemas.openxmlformats.org/officeDocument/2006/relationships/slide" Target="/ppt/slides/slide22.xml" Id="R48555ee0f1414c29" /><Relationship Type="http://schemas.openxmlformats.org/officeDocument/2006/relationships/slide" Target="/ppt/slides/slide23.xml" Id="Rd4811a0893c840df" /><Relationship Type="http://schemas.openxmlformats.org/officeDocument/2006/relationships/slide" Target="/ppt/slides/slide24.xml" Id="R29079490806c47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e28cd708f34c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d7fe7913d24bbd" /><Relationship Type="http://schemas.openxmlformats.org/officeDocument/2006/relationships/notesMaster" Target="/ppt/notesMasters/notesMaster1.xml" Id="R7f06616766c047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e8bd22f0394072" /><Relationship Type="http://schemas.openxmlformats.org/officeDocument/2006/relationships/notesMaster" Target="/ppt/notesMasters/notesMaster1.xml" Id="R7b08f6e1544c48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c3a91231464995" /><Relationship Type="http://schemas.openxmlformats.org/officeDocument/2006/relationships/notesMaster" Target="/ppt/notesMasters/notesMaster1.xml" Id="Rc7bc24faad5e41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809c053afa417a" /><Relationship Type="http://schemas.openxmlformats.org/officeDocument/2006/relationships/notesMaster" Target="/ppt/notesMasters/notesMaster1.xml" Id="R8bef6983538944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ad16c7d05e463b" /><Relationship Type="http://schemas.openxmlformats.org/officeDocument/2006/relationships/notesMaster" Target="/ppt/notesMasters/notesMaster1.xml" Id="R8c96b64e971e44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d6aed3dc5b4bcf" /><Relationship Type="http://schemas.openxmlformats.org/officeDocument/2006/relationships/notesMaster" Target="/ppt/notesMasters/notesMaster1.xml" Id="R75a4ea88c07744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3892fcba0040bd" /><Relationship Type="http://schemas.openxmlformats.org/officeDocument/2006/relationships/notesMaster" Target="/ppt/notesMasters/notesMaster1.xml" Id="R244d82330f3743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9aa5dd04f44e0a" /><Relationship Type="http://schemas.openxmlformats.org/officeDocument/2006/relationships/notesMaster" Target="/ppt/notesMasters/notesMaster1.xml" Id="R91d1198ee7904b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0c2d99b05d40b8" /><Relationship Type="http://schemas.openxmlformats.org/officeDocument/2006/relationships/notesMaster" Target="/ppt/notesMasters/notesMaster1.xml" Id="R811da4bdb97147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51df9835ad41fd" /><Relationship Type="http://schemas.openxmlformats.org/officeDocument/2006/relationships/notesMaster" Target="/ppt/notesMasters/notesMaster1.xml" Id="R6c316f0c6a6444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04f5df509943cb" /><Relationship Type="http://schemas.openxmlformats.org/officeDocument/2006/relationships/notesMaster" Target="/ppt/notesMasters/notesMaster1.xml" Id="R4a617ce53ae548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1d35e03ca04ff7" /><Relationship Type="http://schemas.openxmlformats.org/officeDocument/2006/relationships/notesMaster" Target="/ppt/notesMasters/notesMaster1.xml" Id="R586fa8c4c95840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36f30675cf4bf0" /><Relationship Type="http://schemas.openxmlformats.org/officeDocument/2006/relationships/notesMaster" Target="/ppt/notesMasters/notesMaster1.xml" Id="Rf1a3cb5d8d784a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c26cc1376d496a" /><Relationship Type="http://schemas.openxmlformats.org/officeDocument/2006/relationships/notesMaster" Target="/ppt/notesMasters/notesMaster1.xml" Id="Rb36c26c5e12749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dbe66abd2343c7" /><Relationship Type="http://schemas.openxmlformats.org/officeDocument/2006/relationships/notesMaster" Target="/ppt/notesMasters/notesMaster1.xml" Id="R8fbdae11a34e40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12c72d365f415b" /><Relationship Type="http://schemas.openxmlformats.org/officeDocument/2006/relationships/notesMaster" Target="/ppt/notesMasters/notesMaster1.xml" Id="Rcc063af2c0d94f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64aeffccf14ecb" /><Relationship Type="http://schemas.openxmlformats.org/officeDocument/2006/relationships/notesMaster" Target="/ppt/notesMasters/notesMaster1.xml" Id="R68383853cc234b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89bcf3d3fa465b" /><Relationship Type="http://schemas.openxmlformats.org/officeDocument/2006/relationships/notesMaster" Target="/ppt/notesMasters/notesMaster1.xml" Id="R3bd7eab78c8643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4b6f14fa564291" /><Relationship Type="http://schemas.openxmlformats.org/officeDocument/2006/relationships/notesMaster" Target="/ppt/notesMasters/notesMaster1.xml" Id="R0acbf96c869844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e2eb5670bc472c" /><Relationship Type="http://schemas.openxmlformats.org/officeDocument/2006/relationships/notesMaster" Target="/ppt/notesMasters/notesMaster1.xml" Id="Rf054ff1f9e564c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679b30e3414af3" /><Relationship Type="http://schemas.openxmlformats.org/officeDocument/2006/relationships/notesMaster" Target="/ppt/notesMasters/notesMaster1.xml" Id="Rb1e982a80cad42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ddaf7f29f44266" /><Relationship Type="http://schemas.openxmlformats.org/officeDocument/2006/relationships/notesMaster" Target="/ppt/notesMasters/notesMaster1.xml" Id="Rcf3354bb001a42e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d918371bee4a29" /><Relationship Type="http://schemas.openxmlformats.org/officeDocument/2006/relationships/notesMaster" Target="/ppt/notesMasters/notesMaster1.xml" Id="R1e1d701db6aa4fb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d31086cf314daa" /><Relationship Type="http://schemas.openxmlformats.org/officeDocument/2006/relationships/notesMaster" Target="/ppt/notesMasters/notesMaster1.xml" Id="Rd3a3bebbc7fc46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Authors: Davide Tisi and Adem R. N. Aouichaoui. This new deck supersedes the results narrative in the 21 October v4 deck. Main story: slides 1–18. Technical backup: 19–24.</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pool the original and expanded sulfide datasets: they share candidates and winners. Environment comparisons use 30 runs per arm. The physical pilot is a separate prospective test with only two new coating choices. Sources: environment_summary.json, FINAL_PILOT_REVIEW.md, pilot INTERPRETATION.md.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policy is the object of study. The LLM interprets chemistry/results, chooses the next material and makes predictions. Deterministic software performs orchestration, validation, budget accounting and numeric evaluation. A rationale is a recorded hypothesis, not proof of an internal reasoning mechanism. Source: DISCOVERY_REPORT.md, DISCOVERY_IMPLEMENTATION_PLAN.md, pilot state/report.</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HELLMM___NeurIPS-7.pdf, sections 1–2, 5–6. HELLMM selects transformation rules, enumerates intermediates and prunes plausibility, with deterministic constraints and atomistic/CHE scoring. Its stated pipeline is sequential without feedback loops. Avoid claiming this project is categorically better. interphAIse does not invent novel compositions or mechanisms.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refers to project records through 22 October, not all jobs being started on the displayed day. Original benchmark: 120 integrated runs plus 30 shuffled. Environment: 450 runs, 4500 charged queries, 2800 API calls including repairs. Physical pilot: one reference plus two selected coatings. Sources: archive summaries and final index.</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interphaise/discovery_evaluator.py evaluate_candidate; frozen objective a194076f…6c0d and ENVIRONMENT_PROTOCOL.md. The scalar penalty is max(coating self-decomposition, additional reaction with cathode, additional reaction with electrolyte), using nonnegative penalties normalized per non-Li atom. The equilibrated reference removes standalone endpoint decomposition from the contact term. This does not imply an intact electrolyte at 4 V. MP band gap is a proxy for insulation.</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ENVIRONMENT_PROTOCOL.md and archived experiments. Sequential sees its own earlier choices/rationales, so it can anchor on its history. Shuffled feedback retains occasional correct assignments and can contradict earlier rationales. No control establishes human-like internal reasoning. Haiku 5.5, temperature 1.0, max_tokens 4096, budget 10, 30 seeds/arm.</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integrated_v3_20261021_s100/summary.json and shuffled_v3_20261021_s100/summary.json. 19/30 iterative, 4 sequential, 6 shuffled, 4 upfront, 10 sampled random. Paired iterative vs shuffled: 16 vs 3 discordant seeds, exact McNemar p≈0.00443, unadjusted. Exact random P=0.3632653. Fixed fluoride-first post-hoc baseline reaches acceptable at query 2. Original pool is not independent from expanded study.</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environment_v1/environment_summary.json at agent 800ba03. Counts plotted are observed, not exact baseline expectations. Important correction to collaborator prose: chloride random is 29/30, while all four LLM arms are 30/30. Each environment has 30 runs/arm. Primary endpoint unchanged.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success reconstructed exactly from first_acceptable_counts in frozen production analysis. Lines show empirical rates across 30 runs; exact random is a combinatorial expectation, not an additional sampled arm. This figure intentionally omits interval bands for readability; Wilson intervals and raw counts remain in the archived analysis. This is a budgeted query benchmark, not timing of costly evaluations.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environment_v1/lpscl/iterative_r202.json and SYNC_DAVIDE_7.md. Trace selection rule was lowest seed at typical first-hit index before reading rationales. This is an illustrative trace, not independently proven chemistry. Reported values are rounded actual evaluator penalties. Earlier failures include Li2O, Li3PO4, LiF, LiAlO2.</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data/reviews/llzo_chemistry_audit_20261021.json. Formula counts are across all 300 picks of an arm, not per run. Iterative has 29 acceptable picks, 28 at queries 6–10 and 26 from LiAlSiO4 polymorphs. Random has 33 acceptable picks. The pattern supports delayed/narrow adaptation, but rationales do not prove a mechanistic explanation.</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live state, execution records, frozen manifest 99ef2dc1…, final index. Initial shortlist LiTaF6, LiCaAlF6, LiF. Known reference LiNbF6. Sensitivity values were withheld until summary. LiF was thermodynamically ineligible under this frozen condition and not selected. Feasibility/menu and atom-cap amendment were fixed before new interface energies. No claim of a repeated expensive-search comparison.</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index_final.json with SHA-256 47d69f7dd75dff89e1d2e5191f2f1d31fad002581521c39eeee7593c90d83c41. Selected registry minimizes relaxed joined-interface energy per contact. These are three material-specific constructions under shared selection and relaxation rules, not identical cells/facets. LiNb primary reused, five saved registry cases; six new primary jobs per other coating. Primary numeric selections unchanged after robustness release.</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report_live/report.md and state.json at agent 800ba03; all ranges recorded before corresponding interface energies. The ranges are model forecasts, not calibrated confidence intervals. Weak contact predicted electrolyte for both and confirmed. Cathode Ca lower miss 1.573 J/m², electrolyte lower miss 0.656. The second selection matched the original shortlist, so feedback did not demonstrably change order.</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FINAL_PILOT_REVIEW.md, FINAL_COMPARISON.md, final index. Nb−Ta weaker-contact gap = 0.056. Seed changes combine bulk ordering, strain, cell, area and fixed-set effects, not isolated disorder uncertainty. They are finite sensitivity tests, not confidence intervals. Ca available checks ≤0.014 do not quantify missing thickness and bulk slots.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DISCOVERY_REPORT.md, DISCOVERY_IMPLEMENTATION_PLAN.md, EXPERIMENT_AMENDMENT.md, physical pilot protocol, final review. Initial tiny pool and exact float lexicographic objective were repaired before definitive runs. The user explicitly chose design A: cheap exhaustive benchmark, then limited MLIP follow-up. This deck distinguishes that agreed design from the earlier full-mode search ambition.</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synthesis and interpretation, not an additional statistical test. Supported: true feedback changes performance under specified tasks, prospective predictions can be tested, limits of narrow priors and proxy objectives are exposed. Not supported: new composition discovery, general reasoning superiority, validated battery coating, or proven compute savings. Next priorities must preserve frozen primary results and use new predeclared experiments.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environment_summary.json contrasts. Two-sided exact paired McNemar, seeds 200–229, Holm across all six comparisons. The chloride contrasts have no discordant pairs, p=1. Random comparisons are descriptive relative to the preregistered six-test family; no new p-value added.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objective and environment analysis. Two acceptable structures in 50; 4/141 sulfide,55/141 chloride,17/141 LLZO. P cutoff0.050 crosses bin2 underwidth0.020. Best-bin success is a separate endpoint. Expanded sulfide iterative6 random5; LLZO allLLM0 random2. Missing/invalid/ineligible candidates cannot pass. Threshold not changed after outcomes.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data/reviews/llzo_chemistry_audit_20261021.json and SYNC_ADEM_10.md. LiIO3 and LiClO4 have supplier oxidizer classifications; Li5IO6 is a family-level review flag, not verified compound-specific GHS. Supplier links and original reference are preserved in the audit JSON. Evaluator does include O2 products, so do not claim it cannot form gas. No evidence that Haiku deliberately avoided these candidates. Frozen criterion unchanged.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 index; Wadh = (relaxed constrained separated slab energies − relaxed joined interface energy)/area, same model and reference conventions. Wsep uses separated fragments frozen at the joined geometry. It is not an experimental fracture toughness. Large Wsep−Wadh indicates relaxation of freed surfaces within this protocol. Chosen registry minimizes joined energy, not max Wadh.</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data/petmad/niflheim_batch1/cathode_reg_third_third/inspection.png at davide750b382. Actual LiCoO2(001)|LiNbF6(001), 696 atoms, selected (1/3,1/3) registry. Force trace is maximum free-atom force; fixed atoms are excluded. Their residual force remains a limitation. Vacuum isolation reflects finite-range8Å model, not long-range polar convergence.</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FINAL_PILOT_REVIEW.md, environment production archive, job accounting and git heads. Finalreader integration patch prepared but not applied to agent800ba03. Physics165tests and agent32 targeted tests verified in prior review; patch39tests in isolated archive. This synthesis does not rerun those code tests or merge branches. Primary packets and later robustness indices remain distinct. Prices are logged list-rate arithmetic, not current advertised prices or billing verification.</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48fb50921047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a0e1ea52ad42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f5d35cecad4e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f6c10585964f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c73271f0a94b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ccfea9e622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bd9996b2a3441e" /><Relationship Type="http://schemas.openxmlformats.org/officeDocument/2006/relationships/slideLayout" Target="/ppt/slideLayouts/slideLayout1.xml" Id="R71dc23824eec43c0" /><Relationship Type="http://schemas.openxmlformats.org/officeDocument/2006/relationships/slideLayout" Target="/ppt/slideLayouts/slideLayout2.xml" Id="R44bb43cbb49b4385" /><Relationship Type="http://schemas.openxmlformats.org/officeDocument/2006/relationships/slideLayout" Target="/ppt/slideLayouts/slideLayout3.xml" Id="R45bec26a96b346d6" /><Relationship Type="http://schemas.openxmlformats.org/officeDocument/2006/relationships/slideLayout" Target="/ppt/slideLayouts/slideLayout4.xml" Id="R45d98014c29d401e" /><Relationship Type="http://schemas.openxmlformats.org/officeDocument/2006/relationships/slideLayout" Target="/ppt/slideLayouts/slideLayout5.xml" Id="R25dd4485766c4d72" /><Relationship Type="http://schemas.openxmlformats.org/officeDocument/2006/relationships/slideLayout" Target="/ppt/slideLayouts/slideLayout6.xml" Id="Rf203b10b14d742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dc23824eec43c0"/>
    <p:sldLayoutId xmlns:r="http://schemas.openxmlformats.org/officeDocument/2006/relationships" id="2147483650" r:id="R44bb43cbb49b4385"/>
    <p:sldLayoutId xmlns:r="http://schemas.openxmlformats.org/officeDocument/2006/relationships" id="2147483651" r:id="R45bec26a96b346d6"/>
    <p:sldLayoutId xmlns:r="http://schemas.openxmlformats.org/officeDocument/2006/relationships" id="2147483652" r:id="R45d98014c29d401e"/>
    <p:sldLayoutId xmlns:r="http://schemas.openxmlformats.org/officeDocument/2006/relationships" id="2147483653" r:id="R25dd4485766c4d72"/>
    <p:sldLayoutId xmlns:r="http://schemas.openxmlformats.org/officeDocument/2006/relationships" id="2147483654" r:id="Rf203b10b14d742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d6e928957d4481" /><Relationship Type="http://schemas.openxmlformats.org/officeDocument/2006/relationships/notesSlide" Target="/ppt/notesSlides/notesSlide1.xml" Id="R2659bcff21ef4f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05cf691e2049b2" /><Relationship Type="http://schemas.openxmlformats.org/officeDocument/2006/relationships/notesSlide" Target="/ppt/notesSlides/notesSlide2.xml" Id="R3f0e7d5fe9ed45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9b75c0806a4044" /><Relationship Type="http://schemas.openxmlformats.org/officeDocument/2006/relationships/notesSlide" Target="/ppt/notesSlides/notesSlide3.xml" Id="R5ba363583d8c4e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eb8e805b744bea" /><Relationship Type="http://schemas.openxmlformats.org/officeDocument/2006/relationships/notesSlide" Target="/ppt/notesSlides/notesSlide4.xml" Id="Rea4cb6b125ea4a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91472b1d764c68" /><Relationship Type="http://schemas.openxmlformats.org/officeDocument/2006/relationships/notesSlide" Target="/ppt/notesSlides/notesSlide5.xml" Id="R8d03133a4d1e41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85ad3cfccf423d" /><Relationship Type="http://schemas.openxmlformats.org/officeDocument/2006/relationships/notesSlide" Target="/ppt/notesSlides/notesSlide6.xml" Id="Ra1950e4cfa3644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847e2a28734ff1" /><Relationship Type="http://schemas.openxmlformats.org/officeDocument/2006/relationships/notesSlide" Target="/ppt/notesSlides/notesSlide7.xml" Id="R36b28c68c31242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849b9097e741d8" /><Relationship Type="http://schemas.openxmlformats.org/officeDocument/2006/relationships/chart" Target="/ppt/slides/charts/chart1.xml" Id="Raf1672bc2e3642ac" /><Relationship Type="http://schemas.openxmlformats.org/officeDocument/2006/relationships/notesSlide" Target="/ppt/notesSlides/notesSlide8.xml" Id="Rcc7d4fe1434445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3fe00fe47f4537" /><Relationship Type="http://schemas.openxmlformats.org/officeDocument/2006/relationships/chart" Target="/ppt/slides/charts/chart2.xml" Id="Rf82d034b5b4841c1" /><Relationship Type="http://schemas.openxmlformats.org/officeDocument/2006/relationships/notesSlide" Target="/ppt/notesSlides/notesSlide9.xml" Id="R2877bfcc802c48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070499fe424db9" /><Relationship Type="http://schemas.openxmlformats.org/officeDocument/2006/relationships/chart" Target="/ppt/slides/charts/chart3.xml" Id="R24ef556f032d4140" /><Relationship Type="http://schemas.openxmlformats.org/officeDocument/2006/relationships/chart" Target="/ppt/slides/charts/chart4.xml" Id="R3a0d9cecb79b4616" /><Relationship Type="http://schemas.openxmlformats.org/officeDocument/2006/relationships/notesSlide" Target="/ppt/notesSlides/notesSlide10.xml" Id="Rf33ba569aa7545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d57e26ff6794ad4" /><Relationship Type="http://schemas.openxmlformats.org/officeDocument/2006/relationships/notesSlide" Target="/ppt/notesSlides/notesSlide11.xml" Id="Ree13c40f527947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4a8793e0ec2428e" /><Relationship Type="http://schemas.openxmlformats.org/officeDocument/2006/relationships/notesSlide" Target="/ppt/notesSlides/notesSlide12.xml" Id="R4eb60cb0eea44a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a9a51e2bc1342fd" /><Relationship Type="http://schemas.openxmlformats.org/officeDocument/2006/relationships/notesSlide" Target="/ppt/notesSlides/notesSlide13.xml" Id="Rac6e90f4421f40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62a4218daad47dd" /><Relationship Type="http://schemas.openxmlformats.org/officeDocument/2006/relationships/chart" Target="/ppt/slides/charts/chart5.xml" Id="R4183bca94fe34319" /><Relationship Type="http://schemas.openxmlformats.org/officeDocument/2006/relationships/notesSlide" Target="/ppt/notesSlides/notesSlide14.xml" Id="R5bdc2a420b504d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696c94d86441ae" /><Relationship Type="http://schemas.openxmlformats.org/officeDocument/2006/relationships/notesSlide" Target="/ppt/notesSlides/notesSlide15.xml" Id="R61441ceec8e040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6fe8c9d95f4db8" /><Relationship Type="http://schemas.openxmlformats.org/officeDocument/2006/relationships/notesSlide" Target="/ppt/notesSlides/notesSlide16.xml" Id="R61158e93b94c4d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6bf57d7b2124d99" /><Relationship Type="http://schemas.openxmlformats.org/officeDocument/2006/relationships/notesSlide" Target="/ppt/notesSlides/notesSlide17.xml" Id="R22f832de695543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8ee2a89bc048c0" /><Relationship Type="http://schemas.openxmlformats.org/officeDocument/2006/relationships/notesSlide" Target="/ppt/notesSlides/notesSlide18.xml" Id="Rfbc02090eb8742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897581f954e47dc" /><Relationship Type="http://schemas.openxmlformats.org/officeDocument/2006/relationships/notesSlide" Target="/ppt/notesSlides/notesSlide19.xml" Id="R43ad4e3b7ffe43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b7928a9c29b434a" /><Relationship Type="http://schemas.openxmlformats.org/officeDocument/2006/relationships/notesSlide" Target="/ppt/notesSlides/notesSlide20.xml" Id="R97cd43474c1a442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a4288af84a0406f" /><Relationship Type="http://schemas.openxmlformats.org/officeDocument/2006/relationships/notesSlide" Target="/ppt/notesSlides/notesSlide21.xml" Id="R787ee0b1428047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b700690ff843e6" /><Relationship Type="http://schemas.openxmlformats.org/officeDocument/2006/relationships/notesSlide" Target="/ppt/notesSlides/notesSlide22.xml" Id="Rc69bef642c6644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4313159f7124b12" /><Relationship Type="http://schemas.openxmlformats.org/officeDocument/2006/relationships/image" Target="/ppt/media/image.png" Id="R9b59a64f9f754070" /><Relationship Type="http://schemas.openxmlformats.org/officeDocument/2006/relationships/notesSlide" Target="/ppt/notesSlides/notesSlide23.xml" Id="R445531ce91554e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f690334d0d84171" /><Relationship Type="http://schemas.openxmlformats.org/officeDocument/2006/relationships/notesSlide" Target="/ppt/notesSlides/notesSlide24.xml" Id="R731c6b1953914f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Successful runs</c:v>
          </c:tx>
          <c:invertIfNegative val="0"/>
          <c:dPt>
            <c:idx val="0"/>
            <c:invertIfNegative val="0"/>
            <c:spPr>
              <a:solidFill xmlns:a="http://schemas.openxmlformats.org/drawingml/2006/main">
                <a:srgbClr val="007F7B"/>
              </a:solidFill>
            </c:spPr>
          </c:dPt>
          <c:dPt>
            <c:idx val="1"/>
            <c:invertIfNegative val="0"/>
            <c:spPr>
              <a:solidFill xmlns:a="http://schemas.openxmlformats.org/drawingml/2006/main">
                <a:srgbClr val="366AA8"/>
              </a:solidFill>
            </c:spPr>
          </c:dPt>
          <c:dPt>
            <c:idx val="2"/>
            <c:invertIfNegative val="0"/>
            <c:spPr>
              <a:solidFill xmlns:a="http://schemas.openxmlformats.org/drawingml/2006/main">
                <a:srgbClr val="CA713A"/>
              </a:solidFill>
            </c:spPr>
          </c:dPt>
          <c:dPt>
            <c:idx val="3"/>
            <c:invertIfNegative val="0"/>
            <c:spPr>
              <a:solidFill xmlns:a="http://schemas.openxmlformats.org/drawingml/2006/main">
                <a:srgbClr val="9076A9"/>
              </a:solidFill>
            </c:spPr>
          </c:dPt>
          <c:dPt>
            <c:idx val="4"/>
            <c:invertIfNegative val="0"/>
            <c:spPr>
              <a:solidFill xmlns:a="http://schemas.openxmlformats.org/drawingml/2006/main">
                <a:srgbClr val="8A949C"/>
              </a:solidFill>
            </c:spPr>
          </c:dPt>
          <c:cat>
            <c:strRef>
              <c:f>'Chart Data'!$A$2:$A$6</c:f>
              <c:strCache>
                <c:ptCount val="5"/>
                <c:pt idx="0">
                  <c:v>Iterative</c:v>
                </c:pt>
                <c:pt idx="1">
                  <c:v>Sequential</c:v>
                </c:pt>
                <c:pt idx="2">
                  <c:v>Shuffled</c:v>
                </c:pt>
                <c:pt idx="3">
                  <c:v>Upfront</c:v>
                </c:pt>
                <c:pt idx="4">
                  <c:v>Random</c:v>
                </c:pt>
              </c:strCache>
            </c:strRef>
          </c:cat>
          <c:val>
            <c:numRef>
              <c:f>'Chart Data'!$B$2:$B$6</c:f>
              <c:numCache>
                <c:formatCode>General</c:formatCode>
                <c:ptCount val="5"/>
                <c:pt idx="0">
                  <c:v>19</c:v>
                </c:pt>
                <c:pt idx="1">
                  <c:v>4</c:v>
                </c:pt>
                <c:pt idx="2">
                  <c:v>6</c:v>
                </c:pt>
                <c:pt idx="3">
                  <c:v>4</c:v>
                </c:pt>
                <c:pt idx="4">
                  <c:v>10</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Successful runs / 30</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Iterative</c:v>
          </c:tx>
          <c:spPr>
            <a:solidFill xmlns:a="http://schemas.openxmlformats.org/drawingml/2006/main">
              <a:srgbClr val="007F7B"/>
            </a:solidFill>
          </c:spPr>
          <c:invertIfNegative val="0"/>
          <c:cat>
            <c:strRef>
              <c:f>'Chart Data'!$A$2:$A$4</c:f>
              <c:strCache>
                <c:ptCount val="3"/>
                <c:pt idx="0">
                  <c:v>Li₆PS₅Cl / sulfide</c:v>
                </c:pt>
                <c:pt idx="1">
                  <c:v>Li₃InCl₆ / chloride</c:v>
                </c:pt>
                <c:pt idx="2">
                  <c:v>LLZO / oxide</c:v>
                </c:pt>
              </c:strCache>
            </c:strRef>
          </c:cat>
          <c:val>
            <c:numRef>
              <c:f>'Chart Data'!$B$2:$B$4</c:f>
              <c:numCache>
                <c:formatCode>General</c:formatCode>
                <c:ptCount val="3"/>
                <c:pt idx="0">
                  <c:v>20</c:v>
                </c:pt>
                <c:pt idx="1">
                  <c:v>30</c:v>
                </c:pt>
                <c:pt idx="2">
                  <c:v>12</c:v>
                </c:pt>
              </c:numCache>
            </c:numRef>
          </c:val>
        </c:ser>
        <c:ser>
          <c:idx val="1"/>
          <c:order val="1"/>
          <c:tx>
            <c:v>Sequential</c:v>
          </c:tx>
          <c:spPr>
            <a:solidFill xmlns:a="http://schemas.openxmlformats.org/drawingml/2006/main">
              <a:srgbClr val="366AA8"/>
            </a:solidFill>
          </c:spPr>
          <c:invertIfNegative val="0"/>
          <c:cat>
            <c:strRef>
              <c:f>'Chart Data'!$C$2:$C$4</c:f>
              <c:strCache>
                <c:ptCount val="3"/>
                <c:pt idx="0">
                  <c:v>Li₆PS₅Cl / sulfide</c:v>
                </c:pt>
                <c:pt idx="1">
                  <c:v>Li₃InCl₆ / chloride</c:v>
                </c:pt>
                <c:pt idx="2">
                  <c:v>LLZO / oxide</c:v>
                </c:pt>
              </c:strCache>
            </c:strRef>
          </c:cat>
          <c:val>
            <c:numRef>
              <c:f>'Chart Data'!$D$2:$D$4</c:f>
              <c:numCache>
                <c:formatCode>General</c:formatCode>
                <c:ptCount val="3"/>
                <c:pt idx="0">
                  <c:v>2</c:v>
                </c:pt>
                <c:pt idx="1">
                  <c:v>30</c:v>
                </c:pt>
                <c:pt idx="2">
                  <c:v>0</c:v>
                </c:pt>
              </c:numCache>
            </c:numRef>
          </c:val>
        </c:ser>
        <c:ser>
          <c:idx val="2"/>
          <c:order val="2"/>
          <c:tx>
            <c:v>Shuffled</c:v>
          </c:tx>
          <c:spPr>
            <a:solidFill xmlns:a="http://schemas.openxmlformats.org/drawingml/2006/main">
              <a:srgbClr val="CA713A"/>
            </a:solidFill>
          </c:spPr>
          <c:invertIfNegative val="0"/>
          <c:cat>
            <c:strRef>
              <c:f>'Chart Data'!$E$2:$E$4</c:f>
              <c:strCache>
                <c:ptCount val="3"/>
                <c:pt idx="0">
                  <c:v>Li₆PS₅Cl / sulfide</c:v>
                </c:pt>
                <c:pt idx="1">
                  <c:v>Li₃InCl₆ / chloride</c:v>
                </c:pt>
                <c:pt idx="2">
                  <c:v>LLZO / oxide</c:v>
                </c:pt>
              </c:strCache>
            </c:strRef>
          </c:cat>
          <c:val>
            <c:numRef>
              <c:f>'Chart Data'!$F$2:$F$4</c:f>
              <c:numCache>
                <c:formatCode>General</c:formatCode>
                <c:ptCount val="3"/>
                <c:pt idx="0">
                  <c:v>6</c:v>
                </c:pt>
                <c:pt idx="1">
                  <c:v>30</c:v>
                </c:pt>
                <c:pt idx="2">
                  <c:v>4</c:v>
                </c:pt>
              </c:numCache>
            </c:numRef>
          </c:val>
        </c:ser>
        <c:ser>
          <c:idx val="3"/>
          <c:order val="3"/>
          <c:tx>
            <c:v>Upfront</c:v>
          </c:tx>
          <c:spPr>
            <a:solidFill xmlns:a="http://schemas.openxmlformats.org/drawingml/2006/main">
              <a:srgbClr val="9076A9"/>
            </a:solidFill>
          </c:spPr>
          <c:invertIfNegative val="0"/>
          <c:cat>
            <c:strRef>
              <c:f>'Chart Data'!$G$2:$G$4</c:f>
              <c:strCache>
                <c:ptCount val="3"/>
                <c:pt idx="0">
                  <c:v>Li₆PS₅Cl / sulfide</c:v>
                </c:pt>
                <c:pt idx="1">
                  <c:v>Li₃InCl₆ / chloride</c:v>
                </c:pt>
                <c:pt idx="2">
                  <c:v>LLZO / oxide</c:v>
                </c:pt>
              </c:strCache>
            </c:strRef>
          </c:cat>
          <c:val>
            <c:numRef>
              <c:f>'Chart Data'!$H$2:$H$4</c:f>
              <c:numCache>
                <c:formatCode>General</c:formatCode>
                <c:ptCount val="3"/>
                <c:pt idx="0">
                  <c:v>0</c:v>
                </c:pt>
                <c:pt idx="1">
                  <c:v>30</c:v>
                </c:pt>
                <c:pt idx="2">
                  <c:v>1</c:v>
                </c:pt>
              </c:numCache>
            </c:numRef>
          </c:val>
        </c:ser>
        <c:ser>
          <c:idx val="4"/>
          <c:order val="4"/>
          <c:tx>
            <c:v>Random</c:v>
          </c:tx>
          <c:spPr>
            <a:solidFill xmlns:a="http://schemas.openxmlformats.org/drawingml/2006/main">
              <a:srgbClr val="8A949C"/>
            </a:solidFill>
          </c:spPr>
          <c:invertIfNegative val="0"/>
          <c:cat>
            <c:strRef>
              <c:f>'Chart Data'!$I$2:$I$4</c:f>
              <c:strCache>
                <c:ptCount val="3"/>
                <c:pt idx="0">
                  <c:v>Li₆PS₅Cl / sulfide</c:v>
                </c:pt>
                <c:pt idx="1">
                  <c:v>Li₃InCl₆ / chloride</c:v>
                </c:pt>
                <c:pt idx="2">
                  <c:v>LLZO / oxide</c:v>
                </c:pt>
              </c:strCache>
            </c:strRef>
          </c:cat>
          <c:val>
            <c:numRef>
              <c:f>'Chart Data'!$J$2:$J$4</c:f>
              <c:numCache>
                <c:formatCode>General</c:formatCode>
                <c:ptCount val="3"/>
                <c:pt idx="0">
                  <c:v>8</c:v>
                </c:pt>
                <c:pt idx="1">
                  <c:v>29</c:v>
                </c:pt>
                <c:pt idx="2">
                  <c:v>24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Iterative</c:v>
          </c:tx>
          <c:spPr>
            <a:ln xmlns:a="http://schemas.openxmlformats.org/drawingml/2006/main" w="32385">
              <a:solidFill>
                <a:srgbClr val="007F7B"/>
              </a:solidFill>
              <a:prstDash val="solid"/>
            </a:ln>
          </c:spPr>
          <c:marker>
            <c:symbol val="circle"/>
            <c:size val="6"/>
            <c:spPr>
              <a:solidFill xmlns:a="http://schemas.openxmlformats.org/drawingml/2006/main">
                <a:srgbClr val="007F7B"/>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c:v>
                </c:pt>
                <c:pt idx="1">
                  <c:v>0</c:v>
                </c:pt>
                <c:pt idx="2">
                  <c:v>0</c:v>
                </c:pt>
                <c:pt idx="3">
                  <c:v>0.03333333333</c:v>
                </c:pt>
                <c:pt idx="4">
                  <c:v>0.03333333333</c:v>
                </c:pt>
                <c:pt idx="5">
                  <c:v>0.1333333333</c:v>
                </c:pt>
                <c:pt idx="6">
                  <c:v>0.2666666667</c:v>
                </c:pt>
                <c:pt idx="7">
                  <c:v>0.5333333333</c:v>
                </c:pt>
                <c:pt idx="8">
                  <c:v>0.6333333333</c:v>
                </c:pt>
                <c:pt idx="9">
                  <c:v>0.6666666667</c:v>
                </c:pt>
              </c:numCache>
            </c:numRef>
          </c:val>
          <c:smooth val="0"/>
        </c:ser>
        <c:ser>
          <c:idx val="1"/>
          <c:order val="1"/>
          <c:tx>
            <c:v>Sequential</c:v>
          </c:tx>
          <c:spPr>
            <a:ln xmlns:a="http://schemas.openxmlformats.org/drawingml/2006/main" w="32385">
              <a:solidFill>
                <a:srgbClr val="366AA8"/>
              </a:solidFill>
              <a:prstDash val="solid"/>
            </a:ln>
          </c:spPr>
          <c:marker>
            <c:symbol val="none"/>
            <c:size val="6"/>
            <c:spPr>
              <a:solidFill xmlns:a="http://schemas.openxmlformats.org/drawingml/2006/main">
                <a:srgbClr val="366AA8"/>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c:v>
                </c:pt>
                <c:pt idx="1">
                  <c:v>0</c:v>
                </c:pt>
                <c:pt idx="2">
                  <c:v>0</c:v>
                </c:pt>
                <c:pt idx="3">
                  <c:v>0</c:v>
                </c:pt>
                <c:pt idx="4">
                  <c:v>0</c:v>
                </c:pt>
                <c:pt idx="5">
                  <c:v>0.03333333333</c:v>
                </c:pt>
                <c:pt idx="6">
                  <c:v>0.03333333333</c:v>
                </c:pt>
                <c:pt idx="7">
                  <c:v>0.03333333333</c:v>
                </c:pt>
                <c:pt idx="8">
                  <c:v>0.06666666667</c:v>
                </c:pt>
                <c:pt idx="9">
                  <c:v>0.06666666667</c:v>
                </c:pt>
              </c:numCache>
            </c:numRef>
          </c:val>
          <c:smooth val="0"/>
        </c:ser>
        <c:ser>
          <c:idx val="2"/>
          <c:order val="2"/>
          <c:tx>
            <c:v>Shuffled</c:v>
          </c:tx>
          <c:spPr>
            <a:ln xmlns:a="http://schemas.openxmlformats.org/drawingml/2006/main" w="32385">
              <a:solidFill>
                <a:srgbClr val="CA713A"/>
              </a:solidFill>
              <a:prstDash val="solid"/>
            </a:ln>
          </c:spPr>
          <c:marker>
            <c:symbol val="none"/>
            <c:size val="6"/>
            <c:spPr>
              <a:solidFill xmlns:a="http://schemas.openxmlformats.org/drawingml/2006/main">
                <a:srgbClr val="CA713A"/>
              </a:solidFill>
            </c:spPr>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0%</c:formatCode>
                <c:ptCount val="10"/>
                <c:pt idx="0">
                  <c:v>0</c:v>
                </c:pt>
                <c:pt idx="1">
                  <c:v>0</c:v>
                </c:pt>
                <c:pt idx="2">
                  <c:v>0</c:v>
                </c:pt>
                <c:pt idx="3">
                  <c:v>0</c:v>
                </c:pt>
                <c:pt idx="4">
                  <c:v>0</c:v>
                </c:pt>
                <c:pt idx="5">
                  <c:v>0</c:v>
                </c:pt>
                <c:pt idx="6">
                  <c:v>0.03333333333</c:v>
                </c:pt>
                <c:pt idx="7">
                  <c:v>0.06666666667</c:v>
                </c:pt>
                <c:pt idx="8">
                  <c:v>0.1333333333</c:v>
                </c:pt>
                <c:pt idx="9">
                  <c:v>0.2</c:v>
                </c:pt>
              </c:numCache>
            </c:numRef>
          </c:val>
          <c:smooth val="0"/>
        </c:ser>
        <c:ser>
          <c:idx val="3"/>
          <c:order val="3"/>
          <c:tx>
            <c:v>Upfront</c:v>
          </c:tx>
          <c:spPr>
            <a:ln xmlns:a="http://schemas.openxmlformats.org/drawingml/2006/main" w="32385">
              <a:solidFill>
                <a:srgbClr val="9076A9"/>
              </a:solidFill>
              <a:prstDash val="solid"/>
            </a:ln>
          </c:spPr>
          <c:marker>
            <c:symbol val="none"/>
            <c:size val="6"/>
            <c:spPr>
              <a:solidFill xmlns:a="http://schemas.openxmlformats.org/drawingml/2006/main">
                <a:srgbClr val="9076A9"/>
              </a:solidFill>
            </c:spPr>
          </c:marker>
          <c:cat>
            <c:numRef>
              <c:f>'Chart Data'!$G$2:$G$11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Data'!$H$2:$H$11</c:f>
              <c:numCache>
                <c:formatCode>0%</c:formatCode>
                <c:ptCount val="10"/>
                <c:pt idx="0">
                  <c:v>0</c:v>
                </c:pt>
                <c:pt idx="1">
                  <c:v>0</c:v>
                </c:pt>
                <c:pt idx="2">
                  <c:v>0</c:v>
                </c:pt>
                <c:pt idx="3">
                  <c:v>0</c:v>
                </c:pt>
                <c:pt idx="4">
                  <c:v>0</c:v>
                </c:pt>
                <c:pt idx="5">
                  <c:v>0</c:v>
                </c:pt>
                <c:pt idx="6">
                  <c:v>0</c:v>
                </c:pt>
                <c:pt idx="7">
                  <c:v>0</c:v>
                </c:pt>
                <c:pt idx="8">
                  <c:v>0</c:v>
                </c:pt>
                <c:pt idx="9">
                  <c:v>0</c:v>
                </c:pt>
              </c:numCache>
            </c:numRef>
          </c:val>
          <c:smooth val="0"/>
        </c:ser>
        <c:ser>
          <c:idx val="4"/>
          <c:order val="4"/>
          <c:tx>
            <c:v>Exact random</c:v>
          </c:tx>
          <c:spPr>
            <a:ln xmlns:a="http://schemas.openxmlformats.org/drawingml/2006/main" w="28575">
              <a:solidFill>
                <a:srgbClr val="8A949C"/>
              </a:solidFill>
              <a:prstDash val="dash"/>
            </a:ln>
          </c:spPr>
          <c:marker>
            <c:symbol val="none"/>
          </c:marker>
          <c:cat>
            <c:numRef>
              <c:f>'Chart Data'!$I$2:$I$11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Data'!$J$2:$J$11</c:f>
              <c:numCache>
                <c:formatCode>0%</c:formatCode>
                <c:ptCount val="10"/>
                <c:pt idx="0">
                  <c:v>0.02836879433</c:v>
                </c:pt>
                <c:pt idx="1">
                  <c:v>0.05612968592</c:v>
                </c:pt>
                <c:pt idx="2">
                  <c:v>0.08329142157</c:v>
                </c:pt>
                <c:pt idx="3">
                  <c:v>0.1098626847</c:v>
                </c:pt>
                <c:pt idx="4">
                  <c:v>0.1358520954</c:v>
                </c:pt>
                <c:pt idx="5">
                  <c:v>0.1612682102</c:v>
                </c:pt>
                <c:pt idx="6">
                  <c:v>0.1861195225</c:v>
                </c:pt>
                <c:pt idx="7">
                  <c:v>0.2104144621</c:v>
                </c:pt>
                <c:pt idx="8">
                  <c:v>0.2341613956</c:v>
                </c:pt>
                <c:pt idx="9">
                  <c:v>0.257368626</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Charged query</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Acceptable found</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Between val="between"/>
        <c:majorUnit val="0.25"/>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Iterative</c:v>
          </c:tx>
          <c:spPr>
            <a:ln xmlns:a="http://schemas.openxmlformats.org/drawingml/2006/main" w="32385">
              <a:solidFill>
                <a:srgbClr val="007F7B"/>
              </a:solidFill>
              <a:prstDash val="solid"/>
            </a:ln>
          </c:spPr>
          <c:marker>
            <c:symbol val="circle"/>
            <c:size val="6"/>
            <c:spPr>
              <a:solidFill xmlns:a="http://schemas.openxmlformats.org/drawingml/2006/main">
                <a:srgbClr val="007F7B"/>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c:v>
                </c:pt>
                <c:pt idx="1">
                  <c:v>0</c:v>
                </c:pt>
                <c:pt idx="2">
                  <c:v>0</c:v>
                </c:pt>
                <c:pt idx="3">
                  <c:v>0</c:v>
                </c:pt>
                <c:pt idx="4">
                  <c:v>0.03333333333</c:v>
                </c:pt>
                <c:pt idx="5">
                  <c:v>0.03333333333</c:v>
                </c:pt>
                <c:pt idx="6">
                  <c:v>0.06666666667</c:v>
                </c:pt>
                <c:pt idx="7">
                  <c:v>0.1666666667</c:v>
                </c:pt>
                <c:pt idx="8">
                  <c:v>0.3</c:v>
                </c:pt>
                <c:pt idx="9">
                  <c:v>0.4</c:v>
                </c:pt>
              </c:numCache>
            </c:numRef>
          </c:val>
          <c:smooth val="0"/>
        </c:ser>
        <c:ser>
          <c:idx val="1"/>
          <c:order val="1"/>
          <c:tx>
            <c:v>Sequential</c:v>
          </c:tx>
          <c:spPr>
            <a:ln xmlns:a="http://schemas.openxmlformats.org/drawingml/2006/main" w="32385">
              <a:solidFill>
                <a:srgbClr val="366AA8"/>
              </a:solidFill>
              <a:prstDash val="solid"/>
            </a:ln>
          </c:spPr>
          <c:marker>
            <c:symbol val="none"/>
            <c:size val="6"/>
            <c:spPr>
              <a:solidFill xmlns:a="http://schemas.openxmlformats.org/drawingml/2006/main">
                <a:srgbClr val="366AA8"/>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c:v>
                </c:pt>
                <c:pt idx="1">
                  <c:v>0</c:v>
                </c:pt>
                <c:pt idx="2">
                  <c:v>0</c:v>
                </c:pt>
                <c:pt idx="3">
                  <c:v>0</c:v>
                </c:pt>
                <c:pt idx="4">
                  <c:v>0</c:v>
                </c:pt>
                <c:pt idx="5">
                  <c:v>0</c:v>
                </c:pt>
                <c:pt idx="6">
                  <c:v>0</c:v>
                </c:pt>
                <c:pt idx="7">
                  <c:v>0</c:v>
                </c:pt>
                <c:pt idx="8">
                  <c:v>0</c:v>
                </c:pt>
                <c:pt idx="9">
                  <c:v>0</c:v>
                </c:pt>
              </c:numCache>
            </c:numRef>
          </c:val>
          <c:smooth val="0"/>
        </c:ser>
        <c:ser>
          <c:idx val="2"/>
          <c:order val="2"/>
          <c:tx>
            <c:v>Shuffled</c:v>
          </c:tx>
          <c:spPr>
            <a:ln xmlns:a="http://schemas.openxmlformats.org/drawingml/2006/main" w="32385">
              <a:solidFill>
                <a:srgbClr val="CA713A"/>
              </a:solidFill>
              <a:prstDash val="solid"/>
            </a:ln>
          </c:spPr>
          <c:marker>
            <c:symbol val="none"/>
            <c:size val="6"/>
            <c:spPr>
              <a:solidFill xmlns:a="http://schemas.openxmlformats.org/drawingml/2006/main">
                <a:srgbClr val="CA713A"/>
              </a:solidFill>
            </c:spPr>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0%</c:formatCode>
                <c:ptCount val="10"/>
                <c:pt idx="0">
                  <c:v>0</c:v>
                </c:pt>
                <c:pt idx="1">
                  <c:v>0</c:v>
                </c:pt>
                <c:pt idx="2">
                  <c:v>0</c:v>
                </c:pt>
                <c:pt idx="3">
                  <c:v>0</c:v>
                </c:pt>
                <c:pt idx="4">
                  <c:v>0</c:v>
                </c:pt>
                <c:pt idx="5">
                  <c:v>0</c:v>
                </c:pt>
                <c:pt idx="6">
                  <c:v>0.03333333333</c:v>
                </c:pt>
                <c:pt idx="7">
                  <c:v>0.06666666667</c:v>
                </c:pt>
                <c:pt idx="8">
                  <c:v>0.06666666667</c:v>
                </c:pt>
                <c:pt idx="9">
                  <c:v>0.1333333333</c:v>
                </c:pt>
              </c:numCache>
            </c:numRef>
          </c:val>
          <c:smooth val="0"/>
        </c:ser>
        <c:ser>
          <c:idx val="3"/>
          <c:order val="3"/>
          <c:tx>
            <c:v>Upfront</c:v>
          </c:tx>
          <c:spPr>
            <a:ln xmlns:a="http://schemas.openxmlformats.org/drawingml/2006/main" w="32385">
              <a:solidFill>
                <a:srgbClr val="9076A9"/>
              </a:solidFill>
              <a:prstDash val="solid"/>
            </a:ln>
          </c:spPr>
          <c:marker>
            <c:symbol val="none"/>
            <c:size val="6"/>
            <c:spPr>
              <a:solidFill xmlns:a="http://schemas.openxmlformats.org/drawingml/2006/main">
                <a:srgbClr val="9076A9"/>
              </a:solidFill>
            </c:spPr>
          </c:marker>
          <c:cat>
            <c:numRef>
              <c:f>'Chart Data'!$G$2:$G$11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Data'!$H$2:$H$11</c:f>
              <c:numCache>
                <c:formatCode>0%</c:formatCode>
                <c:ptCount val="10"/>
                <c:pt idx="0">
                  <c:v>0</c:v>
                </c:pt>
                <c:pt idx="1">
                  <c:v>0</c:v>
                </c:pt>
                <c:pt idx="2">
                  <c:v>0</c:v>
                </c:pt>
                <c:pt idx="3">
                  <c:v>0</c:v>
                </c:pt>
                <c:pt idx="4">
                  <c:v>0</c:v>
                </c:pt>
                <c:pt idx="5">
                  <c:v>0</c:v>
                </c:pt>
                <c:pt idx="6">
                  <c:v>0.03333333333</c:v>
                </c:pt>
                <c:pt idx="7">
                  <c:v>0.03333333333</c:v>
                </c:pt>
                <c:pt idx="8">
                  <c:v>0.03333333333</c:v>
                </c:pt>
                <c:pt idx="9">
                  <c:v>0.03333333333</c:v>
                </c:pt>
              </c:numCache>
            </c:numRef>
          </c:val>
          <c:smooth val="0"/>
        </c:ser>
        <c:ser>
          <c:idx val="4"/>
          <c:order val="4"/>
          <c:tx>
            <c:v>Exact random</c:v>
          </c:tx>
          <c:spPr>
            <a:ln xmlns:a="http://schemas.openxmlformats.org/drawingml/2006/main" w="28575">
              <a:solidFill>
                <a:srgbClr val="8A949C"/>
              </a:solidFill>
              <a:prstDash val="dash"/>
            </a:ln>
          </c:spPr>
          <c:marker>
            <c:symbol val="none"/>
          </c:marker>
          <c:cat>
            <c:numRef>
              <c:f>'Chart Data'!$I$2:$I$11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Data'!$J$2:$J$11</c:f>
              <c:numCache>
                <c:formatCode>0%</c:formatCode>
                <c:ptCount val="10"/>
                <c:pt idx="0">
                  <c:v>0.1205673759</c:v>
                </c:pt>
                <c:pt idx="1">
                  <c:v>0.2273556231</c:v>
                </c:pt>
                <c:pt idx="2">
                  <c:v>0.321851698</c:v>
                </c:pt>
                <c:pt idx="3">
                  <c:v>0.4053917062</c:v>
                </c:pt>
                <c:pt idx="4">
                  <c:v>0.4791752171</c:v>
                </c:pt>
                <c:pt idx="5">
                  <c:v>0.544278315</c:v>
                </c:pt>
                <c:pt idx="6">
                  <c:v>0.6016654901</c:v>
                </c:pt>
                <c:pt idx="7">
                  <c:v>0.6522004653</c:v>
                </c:pt>
                <c:pt idx="8">
                  <c:v>0.6966560449</c:v>
                </c:pt>
                <c:pt idx="9">
                  <c:v>0.7357230694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Charged query</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Acceptable found</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Between val="between"/>
        <c:majorUnit val="0.25"/>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Cathode contact</c:v>
          </c:tx>
          <c:spPr>
            <a:solidFill xmlns:a="http://schemas.openxmlformats.org/drawingml/2006/main">
              <a:srgbClr val="366AA8"/>
            </a:solidFill>
          </c:spPr>
          <c:invertIfNegative val="0"/>
          <c:cat>
            <c:strRef>
              <c:f>'Chart Data'!$A$2:$A$4</c:f>
              <c:strCache>
                <c:ptCount val="3"/>
                <c:pt idx="0">
                  <c:v>LiNbF₆ (reference)</c:v>
                </c:pt>
                <c:pt idx="1">
                  <c:v>LiTaF₆ (choice 2)</c:v>
                </c:pt>
                <c:pt idx="2">
                  <c:v>LiCaAlF₆ (choice 3)</c:v>
                </c:pt>
              </c:strCache>
            </c:strRef>
          </c:cat>
          <c:val>
            <c:numRef>
              <c:f>'Chart Data'!$B$2:$B$4</c:f>
              <c:numCache>
                <c:formatCode>General</c:formatCode>
                <c:ptCount val="3"/>
                <c:pt idx="0">
                  <c:v>3.617050862</c:v>
                </c:pt>
                <c:pt idx="1">
                  <c:v>3.338748413</c:v>
                </c:pt>
                <c:pt idx="2">
                  <c:v>1.426710445</c:v>
                </c:pt>
              </c:numCache>
            </c:numRef>
          </c:val>
        </c:ser>
        <c:ser>
          <c:idx val="1"/>
          <c:order val="1"/>
          <c:tx>
            <c:v>Electrolyte contact</c:v>
          </c:tx>
          <c:spPr>
            <a:solidFill xmlns:a="http://schemas.openxmlformats.org/drawingml/2006/main">
              <a:srgbClr val="007F7B"/>
            </a:solidFill>
          </c:spPr>
          <c:invertIfNegative val="0"/>
          <c:cat>
            <c:strRef>
              <c:f>'Chart Data'!$C$2:$C$4</c:f>
              <c:strCache>
                <c:ptCount val="3"/>
                <c:pt idx="0">
                  <c:v>LiNbF₆ (reference)</c:v>
                </c:pt>
                <c:pt idx="1">
                  <c:v>LiTaF₆ (choice 2)</c:v>
                </c:pt>
                <c:pt idx="2">
                  <c:v>LiCaAlF₆ (choice 3)</c:v>
                </c:pt>
              </c:strCache>
            </c:strRef>
          </c:cat>
          <c:val>
            <c:numRef>
              <c:f>'Chart Data'!$D$2:$D$4</c:f>
              <c:numCache>
                <c:formatCode>General</c:formatCode>
                <c:ptCount val="3"/>
                <c:pt idx="0">
                  <c:v>1.633394081</c:v>
                </c:pt>
                <c:pt idx="1">
                  <c:v>1.577358544</c:v>
                </c:pt>
                <c:pt idx="2">
                  <c:v>0.7435735866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800">
                    <a:latin typeface="Helvetica Neue"/>
                    <a:ea typeface="Helvetica Neue"/>
                    <a:cs typeface="Helvetica Neue"/>
                  </a:rPr>
                  <a:t>Wadh (J/m²)</a:t>
                </a:r>
              </a:p>
            </c:rich>
          </c:tx>
          <c:overlay val="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Between val="between"/>
        <c:majorUnit val="1"/>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A0B1C9-1508-4FFA-84E3-632BA6CA12B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MATERIALS DISCOVERY WITH COMPUTATIONAL FEEDBACK</a:t>
            </a:r>
          </a:p>
        </p:txBody>
      </p:sp>
      <p:sp>
        <p:nvSpPr>
          <p:cNvPr id="2" name="">
            <a:extLst xmlns:a="http://schemas.openxmlformats.org/drawingml/2006/main">
              <a:ext uri="{FF2B5EF4-FFF2-40B4-BE49-F238E27FC236}">
                <a16:creationId xmlns:a16="http://schemas.microsoft.com/office/drawing/2014/main" id="{EE287233-F298-45D2-8150-E4D75C8E7EB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a:t>
            </a:r>
          </a:p>
        </p:txBody>
      </p:sp>
      <p:sp>
        <p:nvSpPr>
          <p:cNvPr id="3" name="">
            <a:extLst xmlns:a="http://schemas.openxmlformats.org/drawingml/2006/main">
              <a:ext uri="{FF2B5EF4-FFF2-40B4-BE49-F238E27FC236}">
                <a16:creationId xmlns:a16="http://schemas.microsoft.com/office/drawing/2014/main" id="{CE588C6F-012B-400D-8A82-E666B22BA6E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BF0CF9C2-9C27-4553-8CCB-0FA55FE88C3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47C39E95-604D-4FE5-8237-286E671C102C}"/>
              </a:ext>
            </a:extLst>
          </p:cNvPr>
          <p:cNvSpPr>
            <a:spLocks xmlns:a="http://schemas.openxmlformats.org/drawingml/2006/main" noGrp="1"/>
          </p:cNvSpPr>
          <p:nvPr/>
        </p:nvSpPr>
        <p:spPr>
          <a:xfrm xmlns:a="http://schemas.openxmlformats.org/drawingml/2006/main">
            <a:off x="533400" y="2000250"/>
            <a:ext cx="10953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72B3A"/>
                </a:solidFill>
                <a:latin typeface="Helvetica Neue"/>
                <a:ea typeface="Helvetica Neue"/>
                <a:cs typeface="Helvetica Neue"/>
              </a:defRPr>
            </a:defPPr>
            <a:lvl1pPr>
              <a:defRPr sz="4650" b="1">
                <a:solidFill>
                  <a:srgbClr val="172B3A"/>
                </a:solidFill>
                <a:latin typeface="Helvetica Neue"/>
                <a:ea typeface="Helvetica Neue"/>
                <a:cs typeface="Helvetica Neue"/>
              </a:defRPr>
            </a:lvl1pPr>
            <a:lvl2pPr>
              <a:defRPr sz="4650" b="1">
                <a:solidFill>
                  <a:srgbClr val="172B3A"/>
                </a:solidFill>
                <a:latin typeface="Helvetica Neue"/>
                <a:ea typeface="Helvetica Neue"/>
                <a:cs typeface="Helvetica Neue"/>
              </a:defRPr>
            </a:lvl2pPr>
            <a:lvl3pPr>
              <a:defRPr sz="4650" b="1">
                <a:solidFill>
                  <a:srgbClr val="172B3A"/>
                </a:solidFill>
                <a:latin typeface="Helvetica Neue"/>
                <a:ea typeface="Helvetica Neue"/>
                <a:cs typeface="Helvetica Neue"/>
              </a:defRPr>
            </a:lvl3pPr>
            <a:lvl4pPr>
              <a:defRPr sz="4650" b="1">
                <a:solidFill>
                  <a:srgbClr val="172B3A"/>
                </a:solidFill>
                <a:latin typeface="Helvetica Neue"/>
                <a:ea typeface="Helvetica Neue"/>
                <a:cs typeface="Helvetica Neue"/>
              </a:defRPr>
            </a:lvl4pPr>
            <a:lvl5pPr>
              <a:defRPr sz="4650" b="1">
                <a:solidFill>
                  <a:srgbClr val="172B3A"/>
                </a:solidFill>
                <a:latin typeface="Helvetica Neue"/>
                <a:ea typeface="Helvetica Neue"/>
                <a:cs typeface="Helvetica Neue"/>
              </a:defRPr>
            </a:lvl5pPr>
            <a:lvl6pPr>
              <a:defRPr sz="4650" b="1">
                <a:solidFill>
                  <a:srgbClr val="172B3A"/>
                </a:solidFill>
                <a:latin typeface="Helvetica Neue"/>
                <a:ea typeface="Helvetica Neue"/>
                <a:cs typeface="Helvetica Neue"/>
              </a:defRPr>
            </a:lvl6pPr>
            <a:lvl7pPr>
              <a:defRPr sz="4650" b="1">
                <a:solidFill>
                  <a:srgbClr val="172B3A"/>
                </a:solidFill>
                <a:latin typeface="Helvetica Neue"/>
                <a:ea typeface="Helvetica Neue"/>
                <a:cs typeface="Helvetica Neue"/>
              </a:defRPr>
            </a:lvl7pPr>
            <a:lvl8pPr>
              <a:defRPr sz="4650" b="1">
                <a:solidFill>
                  <a:srgbClr val="172B3A"/>
                </a:solidFill>
                <a:latin typeface="Helvetica Neue"/>
                <a:ea typeface="Helvetica Neue"/>
                <a:cs typeface="Helvetica Neue"/>
              </a:defRPr>
            </a:lvl8pPr>
            <a:lvl9pPr>
              <a:defRPr sz="4650" b="1">
                <a:solidFill>
                  <a:srgbClr val="172B3A"/>
                </a:solidFill>
                <a:latin typeface="Helvetica Neue"/>
                <a:ea typeface="Helvetica Neue"/>
                <a:cs typeface="Helvetica Neue"/>
              </a:defRPr>
            </a:lvl9pPr>
          </a:lstStyle>
          <a:p xmlns:a="http://schemas.openxmlformats.org/drawingml/2006/main">
            <a:pPr>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Can an LLM choose</a:t>
            </a:r>
          </a:p>
          <a:p xmlns:a="http://schemas.openxmlformats.org/drawingml/2006/main">
            <a:pPr>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the next useful</a:t>
            </a:r>
          </a:p>
          <a:p xmlns:a="http://schemas.openxmlformats.org/drawingml/2006/main">
            <a:pPr>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materials calculation?</a:t>
            </a:r>
          </a:p>
        </p:txBody>
      </p:sp>
      <p:sp>
        <p:nvSpPr>
          <p:cNvPr id="6" name="">
            <a:extLst xmlns:a="http://schemas.openxmlformats.org/drawingml/2006/main">
              <a:ext uri="{FF2B5EF4-FFF2-40B4-BE49-F238E27FC236}">
                <a16:creationId xmlns:a16="http://schemas.microsoft.com/office/drawing/2014/main" id="{B3F44A90-A71C-44AF-B36B-E4731DB0AFA8}"/>
              </a:ext>
            </a:extLst>
          </p:cNvPr>
          <p:cNvSpPr>
            <a:spLocks xmlns:a="http://schemas.openxmlformats.org/drawingml/2006/main" noGrp="1"/>
          </p:cNvSpPr>
          <p:nvPr/>
        </p:nvSpPr>
        <p:spPr>
          <a:xfrm xmlns:a="http://schemas.openxmlformats.org/drawingml/2006/main">
            <a:off x="561975" y="4857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07F7B"/>
                </a:solidFill>
                <a:latin typeface="Helvetica Neue"/>
                <a:ea typeface="Helvetica Neue"/>
                <a:cs typeface="Helvetica Neue"/>
              </a:defRPr>
            </a:defPPr>
            <a:lvl1pPr>
              <a:defRPr sz="2325" b="0">
                <a:solidFill>
                  <a:srgbClr val="007F7B"/>
                </a:solidFill>
                <a:latin typeface="Helvetica Neue"/>
                <a:ea typeface="Helvetica Neue"/>
                <a:cs typeface="Helvetica Neue"/>
              </a:defRPr>
            </a:lvl1pPr>
            <a:lvl2pPr>
              <a:defRPr sz="2325" b="0">
                <a:solidFill>
                  <a:srgbClr val="007F7B"/>
                </a:solidFill>
                <a:latin typeface="Helvetica Neue"/>
                <a:ea typeface="Helvetica Neue"/>
                <a:cs typeface="Helvetica Neue"/>
              </a:defRPr>
            </a:lvl2pPr>
            <a:lvl3pPr>
              <a:defRPr sz="2325" b="0">
                <a:solidFill>
                  <a:srgbClr val="007F7B"/>
                </a:solidFill>
                <a:latin typeface="Helvetica Neue"/>
                <a:ea typeface="Helvetica Neue"/>
                <a:cs typeface="Helvetica Neue"/>
              </a:defRPr>
            </a:lvl3pPr>
            <a:lvl4pPr>
              <a:defRPr sz="2325" b="0">
                <a:solidFill>
                  <a:srgbClr val="007F7B"/>
                </a:solidFill>
                <a:latin typeface="Helvetica Neue"/>
                <a:ea typeface="Helvetica Neue"/>
                <a:cs typeface="Helvetica Neue"/>
              </a:defRPr>
            </a:lvl4pPr>
            <a:lvl5pPr>
              <a:defRPr sz="2325" b="0">
                <a:solidFill>
                  <a:srgbClr val="007F7B"/>
                </a:solidFill>
                <a:latin typeface="Helvetica Neue"/>
                <a:ea typeface="Helvetica Neue"/>
                <a:cs typeface="Helvetica Neue"/>
              </a:defRPr>
            </a:lvl5pPr>
            <a:lvl6pPr>
              <a:defRPr sz="2325" b="0">
                <a:solidFill>
                  <a:srgbClr val="007F7B"/>
                </a:solidFill>
                <a:latin typeface="Helvetica Neue"/>
                <a:ea typeface="Helvetica Neue"/>
                <a:cs typeface="Helvetica Neue"/>
              </a:defRPr>
            </a:lvl6pPr>
            <a:lvl7pPr>
              <a:defRPr sz="2325" b="0">
                <a:solidFill>
                  <a:srgbClr val="007F7B"/>
                </a:solidFill>
                <a:latin typeface="Helvetica Neue"/>
                <a:ea typeface="Helvetica Neue"/>
                <a:cs typeface="Helvetica Neue"/>
              </a:defRPr>
            </a:lvl7pPr>
            <a:lvl8pPr>
              <a:defRPr sz="2325" b="0">
                <a:solidFill>
                  <a:srgbClr val="007F7B"/>
                </a:solidFill>
                <a:latin typeface="Helvetica Neue"/>
                <a:ea typeface="Helvetica Neue"/>
                <a:cs typeface="Helvetica Neue"/>
              </a:defRPr>
            </a:lvl8pPr>
            <a:lvl9pPr>
              <a:defRPr sz="2325" b="0">
                <a:solidFill>
                  <a:srgbClr val="007F7B"/>
                </a:solidFill>
                <a:latin typeface="Helvetica Neue"/>
                <a:ea typeface="Helvetica Neue"/>
                <a:cs typeface="Helvetica Neue"/>
              </a:defRPr>
            </a:lvl9pPr>
          </a:lstStyle>
          <a:p xmlns:a="http://schemas.openxmlformats.org/drawingml/2006/main">
            <a:pPr>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From a controlled search benchmark to a prospective</a:t>
            </a:r>
          </a:p>
          <a:p xmlns:a="http://schemas.openxmlformats.org/drawingml/2006/main">
            <a:pPr>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three-coating PET-MAD comparison</a:t>
            </a:r>
          </a:p>
        </p:txBody>
      </p:sp>
      <p:sp>
        <p:nvSpPr>
          <p:cNvPr id="7" name="">
            <a:extLst xmlns:a="http://schemas.openxmlformats.org/drawingml/2006/main">
              <a:ext uri="{FF2B5EF4-FFF2-40B4-BE49-F238E27FC236}">
                <a16:creationId xmlns:a16="http://schemas.microsoft.com/office/drawing/2014/main" id="{C5A5AC22-6F92-41F5-B2FA-BF7AACB45E82}"/>
              </a:ext>
            </a:extLst>
          </p:cNvPr>
          <p:cNvSpPr>
            <a:spLocks xmlns:a="http://schemas.openxmlformats.org/drawingml/2006/main" noGrp="1"/>
          </p:cNvSpPr>
          <p:nvPr/>
        </p:nvSpPr>
        <p:spPr>
          <a:xfrm xmlns:a="http://schemas.openxmlformats.org/drawingml/2006/main">
            <a:off x="561975" y="59436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Davide Tisi and Adem R. N. Aouichaoui</a:t>
            </a:r>
          </a:p>
        </p:txBody>
      </p:sp>
    </p:spTree>
    <p:extLst>
      <p:ext uri="{BB962C8B-B14F-4D97-AF65-F5344CB8AC3E}">
        <p14:creationId xmlns:p14="http://schemas.microsoft.com/office/powerpoint/2010/main" val="104308785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080F9C-4C32-4F3D-80E6-A90B23566B9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RESULT</a:t>
            </a:r>
          </a:p>
        </p:txBody>
      </p:sp>
      <p:sp>
        <p:nvSpPr>
          <p:cNvPr id="2" name="">
            <a:extLst xmlns:a="http://schemas.openxmlformats.org/drawingml/2006/main">
              <a:ext uri="{FF2B5EF4-FFF2-40B4-BE49-F238E27FC236}">
                <a16:creationId xmlns:a16="http://schemas.microsoft.com/office/drawing/2014/main" id="{8F1C3ED6-6122-485A-8707-89D04BC2185D}"/>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Feedback helps. The advantage is conditional.</a:t>
            </a:r>
          </a:p>
        </p:txBody>
      </p:sp>
      <p:sp>
        <p:nvSpPr>
          <p:cNvPr id="3" name="">
            <a:extLst xmlns:a="http://schemas.openxmlformats.org/drawingml/2006/main">
              <a:ext uri="{FF2B5EF4-FFF2-40B4-BE49-F238E27FC236}">
                <a16:creationId xmlns:a16="http://schemas.microsoft.com/office/drawing/2014/main" id="{4E06DD48-90DB-478E-9619-8833F2309E8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C05E6CE-E017-41A8-8AC5-AE10369E8CD5}"/>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0BFB6CA-4BF3-4B5E-9C30-D730F1D27C48}"/>
              </a:ext>
            </a:extLst>
          </p:cNvPr>
          <p:cNvSpPr>
            <a:spLocks xmlns:a="http://schemas.openxmlformats.org/drawingml/2006/main" noGrp="1"/>
          </p:cNvSpPr>
          <p:nvPr/>
        </p:nvSpPr>
        <p:spPr>
          <a:xfrm xmlns:a="http://schemas.openxmlformats.org/drawingml/2006/main">
            <a:off x="533400" y="2095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007F7B"/>
                </a:solidFill>
                <a:latin typeface="Helvetica Neue"/>
                <a:ea typeface="Helvetica Neue"/>
                <a:cs typeface="Helvetica Neue"/>
              </a:defRPr>
            </a:defPPr>
            <a:lvl1pPr>
              <a:defRPr sz="4500" b="1">
                <a:solidFill>
                  <a:srgbClr val="007F7B"/>
                </a:solidFill>
                <a:latin typeface="Helvetica Neue"/>
                <a:ea typeface="Helvetica Neue"/>
                <a:cs typeface="Helvetica Neue"/>
              </a:defRPr>
            </a:lvl1pPr>
            <a:lvl2pPr>
              <a:defRPr sz="4500" b="1">
                <a:solidFill>
                  <a:srgbClr val="007F7B"/>
                </a:solidFill>
                <a:latin typeface="Helvetica Neue"/>
                <a:ea typeface="Helvetica Neue"/>
                <a:cs typeface="Helvetica Neue"/>
              </a:defRPr>
            </a:lvl2pPr>
            <a:lvl3pPr>
              <a:defRPr sz="4500" b="1">
                <a:solidFill>
                  <a:srgbClr val="007F7B"/>
                </a:solidFill>
                <a:latin typeface="Helvetica Neue"/>
                <a:ea typeface="Helvetica Neue"/>
                <a:cs typeface="Helvetica Neue"/>
              </a:defRPr>
            </a:lvl3pPr>
            <a:lvl4pPr>
              <a:defRPr sz="4500" b="1">
                <a:solidFill>
                  <a:srgbClr val="007F7B"/>
                </a:solidFill>
                <a:latin typeface="Helvetica Neue"/>
                <a:ea typeface="Helvetica Neue"/>
                <a:cs typeface="Helvetica Neue"/>
              </a:defRPr>
            </a:lvl4pPr>
            <a:lvl5pPr>
              <a:defRPr sz="4500" b="1">
                <a:solidFill>
                  <a:srgbClr val="007F7B"/>
                </a:solidFill>
                <a:latin typeface="Helvetica Neue"/>
                <a:ea typeface="Helvetica Neue"/>
                <a:cs typeface="Helvetica Neue"/>
              </a:defRPr>
            </a:lvl5pPr>
            <a:lvl6pPr>
              <a:defRPr sz="4500" b="1">
                <a:solidFill>
                  <a:srgbClr val="007F7B"/>
                </a:solidFill>
                <a:latin typeface="Helvetica Neue"/>
                <a:ea typeface="Helvetica Neue"/>
                <a:cs typeface="Helvetica Neue"/>
              </a:defRPr>
            </a:lvl6pPr>
            <a:lvl7pPr>
              <a:defRPr sz="4500" b="1">
                <a:solidFill>
                  <a:srgbClr val="007F7B"/>
                </a:solidFill>
                <a:latin typeface="Helvetica Neue"/>
                <a:ea typeface="Helvetica Neue"/>
                <a:cs typeface="Helvetica Neue"/>
              </a:defRPr>
            </a:lvl7pPr>
            <a:lvl8pPr>
              <a:defRPr sz="4500" b="1">
                <a:solidFill>
                  <a:srgbClr val="007F7B"/>
                </a:solidFill>
                <a:latin typeface="Helvetica Neue"/>
                <a:ea typeface="Helvetica Neue"/>
                <a:cs typeface="Helvetica Neue"/>
              </a:defRPr>
            </a:lvl8pPr>
            <a:lvl9pPr>
              <a:defRPr sz="4500" b="1">
                <a:solidFill>
                  <a:srgbClr val="007F7B"/>
                </a:solidFill>
                <a:latin typeface="Helvetica Neue"/>
                <a:ea typeface="Helvetica Neue"/>
                <a:cs typeface="Helvetica Neue"/>
              </a:defRPr>
            </a:lvl9pPr>
          </a:lstStyle>
          <a:p xmlns:a="http://schemas.openxmlformats.org/drawingml/2006/main">
            <a:pPr>
              <a:defRPr sz="4500" b="1">
                <a:solidFill>
                  <a:srgbClr val="007F7B"/>
                </a:solidFill>
                <a:latin typeface="Helvetica Neue"/>
                <a:ea typeface="Helvetica Neue"/>
                <a:cs typeface="Helvetica Neue"/>
              </a:defRPr>
            </a:pPr>
            <a:r>
              <a:rPr sz="4500" b="1">
                <a:solidFill>
                  <a:srgbClr val="007F7B"/>
                </a:solidFill>
                <a:latin typeface="Helvetica Neue"/>
                <a:ea typeface="Helvetica Neue"/>
                <a:cs typeface="Helvetica Neue"/>
              </a:rPr>
              <a:t>20/30</a:t>
            </a:r>
          </a:p>
        </p:txBody>
      </p:sp>
      <p:sp>
        <p:nvSpPr>
          <p:cNvPr id="6" name="">
            <a:extLst xmlns:a="http://schemas.openxmlformats.org/drawingml/2006/main">
              <a:ext uri="{FF2B5EF4-FFF2-40B4-BE49-F238E27FC236}">
                <a16:creationId xmlns:a16="http://schemas.microsoft.com/office/drawing/2014/main" id="{1EA3AF26-1497-40B6-99C4-63E3EC6F7C72}"/>
              </a:ext>
            </a:extLst>
          </p:cNvPr>
          <p:cNvSpPr>
            <a:spLocks xmlns:a="http://schemas.openxmlformats.org/drawingml/2006/main" noGrp="1"/>
          </p:cNvSpPr>
          <p:nvPr/>
        </p:nvSpPr>
        <p:spPr>
          <a:xfrm xmlns:a="http://schemas.openxmlformats.org/drawingml/2006/main">
            <a:off x="3524250" y="2133600"/>
            <a:ext cx="7858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Sulfide successes with feedback</a:t>
            </a:r>
          </a:p>
        </p:txBody>
      </p:sp>
      <p:sp>
        <p:nvSpPr>
          <p:cNvPr id="7" name="">
            <a:extLst xmlns:a="http://schemas.openxmlformats.org/drawingml/2006/main">
              <a:ext uri="{FF2B5EF4-FFF2-40B4-BE49-F238E27FC236}">
                <a16:creationId xmlns:a16="http://schemas.microsoft.com/office/drawing/2014/main" id="{9BCAD6D1-2D00-424D-8039-98B0611C3DA1}"/>
              </a:ext>
            </a:extLst>
          </p:cNvPr>
          <p:cNvSpPr>
            <a:spLocks xmlns:a="http://schemas.openxmlformats.org/drawingml/2006/main" noGrp="1"/>
          </p:cNvSpPr>
          <p:nvPr/>
        </p:nvSpPr>
        <p:spPr>
          <a:xfrm xmlns:a="http://schemas.openxmlformats.org/drawingml/2006/main">
            <a:off x="3524250" y="2647950"/>
            <a:ext cx="785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Sequential 2/30, shuffled 6/30, random 8/30.</a:t>
            </a:r>
          </a:p>
        </p:txBody>
      </p:sp>
      <p:sp>
        <p:nvSpPr>
          <p:cNvPr id="8" name="">
            <a:extLst xmlns:a="http://schemas.openxmlformats.org/drawingml/2006/main">
              <a:ext uri="{FF2B5EF4-FFF2-40B4-BE49-F238E27FC236}">
                <a16:creationId xmlns:a16="http://schemas.microsoft.com/office/drawing/2014/main" id="{4E170F07-0041-42F4-940E-8B06E7979D21}"/>
              </a:ext>
            </a:extLst>
          </p:cNvPr>
          <p:cNvSpPr>
            <a:spLocks xmlns:a="http://schemas.openxmlformats.org/drawingml/2006/main" noGrp="1"/>
          </p:cNvSpPr>
          <p:nvPr/>
        </p:nvSpPr>
        <p:spPr>
          <a:xfrm xmlns:a="http://schemas.openxmlformats.org/drawingml/2006/main">
            <a:off x="533400" y="3400425"/>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A713A"/>
                </a:solidFill>
                <a:latin typeface="Helvetica Neue"/>
                <a:ea typeface="Helvetica Neue"/>
                <a:cs typeface="Helvetica Neue"/>
              </a:defRPr>
            </a:defPPr>
            <a:lvl1pPr>
              <a:defRPr sz="4200" b="1">
                <a:solidFill>
                  <a:srgbClr val="CA713A"/>
                </a:solidFill>
                <a:latin typeface="Helvetica Neue"/>
                <a:ea typeface="Helvetica Neue"/>
                <a:cs typeface="Helvetica Neue"/>
              </a:defRPr>
            </a:lvl1pPr>
            <a:lvl2pPr>
              <a:defRPr sz="4200" b="1">
                <a:solidFill>
                  <a:srgbClr val="CA713A"/>
                </a:solidFill>
                <a:latin typeface="Helvetica Neue"/>
                <a:ea typeface="Helvetica Neue"/>
                <a:cs typeface="Helvetica Neue"/>
              </a:defRPr>
            </a:lvl2pPr>
            <a:lvl3pPr>
              <a:defRPr sz="4200" b="1">
                <a:solidFill>
                  <a:srgbClr val="CA713A"/>
                </a:solidFill>
                <a:latin typeface="Helvetica Neue"/>
                <a:ea typeface="Helvetica Neue"/>
                <a:cs typeface="Helvetica Neue"/>
              </a:defRPr>
            </a:lvl3pPr>
            <a:lvl4pPr>
              <a:defRPr sz="4200" b="1">
                <a:solidFill>
                  <a:srgbClr val="CA713A"/>
                </a:solidFill>
                <a:latin typeface="Helvetica Neue"/>
                <a:ea typeface="Helvetica Neue"/>
                <a:cs typeface="Helvetica Neue"/>
              </a:defRPr>
            </a:lvl4pPr>
            <a:lvl5pPr>
              <a:defRPr sz="4200" b="1">
                <a:solidFill>
                  <a:srgbClr val="CA713A"/>
                </a:solidFill>
                <a:latin typeface="Helvetica Neue"/>
                <a:ea typeface="Helvetica Neue"/>
                <a:cs typeface="Helvetica Neue"/>
              </a:defRPr>
            </a:lvl5pPr>
            <a:lvl6pPr>
              <a:defRPr sz="4200" b="1">
                <a:solidFill>
                  <a:srgbClr val="CA713A"/>
                </a:solidFill>
                <a:latin typeface="Helvetica Neue"/>
                <a:ea typeface="Helvetica Neue"/>
                <a:cs typeface="Helvetica Neue"/>
              </a:defRPr>
            </a:lvl6pPr>
            <a:lvl7pPr>
              <a:defRPr sz="4200" b="1">
                <a:solidFill>
                  <a:srgbClr val="CA713A"/>
                </a:solidFill>
                <a:latin typeface="Helvetica Neue"/>
                <a:ea typeface="Helvetica Neue"/>
                <a:cs typeface="Helvetica Neue"/>
              </a:defRPr>
            </a:lvl7pPr>
            <a:lvl8pPr>
              <a:defRPr sz="4200" b="1">
                <a:solidFill>
                  <a:srgbClr val="CA713A"/>
                </a:solidFill>
                <a:latin typeface="Helvetica Neue"/>
                <a:ea typeface="Helvetica Neue"/>
                <a:cs typeface="Helvetica Neue"/>
              </a:defRPr>
            </a:lvl8pPr>
            <a:lvl9pPr>
              <a:defRPr sz="4200" b="1">
                <a:solidFill>
                  <a:srgbClr val="CA713A"/>
                </a:solidFill>
                <a:latin typeface="Helvetica Neue"/>
                <a:ea typeface="Helvetica Neue"/>
                <a:cs typeface="Helvetica Neue"/>
              </a:defRPr>
            </a:lvl9pPr>
          </a:lstStyle>
          <a:p xmlns:a="http://schemas.openxmlformats.org/drawingml/2006/main">
            <a:pPr>
              <a:defRPr sz="4200" b="1">
                <a:solidFill>
                  <a:srgbClr val="CA713A"/>
                </a:solidFill>
                <a:latin typeface="Helvetica Neue"/>
                <a:ea typeface="Helvetica Neue"/>
                <a:cs typeface="Helvetica Neue"/>
              </a:defRPr>
            </a:pPr>
            <a:r>
              <a:rPr sz="4200" b="1">
                <a:solidFill>
                  <a:srgbClr val="CA713A"/>
                </a:solidFill>
                <a:latin typeface="Helvetica Neue"/>
                <a:ea typeface="Helvetica Neue"/>
                <a:cs typeface="Helvetica Neue"/>
              </a:rPr>
              <a:t>12 vs 24</a:t>
            </a:r>
          </a:p>
        </p:txBody>
      </p:sp>
      <p:sp>
        <p:nvSpPr>
          <p:cNvPr id="9" name="">
            <a:extLst xmlns:a="http://schemas.openxmlformats.org/drawingml/2006/main">
              <a:ext uri="{FF2B5EF4-FFF2-40B4-BE49-F238E27FC236}">
                <a16:creationId xmlns:a16="http://schemas.microsoft.com/office/drawing/2014/main" id="{025D8FAD-0B0D-4D74-B12B-5FE900DC7DF1}"/>
              </a:ext>
            </a:extLst>
          </p:cNvPr>
          <p:cNvSpPr>
            <a:spLocks xmlns:a="http://schemas.openxmlformats.org/drawingml/2006/main" noGrp="1"/>
          </p:cNvSpPr>
          <p:nvPr/>
        </p:nvSpPr>
        <p:spPr>
          <a:xfrm xmlns:a="http://schemas.openxmlformats.org/drawingml/2006/main">
            <a:off x="3524250" y="3429000"/>
            <a:ext cx="7858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On LLZO, random beats iterative</a:t>
            </a:r>
          </a:p>
        </p:txBody>
      </p:sp>
      <p:sp>
        <p:nvSpPr>
          <p:cNvPr id="10" name="">
            <a:extLst xmlns:a="http://schemas.openxmlformats.org/drawingml/2006/main">
              <a:ext uri="{FF2B5EF4-FFF2-40B4-BE49-F238E27FC236}">
                <a16:creationId xmlns:a16="http://schemas.microsoft.com/office/drawing/2014/main" id="{D540DCEC-A7CA-4585-A5EC-43078BEDEBE2}"/>
              </a:ext>
            </a:extLst>
          </p:cNvPr>
          <p:cNvSpPr>
            <a:spLocks xmlns:a="http://schemas.openxmlformats.org/drawingml/2006/main" noGrp="1"/>
          </p:cNvSpPr>
          <p:nvPr/>
        </p:nvSpPr>
        <p:spPr>
          <a:xfrm xmlns:a="http://schemas.openxmlformats.org/drawingml/2006/main">
            <a:off x="3524250" y="3933825"/>
            <a:ext cx="7858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Feedback helps a narrow prior, but too late in ten queries.</a:t>
            </a:r>
          </a:p>
        </p:txBody>
      </p:sp>
      <p:sp>
        <p:nvSpPr>
          <p:cNvPr id="11" name="">
            <a:extLst xmlns:a="http://schemas.openxmlformats.org/drawingml/2006/main">
              <a:ext uri="{FF2B5EF4-FFF2-40B4-BE49-F238E27FC236}">
                <a16:creationId xmlns:a16="http://schemas.microsoft.com/office/drawing/2014/main" id="{663BBE6B-5B38-4342-B0EA-7A6CEF918CB2}"/>
              </a:ext>
            </a:extLst>
          </p:cNvPr>
          <p:cNvSpPr>
            <a:spLocks xmlns:a="http://schemas.openxmlformats.org/drawingml/2006/main" noGrp="1"/>
          </p:cNvSpPr>
          <p:nvPr/>
        </p:nvSpPr>
        <p:spPr>
          <a:xfrm xmlns:a="http://schemas.openxmlformats.org/drawingml/2006/main">
            <a:off x="533400" y="4705350"/>
            <a:ext cx="2762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366AA8"/>
                </a:solidFill>
                <a:latin typeface="Helvetica Neue"/>
                <a:ea typeface="Helvetica Neue"/>
                <a:cs typeface="Helvetica Neue"/>
              </a:defRPr>
            </a:defPPr>
            <a:lvl1pPr>
              <a:defRPr sz="3300" b="1">
                <a:solidFill>
                  <a:srgbClr val="366AA8"/>
                </a:solidFill>
                <a:latin typeface="Helvetica Neue"/>
                <a:ea typeface="Helvetica Neue"/>
                <a:cs typeface="Helvetica Neue"/>
              </a:defRPr>
            </a:lvl1pPr>
            <a:lvl2pPr>
              <a:defRPr sz="3300" b="1">
                <a:solidFill>
                  <a:srgbClr val="366AA8"/>
                </a:solidFill>
                <a:latin typeface="Helvetica Neue"/>
                <a:ea typeface="Helvetica Neue"/>
                <a:cs typeface="Helvetica Neue"/>
              </a:defRPr>
            </a:lvl2pPr>
            <a:lvl3pPr>
              <a:defRPr sz="3300" b="1">
                <a:solidFill>
                  <a:srgbClr val="366AA8"/>
                </a:solidFill>
                <a:latin typeface="Helvetica Neue"/>
                <a:ea typeface="Helvetica Neue"/>
                <a:cs typeface="Helvetica Neue"/>
              </a:defRPr>
            </a:lvl3pPr>
            <a:lvl4pPr>
              <a:defRPr sz="3300" b="1">
                <a:solidFill>
                  <a:srgbClr val="366AA8"/>
                </a:solidFill>
                <a:latin typeface="Helvetica Neue"/>
                <a:ea typeface="Helvetica Neue"/>
                <a:cs typeface="Helvetica Neue"/>
              </a:defRPr>
            </a:lvl4pPr>
            <a:lvl5pPr>
              <a:defRPr sz="3300" b="1">
                <a:solidFill>
                  <a:srgbClr val="366AA8"/>
                </a:solidFill>
                <a:latin typeface="Helvetica Neue"/>
                <a:ea typeface="Helvetica Neue"/>
                <a:cs typeface="Helvetica Neue"/>
              </a:defRPr>
            </a:lvl5pPr>
            <a:lvl6pPr>
              <a:defRPr sz="3300" b="1">
                <a:solidFill>
                  <a:srgbClr val="366AA8"/>
                </a:solidFill>
                <a:latin typeface="Helvetica Neue"/>
                <a:ea typeface="Helvetica Neue"/>
                <a:cs typeface="Helvetica Neue"/>
              </a:defRPr>
            </a:lvl6pPr>
            <a:lvl7pPr>
              <a:defRPr sz="3300" b="1">
                <a:solidFill>
                  <a:srgbClr val="366AA8"/>
                </a:solidFill>
                <a:latin typeface="Helvetica Neue"/>
                <a:ea typeface="Helvetica Neue"/>
                <a:cs typeface="Helvetica Neue"/>
              </a:defRPr>
            </a:lvl7pPr>
            <a:lvl8pPr>
              <a:defRPr sz="3300" b="1">
                <a:solidFill>
                  <a:srgbClr val="366AA8"/>
                </a:solidFill>
                <a:latin typeface="Helvetica Neue"/>
                <a:ea typeface="Helvetica Neue"/>
                <a:cs typeface="Helvetica Neue"/>
              </a:defRPr>
            </a:lvl8pPr>
            <a:lvl9pPr>
              <a:defRPr sz="3300" b="1">
                <a:solidFill>
                  <a:srgbClr val="366AA8"/>
                </a:solidFill>
                <a:latin typeface="Helvetica Neue"/>
                <a:ea typeface="Helvetica Neue"/>
                <a:cs typeface="Helvetica Neue"/>
              </a:defRPr>
            </a:lvl9pPr>
          </a:lstStyle>
          <a:p xmlns:a="http://schemas.openxmlformats.org/drawingml/2006/main">
            <a:pPr>
              <a:defRPr sz="3300" b="1">
                <a:solidFill>
                  <a:srgbClr val="366AA8"/>
                </a:solidFill>
                <a:latin typeface="Helvetica Neue"/>
                <a:ea typeface="Helvetica Neue"/>
                <a:cs typeface="Helvetica Neue"/>
              </a:defRPr>
            </a:pPr>
            <a:r>
              <a:rPr sz="3300" b="1">
                <a:solidFill>
                  <a:srgbClr val="366AA8"/>
                </a:solidFill>
                <a:latin typeface="Helvetica Neue"/>
                <a:ea typeface="Helvetica Neue"/>
                <a:cs typeface="Helvetica Neue"/>
              </a:rPr>
              <a:t>2 held</a:t>
            </a:r>
          </a:p>
          <a:p xmlns:a="http://schemas.openxmlformats.org/drawingml/2006/main">
            <a:pPr>
              <a:defRPr sz="3300" b="1">
                <a:solidFill>
                  <a:srgbClr val="366AA8"/>
                </a:solidFill>
                <a:latin typeface="Helvetica Neue"/>
                <a:ea typeface="Helvetica Neue"/>
                <a:cs typeface="Helvetica Neue"/>
              </a:defRPr>
            </a:pPr>
            <a:r>
              <a:rPr sz="3300" b="1">
                <a:solidFill>
                  <a:srgbClr val="366AA8"/>
                </a:solidFill>
                <a:latin typeface="Helvetica Neue"/>
                <a:ea typeface="Helvetica Neue"/>
                <a:cs typeface="Helvetica Neue"/>
              </a:rPr>
              <a:t>2 missed</a:t>
            </a:r>
          </a:p>
        </p:txBody>
      </p:sp>
      <p:sp>
        <p:nvSpPr>
          <p:cNvPr id="12" name="">
            <a:extLst xmlns:a="http://schemas.openxmlformats.org/drawingml/2006/main">
              <a:ext uri="{FF2B5EF4-FFF2-40B4-BE49-F238E27FC236}">
                <a16:creationId xmlns:a16="http://schemas.microsoft.com/office/drawing/2014/main" id="{69624C1A-39C5-40D7-9801-3629282A37F0}"/>
              </a:ext>
            </a:extLst>
          </p:cNvPr>
          <p:cNvSpPr>
            <a:spLocks xmlns:a="http://schemas.openxmlformats.org/drawingml/2006/main" noGrp="1"/>
          </p:cNvSpPr>
          <p:nvPr/>
        </p:nvSpPr>
        <p:spPr>
          <a:xfrm xmlns:a="http://schemas.openxmlformats.org/drawingml/2006/main">
            <a:off x="3524250" y="4819650"/>
            <a:ext cx="7858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Four prospective adhesion forecasts</a:t>
            </a:r>
          </a:p>
        </p:txBody>
      </p:sp>
      <p:sp>
        <p:nvSpPr>
          <p:cNvPr id="13" name="">
            <a:extLst xmlns:a="http://schemas.openxmlformats.org/drawingml/2006/main">
              <a:ext uri="{FF2B5EF4-FFF2-40B4-BE49-F238E27FC236}">
                <a16:creationId xmlns:a16="http://schemas.microsoft.com/office/drawing/2014/main" id="{7EB906F7-069B-4F39-B898-F2EEED2AF28D}"/>
              </a:ext>
            </a:extLst>
          </p:cNvPr>
          <p:cNvSpPr>
            <a:spLocks xmlns:a="http://schemas.openxmlformats.org/drawingml/2006/main" noGrp="1"/>
          </p:cNvSpPr>
          <p:nvPr/>
        </p:nvSpPr>
        <p:spPr>
          <a:xfrm xmlns:a="http://schemas.openxmlformats.org/drawingml/2006/main">
            <a:off x="3524250" y="5343525"/>
            <a:ext cx="7858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LiTaF₆ matched both ranges. LiCaAlF₆ fell below both.</a:t>
            </a:r>
          </a:p>
        </p:txBody>
      </p:sp>
    </p:spTree>
    <p:extLst>
      <p:ext uri="{BB962C8B-B14F-4D97-AF65-F5344CB8AC3E}">
        <p14:creationId xmlns:p14="http://schemas.microsoft.com/office/powerpoint/2010/main" val="1150562923"/>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483D6E-6EFC-401F-A2D1-4321A7C1A83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WHY THE LLM IS CENTRAL</a:t>
            </a:r>
          </a:p>
        </p:txBody>
      </p:sp>
      <p:sp>
        <p:nvSpPr>
          <p:cNvPr id="2" name="">
            <a:extLst xmlns:a="http://schemas.openxmlformats.org/drawingml/2006/main">
              <a:ext uri="{FF2B5EF4-FFF2-40B4-BE49-F238E27FC236}">
                <a16:creationId xmlns:a16="http://schemas.microsoft.com/office/drawing/2014/main" id="{E10AA8E1-2F75-4862-92A5-96A7FD73ADC4}"/>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LLM replaces part of the selection judgment</a:t>
            </a:r>
          </a:p>
        </p:txBody>
      </p:sp>
      <p:sp>
        <p:nvSpPr>
          <p:cNvPr id="3" name="">
            <a:extLst xmlns:a="http://schemas.openxmlformats.org/drawingml/2006/main">
              <a:ext uri="{FF2B5EF4-FFF2-40B4-BE49-F238E27FC236}">
                <a16:creationId xmlns:a16="http://schemas.microsoft.com/office/drawing/2014/main" id="{FCC93DE6-2564-413A-973C-E0F19612F681}"/>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 question is what to calculate next, and what result to expect.</a:t>
            </a:r>
          </a:p>
        </p:txBody>
      </p:sp>
      <p:sp>
        <p:nvSpPr>
          <p:cNvPr id="4" name="">
            <a:extLst xmlns:a="http://schemas.openxmlformats.org/drawingml/2006/main">
              <a:ext uri="{FF2B5EF4-FFF2-40B4-BE49-F238E27FC236}">
                <a16:creationId xmlns:a16="http://schemas.microsoft.com/office/drawing/2014/main" id="{D84A35C9-DA90-4670-B18F-7FA2389F400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5C2DFA09-D839-41AF-A712-535BB9DA8E3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graphicFrame>
        <p:nvGraphicFramePr>
          <p:cNvPr id="6" name="">
            <a:extLst xmlns:a="http://schemas.openxmlformats.org/drawingml/2006/main">
              <a:ext uri="{FF2B5EF4-FFF2-40B4-BE49-F238E27FC236}">
                <a16:creationId xmlns:a16="http://schemas.microsoft.com/office/drawing/2014/main" id="{684CD85C-6522-455F-8669-5E6E1402C8A0}"/>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3810000"/>
                <a:gridCol w="3762375"/>
                <a:gridCol w="3552825"/>
              </a:tblGrid>
              <a:tr h="676275">
                <a:tc>
                  <a:txBody>
                    <a:bodyPr lIns="0" tIns="0" rIns="0" bIns="0">
                      <a:noAutofit/>
                    </a:bodyPr>
                    <a:lstStyle/>
                    <a:p>
                      <a:r>
                        <a:rPr sz="1725" b="1">
                          <a:solidFill>
                            <a:srgbClr val="FFFFFF"/>
                          </a:solidFill>
                          <a:latin typeface="Helvetica Neue"/>
                          <a:ea typeface="Helvetica Neue"/>
                          <a:cs typeface="Helvetica Neue"/>
                        </a:rPr>
                        <a:t>Human task being delegated</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LLM contribution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Grounding / control</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1875" b="0">
                          <a:solidFill>
                            <a:srgbClr val="172B3A"/>
                          </a:solidFill>
                          <a:latin typeface="Helvetica Neue"/>
                          <a:ea typeface="Helvetica Neue"/>
                          <a:cs typeface="Helvetica Neue"/>
                        </a:rPr>
                        <a:t>Propose a promising direction</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Select a coating and explain why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Frozen candidate IDs and budget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Learn from a failed test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Relate outcomes to chemistry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Only observed feedback is exposed</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Decide the next calculation</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Revise priorities after feedback</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No-feedback and shuffled controls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Anticipate the result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Forecast adhesion and weak contact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PET-MAD tests the prediction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8B5AF540-E8E4-45B0-BA22-F1B184720C36}"/>
              </a:ext>
            </a:extLst>
          </p:cNvPr>
          <p:cNvSpPr>
            <a:spLocks xmlns:a="http://schemas.openxmlformats.org/drawingml/2006/main" noGrp="1"/>
          </p:cNvSpPr>
          <p:nvPr/>
        </p:nvSpPr>
        <p:spPr>
          <a:xfrm xmlns:a="http://schemas.openxmlformats.org/drawingml/2006/main">
            <a:off x="533400" y="57531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The LLM supplies the scientific decision policy. The tools supply the numerical evidence.</a:t>
            </a:r>
          </a:p>
        </p:txBody>
      </p:sp>
    </p:spTree>
    <p:extLst>
      <p:ext uri="{BB962C8B-B14F-4D97-AF65-F5344CB8AC3E}">
        <p14:creationId xmlns:p14="http://schemas.microsoft.com/office/powerpoint/2010/main" val="1683881021"/>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640213-421B-492F-82FE-55DD89F1A97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ORIGINAL INSPIRATION</a:t>
            </a:r>
          </a:p>
        </p:txBody>
      </p:sp>
      <p:sp>
        <p:nvSpPr>
          <p:cNvPr id="2" name="">
            <a:extLst xmlns:a="http://schemas.openxmlformats.org/drawingml/2006/main">
              <a:ext uri="{FF2B5EF4-FFF2-40B4-BE49-F238E27FC236}">
                <a16:creationId xmlns:a16="http://schemas.microsoft.com/office/drawing/2014/main" id="{CF4D9354-CE42-4C95-B12F-6B390C8945AD}"/>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From mechanism proposals to material choices</a:t>
            </a:r>
          </a:p>
        </p:txBody>
      </p:sp>
      <p:sp>
        <p:nvSpPr>
          <p:cNvPr id="3" name="">
            <a:extLst xmlns:a="http://schemas.openxmlformats.org/drawingml/2006/main">
              <a:ext uri="{FF2B5EF4-FFF2-40B4-BE49-F238E27FC236}">
                <a16:creationId xmlns:a16="http://schemas.microsoft.com/office/drawing/2014/main" id="{47048384-3A53-440C-9CA0-986625497ABE}"/>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Both delegate a scientific choice, then test it with calculations.</a:t>
            </a:r>
          </a:p>
        </p:txBody>
      </p:sp>
      <p:sp>
        <p:nvSpPr>
          <p:cNvPr id="4" name="">
            <a:extLst xmlns:a="http://schemas.openxmlformats.org/drawingml/2006/main">
              <a:ext uri="{FF2B5EF4-FFF2-40B4-BE49-F238E27FC236}">
                <a16:creationId xmlns:a16="http://schemas.microsoft.com/office/drawing/2014/main" id="{E969921A-6F0F-44C6-AB11-B9EDB7181E5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2BBD0E59-F10D-44CF-90A0-5665C27FBCA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graphicFrame>
        <p:nvGraphicFramePr>
          <p:cNvPr id="6" name="">
            <a:extLst xmlns:a="http://schemas.openxmlformats.org/drawingml/2006/main">
              <a:ext uri="{FF2B5EF4-FFF2-40B4-BE49-F238E27FC236}">
                <a16:creationId xmlns:a16="http://schemas.microsoft.com/office/drawing/2014/main" id="{CF890C78-0618-4DC1-9CFF-2D22AD382EC8}"/>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2476500"/>
                <a:gridCol w="4324350"/>
                <a:gridCol w="4324350"/>
              </a:tblGrid>
              <a:tr h="676275">
                <a:tc>
                  <a:txBody>
                    <a:bodyPr lIns="0" tIns="0" rIns="0" bIns="0">
                      <a:noAutofit/>
                    </a:bodyPr>
                    <a:lstStyle/>
                    <a:p>
                      <a:r>
                        <a:rPr sz="1725" b="1">
                          <a:solidFill>
                            <a:srgbClr val="FFFFFF"/>
                          </a:solidFill>
                          <a:latin typeface="Helvetica Neue"/>
                          <a:ea typeface="Helvetica Neue"/>
                          <a:cs typeface="Helvetica Neue"/>
                        </a:rPr>
                        <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HELLMM</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interphAIse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1875" b="0">
                          <a:solidFill>
                            <a:srgbClr val="172B3A"/>
                          </a:solidFill>
                          <a:latin typeface="Helvetica Neue"/>
                          <a:ea typeface="Helvetica Neue"/>
                          <a:cs typeface="Helvetica Neue"/>
                        </a:rPr>
                        <a:t>What the LLM imagines</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Possible intermediates and mechanisms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Promising materials and expected responses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What the tools test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Structures, pathways and energetics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Compatibility and contact adhesion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Where intuition is replaced</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Which mechanisms should exist in the study?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Which material deserves the next test?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Distinct contribution here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Richer chemical hypothesis generation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Controlled evidence on feedback use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F73C7204-51A2-4513-933A-A2311B1A87C2}"/>
              </a:ext>
            </a:extLst>
          </p:cNvPr>
          <p:cNvSpPr>
            <a:spLocks xmlns:a="http://schemas.openxmlformats.org/drawingml/2006/main" noGrp="1"/>
          </p:cNvSpPr>
          <p:nvPr/>
        </p:nvSpPr>
        <p:spPr>
          <a:xfrm xmlns:a="http://schemas.openxmlformats.org/drawingml/2006/main">
            <a:off x="533400" y="57531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Narrower creativity than HELLMM. A clearer experiment on sequential decision-making.</a:t>
            </a:r>
          </a:p>
        </p:txBody>
      </p:sp>
    </p:spTree>
    <p:extLst>
      <p:ext uri="{BB962C8B-B14F-4D97-AF65-F5344CB8AC3E}">
        <p14:creationId xmlns:p14="http://schemas.microsoft.com/office/powerpoint/2010/main" val="2061570995"/>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92F318-52A1-40EB-9B75-89420BE04E7D}"/>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WAS COMPLETED</a:t>
            </a:r>
          </a:p>
        </p:txBody>
      </p:sp>
      <p:sp>
        <p:nvSpPr>
          <p:cNvPr id="2" name="">
            <a:extLst xmlns:a="http://schemas.openxmlformats.org/drawingml/2006/main">
              <a:ext uri="{FF2B5EF4-FFF2-40B4-BE49-F238E27FC236}">
                <a16:creationId xmlns:a16="http://schemas.microsoft.com/office/drawing/2014/main" id="{8FA89FDD-1E45-4661-9C0D-6547AA5590E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Two days produced two complementary experiments</a:t>
            </a:r>
          </a:p>
        </p:txBody>
      </p:sp>
      <p:sp>
        <p:nvSpPr>
          <p:cNvPr id="3" name="">
            <a:extLst xmlns:a="http://schemas.openxmlformats.org/drawingml/2006/main">
              <a:ext uri="{FF2B5EF4-FFF2-40B4-BE49-F238E27FC236}">
                <a16:creationId xmlns:a16="http://schemas.microsoft.com/office/drawing/2014/main" id="{5C7F8663-626F-4E94-813E-1DABE0F08999}"/>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 cheap study measures selection. The physical pilot tests forecasts.</a:t>
            </a:r>
          </a:p>
        </p:txBody>
      </p:sp>
      <p:sp>
        <p:nvSpPr>
          <p:cNvPr id="4" name="">
            <a:extLst xmlns:a="http://schemas.openxmlformats.org/drawingml/2006/main">
              <a:ext uri="{FF2B5EF4-FFF2-40B4-BE49-F238E27FC236}">
                <a16:creationId xmlns:a16="http://schemas.microsoft.com/office/drawing/2014/main" id="{6649E936-BA46-4485-BC3C-37CC538EE19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0D496400-3A82-408C-A826-D701F4DEFB7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
            <a:extLst xmlns:a="http://schemas.openxmlformats.org/drawingml/2006/main">
              <a:ext uri="{FF2B5EF4-FFF2-40B4-BE49-F238E27FC236}">
                <a16:creationId xmlns:a16="http://schemas.microsoft.com/office/drawing/2014/main" id="{61A123E9-D806-46F8-B76F-CF725DA87B7D}"/>
              </a:ext>
            </a:extLst>
          </p:cNvPr>
          <p:cNvGraphicFramePr/>
          <p:nvPr/>
        </p:nvGraphicFramePr>
        <p:xfrm>
          <a:off xmlns:a="http://schemas.openxmlformats.org/drawingml/2006/main" x="533400" y="2019300"/>
          <a:ext xmlns:a="http://schemas.openxmlformats.org/drawingml/2006/main" cx="11125200" cy="3286125"/>
        </p:xfrm>
        <a:graphic xmlns:a="http://schemas.openxmlformats.org/drawingml/2006/main">
          <a:graphicData uri="http://schemas.openxmlformats.org/drawingml/2006/table">
            <a:tbl>
              <a:tblPr firstRow="0" bandRow="0"/>
              <a:tblGrid>
                <a:gridCol w="3143250"/>
                <a:gridCol w="3905250"/>
                <a:gridCol w="4076700"/>
              </a:tblGrid>
              <a:tr h="821531">
                <a:tc>
                  <a:txBody>
                    <a:bodyPr lIns="0" tIns="0" rIns="0" bIns="0">
                      <a:noAutofit/>
                    </a:bodyPr>
                    <a:lstStyle/>
                    <a:p>
                      <a:r>
                        <a:rPr sz="1725" b="1">
                          <a:solidFill>
                            <a:srgbClr val="FFFFFF"/>
                          </a:solidFill>
                          <a:latin typeface="Helvetica Neue"/>
                          <a:ea typeface="Helvetica Neue"/>
                          <a:cs typeface="Helvetica Neue"/>
                        </a:rPr>
                        <a:t>Stage</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Scope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What it can establish</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821531">
                <a:tc>
                  <a:txBody>
                    <a:bodyPr lIns="0" tIns="0" rIns="0" bIns="0">
                      <a:noAutofit/>
                    </a:bodyPr>
                    <a:lstStyle/>
                    <a:p>
                      <a:r>
                        <a:rPr sz="1950" b="0">
                          <a:solidFill>
                            <a:srgbClr val="172B3A"/>
                          </a:solidFill>
                          <a:latin typeface="Helvetica Neue"/>
                          <a:ea typeface="Helvetica Neue"/>
                          <a:cs typeface="Helvetica Neue"/>
                        </a:rPr>
                        <a:t>21 Oct: frozen benchmark</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50 structures, 43 formulas</a:t>
                      </a:r>
                    </a:p>
                    <a:p>
                      <a:r>
                        <a:rPr sz="1950" b="0">
                          <a:solidFill>
                            <a:srgbClr val="172B3A"/>
                          </a:solidFill>
                          <a:latin typeface="Helvetica Neue"/>
                          <a:ea typeface="Helvetica Neue"/>
                          <a:cs typeface="Helvetica Neue"/>
                        </a:rPr>
                        <a:t>150 runs across five arms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Whether feedback helps on one fixed task</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821531">
                <a:tc>
                  <a:txBody>
                    <a:bodyPr lIns="0" tIns="0" rIns="0" bIns="0">
                      <a:noAutofit/>
                    </a:bodyPr>
                    <a:lstStyle/>
                    <a:p>
                      <a:r>
                        <a:rPr sz="1950" b="0">
                          <a:solidFill>
                            <a:srgbClr val="172B3A"/>
                          </a:solidFill>
                          <a:latin typeface="Helvetica Neue"/>
                          <a:ea typeface="Helvetica Neue"/>
                          <a:cs typeface="Helvetica Neue"/>
                        </a:rPr>
                        <a:t>21 Oct: environment study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141 structures, 100 formulas</a:t>
                      </a:r>
                    </a:p>
                    <a:p>
                      <a:r>
                        <a:rPr sz="1950" b="0">
                          <a:solidFill>
                            <a:srgbClr val="172B3A"/>
                          </a:solidFill>
                          <a:latin typeface="Helvetica Neue"/>
                          <a:ea typeface="Helvetica Neue"/>
                          <a:cs typeface="Helvetica Neue"/>
                        </a:rPr>
                        <a:t>3 environments, 450 runs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Where the decision policy transfers or fails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821531">
                <a:tc>
                  <a:txBody>
                    <a:bodyPr lIns="0" tIns="0" rIns="0" bIns="0">
                      <a:noAutofit/>
                    </a:bodyPr>
                    <a:lstStyle/>
                    <a:p>
                      <a:r>
                        <a:rPr sz="1950" b="0">
                          <a:solidFill>
                            <a:srgbClr val="172B3A"/>
                          </a:solidFill>
                          <a:latin typeface="Helvetica Neue"/>
                          <a:ea typeface="Helvetica Neue"/>
                          <a:cs typeface="Helvetica Neue"/>
                        </a:rPr>
                        <a:t>22 Oct: physical pilot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3 coatings, 2 contacts each</a:t>
                      </a:r>
                    </a:p>
                    <a:p>
                      <a:r>
                        <a:rPr sz="1950" b="0">
                          <a:solidFill>
                            <a:srgbClr val="172B3A"/>
                          </a:solidFill>
                          <a:latin typeface="Helvetica Neue"/>
                          <a:ea typeface="Helvetica Neue"/>
                          <a:cs typeface="Helvetica Neue"/>
                        </a:rPr>
                        <a:t>26 new jobs, 2 LLM choices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Prospective predictions and model sensitivity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8FAD7E22-3790-463F-9602-BBDB0EC9970F}"/>
              </a:ext>
            </a:extLst>
          </p:cNvPr>
          <p:cNvSpPr>
            <a:spLocks xmlns:a="http://schemas.openxmlformats.org/drawingml/2006/main" noGrp="1"/>
          </p:cNvSpPr>
          <p:nvPr/>
        </p:nvSpPr>
        <p:spPr>
          <a:xfrm xmlns:a="http://schemas.openxmlformats.org/drawingml/2006/main">
            <a:off x="533400" y="57245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These are separate evidence layers. The larger pool includes the original 50 structures.</a:t>
            </a:r>
          </a:p>
        </p:txBody>
      </p:sp>
    </p:spTree>
    <p:extLst>
      <p:ext uri="{BB962C8B-B14F-4D97-AF65-F5344CB8AC3E}">
        <p14:creationId xmlns:p14="http://schemas.microsoft.com/office/powerpoint/2010/main" val="1552600963"/>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2FA2ED-7694-4F30-A766-B2BD309F424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THERMODYNAMIC EVALUATOR</a:t>
            </a:r>
          </a:p>
        </p:txBody>
      </p:sp>
      <p:sp>
        <p:nvSpPr>
          <p:cNvPr id="2" name="">
            <a:extLst xmlns:a="http://schemas.openxmlformats.org/drawingml/2006/main">
              <a:ext uri="{FF2B5EF4-FFF2-40B4-BE49-F238E27FC236}">
                <a16:creationId xmlns:a16="http://schemas.microsoft.com/office/drawing/2014/main" id="{F8D6537E-1A17-46B2-90F4-F0BF7AA4FA49}"/>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“Acceptable” means passing a frozen proxy</a:t>
            </a:r>
          </a:p>
        </p:txBody>
      </p:sp>
      <p:sp>
        <p:nvSpPr>
          <p:cNvPr id="3" name="">
            <a:extLst xmlns:a="http://schemas.openxmlformats.org/drawingml/2006/main">
              <a:ext uri="{FF2B5EF4-FFF2-40B4-BE49-F238E27FC236}">
                <a16:creationId xmlns:a16="http://schemas.microsoft.com/office/drawing/2014/main" id="{FEFEEC92-92BE-4759-BF42-DD92A6B2FCEC}"/>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LiCoO₂ at 4.0 V, paired with each electrolyte. Lower penalty is better.</a:t>
            </a:r>
          </a:p>
        </p:txBody>
      </p:sp>
      <p:sp>
        <p:nvSpPr>
          <p:cNvPr id="4" name="">
            <a:extLst xmlns:a="http://schemas.openxmlformats.org/drawingml/2006/main">
              <a:ext uri="{FF2B5EF4-FFF2-40B4-BE49-F238E27FC236}">
                <a16:creationId xmlns:a16="http://schemas.microsoft.com/office/drawing/2014/main" id="{175273C6-CC41-408D-BB8F-5E19702F2C5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C4F364FF-75C8-4645-B802-C6D52176284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BD4072B9-FCD0-43AD-B3CE-A3A45DDF8681}"/>
              </a:ext>
            </a:extLst>
          </p:cNvPr>
          <p:cNvSpPr>
            <a:spLocks xmlns:a="http://schemas.openxmlformats.org/drawingml/2006/main" noGrp="1"/>
          </p:cNvSpPr>
          <p:nvPr/>
        </p:nvSpPr>
        <p:spPr>
          <a:xfrm xmlns:a="http://schemas.openxmlformats.org/drawingml/2006/main">
            <a:off x="533400" y="22574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7F7B"/>
                </a:solidFill>
                <a:latin typeface="Helvetica Neue"/>
                <a:ea typeface="Helvetica Neue"/>
                <a:cs typeface="Helvetica Neue"/>
              </a:defRPr>
            </a:defPPr>
            <a:lvl1pPr>
              <a:defRPr sz="2550" b="1">
                <a:solidFill>
                  <a:srgbClr val="007F7B"/>
                </a:solidFill>
                <a:latin typeface="Helvetica Neue"/>
                <a:ea typeface="Helvetica Neue"/>
                <a:cs typeface="Helvetica Neue"/>
              </a:defRPr>
            </a:lvl1pPr>
            <a:lvl2pPr>
              <a:defRPr sz="2550" b="1">
                <a:solidFill>
                  <a:srgbClr val="007F7B"/>
                </a:solidFill>
                <a:latin typeface="Helvetica Neue"/>
                <a:ea typeface="Helvetica Neue"/>
                <a:cs typeface="Helvetica Neue"/>
              </a:defRPr>
            </a:lvl2pPr>
            <a:lvl3pPr>
              <a:defRPr sz="2550" b="1">
                <a:solidFill>
                  <a:srgbClr val="007F7B"/>
                </a:solidFill>
                <a:latin typeface="Helvetica Neue"/>
                <a:ea typeface="Helvetica Neue"/>
                <a:cs typeface="Helvetica Neue"/>
              </a:defRPr>
            </a:lvl3pPr>
            <a:lvl4pPr>
              <a:defRPr sz="2550" b="1">
                <a:solidFill>
                  <a:srgbClr val="007F7B"/>
                </a:solidFill>
                <a:latin typeface="Helvetica Neue"/>
                <a:ea typeface="Helvetica Neue"/>
                <a:cs typeface="Helvetica Neue"/>
              </a:defRPr>
            </a:lvl4pPr>
            <a:lvl5pPr>
              <a:defRPr sz="2550" b="1">
                <a:solidFill>
                  <a:srgbClr val="007F7B"/>
                </a:solidFill>
                <a:latin typeface="Helvetica Neue"/>
                <a:ea typeface="Helvetica Neue"/>
                <a:cs typeface="Helvetica Neue"/>
              </a:defRPr>
            </a:lvl5pPr>
            <a:lvl6pPr>
              <a:defRPr sz="2550" b="1">
                <a:solidFill>
                  <a:srgbClr val="007F7B"/>
                </a:solidFill>
                <a:latin typeface="Helvetica Neue"/>
                <a:ea typeface="Helvetica Neue"/>
                <a:cs typeface="Helvetica Neue"/>
              </a:defRPr>
            </a:lvl6pPr>
            <a:lvl7pPr>
              <a:defRPr sz="2550" b="1">
                <a:solidFill>
                  <a:srgbClr val="007F7B"/>
                </a:solidFill>
                <a:latin typeface="Helvetica Neue"/>
                <a:ea typeface="Helvetica Neue"/>
                <a:cs typeface="Helvetica Neue"/>
              </a:defRPr>
            </a:lvl7pPr>
            <a:lvl8pPr>
              <a:defRPr sz="2550" b="1">
                <a:solidFill>
                  <a:srgbClr val="007F7B"/>
                </a:solidFill>
                <a:latin typeface="Helvetica Neue"/>
                <a:ea typeface="Helvetica Neue"/>
                <a:cs typeface="Helvetica Neue"/>
              </a:defRPr>
            </a:lvl8pPr>
            <a:lvl9pPr>
              <a:defRPr sz="2550" b="1">
                <a:solidFill>
                  <a:srgbClr val="007F7B"/>
                </a:solidFill>
                <a:latin typeface="Helvetica Neue"/>
                <a:ea typeface="Helvetica Neue"/>
                <a:cs typeface="Helvetica Neue"/>
              </a:defRPr>
            </a:lvl9pPr>
          </a:lstStyle>
          <a:p xmlns:a="http://schemas.openxmlformats.org/drawingml/2006/main">
            <a:pPr>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P = max(self-decomposition, cathode contact, electrolyte contact)</a:t>
            </a:r>
          </a:p>
        </p:txBody>
      </p:sp>
      <p:graphicFrame>
        <p:nvGraphicFramePr>
          <p:cNvPr id="7" name="">
            <a:extLst xmlns:a="http://schemas.openxmlformats.org/drawingml/2006/main">
              <a:ext uri="{FF2B5EF4-FFF2-40B4-BE49-F238E27FC236}">
                <a16:creationId xmlns:a16="http://schemas.microsoft.com/office/drawing/2014/main" id="{69617F22-2753-4BB0-81B4-1D69DF7BDC6C}"/>
              </a:ext>
            </a:extLst>
          </p:cNvPr>
          <p:cNvGraphicFramePr/>
          <p:nvPr/>
        </p:nvGraphicFramePr>
        <p:xfrm>
          <a:off xmlns:a="http://schemas.openxmlformats.org/drawingml/2006/main" x="533400" y="3286125"/>
          <a:ext xmlns:a="http://schemas.openxmlformats.org/drawingml/2006/main" cx="11125200" cy="1752600"/>
        </p:xfrm>
        <a:graphic xmlns:a="http://schemas.openxmlformats.org/drawingml/2006/main">
          <a:graphicData uri="http://schemas.openxmlformats.org/drawingml/2006/table">
            <a:tbl>
              <a:tblPr firstRow="0" bandRow="0"/>
              <a:tblGrid>
                <a:gridCol w="4143375"/>
                <a:gridCol w="3286125"/>
                <a:gridCol w="3695700"/>
              </a:tblGrid>
              <a:tr h="876300">
                <a:tc>
                  <a:txBody>
                    <a:bodyPr lIns="0" tIns="0" rIns="0" bIns="0">
                      <a:noAutofit/>
                    </a:bodyPr>
                    <a:lstStyle/>
                    <a:p>
                      <a:r>
                        <a:rPr sz="1725" b="1">
                          <a:solidFill>
                            <a:srgbClr val="FFFFFF"/>
                          </a:solidFill>
                          <a:latin typeface="Helvetica Neue"/>
                          <a:ea typeface="Helvetica Neue"/>
                          <a:cs typeface="Helvetica Neue"/>
                        </a:rPr>
                        <a:t>Acceptance</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Ranking resolution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Meaning</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876300">
                <a:tc>
                  <a:txBody>
                    <a:bodyPr lIns="0" tIns="0" rIns="0" bIns="0">
                      <a:noAutofit/>
                    </a:bodyPr>
                    <a:lstStyle/>
                    <a:p>
                      <a:r>
                        <a:rPr sz="1950" b="0">
                          <a:solidFill>
                            <a:srgbClr val="172B3A"/>
                          </a:solidFill>
                          <a:latin typeface="Helvetica Neue"/>
                          <a:ea typeface="Helvetica Neue"/>
                          <a:cs typeface="Helvetica Neue"/>
                        </a:rPr>
                        <a:t>P ≤ 0.050 eV / non-Li atom</a:t>
                      </a:r>
                    </a:p>
                    <a:p>
                      <a:r>
                        <a:rPr sz="1950" b="0">
                          <a:solidFill>
                            <a:srgbClr val="172B3A"/>
                          </a:solidFill>
                          <a:latin typeface="Helvetica Neue"/>
                          <a:ea typeface="Helvetica Neue"/>
                          <a:cs typeface="Helvetica Neue"/>
                        </a:rPr>
                        <a:t>Band gap ≥ 2 eV</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0.020 eV / non-Li atom bins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Additional reaction on contact,</a:t>
                      </a:r>
                    </a:p>
                    <a:p>
                      <a:r>
                        <a:rPr sz="1950" b="0">
                          <a:solidFill>
                            <a:srgbClr val="172B3A"/>
                          </a:solidFill>
                          <a:latin typeface="Helvetica Neue"/>
                          <a:ea typeface="Helvetica Neue"/>
                          <a:cs typeface="Helvetica Neue"/>
                        </a:rPr>
                        <a:t>relative to equilibrated endpoints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8" name="">
            <a:extLst xmlns:a="http://schemas.openxmlformats.org/drawingml/2006/main">
              <a:ext uri="{FF2B5EF4-FFF2-40B4-BE49-F238E27FC236}">
                <a16:creationId xmlns:a16="http://schemas.microsoft.com/office/drawing/2014/main" id="{1CC74B42-4605-4A3B-9218-0382060C32BF}"/>
              </a:ext>
            </a:extLst>
          </p:cNvPr>
          <p:cNvSpPr>
            <a:spLocks xmlns:a="http://schemas.openxmlformats.org/drawingml/2006/main" noGrp="1"/>
          </p:cNvSpPr>
          <p:nvPr/>
        </p:nvSpPr>
        <p:spPr>
          <a:xfrm xmlns:a="http://schemas.openxmlformats.org/drawingml/2006/main">
            <a:off x="533400" y="546735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Lithium transport, finite-temperature behavior, synthesis and cycling were not validated.</a:t>
            </a:r>
          </a:p>
        </p:txBody>
      </p:sp>
      <p:sp>
        <p:nvSpPr>
          <p:cNvPr id="9" name="">
            <a:extLst xmlns:a="http://schemas.openxmlformats.org/drawingml/2006/main">
              <a:ext uri="{FF2B5EF4-FFF2-40B4-BE49-F238E27FC236}">
                <a16:creationId xmlns:a16="http://schemas.microsoft.com/office/drawing/2014/main" id="{8F1EA6D2-B934-45AE-B045-8374F6916673}"/>
              </a:ext>
            </a:extLst>
          </p:cNvPr>
          <p:cNvSpPr>
            <a:spLocks xmlns:a="http://schemas.openxmlformats.org/drawingml/2006/main" noGrp="1"/>
          </p:cNvSpPr>
          <p:nvPr/>
        </p:nvSpPr>
        <p:spPr>
          <a:xfrm xmlns:a="http://schemas.openxmlformats.org/drawingml/2006/main">
            <a:off x="533400" y="60102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The exhaustive table is cheap. Search on it is a controlled benchmark, not a compute-saving result.</a:t>
            </a:r>
          </a:p>
        </p:txBody>
      </p:sp>
    </p:spTree>
    <p:extLst>
      <p:ext uri="{BB962C8B-B14F-4D97-AF65-F5344CB8AC3E}">
        <p14:creationId xmlns:p14="http://schemas.microsoft.com/office/powerpoint/2010/main" val="1657319560"/>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299EB1-7226-450F-97E4-E28BE7B0AD3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CONTROLLED SEARCH</a:t>
            </a:r>
          </a:p>
        </p:txBody>
      </p:sp>
      <p:sp>
        <p:nvSpPr>
          <p:cNvPr id="2" name="">
            <a:extLst xmlns:a="http://schemas.openxmlformats.org/drawingml/2006/main">
              <a:ext uri="{FF2B5EF4-FFF2-40B4-BE49-F238E27FC236}">
                <a16:creationId xmlns:a16="http://schemas.microsoft.com/office/drawing/2014/main" id="{5F8C6DC6-40ED-44AA-B50D-56E6ECF11A1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arms separate prior knowledge from feedback</a:t>
            </a:r>
          </a:p>
        </p:txBody>
      </p:sp>
      <p:sp>
        <p:nvSpPr>
          <p:cNvPr id="3" name="">
            <a:extLst xmlns:a="http://schemas.openxmlformats.org/drawingml/2006/main">
              <a:ext uri="{FF2B5EF4-FFF2-40B4-BE49-F238E27FC236}">
                <a16:creationId xmlns:a16="http://schemas.microsoft.com/office/drawing/2014/main" id="{B82CEF24-A6FA-41CA-86EA-9F7374C2B1A6}"/>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Same pool and ten charged evaluations. Thirty runs per arm.</a:t>
            </a:r>
          </a:p>
        </p:txBody>
      </p:sp>
      <p:sp>
        <p:nvSpPr>
          <p:cNvPr id="4" name="">
            <a:extLst xmlns:a="http://schemas.openxmlformats.org/drawingml/2006/main">
              <a:ext uri="{FF2B5EF4-FFF2-40B4-BE49-F238E27FC236}">
                <a16:creationId xmlns:a16="http://schemas.microsoft.com/office/drawing/2014/main" id="{FA6C5633-D956-4354-97D3-0279B6DC6809}"/>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24E69BD6-6EE8-4D42-8119-C54B8225F74A}"/>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4C8EAE62-3FA1-4AE8-97EC-20C8E2359473}"/>
              </a:ext>
            </a:extLst>
          </p:cNvPr>
          <p:cNvGraphicFramePr/>
          <p:nvPr/>
        </p:nvGraphicFramePr>
        <p:xfrm>
          <a:off xmlns:a="http://schemas.openxmlformats.org/drawingml/2006/main" x="533400" y="2019300"/>
          <a:ext xmlns:a="http://schemas.openxmlformats.org/drawingml/2006/main" cx="11125200" cy="3657600"/>
        </p:xfrm>
        <a:graphic xmlns:a="http://schemas.openxmlformats.org/drawingml/2006/main">
          <a:graphicData uri="http://schemas.openxmlformats.org/drawingml/2006/table">
            <a:tbl>
              <a:tblPr firstRow="0" bandRow="0"/>
              <a:tblGrid>
                <a:gridCol w="2143125"/>
                <a:gridCol w="4524375"/>
                <a:gridCol w="4457700"/>
              </a:tblGrid>
              <a:tr h="609600">
                <a:tc>
                  <a:txBody>
                    <a:bodyPr lIns="0" tIns="0" rIns="0" bIns="0">
                      <a:noAutofit/>
                    </a:bodyPr>
                    <a:lstStyle/>
                    <a:p>
                      <a:r>
                        <a:rPr sz="1725" b="1">
                          <a:solidFill>
                            <a:srgbClr val="FFFFFF"/>
                          </a:solidFill>
                          <a:latin typeface="Helvetica Neue"/>
                          <a:ea typeface="Helvetica Neue"/>
                          <a:cs typeface="Helvetica Neue"/>
                        </a:rPr>
                        <a:t>Arm</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Information available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Question answered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09600">
                <a:tc>
                  <a:txBody>
                    <a:bodyPr lIns="0" tIns="0" rIns="0" bIns="0">
                      <a:noAutofit/>
                    </a:bodyPr>
                    <a:lstStyle/>
                    <a:p>
                      <a:r>
                        <a:rPr sz="1800" b="0">
                          <a:solidFill>
                            <a:srgbClr val="172B3A"/>
                          </a:solidFill>
                          <a:latin typeface="Helvetica Neue"/>
                          <a:ea typeface="Helvetica Neue"/>
                          <a:cs typeface="Helvetica Neue"/>
                        </a:rPr>
                        <a:t>Iterative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Own choices and true evaluated outcomes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Can useful feedback improve selection?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09600">
                <a:tc>
                  <a:txBody>
                    <a:bodyPr lIns="0" tIns="0" rIns="0" bIns="0">
                      <a:noAutofit/>
                    </a:bodyPr>
                    <a:lstStyle/>
                    <a:p>
                      <a:r>
                        <a:rPr sz="1800" b="0">
                          <a:solidFill>
                            <a:srgbClr val="172B3A"/>
                          </a:solidFill>
                          <a:latin typeface="Helvetica Neue"/>
                          <a:ea typeface="Helvetica Neue"/>
                          <a:cs typeface="Helvetica Neue"/>
                        </a:rPr>
                        <a:t>Sequential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Own choices, without evaluated outcomes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What changes without result feedback?</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09600">
                <a:tc>
                  <a:txBody>
                    <a:bodyPr lIns="0" tIns="0" rIns="0" bIns="0">
                      <a:noAutofit/>
                    </a:bodyPr>
                    <a:lstStyle/>
                    <a:p>
                      <a:r>
                        <a:rPr sz="1800" b="0">
                          <a:solidFill>
                            <a:srgbClr val="172B3A"/>
                          </a:solidFill>
                          <a:latin typeface="Helvetica Neue"/>
                          <a:ea typeface="Helvetica Neue"/>
                          <a:cs typeface="Helvetica Neue"/>
                        </a:rPr>
                        <a:t>Shuffled</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Outcome values assigned to wrong candidates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Does correct attribution matter?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09600">
                <a:tc>
                  <a:txBody>
                    <a:bodyPr lIns="0" tIns="0" rIns="0" bIns="0">
                      <a:noAutofit/>
                    </a:bodyPr>
                    <a:lstStyle/>
                    <a:p>
                      <a:r>
                        <a:rPr sz="1800" b="0">
                          <a:solidFill>
                            <a:srgbClr val="172B3A"/>
                          </a:solidFill>
                          <a:latin typeface="Helvetica Neue"/>
                          <a:ea typeface="Helvetica Neue"/>
                          <a:cs typeface="Helvetica Neue"/>
                        </a:rPr>
                        <a:t>Upfront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One shortlist before observing outcomes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How far does prior knowledge get?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09600">
                <a:tc>
                  <a:txBody>
                    <a:bodyPr lIns="0" tIns="0" rIns="0" bIns="0">
                      <a:noAutofit/>
                    </a:bodyPr>
                    <a:lstStyle/>
                    <a:p>
                      <a:r>
                        <a:rPr sz="1800" b="0">
                          <a:solidFill>
                            <a:srgbClr val="172B3A"/>
                          </a:solidFill>
                          <a:latin typeface="Helvetica Neue"/>
                          <a:ea typeface="Helvetica Neue"/>
                          <a:cs typeface="Helvetica Neue"/>
                        </a:rPr>
                        <a:t>Random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Uniform sampling without replacement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Does the LLM beat broad exploration?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9682A9C6-0CE1-4212-964F-63A379172226}"/>
              </a:ext>
            </a:extLst>
          </p:cNvPr>
          <p:cNvSpPr>
            <a:spLocks xmlns:a="http://schemas.openxmlformats.org/drawingml/2006/main" noGrp="1"/>
          </p:cNvSpPr>
          <p:nvPr/>
        </p:nvSpPr>
        <p:spPr>
          <a:xfrm xmlns:a="http://schemas.openxmlformats.org/drawingml/2006/main">
            <a:off x="533400" y="59055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Haiku 5.5, temperature 1.0. Repeated or invalid queries consume budget.</a:t>
            </a:r>
          </a:p>
        </p:txBody>
      </p:sp>
    </p:spTree>
    <p:extLst>
      <p:ext uri="{BB962C8B-B14F-4D97-AF65-F5344CB8AC3E}">
        <p14:creationId xmlns:p14="http://schemas.microsoft.com/office/powerpoint/2010/main" val="1389423576"/>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2B8110-6AAA-4EAA-8900-A5162C49922B}"/>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21 OCT / 50 STRUCTURES</a:t>
            </a:r>
          </a:p>
        </p:txBody>
      </p:sp>
      <p:sp>
        <p:nvSpPr>
          <p:cNvPr id="2" name="">
            <a:extLst xmlns:a="http://schemas.openxmlformats.org/drawingml/2006/main">
              <a:ext uri="{FF2B5EF4-FFF2-40B4-BE49-F238E27FC236}">
                <a16:creationId xmlns:a16="http://schemas.microsoft.com/office/drawing/2014/main" id="{F57865C3-4338-4873-9FDC-8E2F626B836B}"/>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original benchmark supports feedback use</a:t>
            </a:r>
          </a:p>
        </p:txBody>
      </p:sp>
      <p:sp>
        <p:nvSpPr>
          <p:cNvPr id="3" name="">
            <a:extLst xmlns:a="http://schemas.openxmlformats.org/drawingml/2006/main">
              <a:ext uri="{FF2B5EF4-FFF2-40B4-BE49-F238E27FC236}">
                <a16:creationId xmlns:a16="http://schemas.microsoft.com/office/drawing/2014/main" id="{F526F105-E18C-40CE-B6F7-95269823C4AE}"/>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Acceptable coating found within ten queries, out of 30 runs.</a:t>
            </a:r>
          </a:p>
        </p:txBody>
      </p:sp>
      <p:sp>
        <p:nvSpPr>
          <p:cNvPr id="4" name="">
            <a:extLst xmlns:a="http://schemas.openxmlformats.org/drawingml/2006/main">
              <a:ext uri="{FF2B5EF4-FFF2-40B4-BE49-F238E27FC236}">
                <a16:creationId xmlns:a16="http://schemas.microsoft.com/office/drawing/2014/main" id="{637C90AF-B6D3-40C7-90CC-9B6554BB6F2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F6B5EACF-4E3F-4025-9796-BB5492ACBAAD}"/>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graphicFrame>
        <p:nvGraphicFramePr>
          <p:cNvPr id="6" name="Chart">
            <a:extLst xmlns:a="http://schemas.openxmlformats.org/drawingml/2006/main">
              <a:ext uri="{FF2B5EF4-FFF2-40B4-BE49-F238E27FC236}">
                <a16:creationId xmlns:a16="http://schemas.microsoft.com/office/drawing/2014/main" id="{23F218C4-FBA5-4762-9E30-2D9B27C93D4B}"/>
              </a:ext>
            </a:extLst>
          </p:cNvPr>
          <p:cNvGraphicFramePr/>
          <p:nvPr/>
        </p:nvGraphicFramePr>
        <p:xfrm>
          <a:off xmlns:a="http://schemas.openxmlformats.org/drawingml/2006/main" x="495300" y="2095500"/>
          <a:ext xmlns:a="http://schemas.openxmlformats.org/drawingml/2006/main" cx="7620000" cy="3381375"/>
        </p:xfrm>
        <a:graphic xmlns:a="http://schemas.openxmlformats.org/drawingml/2006/main">
          <a:graphicData uri="http://schemas.openxmlformats.org/drawingml/2006/chart">
            <c:chart xmlns:r="http://schemas.openxmlformats.org/officeDocument/2006/relationships" xmlns:c="http://schemas.openxmlformats.org/drawingml/2006/chart" r:id="Raf1672bc2e3642ac"/>
          </a:graphicData>
        </a:graphic>
      </p:graphicFrame>
      <p:sp>
        <p:nvSpPr>
          <p:cNvPr id="7" name="">
            <a:extLst xmlns:a="http://schemas.openxmlformats.org/drawingml/2006/main">
              <a:ext uri="{FF2B5EF4-FFF2-40B4-BE49-F238E27FC236}">
                <a16:creationId xmlns:a16="http://schemas.microsoft.com/office/drawing/2014/main" id="{D1FFFA54-EF39-4CB2-8A02-A0D720039766}"/>
              </a:ext>
            </a:extLst>
          </p:cNvPr>
          <p:cNvSpPr>
            <a:spLocks xmlns:a="http://schemas.openxmlformats.org/drawingml/2006/main" noGrp="1"/>
          </p:cNvSpPr>
          <p:nvPr/>
        </p:nvSpPr>
        <p:spPr>
          <a:xfrm xmlns:a="http://schemas.openxmlformats.org/drawingml/2006/main">
            <a:off x="8439150" y="22764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007F7B"/>
                </a:solidFill>
                <a:latin typeface="Helvetica Neue"/>
                <a:ea typeface="Helvetica Neue"/>
                <a:cs typeface="Helvetica Neue"/>
              </a:defRPr>
            </a:defPPr>
            <a:lvl1pPr>
              <a:defRPr sz="3450" b="1">
                <a:solidFill>
                  <a:srgbClr val="007F7B"/>
                </a:solidFill>
                <a:latin typeface="Helvetica Neue"/>
                <a:ea typeface="Helvetica Neue"/>
                <a:cs typeface="Helvetica Neue"/>
              </a:defRPr>
            </a:lvl1pPr>
            <a:lvl2pPr>
              <a:defRPr sz="3450" b="1">
                <a:solidFill>
                  <a:srgbClr val="007F7B"/>
                </a:solidFill>
                <a:latin typeface="Helvetica Neue"/>
                <a:ea typeface="Helvetica Neue"/>
                <a:cs typeface="Helvetica Neue"/>
              </a:defRPr>
            </a:lvl2pPr>
            <a:lvl3pPr>
              <a:defRPr sz="3450" b="1">
                <a:solidFill>
                  <a:srgbClr val="007F7B"/>
                </a:solidFill>
                <a:latin typeface="Helvetica Neue"/>
                <a:ea typeface="Helvetica Neue"/>
                <a:cs typeface="Helvetica Neue"/>
              </a:defRPr>
            </a:lvl3pPr>
            <a:lvl4pPr>
              <a:defRPr sz="3450" b="1">
                <a:solidFill>
                  <a:srgbClr val="007F7B"/>
                </a:solidFill>
                <a:latin typeface="Helvetica Neue"/>
                <a:ea typeface="Helvetica Neue"/>
                <a:cs typeface="Helvetica Neue"/>
              </a:defRPr>
            </a:lvl4pPr>
            <a:lvl5pPr>
              <a:defRPr sz="3450" b="1">
                <a:solidFill>
                  <a:srgbClr val="007F7B"/>
                </a:solidFill>
                <a:latin typeface="Helvetica Neue"/>
                <a:ea typeface="Helvetica Neue"/>
                <a:cs typeface="Helvetica Neue"/>
              </a:defRPr>
            </a:lvl5pPr>
            <a:lvl6pPr>
              <a:defRPr sz="3450" b="1">
                <a:solidFill>
                  <a:srgbClr val="007F7B"/>
                </a:solidFill>
                <a:latin typeface="Helvetica Neue"/>
                <a:ea typeface="Helvetica Neue"/>
                <a:cs typeface="Helvetica Neue"/>
              </a:defRPr>
            </a:lvl6pPr>
            <a:lvl7pPr>
              <a:defRPr sz="3450" b="1">
                <a:solidFill>
                  <a:srgbClr val="007F7B"/>
                </a:solidFill>
                <a:latin typeface="Helvetica Neue"/>
                <a:ea typeface="Helvetica Neue"/>
                <a:cs typeface="Helvetica Neue"/>
              </a:defRPr>
            </a:lvl7pPr>
            <a:lvl8pPr>
              <a:defRPr sz="3450" b="1">
                <a:solidFill>
                  <a:srgbClr val="007F7B"/>
                </a:solidFill>
                <a:latin typeface="Helvetica Neue"/>
                <a:ea typeface="Helvetica Neue"/>
                <a:cs typeface="Helvetica Neue"/>
              </a:defRPr>
            </a:lvl8pPr>
            <a:lvl9pPr>
              <a:defRPr sz="3450" b="1">
                <a:solidFill>
                  <a:srgbClr val="007F7B"/>
                </a:solidFill>
                <a:latin typeface="Helvetica Neue"/>
                <a:ea typeface="Helvetica Neue"/>
                <a:cs typeface="Helvetica Neue"/>
              </a:defRPr>
            </a:lvl9pPr>
          </a:lstStyle>
          <a:p xmlns:a="http://schemas.openxmlformats.org/drawingml/2006/main">
            <a:pPr>
              <a:defRPr sz="3450" b="1">
                <a:solidFill>
                  <a:srgbClr val="007F7B"/>
                </a:solidFill>
                <a:latin typeface="Helvetica Neue"/>
                <a:ea typeface="Helvetica Neue"/>
                <a:cs typeface="Helvetica Neue"/>
              </a:defRPr>
            </a:pPr>
            <a:r>
              <a:rPr sz="3450" b="1">
                <a:solidFill>
                  <a:srgbClr val="007F7B"/>
                </a:solidFill>
                <a:latin typeface="Helvetica Neue"/>
                <a:ea typeface="Helvetica Neue"/>
                <a:cs typeface="Helvetica Neue"/>
              </a:rPr>
              <a:t>19 vs 6</a:t>
            </a:r>
          </a:p>
        </p:txBody>
      </p:sp>
      <p:sp>
        <p:nvSpPr>
          <p:cNvPr id="8" name="">
            <a:extLst xmlns:a="http://schemas.openxmlformats.org/drawingml/2006/main">
              <a:ext uri="{FF2B5EF4-FFF2-40B4-BE49-F238E27FC236}">
                <a16:creationId xmlns:a16="http://schemas.microsoft.com/office/drawing/2014/main" id="{1B71F408-5BC4-4D1B-8DCA-7F0352471CA2}"/>
              </a:ext>
            </a:extLst>
          </p:cNvPr>
          <p:cNvSpPr>
            <a:spLocks xmlns:a="http://schemas.openxmlformats.org/drawingml/2006/main" noGrp="1"/>
          </p:cNvSpPr>
          <p:nvPr/>
        </p:nvSpPr>
        <p:spPr>
          <a:xfrm xmlns:a="http://schemas.openxmlformats.org/drawingml/2006/main">
            <a:off x="8439150" y="29527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B3A"/>
                </a:solidFill>
                <a:latin typeface="Helvetica Neue"/>
                <a:ea typeface="Helvetica Neue"/>
                <a:cs typeface="Helvetica Neue"/>
              </a:defRPr>
            </a:defPPr>
            <a:lvl1pPr>
              <a:defRPr sz="1950" b="0">
                <a:solidFill>
                  <a:srgbClr val="172B3A"/>
                </a:solidFill>
                <a:latin typeface="Helvetica Neue"/>
                <a:ea typeface="Helvetica Neue"/>
                <a:cs typeface="Helvetica Neue"/>
              </a:defRPr>
            </a:lvl1pPr>
            <a:lvl2pPr>
              <a:defRPr sz="1950" b="0">
                <a:solidFill>
                  <a:srgbClr val="172B3A"/>
                </a:solidFill>
                <a:latin typeface="Helvetica Neue"/>
                <a:ea typeface="Helvetica Neue"/>
                <a:cs typeface="Helvetica Neue"/>
              </a:defRPr>
            </a:lvl2pPr>
            <a:lvl3pPr>
              <a:defRPr sz="1950" b="0">
                <a:solidFill>
                  <a:srgbClr val="172B3A"/>
                </a:solidFill>
                <a:latin typeface="Helvetica Neue"/>
                <a:ea typeface="Helvetica Neue"/>
                <a:cs typeface="Helvetica Neue"/>
              </a:defRPr>
            </a:lvl3pPr>
            <a:lvl4pPr>
              <a:defRPr sz="1950" b="0">
                <a:solidFill>
                  <a:srgbClr val="172B3A"/>
                </a:solidFill>
                <a:latin typeface="Helvetica Neue"/>
                <a:ea typeface="Helvetica Neue"/>
                <a:cs typeface="Helvetica Neue"/>
              </a:defRPr>
            </a:lvl4pPr>
            <a:lvl5pPr>
              <a:defRPr sz="1950" b="0">
                <a:solidFill>
                  <a:srgbClr val="172B3A"/>
                </a:solidFill>
                <a:latin typeface="Helvetica Neue"/>
                <a:ea typeface="Helvetica Neue"/>
                <a:cs typeface="Helvetica Neue"/>
              </a:defRPr>
            </a:lvl5pPr>
            <a:lvl6pPr>
              <a:defRPr sz="1950" b="0">
                <a:solidFill>
                  <a:srgbClr val="172B3A"/>
                </a:solidFill>
                <a:latin typeface="Helvetica Neue"/>
                <a:ea typeface="Helvetica Neue"/>
                <a:cs typeface="Helvetica Neue"/>
              </a:defRPr>
            </a:lvl6pPr>
            <a:lvl7pPr>
              <a:defRPr sz="1950" b="0">
                <a:solidFill>
                  <a:srgbClr val="172B3A"/>
                </a:solidFill>
                <a:latin typeface="Helvetica Neue"/>
                <a:ea typeface="Helvetica Neue"/>
                <a:cs typeface="Helvetica Neue"/>
              </a:defRPr>
            </a:lvl7pPr>
            <a:lvl8pPr>
              <a:defRPr sz="1950" b="0">
                <a:solidFill>
                  <a:srgbClr val="172B3A"/>
                </a:solidFill>
                <a:latin typeface="Helvetica Neue"/>
                <a:ea typeface="Helvetica Neue"/>
                <a:cs typeface="Helvetica Neue"/>
              </a:defRPr>
            </a:lvl8pPr>
            <a:lvl9pPr>
              <a:defRPr sz="1950" b="0">
                <a:solidFill>
                  <a:srgbClr val="172B3A"/>
                </a:solidFill>
                <a:latin typeface="Helvetica Neue"/>
                <a:ea typeface="Helvetica Neue"/>
                <a:cs typeface="Helvetica Neue"/>
              </a:defRPr>
            </a:lvl9pPr>
          </a:lstStyle>
          <a:p xmlns:a="http://schemas.openxmlformats.org/drawingml/2006/main">
            <a:pPr>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True versus shuffled feedback</a:t>
            </a:r>
          </a:p>
          <a:p xmlns:a="http://schemas.openxmlformats.org/drawingml/2006/main">
            <a:pPr>
              <a:defRPr sz="1950" b="0">
                <a:solidFill>
                  <a:srgbClr val="172B3A"/>
                </a:solidFill>
                <a:latin typeface="Helvetica Neue"/>
                <a:ea typeface="Helvetica Neue"/>
                <a:cs typeface="Helvetica Neue"/>
              </a:defRPr>
            </a:pPr>
            <a:r>
              <a:rPr sz="1950" b="0">
                <a:solidFill>
                  <a:srgbClr val="172B3A"/>
                </a:solidFill>
                <a:latin typeface="Helvetica Neue"/>
                <a:ea typeface="Helvetica Neue"/>
                <a:cs typeface="Helvetica Neue"/>
              </a:rPr>
              <a:t>Paired p = 0.0044</a:t>
            </a:r>
          </a:p>
        </p:txBody>
      </p:sp>
      <p:sp>
        <p:nvSpPr>
          <p:cNvPr id="9" name="">
            <a:extLst xmlns:a="http://schemas.openxmlformats.org/drawingml/2006/main">
              <a:ext uri="{FF2B5EF4-FFF2-40B4-BE49-F238E27FC236}">
                <a16:creationId xmlns:a16="http://schemas.microsoft.com/office/drawing/2014/main" id="{3FC08A2C-7DB6-4E4B-876A-9E48AA2EAF92}"/>
              </a:ext>
            </a:extLst>
          </p:cNvPr>
          <p:cNvSpPr>
            <a:spLocks xmlns:a="http://schemas.openxmlformats.org/drawingml/2006/main" noGrp="1"/>
          </p:cNvSpPr>
          <p:nvPr/>
        </p:nvSpPr>
        <p:spPr>
          <a:xfrm xmlns:a="http://schemas.openxmlformats.org/drawingml/2006/main">
            <a:off x="8439150" y="41910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defRPr sz="1950" b="0">
                <a:solidFill>
                  <a:srgbClr val="526472"/>
                </a:solidFill>
                <a:latin typeface="Helvetica Neue"/>
                <a:ea typeface="Helvetica Neue"/>
                <a:cs typeface="Helvetica Neue"/>
              </a:defRPr>
            </a:lvl1pPr>
            <a:lvl2pPr>
              <a:defRPr sz="1950" b="0">
                <a:solidFill>
                  <a:srgbClr val="526472"/>
                </a:solidFill>
                <a:latin typeface="Helvetica Neue"/>
                <a:ea typeface="Helvetica Neue"/>
                <a:cs typeface="Helvetica Neue"/>
              </a:defRPr>
            </a:lvl2pPr>
            <a:lvl3pPr>
              <a:defRPr sz="1950" b="0">
                <a:solidFill>
                  <a:srgbClr val="526472"/>
                </a:solidFill>
                <a:latin typeface="Helvetica Neue"/>
                <a:ea typeface="Helvetica Neue"/>
                <a:cs typeface="Helvetica Neue"/>
              </a:defRPr>
            </a:lvl3pPr>
            <a:lvl4pPr>
              <a:defRPr sz="1950" b="0">
                <a:solidFill>
                  <a:srgbClr val="526472"/>
                </a:solidFill>
                <a:latin typeface="Helvetica Neue"/>
                <a:ea typeface="Helvetica Neue"/>
                <a:cs typeface="Helvetica Neue"/>
              </a:defRPr>
            </a:lvl4pPr>
            <a:lvl5pPr>
              <a:defRPr sz="1950" b="0">
                <a:solidFill>
                  <a:srgbClr val="526472"/>
                </a:solidFill>
                <a:latin typeface="Helvetica Neue"/>
                <a:ea typeface="Helvetica Neue"/>
                <a:cs typeface="Helvetica Neue"/>
              </a:defRPr>
            </a:lvl5pPr>
            <a:lvl6pPr>
              <a:defRPr sz="1950" b="0">
                <a:solidFill>
                  <a:srgbClr val="526472"/>
                </a:solidFill>
                <a:latin typeface="Helvetica Neue"/>
                <a:ea typeface="Helvetica Neue"/>
                <a:cs typeface="Helvetica Neue"/>
              </a:defRPr>
            </a:lvl6pPr>
            <a:lvl7pPr>
              <a:defRPr sz="1950" b="0">
                <a:solidFill>
                  <a:srgbClr val="526472"/>
                </a:solidFill>
                <a:latin typeface="Helvetica Neue"/>
                <a:ea typeface="Helvetica Neue"/>
                <a:cs typeface="Helvetica Neue"/>
              </a:defRPr>
            </a:lvl7pPr>
            <a:lvl8pPr>
              <a:defRPr sz="1950" b="0">
                <a:solidFill>
                  <a:srgbClr val="526472"/>
                </a:solidFill>
                <a:latin typeface="Helvetica Neue"/>
                <a:ea typeface="Helvetica Neue"/>
                <a:cs typeface="Helvetica Neue"/>
              </a:defRPr>
            </a:lvl8pPr>
            <a:lvl9pPr>
              <a:defRPr sz="1950" b="0">
                <a:solidFill>
                  <a:srgbClr val="526472"/>
                </a:solidFill>
                <a:latin typeface="Helvetica Neue"/>
                <a:ea typeface="Helvetica Neue"/>
                <a:cs typeface="Helvetica Neue"/>
              </a:defRPr>
            </a:lvl9pPr>
          </a:lstStyle>
          <a:p xmlns:a="http://schemas.openxmlformats.org/drawingml/2006/main">
            <a:pPr>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Random expectation</a:t>
            </a:r>
          </a:p>
          <a:p xmlns:a="http://schemas.openxmlformats.org/drawingml/2006/main">
            <a:pPr>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36.3% at query 10</a:t>
            </a:r>
          </a:p>
        </p:txBody>
      </p:sp>
      <p:sp>
        <p:nvSpPr>
          <p:cNvPr id="10" name="">
            <a:extLst xmlns:a="http://schemas.openxmlformats.org/drawingml/2006/main">
              <a:ext uri="{FF2B5EF4-FFF2-40B4-BE49-F238E27FC236}">
                <a16:creationId xmlns:a16="http://schemas.microsoft.com/office/drawing/2014/main" id="{19908E5F-C654-45B0-A791-3DBB30601204}"/>
              </a:ext>
            </a:extLst>
          </p:cNvPr>
          <p:cNvSpPr>
            <a:spLocks xmlns:a="http://schemas.openxmlformats.org/drawingml/2006/main" noGrp="1"/>
          </p:cNvSpPr>
          <p:nvPr/>
        </p:nvSpPr>
        <p:spPr>
          <a:xfrm xmlns:a="http://schemas.openxmlformats.org/drawingml/2006/main">
            <a:off x="533400" y="57816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But a post-hoc fluoride-first rule succeeds by query 2. This is not superiority over every heuristic.</a:t>
            </a:r>
          </a:p>
        </p:txBody>
      </p:sp>
    </p:spTree>
    <p:extLst>
      <p:ext uri="{BB962C8B-B14F-4D97-AF65-F5344CB8AC3E}">
        <p14:creationId xmlns:p14="http://schemas.microsoft.com/office/powerpoint/2010/main" val="203831416"/>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260A3A-CFDB-4F28-8DCB-E7440C38CCB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21 OCT / 141 STRUCTURES</a:t>
            </a:r>
          </a:p>
        </p:txBody>
      </p:sp>
      <p:sp>
        <p:nvSpPr>
          <p:cNvPr id="2" name="">
            <a:extLst xmlns:a="http://schemas.openxmlformats.org/drawingml/2006/main">
              <a:ext uri="{FF2B5EF4-FFF2-40B4-BE49-F238E27FC236}">
                <a16:creationId xmlns:a16="http://schemas.microsoft.com/office/drawing/2014/main" id="{2D70AA51-06B0-4DCA-A30E-DC636A6608E3}"/>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Performance depends strongly on the environment</a:t>
            </a:r>
          </a:p>
        </p:txBody>
      </p:sp>
      <p:sp>
        <p:nvSpPr>
          <p:cNvPr id="3" name="">
            <a:extLst xmlns:a="http://schemas.openxmlformats.org/drawingml/2006/main">
              <a:ext uri="{FF2B5EF4-FFF2-40B4-BE49-F238E27FC236}">
                <a16:creationId xmlns:a16="http://schemas.microsoft.com/office/drawing/2014/main" id="{2FC017A1-9853-4229-9D83-6A6A26C2F5CA}"/>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Successful runs out of 30 after ten queries. Same LiCoO₂ cathode.</a:t>
            </a:r>
          </a:p>
        </p:txBody>
      </p:sp>
      <p:sp>
        <p:nvSpPr>
          <p:cNvPr id="4" name="">
            <a:extLst xmlns:a="http://schemas.openxmlformats.org/drawingml/2006/main">
              <a:ext uri="{FF2B5EF4-FFF2-40B4-BE49-F238E27FC236}">
                <a16:creationId xmlns:a16="http://schemas.microsoft.com/office/drawing/2014/main" id="{CC4830D6-C5C5-4671-A031-7310C4107A2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F6C9B066-E226-46D8-91A6-F9660153E502}"/>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09</a:t>
            </a:r>
          </a:p>
        </p:txBody>
      </p:sp>
      <p:graphicFrame>
        <p:nvGraphicFramePr>
          <p:cNvPr id="6" name="Chart">
            <a:extLst xmlns:a="http://schemas.openxmlformats.org/drawingml/2006/main">
              <a:ext uri="{FF2B5EF4-FFF2-40B4-BE49-F238E27FC236}">
                <a16:creationId xmlns:a16="http://schemas.microsoft.com/office/drawing/2014/main" id="{1E1C8BD2-8D09-4189-A16E-51A3E95FEA3C}"/>
              </a:ext>
            </a:extLst>
          </p:cNvPr>
          <p:cNvGraphicFramePr/>
          <p:nvPr/>
        </p:nvGraphicFramePr>
        <p:xfrm>
          <a:off xmlns:a="http://schemas.openxmlformats.org/drawingml/2006/main" x="533400" y="2038350"/>
          <a:ext xmlns:a="http://schemas.openxmlformats.org/drawingml/2006/main" cx="11125200" cy="3619500"/>
        </p:xfrm>
        <a:graphic xmlns:a="http://schemas.openxmlformats.org/drawingml/2006/main">
          <a:graphicData uri="http://schemas.openxmlformats.org/drawingml/2006/chart">
            <c:chart xmlns:r="http://schemas.openxmlformats.org/officeDocument/2006/relationships" xmlns:c="http://schemas.openxmlformats.org/drawingml/2006/chart" r:id="Rf82d034b5b4841c1"/>
          </a:graphicData>
        </a:graphic>
      </p:graphicFrame>
      <p:sp>
        <p:nvSpPr>
          <p:cNvPr id="7" name="">
            <a:extLst xmlns:a="http://schemas.openxmlformats.org/drawingml/2006/main">
              <a:ext uri="{FF2B5EF4-FFF2-40B4-BE49-F238E27FC236}">
                <a16:creationId xmlns:a16="http://schemas.microsoft.com/office/drawing/2014/main" id="{9F72914B-9F32-4F9F-A779-819D83A60964}"/>
              </a:ext>
            </a:extLst>
          </p:cNvPr>
          <p:cNvSpPr>
            <a:spLocks xmlns:a="http://schemas.openxmlformats.org/drawingml/2006/main" noGrp="1"/>
          </p:cNvSpPr>
          <p:nvPr/>
        </p:nvSpPr>
        <p:spPr>
          <a:xfrm xmlns:a="http://schemas.openxmlformats.org/drawingml/2006/main">
            <a:off x="533400" y="58578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Sulfide: feedback helps. Chloride: predicted ceiling. LLZO: random wins.</a:t>
            </a:r>
          </a:p>
        </p:txBody>
      </p:sp>
    </p:spTree>
    <p:extLst>
      <p:ext uri="{BB962C8B-B14F-4D97-AF65-F5344CB8AC3E}">
        <p14:creationId xmlns:p14="http://schemas.microsoft.com/office/powerpoint/2010/main" val="2124799295"/>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E886577-735C-413B-A78E-1325E10C8DD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BUDGET TRAJECTORIES</a:t>
            </a:r>
          </a:p>
        </p:txBody>
      </p:sp>
      <p:sp>
        <p:nvSpPr>
          <p:cNvPr id="2" name="">
            <a:extLst xmlns:a="http://schemas.openxmlformats.org/drawingml/2006/main">
              <a:ext uri="{FF2B5EF4-FFF2-40B4-BE49-F238E27FC236}">
                <a16:creationId xmlns:a16="http://schemas.microsoft.com/office/drawing/2014/main" id="{C88C844F-038B-4ABD-B6A3-C351E801975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On LLZO, adaptation arrives late</a:t>
            </a:r>
          </a:p>
        </p:txBody>
      </p:sp>
      <p:sp>
        <p:nvSpPr>
          <p:cNvPr id="3" name="">
            <a:extLst xmlns:a="http://schemas.openxmlformats.org/drawingml/2006/main">
              <a:ext uri="{FF2B5EF4-FFF2-40B4-BE49-F238E27FC236}">
                <a16:creationId xmlns:a16="http://schemas.microsoft.com/office/drawing/2014/main" id="{8CB9E10B-7EBD-4278-9EF0-EE378878261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E58B066D-4570-4DAD-9EDA-2014FF612519}"/>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91E953CB-5FC6-41E3-B25D-2DB4E300D65B}"/>
              </a:ext>
            </a:extLst>
          </p:cNvPr>
          <p:cNvSpPr>
            <a:spLocks xmlns:a="http://schemas.openxmlformats.org/drawingml/2006/main" noGrp="1"/>
          </p:cNvSpPr>
          <p:nvPr/>
        </p:nvSpPr>
        <p:spPr>
          <a:xfrm xmlns:a="http://schemas.openxmlformats.org/drawingml/2006/main">
            <a:off x="533400" y="18573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Sulfide</a:t>
            </a:r>
          </a:p>
        </p:txBody>
      </p:sp>
      <p:graphicFrame>
        <p:nvGraphicFramePr>
          <p:cNvPr id="6" name="Chart">
            <a:extLst xmlns:a="http://schemas.openxmlformats.org/drawingml/2006/main">
              <a:ext uri="{FF2B5EF4-FFF2-40B4-BE49-F238E27FC236}">
                <a16:creationId xmlns:a16="http://schemas.microsoft.com/office/drawing/2014/main" id="{A41BFB4A-D87D-4650-BE94-7193257DB76F}"/>
              </a:ext>
            </a:extLst>
          </p:cNvPr>
          <p:cNvGraphicFramePr/>
          <p:nvPr/>
        </p:nvGraphicFramePr>
        <p:xfrm>
          <a:off xmlns:a="http://schemas.openxmlformats.org/drawingml/2006/main" x="533400" y="2343150"/>
          <a:ext xmlns:a="http://schemas.openxmlformats.org/drawingml/2006/main" cx="5334000" cy="3162300"/>
        </p:xfrm>
        <a:graphic xmlns:a="http://schemas.openxmlformats.org/drawingml/2006/main">
          <a:graphicData uri="http://schemas.openxmlformats.org/drawingml/2006/chart">
            <c:chart xmlns:r="http://schemas.openxmlformats.org/officeDocument/2006/relationships" xmlns:c="http://schemas.openxmlformats.org/drawingml/2006/chart" r:id="R24ef556f032d4140"/>
          </a:graphicData>
        </a:graphic>
      </p:graphicFrame>
      <p:sp>
        <p:nvSpPr>
          <p:cNvPr id="7" name="">
            <a:extLst xmlns:a="http://schemas.openxmlformats.org/drawingml/2006/main">
              <a:ext uri="{FF2B5EF4-FFF2-40B4-BE49-F238E27FC236}">
                <a16:creationId xmlns:a16="http://schemas.microsoft.com/office/drawing/2014/main" id="{AA9568FA-0286-422B-987F-209B715FF25D}"/>
              </a:ext>
            </a:extLst>
          </p:cNvPr>
          <p:cNvSpPr>
            <a:spLocks xmlns:a="http://schemas.openxmlformats.org/drawingml/2006/main" noGrp="1"/>
          </p:cNvSpPr>
          <p:nvPr/>
        </p:nvSpPr>
        <p:spPr>
          <a:xfrm xmlns:a="http://schemas.openxmlformats.org/drawingml/2006/main">
            <a:off x="6267450" y="18573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defRPr sz="2250" b="1">
                <a:solidFill>
                  <a:srgbClr val="172B3A"/>
                </a:solidFill>
                <a:latin typeface="Helvetica Neue"/>
                <a:ea typeface="Helvetica Neue"/>
                <a:cs typeface="Helvetica Neue"/>
              </a:defRPr>
            </a:lvl1pPr>
            <a:lvl2pPr>
              <a:defRPr sz="2250" b="1">
                <a:solidFill>
                  <a:srgbClr val="172B3A"/>
                </a:solidFill>
                <a:latin typeface="Helvetica Neue"/>
                <a:ea typeface="Helvetica Neue"/>
                <a:cs typeface="Helvetica Neue"/>
              </a:defRPr>
            </a:lvl2pPr>
            <a:lvl3pPr>
              <a:defRPr sz="2250" b="1">
                <a:solidFill>
                  <a:srgbClr val="172B3A"/>
                </a:solidFill>
                <a:latin typeface="Helvetica Neue"/>
                <a:ea typeface="Helvetica Neue"/>
                <a:cs typeface="Helvetica Neue"/>
              </a:defRPr>
            </a:lvl3pPr>
            <a:lvl4pPr>
              <a:defRPr sz="2250" b="1">
                <a:solidFill>
                  <a:srgbClr val="172B3A"/>
                </a:solidFill>
                <a:latin typeface="Helvetica Neue"/>
                <a:ea typeface="Helvetica Neue"/>
                <a:cs typeface="Helvetica Neue"/>
              </a:defRPr>
            </a:lvl4pPr>
            <a:lvl5pPr>
              <a:defRPr sz="2250" b="1">
                <a:solidFill>
                  <a:srgbClr val="172B3A"/>
                </a:solidFill>
                <a:latin typeface="Helvetica Neue"/>
                <a:ea typeface="Helvetica Neue"/>
                <a:cs typeface="Helvetica Neue"/>
              </a:defRPr>
            </a:lvl5pPr>
            <a:lvl6pPr>
              <a:defRPr sz="2250" b="1">
                <a:solidFill>
                  <a:srgbClr val="172B3A"/>
                </a:solidFill>
                <a:latin typeface="Helvetica Neue"/>
                <a:ea typeface="Helvetica Neue"/>
                <a:cs typeface="Helvetica Neue"/>
              </a:defRPr>
            </a:lvl6pPr>
            <a:lvl7pPr>
              <a:defRPr sz="2250" b="1">
                <a:solidFill>
                  <a:srgbClr val="172B3A"/>
                </a:solidFill>
                <a:latin typeface="Helvetica Neue"/>
                <a:ea typeface="Helvetica Neue"/>
                <a:cs typeface="Helvetica Neue"/>
              </a:defRPr>
            </a:lvl7pPr>
            <a:lvl8pPr>
              <a:defRPr sz="2250" b="1">
                <a:solidFill>
                  <a:srgbClr val="172B3A"/>
                </a:solidFill>
                <a:latin typeface="Helvetica Neue"/>
                <a:ea typeface="Helvetica Neue"/>
                <a:cs typeface="Helvetica Neue"/>
              </a:defRPr>
            </a:lvl8pPr>
            <a:lvl9pPr>
              <a:defRPr sz="2250" b="1">
                <a:solidFill>
                  <a:srgbClr val="172B3A"/>
                </a:solidFill>
                <a:latin typeface="Helvetica Neue"/>
                <a:ea typeface="Helvetica Neue"/>
                <a:cs typeface="Helvetica Neue"/>
              </a:defRPr>
            </a:lvl9pPr>
          </a:lstStyle>
          <a:p xmlns:a="http://schemas.openxmlformats.org/drawingml/2006/main">
            <a:pPr>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LLZO</a:t>
            </a:r>
          </a:p>
        </p:txBody>
      </p:sp>
      <p:graphicFrame>
        <p:nvGraphicFramePr>
          <p:cNvPr id="8" name="Chart">
            <a:extLst xmlns:a="http://schemas.openxmlformats.org/drawingml/2006/main">
              <a:ext uri="{FF2B5EF4-FFF2-40B4-BE49-F238E27FC236}">
                <a16:creationId xmlns:a16="http://schemas.microsoft.com/office/drawing/2014/main" id="{AAD01DEB-0771-417D-9236-E3D4D8F65449}"/>
              </a:ext>
            </a:extLst>
          </p:cNvPr>
          <p:cNvGraphicFramePr/>
          <p:nvPr/>
        </p:nvGraphicFramePr>
        <p:xfrm>
          <a:off xmlns:a="http://schemas.openxmlformats.org/drawingml/2006/main" x="6267450" y="2343150"/>
          <a:ext xmlns:a="http://schemas.openxmlformats.org/drawingml/2006/main" cx="5334000" cy="3162300"/>
        </p:xfrm>
        <a:graphic xmlns:a="http://schemas.openxmlformats.org/drawingml/2006/main">
          <a:graphicData uri="http://schemas.openxmlformats.org/drawingml/2006/chart">
            <c:chart xmlns:r="http://schemas.openxmlformats.org/officeDocument/2006/relationships" xmlns:c="http://schemas.openxmlformats.org/drawingml/2006/chart" r:id="R3a0d9cecb79b4616"/>
          </a:graphicData>
        </a:graphic>
      </p:graphicFrame>
      <p:sp>
        <p:nvSpPr>
          <p:cNvPr id="9" name="">
            <a:extLst xmlns:a="http://schemas.openxmlformats.org/drawingml/2006/main">
              <a:ext uri="{FF2B5EF4-FFF2-40B4-BE49-F238E27FC236}">
                <a16:creationId xmlns:a16="http://schemas.microsoft.com/office/drawing/2014/main" id="{5E6961C9-8A60-4DE2-A0E8-71A2AA42703D}"/>
              </a:ext>
            </a:extLst>
          </p:cNvPr>
          <p:cNvSpPr>
            <a:spLocks xmlns:a="http://schemas.openxmlformats.org/drawingml/2006/main" noGrp="1"/>
          </p:cNvSpPr>
          <p:nvPr/>
        </p:nvSpPr>
        <p:spPr>
          <a:xfrm xmlns:a="http://schemas.openxmlformats.org/drawingml/2006/main">
            <a:off x="552450" y="5638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7F7B"/>
                </a:solidFill>
                <a:latin typeface="Helvetica Neue"/>
                <a:ea typeface="Helvetica Neue"/>
                <a:cs typeface="Helvetica Neue"/>
              </a:defRPr>
            </a:defPPr>
            <a:lvl1pPr>
              <a:defRPr sz="1725" b="1">
                <a:solidFill>
                  <a:srgbClr val="007F7B"/>
                </a:solidFill>
                <a:latin typeface="Helvetica Neue"/>
                <a:ea typeface="Helvetica Neue"/>
                <a:cs typeface="Helvetica Neue"/>
              </a:defRPr>
            </a:lvl1pPr>
            <a:lvl2pPr>
              <a:defRPr sz="1725" b="1">
                <a:solidFill>
                  <a:srgbClr val="007F7B"/>
                </a:solidFill>
                <a:latin typeface="Helvetica Neue"/>
                <a:ea typeface="Helvetica Neue"/>
                <a:cs typeface="Helvetica Neue"/>
              </a:defRPr>
            </a:lvl2pPr>
            <a:lvl3pPr>
              <a:defRPr sz="1725" b="1">
                <a:solidFill>
                  <a:srgbClr val="007F7B"/>
                </a:solidFill>
                <a:latin typeface="Helvetica Neue"/>
                <a:ea typeface="Helvetica Neue"/>
                <a:cs typeface="Helvetica Neue"/>
              </a:defRPr>
            </a:lvl3pPr>
            <a:lvl4pPr>
              <a:defRPr sz="1725" b="1">
                <a:solidFill>
                  <a:srgbClr val="007F7B"/>
                </a:solidFill>
                <a:latin typeface="Helvetica Neue"/>
                <a:ea typeface="Helvetica Neue"/>
                <a:cs typeface="Helvetica Neue"/>
              </a:defRPr>
            </a:lvl4pPr>
            <a:lvl5pPr>
              <a:defRPr sz="1725" b="1">
                <a:solidFill>
                  <a:srgbClr val="007F7B"/>
                </a:solidFill>
                <a:latin typeface="Helvetica Neue"/>
                <a:ea typeface="Helvetica Neue"/>
                <a:cs typeface="Helvetica Neue"/>
              </a:defRPr>
            </a:lvl5pPr>
            <a:lvl6pPr>
              <a:defRPr sz="1725" b="1">
                <a:solidFill>
                  <a:srgbClr val="007F7B"/>
                </a:solidFill>
                <a:latin typeface="Helvetica Neue"/>
                <a:ea typeface="Helvetica Neue"/>
                <a:cs typeface="Helvetica Neue"/>
              </a:defRPr>
            </a:lvl6pPr>
            <a:lvl7pPr>
              <a:defRPr sz="1725" b="1">
                <a:solidFill>
                  <a:srgbClr val="007F7B"/>
                </a:solidFill>
                <a:latin typeface="Helvetica Neue"/>
                <a:ea typeface="Helvetica Neue"/>
                <a:cs typeface="Helvetica Neue"/>
              </a:defRPr>
            </a:lvl7pPr>
            <a:lvl8pPr>
              <a:defRPr sz="1725" b="1">
                <a:solidFill>
                  <a:srgbClr val="007F7B"/>
                </a:solidFill>
                <a:latin typeface="Helvetica Neue"/>
                <a:ea typeface="Helvetica Neue"/>
                <a:cs typeface="Helvetica Neue"/>
              </a:defRPr>
            </a:lvl8pPr>
            <a:lvl9pPr>
              <a:defRPr sz="1725" b="1">
                <a:solidFill>
                  <a:srgbClr val="007F7B"/>
                </a:solidFill>
                <a:latin typeface="Helvetica Neue"/>
                <a:ea typeface="Helvetica Neue"/>
                <a:cs typeface="Helvetica Neue"/>
              </a:defRPr>
            </a:lvl9pPr>
          </a:lstStyle>
          <a:p xmlns:a="http://schemas.openxmlformats.org/drawingml/2006/main">
            <a:pPr>
              <a:defRPr sz="1725" b="1">
                <a:solidFill>
                  <a:srgbClr val="007F7B"/>
                </a:solidFill>
                <a:latin typeface="Helvetica Neue"/>
                <a:ea typeface="Helvetica Neue"/>
                <a:cs typeface="Helvetica Neue"/>
              </a:defRPr>
            </a:pPr>
            <a:r>
              <a:rPr sz="1725" b="1">
                <a:solidFill>
                  <a:srgbClr val="007F7B"/>
                </a:solidFill>
                <a:latin typeface="Helvetica Neue"/>
                <a:ea typeface="Helvetica Neue"/>
                <a:cs typeface="Helvetica Neue"/>
              </a:rPr>
              <a:t>Iterative</a:t>
            </a:r>
          </a:p>
        </p:txBody>
      </p:sp>
      <p:sp>
        <p:nvSpPr>
          <p:cNvPr id="10" name="">
            <a:extLst xmlns:a="http://schemas.openxmlformats.org/drawingml/2006/main">
              <a:ext uri="{FF2B5EF4-FFF2-40B4-BE49-F238E27FC236}">
                <a16:creationId xmlns:a16="http://schemas.microsoft.com/office/drawing/2014/main" id="{D1875A07-9605-429E-A2FF-B880F2CAA64D}"/>
              </a:ext>
            </a:extLst>
          </p:cNvPr>
          <p:cNvSpPr>
            <a:spLocks xmlns:a="http://schemas.openxmlformats.org/drawingml/2006/main" noGrp="1"/>
          </p:cNvSpPr>
          <p:nvPr/>
        </p:nvSpPr>
        <p:spPr>
          <a:xfrm xmlns:a="http://schemas.openxmlformats.org/drawingml/2006/main">
            <a:off x="2809875" y="5638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66AA8"/>
                </a:solidFill>
                <a:latin typeface="Helvetica Neue"/>
                <a:ea typeface="Helvetica Neue"/>
                <a:cs typeface="Helvetica Neue"/>
              </a:defRPr>
            </a:defPPr>
            <a:lvl1pPr>
              <a:defRPr sz="1725" b="1">
                <a:solidFill>
                  <a:srgbClr val="366AA8"/>
                </a:solidFill>
                <a:latin typeface="Helvetica Neue"/>
                <a:ea typeface="Helvetica Neue"/>
                <a:cs typeface="Helvetica Neue"/>
              </a:defRPr>
            </a:lvl1pPr>
            <a:lvl2pPr>
              <a:defRPr sz="1725" b="1">
                <a:solidFill>
                  <a:srgbClr val="366AA8"/>
                </a:solidFill>
                <a:latin typeface="Helvetica Neue"/>
                <a:ea typeface="Helvetica Neue"/>
                <a:cs typeface="Helvetica Neue"/>
              </a:defRPr>
            </a:lvl2pPr>
            <a:lvl3pPr>
              <a:defRPr sz="1725" b="1">
                <a:solidFill>
                  <a:srgbClr val="366AA8"/>
                </a:solidFill>
                <a:latin typeface="Helvetica Neue"/>
                <a:ea typeface="Helvetica Neue"/>
                <a:cs typeface="Helvetica Neue"/>
              </a:defRPr>
            </a:lvl3pPr>
            <a:lvl4pPr>
              <a:defRPr sz="1725" b="1">
                <a:solidFill>
                  <a:srgbClr val="366AA8"/>
                </a:solidFill>
                <a:latin typeface="Helvetica Neue"/>
                <a:ea typeface="Helvetica Neue"/>
                <a:cs typeface="Helvetica Neue"/>
              </a:defRPr>
            </a:lvl4pPr>
            <a:lvl5pPr>
              <a:defRPr sz="1725" b="1">
                <a:solidFill>
                  <a:srgbClr val="366AA8"/>
                </a:solidFill>
                <a:latin typeface="Helvetica Neue"/>
                <a:ea typeface="Helvetica Neue"/>
                <a:cs typeface="Helvetica Neue"/>
              </a:defRPr>
            </a:lvl5pPr>
            <a:lvl6pPr>
              <a:defRPr sz="1725" b="1">
                <a:solidFill>
                  <a:srgbClr val="366AA8"/>
                </a:solidFill>
                <a:latin typeface="Helvetica Neue"/>
                <a:ea typeface="Helvetica Neue"/>
                <a:cs typeface="Helvetica Neue"/>
              </a:defRPr>
            </a:lvl6pPr>
            <a:lvl7pPr>
              <a:defRPr sz="1725" b="1">
                <a:solidFill>
                  <a:srgbClr val="366AA8"/>
                </a:solidFill>
                <a:latin typeface="Helvetica Neue"/>
                <a:ea typeface="Helvetica Neue"/>
                <a:cs typeface="Helvetica Neue"/>
              </a:defRPr>
            </a:lvl7pPr>
            <a:lvl8pPr>
              <a:defRPr sz="1725" b="1">
                <a:solidFill>
                  <a:srgbClr val="366AA8"/>
                </a:solidFill>
                <a:latin typeface="Helvetica Neue"/>
                <a:ea typeface="Helvetica Neue"/>
                <a:cs typeface="Helvetica Neue"/>
              </a:defRPr>
            </a:lvl8pPr>
            <a:lvl9pPr>
              <a:defRPr sz="1725" b="1">
                <a:solidFill>
                  <a:srgbClr val="366AA8"/>
                </a:solidFill>
                <a:latin typeface="Helvetica Neue"/>
                <a:ea typeface="Helvetica Neue"/>
                <a:cs typeface="Helvetica Neue"/>
              </a:defRPr>
            </a:lvl9pPr>
          </a:lstStyle>
          <a:p xmlns:a="http://schemas.openxmlformats.org/drawingml/2006/main">
            <a:pPr>
              <a:defRPr sz="1725" b="1">
                <a:solidFill>
                  <a:srgbClr val="366AA8"/>
                </a:solidFill>
                <a:latin typeface="Helvetica Neue"/>
                <a:ea typeface="Helvetica Neue"/>
                <a:cs typeface="Helvetica Neue"/>
              </a:defRPr>
            </a:pPr>
            <a:r>
              <a:rPr sz="1725" b="1">
                <a:solidFill>
                  <a:srgbClr val="366AA8"/>
                </a:solidFill>
                <a:latin typeface="Helvetica Neue"/>
                <a:ea typeface="Helvetica Neue"/>
                <a:cs typeface="Helvetica Neue"/>
              </a:rPr>
              <a:t>Sequential</a:t>
            </a:r>
          </a:p>
        </p:txBody>
      </p:sp>
      <p:sp>
        <p:nvSpPr>
          <p:cNvPr id="11" name="">
            <a:extLst xmlns:a="http://schemas.openxmlformats.org/drawingml/2006/main">
              <a:ext uri="{FF2B5EF4-FFF2-40B4-BE49-F238E27FC236}">
                <a16:creationId xmlns:a16="http://schemas.microsoft.com/office/drawing/2014/main" id="{9E3FCFFA-A60B-4F5B-BD9C-35B09471825C}"/>
              </a:ext>
            </a:extLst>
          </p:cNvPr>
          <p:cNvSpPr>
            <a:spLocks xmlns:a="http://schemas.openxmlformats.org/drawingml/2006/main" noGrp="1"/>
          </p:cNvSpPr>
          <p:nvPr/>
        </p:nvSpPr>
        <p:spPr>
          <a:xfrm xmlns:a="http://schemas.openxmlformats.org/drawingml/2006/main">
            <a:off x="5067300" y="5638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A713A"/>
                </a:solidFill>
                <a:latin typeface="Helvetica Neue"/>
                <a:ea typeface="Helvetica Neue"/>
                <a:cs typeface="Helvetica Neue"/>
              </a:defRPr>
            </a:defPPr>
            <a:lvl1pPr>
              <a:defRPr sz="1725" b="1">
                <a:solidFill>
                  <a:srgbClr val="CA713A"/>
                </a:solidFill>
                <a:latin typeface="Helvetica Neue"/>
                <a:ea typeface="Helvetica Neue"/>
                <a:cs typeface="Helvetica Neue"/>
              </a:defRPr>
            </a:lvl1pPr>
            <a:lvl2pPr>
              <a:defRPr sz="1725" b="1">
                <a:solidFill>
                  <a:srgbClr val="CA713A"/>
                </a:solidFill>
                <a:latin typeface="Helvetica Neue"/>
                <a:ea typeface="Helvetica Neue"/>
                <a:cs typeface="Helvetica Neue"/>
              </a:defRPr>
            </a:lvl2pPr>
            <a:lvl3pPr>
              <a:defRPr sz="1725" b="1">
                <a:solidFill>
                  <a:srgbClr val="CA713A"/>
                </a:solidFill>
                <a:latin typeface="Helvetica Neue"/>
                <a:ea typeface="Helvetica Neue"/>
                <a:cs typeface="Helvetica Neue"/>
              </a:defRPr>
            </a:lvl3pPr>
            <a:lvl4pPr>
              <a:defRPr sz="1725" b="1">
                <a:solidFill>
                  <a:srgbClr val="CA713A"/>
                </a:solidFill>
                <a:latin typeface="Helvetica Neue"/>
                <a:ea typeface="Helvetica Neue"/>
                <a:cs typeface="Helvetica Neue"/>
              </a:defRPr>
            </a:lvl4pPr>
            <a:lvl5pPr>
              <a:defRPr sz="1725" b="1">
                <a:solidFill>
                  <a:srgbClr val="CA713A"/>
                </a:solidFill>
                <a:latin typeface="Helvetica Neue"/>
                <a:ea typeface="Helvetica Neue"/>
                <a:cs typeface="Helvetica Neue"/>
              </a:defRPr>
            </a:lvl5pPr>
            <a:lvl6pPr>
              <a:defRPr sz="1725" b="1">
                <a:solidFill>
                  <a:srgbClr val="CA713A"/>
                </a:solidFill>
                <a:latin typeface="Helvetica Neue"/>
                <a:ea typeface="Helvetica Neue"/>
                <a:cs typeface="Helvetica Neue"/>
              </a:defRPr>
            </a:lvl6pPr>
            <a:lvl7pPr>
              <a:defRPr sz="1725" b="1">
                <a:solidFill>
                  <a:srgbClr val="CA713A"/>
                </a:solidFill>
                <a:latin typeface="Helvetica Neue"/>
                <a:ea typeface="Helvetica Neue"/>
                <a:cs typeface="Helvetica Neue"/>
              </a:defRPr>
            </a:lvl7pPr>
            <a:lvl8pPr>
              <a:defRPr sz="1725" b="1">
                <a:solidFill>
                  <a:srgbClr val="CA713A"/>
                </a:solidFill>
                <a:latin typeface="Helvetica Neue"/>
                <a:ea typeface="Helvetica Neue"/>
                <a:cs typeface="Helvetica Neue"/>
              </a:defRPr>
            </a:lvl8pPr>
            <a:lvl9pPr>
              <a:defRPr sz="1725" b="1">
                <a:solidFill>
                  <a:srgbClr val="CA713A"/>
                </a:solidFill>
                <a:latin typeface="Helvetica Neue"/>
                <a:ea typeface="Helvetica Neue"/>
                <a:cs typeface="Helvetica Neue"/>
              </a:defRPr>
            </a:lvl9pPr>
          </a:lstStyle>
          <a:p xmlns:a="http://schemas.openxmlformats.org/drawingml/2006/main">
            <a:pPr>
              <a:defRPr sz="1725" b="1">
                <a:solidFill>
                  <a:srgbClr val="CA713A"/>
                </a:solidFill>
                <a:latin typeface="Helvetica Neue"/>
                <a:ea typeface="Helvetica Neue"/>
                <a:cs typeface="Helvetica Neue"/>
              </a:defRPr>
            </a:pPr>
            <a:r>
              <a:rPr sz="1725" b="1">
                <a:solidFill>
                  <a:srgbClr val="CA713A"/>
                </a:solidFill>
                <a:latin typeface="Helvetica Neue"/>
                <a:ea typeface="Helvetica Neue"/>
                <a:cs typeface="Helvetica Neue"/>
              </a:rPr>
              <a:t>Shuffled</a:t>
            </a:r>
          </a:p>
        </p:txBody>
      </p:sp>
      <p:sp>
        <p:nvSpPr>
          <p:cNvPr id="12" name="">
            <a:extLst xmlns:a="http://schemas.openxmlformats.org/drawingml/2006/main">
              <a:ext uri="{FF2B5EF4-FFF2-40B4-BE49-F238E27FC236}">
                <a16:creationId xmlns:a16="http://schemas.microsoft.com/office/drawing/2014/main" id="{D3E8EDD2-3615-4C1E-80FC-32FC34A96CE2}"/>
              </a:ext>
            </a:extLst>
          </p:cNvPr>
          <p:cNvSpPr>
            <a:spLocks xmlns:a="http://schemas.openxmlformats.org/drawingml/2006/main" noGrp="1"/>
          </p:cNvSpPr>
          <p:nvPr/>
        </p:nvSpPr>
        <p:spPr>
          <a:xfrm xmlns:a="http://schemas.openxmlformats.org/drawingml/2006/main">
            <a:off x="7324725" y="5638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9076A9"/>
                </a:solidFill>
                <a:latin typeface="Helvetica Neue"/>
                <a:ea typeface="Helvetica Neue"/>
                <a:cs typeface="Helvetica Neue"/>
              </a:defRPr>
            </a:defPPr>
            <a:lvl1pPr>
              <a:defRPr sz="1725" b="1">
                <a:solidFill>
                  <a:srgbClr val="9076A9"/>
                </a:solidFill>
                <a:latin typeface="Helvetica Neue"/>
                <a:ea typeface="Helvetica Neue"/>
                <a:cs typeface="Helvetica Neue"/>
              </a:defRPr>
            </a:lvl1pPr>
            <a:lvl2pPr>
              <a:defRPr sz="1725" b="1">
                <a:solidFill>
                  <a:srgbClr val="9076A9"/>
                </a:solidFill>
                <a:latin typeface="Helvetica Neue"/>
                <a:ea typeface="Helvetica Neue"/>
                <a:cs typeface="Helvetica Neue"/>
              </a:defRPr>
            </a:lvl2pPr>
            <a:lvl3pPr>
              <a:defRPr sz="1725" b="1">
                <a:solidFill>
                  <a:srgbClr val="9076A9"/>
                </a:solidFill>
                <a:latin typeface="Helvetica Neue"/>
                <a:ea typeface="Helvetica Neue"/>
                <a:cs typeface="Helvetica Neue"/>
              </a:defRPr>
            </a:lvl3pPr>
            <a:lvl4pPr>
              <a:defRPr sz="1725" b="1">
                <a:solidFill>
                  <a:srgbClr val="9076A9"/>
                </a:solidFill>
                <a:latin typeface="Helvetica Neue"/>
                <a:ea typeface="Helvetica Neue"/>
                <a:cs typeface="Helvetica Neue"/>
              </a:defRPr>
            </a:lvl4pPr>
            <a:lvl5pPr>
              <a:defRPr sz="1725" b="1">
                <a:solidFill>
                  <a:srgbClr val="9076A9"/>
                </a:solidFill>
                <a:latin typeface="Helvetica Neue"/>
                <a:ea typeface="Helvetica Neue"/>
                <a:cs typeface="Helvetica Neue"/>
              </a:defRPr>
            </a:lvl5pPr>
            <a:lvl6pPr>
              <a:defRPr sz="1725" b="1">
                <a:solidFill>
                  <a:srgbClr val="9076A9"/>
                </a:solidFill>
                <a:latin typeface="Helvetica Neue"/>
                <a:ea typeface="Helvetica Neue"/>
                <a:cs typeface="Helvetica Neue"/>
              </a:defRPr>
            </a:lvl6pPr>
            <a:lvl7pPr>
              <a:defRPr sz="1725" b="1">
                <a:solidFill>
                  <a:srgbClr val="9076A9"/>
                </a:solidFill>
                <a:latin typeface="Helvetica Neue"/>
                <a:ea typeface="Helvetica Neue"/>
                <a:cs typeface="Helvetica Neue"/>
              </a:defRPr>
            </a:lvl7pPr>
            <a:lvl8pPr>
              <a:defRPr sz="1725" b="1">
                <a:solidFill>
                  <a:srgbClr val="9076A9"/>
                </a:solidFill>
                <a:latin typeface="Helvetica Neue"/>
                <a:ea typeface="Helvetica Neue"/>
                <a:cs typeface="Helvetica Neue"/>
              </a:defRPr>
            </a:lvl8pPr>
            <a:lvl9pPr>
              <a:defRPr sz="1725" b="1">
                <a:solidFill>
                  <a:srgbClr val="9076A9"/>
                </a:solidFill>
                <a:latin typeface="Helvetica Neue"/>
                <a:ea typeface="Helvetica Neue"/>
                <a:cs typeface="Helvetica Neue"/>
              </a:defRPr>
            </a:lvl9pPr>
          </a:lstStyle>
          <a:p xmlns:a="http://schemas.openxmlformats.org/drawingml/2006/main">
            <a:pPr>
              <a:defRPr sz="1725" b="1">
                <a:solidFill>
                  <a:srgbClr val="9076A9"/>
                </a:solidFill>
                <a:latin typeface="Helvetica Neue"/>
                <a:ea typeface="Helvetica Neue"/>
                <a:cs typeface="Helvetica Neue"/>
              </a:defRPr>
            </a:pPr>
            <a:r>
              <a:rPr sz="1725" b="1">
                <a:solidFill>
                  <a:srgbClr val="9076A9"/>
                </a:solidFill>
                <a:latin typeface="Helvetica Neue"/>
                <a:ea typeface="Helvetica Neue"/>
                <a:cs typeface="Helvetica Neue"/>
              </a:rPr>
              <a:t>Upfront</a:t>
            </a:r>
          </a:p>
        </p:txBody>
      </p:sp>
      <p:sp>
        <p:nvSpPr>
          <p:cNvPr id="13" name="">
            <a:extLst xmlns:a="http://schemas.openxmlformats.org/drawingml/2006/main">
              <a:ext uri="{FF2B5EF4-FFF2-40B4-BE49-F238E27FC236}">
                <a16:creationId xmlns:a16="http://schemas.microsoft.com/office/drawing/2014/main" id="{D34BE315-4181-4A51-8C60-184C510F6890}"/>
              </a:ext>
            </a:extLst>
          </p:cNvPr>
          <p:cNvSpPr>
            <a:spLocks xmlns:a="http://schemas.openxmlformats.org/drawingml/2006/main" noGrp="1"/>
          </p:cNvSpPr>
          <p:nvPr/>
        </p:nvSpPr>
        <p:spPr>
          <a:xfrm xmlns:a="http://schemas.openxmlformats.org/drawingml/2006/main">
            <a:off x="9582150" y="56388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8A949C"/>
                </a:solidFill>
                <a:latin typeface="Helvetica Neue"/>
                <a:ea typeface="Helvetica Neue"/>
                <a:cs typeface="Helvetica Neue"/>
              </a:defRPr>
            </a:defPPr>
            <a:lvl1pPr>
              <a:defRPr sz="1725" b="1">
                <a:solidFill>
                  <a:srgbClr val="8A949C"/>
                </a:solidFill>
                <a:latin typeface="Helvetica Neue"/>
                <a:ea typeface="Helvetica Neue"/>
                <a:cs typeface="Helvetica Neue"/>
              </a:defRPr>
            </a:lvl1pPr>
            <a:lvl2pPr>
              <a:defRPr sz="1725" b="1">
                <a:solidFill>
                  <a:srgbClr val="8A949C"/>
                </a:solidFill>
                <a:latin typeface="Helvetica Neue"/>
                <a:ea typeface="Helvetica Neue"/>
                <a:cs typeface="Helvetica Neue"/>
              </a:defRPr>
            </a:lvl2pPr>
            <a:lvl3pPr>
              <a:defRPr sz="1725" b="1">
                <a:solidFill>
                  <a:srgbClr val="8A949C"/>
                </a:solidFill>
                <a:latin typeface="Helvetica Neue"/>
                <a:ea typeface="Helvetica Neue"/>
                <a:cs typeface="Helvetica Neue"/>
              </a:defRPr>
            </a:lvl3pPr>
            <a:lvl4pPr>
              <a:defRPr sz="1725" b="1">
                <a:solidFill>
                  <a:srgbClr val="8A949C"/>
                </a:solidFill>
                <a:latin typeface="Helvetica Neue"/>
                <a:ea typeface="Helvetica Neue"/>
                <a:cs typeface="Helvetica Neue"/>
              </a:defRPr>
            </a:lvl4pPr>
            <a:lvl5pPr>
              <a:defRPr sz="1725" b="1">
                <a:solidFill>
                  <a:srgbClr val="8A949C"/>
                </a:solidFill>
                <a:latin typeface="Helvetica Neue"/>
                <a:ea typeface="Helvetica Neue"/>
                <a:cs typeface="Helvetica Neue"/>
              </a:defRPr>
            </a:lvl5pPr>
            <a:lvl6pPr>
              <a:defRPr sz="1725" b="1">
                <a:solidFill>
                  <a:srgbClr val="8A949C"/>
                </a:solidFill>
                <a:latin typeface="Helvetica Neue"/>
                <a:ea typeface="Helvetica Neue"/>
                <a:cs typeface="Helvetica Neue"/>
              </a:defRPr>
            </a:lvl6pPr>
            <a:lvl7pPr>
              <a:defRPr sz="1725" b="1">
                <a:solidFill>
                  <a:srgbClr val="8A949C"/>
                </a:solidFill>
                <a:latin typeface="Helvetica Neue"/>
                <a:ea typeface="Helvetica Neue"/>
                <a:cs typeface="Helvetica Neue"/>
              </a:defRPr>
            </a:lvl7pPr>
            <a:lvl8pPr>
              <a:defRPr sz="1725" b="1">
                <a:solidFill>
                  <a:srgbClr val="8A949C"/>
                </a:solidFill>
                <a:latin typeface="Helvetica Neue"/>
                <a:ea typeface="Helvetica Neue"/>
                <a:cs typeface="Helvetica Neue"/>
              </a:defRPr>
            </a:lvl8pPr>
            <a:lvl9pPr>
              <a:defRPr sz="1725" b="1">
                <a:solidFill>
                  <a:srgbClr val="8A949C"/>
                </a:solidFill>
                <a:latin typeface="Helvetica Neue"/>
                <a:ea typeface="Helvetica Neue"/>
                <a:cs typeface="Helvetica Neue"/>
              </a:defRPr>
            </a:lvl9pPr>
          </a:lstStyle>
          <a:p xmlns:a="http://schemas.openxmlformats.org/drawingml/2006/main">
            <a:pPr>
              <a:defRPr sz="1725" b="1">
                <a:solidFill>
                  <a:srgbClr val="8A949C"/>
                </a:solidFill>
                <a:latin typeface="Helvetica Neue"/>
                <a:ea typeface="Helvetica Neue"/>
                <a:cs typeface="Helvetica Neue"/>
              </a:defRPr>
            </a:pPr>
            <a:r>
              <a:rPr sz="1725" b="1">
                <a:solidFill>
                  <a:srgbClr val="8A949C"/>
                </a:solidFill>
                <a:latin typeface="Helvetica Neue"/>
                <a:ea typeface="Helvetica Neue"/>
                <a:cs typeface="Helvetica Neue"/>
              </a:rPr>
              <a:t>Exact random</a:t>
            </a:r>
          </a:p>
        </p:txBody>
      </p:sp>
      <p:sp>
        <p:nvSpPr>
          <p:cNvPr id="14" name="">
            <a:extLst xmlns:a="http://schemas.openxmlformats.org/drawingml/2006/main">
              <a:ext uri="{FF2B5EF4-FFF2-40B4-BE49-F238E27FC236}">
                <a16:creationId xmlns:a16="http://schemas.microsoft.com/office/drawing/2014/main" id="{52B79892-9151-4328-B075-274EA7998EAF}"/>
              </a:ext>
            </a:extLst>
          </p:cNvPr>
          <p:cNvSpPr>
            <a:spLocks xmlns:a="http://schemas.openxmlformats.org/drawingml/2006/main" noGrp="1"/>
          </p:cNvSpPr>
          <p:nvPr/>
        </p:nvSpPr>
        <p:spPr>
          <a:xfrm xmlns:a="http://schemas.openxmlformats.org/drawingml/2006/main">
            <a:off x="533400" y="60579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LLZO: 10 of 12 iterative successes first appear at queries 8–10.</a:t>
            </a:r>
          </a:p>
        </p:txBody>
      </p:sp>
    </p:spTree>
    <p:extLst>
      <p:ext uri="{BB962C8B-B14F-4D97-AF65-F5344CB8AC3E}">
        <p14:creationId xmlns:p14="http://schemas.microsoft.com/office/powerpoint/2010/main" val="318244032"/>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27C130-3430-457F-AAC1-5CB138A1B5A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ONE RECORDED SULFIDE TRAJECTORY</a:t>
            </a:r>
          </a:p>
        </p:txBody>
      </p:sp>
      <p:sp>
        <p:nvSpPr>
          <p:cNvPr id="2" name="">
            <a:extLst xmlns:a="http://schemas.openxmlformats.org/drawingml/2006/main">
              <a:ext uri="{FF2B5EF4-FFF2-40B4-BE49-F238E27FC236}">
                <a16:creationId xmlns:a16="http://schemas.microsoft.com/office/drawing/2014/main" id="{E022551F-5DFE-4DFA-80BC-5A0FCA7CAD6E}"/>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Where the LLM substitutes chemical intuition</a:t>
            </a:r>
          </a:p>
        </p:txBody>
      </p:sp>
      <p:sp>
        <p:nvSpPr>
          <p:cNvPr id="3" name="">
            <a:extLst xmlns:a="http://schemas.openxmlformats.org/drawingml/2006/main">
              <a:ext uri="{FF2B5EF4-FFF2-40B4-BE49-F238E27FC236}">
                <a16:creationId xmlns:a16="http://schemas.microsoft.com/office/drawing/2014/main" id="{1F5E5254-9C22-4BF8-9ED9-23BC70056B2D}"/>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After familiar oxides and LiF fail, Haiku refines mixed-cation fluoride chemistry.</a:t>
            </a:r>
          </a:p>
        </p:txBody>
      </p:sp>
      <p:sp>
        <p:nvSpPr>
          <p:cNvPr id="4" name="">
            <a:extLst xmlns:a="http://schemas.openxmlformats.org/drawingml/2006/main">
              <a:ext uri="{FF2B5EF4-FFF2-40B4-BE49-F238E27FC236}">
                <a16:creationId xmlns:a16="http://schemas.microsoft.com/office/drawing/2014/main" id="{9392A4E3-3CC5-4820-9452-B1F0516982C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A23D2A81-686A-43F5-98D5-36B5E93A312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11</a:t>
            </a:r>
          </a:p>
        </p:txBody>
      </p:sp>
      <p:graphicFrame>
        <p:nvGraphicFramePr>
          <p:cNvPr id="6" name="">
            <a:extLst xmlns:a="http://schemas.openxmlformats.org/drawingml/2006/main">
              <a:ext uri="{FF2B5EF4-FFF2-40B4-BE49-F238E27FC236}">
                <a16:creationId xmlns:a16="http://schemas.microsoft.com/office/drawing/2014/main" id="{F435AB8C-2EA2-4160-9888-55320F8E0711}"/>
              </a:ext>
            </a:extLst>
          </p:cNvPr>
          <p:cNvGraphicFramePr/>
          <p:nvPr/>
        </p:nvGraphicFramePr>
        <p:xfrm>
          <a:off xmlns:a="http://schemas.openxmlformats.org/drawingml/2006/main" x="533400" y="2019300"/>
          <a:ext xmlns:a="http://schemas.openxmlformats.org/drawingml/2006/main" cx="11125200" cy="2876550"/>
        </p:xfrm>
        <a:graphic xmlns:a="http://schemas.openxmlformats.org/drawingml/2006/main">
          <a:graphicData uri="http://schemas.openxmlformats.org/drawingml/2006/table">
            <a:tbl>
              <a:tblPr firstRow="0" bandRow="0"/>
              <a:tblGrid>
                <a:gridCol w="1190625"/>
                <a:gridCol w="2381250"/>
                <a:gridCol w="2667000"/>
                <a:gridCol w="4886325"/>
              </a:tblGrid>
              <a:tr h="719138">
                <a:tc>
                  <a:txBody>
                    <a:bodyPr lIns="0" tIns="0" rIns="0" bIns="0">
                      <a:noAutofit/>
                    </a:bodyPr>
                    <a:lstStyle/>
                    <a:p>
                      <a:r>
                        <a:rPr sz="1725" b="1">
                          <a:solidFill>
                            <a:srgbClr val="FFFFFF"/>
                          </a:solidFill>
                          <a:latin typeface="Helvetica Neue"/>
                          <a:ea typeface="Helvetica Neue"/>
                          <a:cs typeface="Helvetica Neue"/>
                        </a:rPr>
                        <a:t>Query</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Chosen material</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Observed penalty</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Decision pattern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9138">
                <a:tc>
                  <a:txBody>
                    <a:bodyPr lIns="0" tIns="0" rIns="0" bIns="0">
                      <a:noAutofit/>
                    </a:bodyPr>
                    <a:lstStyle/>
                    <a:p>
                      <a:r>
                        <a:rPr sz="2100" b="0">
                          <a:solidFill>
                            <a:srgbClr val="172B3A"/>
                          </a:solidFill>
                          <a:latin typeface="Helvetica Neue"/>
                          <a:ea typeface="Helvetica Neue"/>
                          <a:cs typeface="Helvetica Neue"/>
                        </a:rPr>
                        <a:t>6</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Li₃AlF₆</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0.160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Test Al-containing fluoride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9138">
                <a:tc>
                  <a:txBody>
                    <a:bodyPr lIns="0" tIns="0" rIns="0" bIns="0">
                      <a:noAutofit/>
                    </a:bodyPr>
                    <a:lstStyle/>
                    <a:p>
                      <a:r>
                        <a:rPr sz="2100" b="0">
                          <a:solidFill>
                            <a:srgbClr val="172B3A"/>
                          </a:solidFill>
                          <a:latin typeface="Helvetica Neue"/>
                          <a:ea typeface="Helvetica Neue"/>
                          <a:cs typeface="Helvetica Neue"/>
                        </a:rPr>
                        <a:t>7</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LiMgAlF₆</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0.057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Change cation chemistry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9138">
                <a:tc>
                  <a:txBody>
                    <a:bodyPr lIns="0" tIns="0" rIns="0" bIns="0">
                      <a:noAutofit/>
                    </a:bodyPr>
                    <a:lstStyle/>
                    <a:p>
                      <a:r>
                        <a:rPr sz="2100" b="0">
                          <a:solidFill>
                            <a:srgbClr val="172B3A"/>
                          </a:solidFill>
                          <a:latin typeface="Helvetica Neue"/>
                          <a:ea typeface="Helvetica Neue"/>
                          <a:cs typeface="Helvetica Neue"/>
                        </a:rPr>
                        <a:t>8</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0.048: acceptable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Refine a near-threshold candidate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9D89EF60-51CC-4A97-839D-E35C4D1B61A8}"/>
              </a:ext>
            </a:extLst>
          </p:cNvPr>
          <p:cNvSpPr>
            <a:spLocks xmlns:a="http://schemas.openxmlformats.org/drawingml/2006/main" noGrp="1"/>
          </p:cNvSpPr>
          <p:nvPr/>
        </p:nvSpPr>
        <p:spPr>
          <a:xfrm xmlns:a="http://schemas.openxmlformats.org/drawingml/2006/main">
            <a:off x="533400" y="53244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07F7B"/>
                </a:solidFill>
                <a:latin typeface="Helvetica Neue"/>
                <a:ea typeface="Helvetica Neue"/>
                <a:cs typeface="Helvetica Neue"/>
              </a:defRPr>
            </a:defPPr>
            <a:lvl1pPr>
              <a:defRPr sz="2400" b="1">
                <a:solidFill>
                  <a:srgbClr val="007F7B"/>
                </a:solidFill>
                <a:latin typeface="Helvetica Neue"/>
                <a:ea typeface="Helvetica Neue"/>
                <a:cs typeface="Helvetica Neue"/>
              </a:defRPr>
            </a:lvl1pPr>
            <a:lvl2pPr>
              <a:defRPr sz="2400" b="1">
                <a:solidFill>
                  <a:srgbClr val="007F7B"/>
                </a:solidFill>
                <a:latin typeface="Helvetica Neue"/>
                <a:ea typeface="Helvetica Neue"/>
                <a:cs typeface="Helvetica Neue"/>
              </a:defRPr>
            </a:lvl2pPr>
            <a:lvl3pPr>
              <a:defRPr sz="2400" b="1">
                <a:solidFill>
                  <a:srgbClr val="007F7B"/>
                </a:solidFill>
                <a:latin typeface="Helvetica Neue"/>
                <a:ea typeface="Helvetica Neue"/>
                <a:cs typeface="Helvetica Neue"/>
              </a:defRPr>
            </a:lvl3pPr>
            <a:lvl4pPr>
              <a:defRPr sz="2400" b="1">
                <a:solidFill>
                  <a:srgbClr val="007F7B"/>
                </a:solidFill>
                <a:latin typeface="Helvetica Neue"/>
                <a:ea typeface="Helvetica Neue"/>
                <a:cs typeface="Helvetica Neue"/>
              </a:defRPr>
            </a:lvl4pPr>
            <a:lvl5pPr>
              <a:defRPr sz="2400" b="1">
                <a:solidFill>
                  <a:srgbClr val="007F7B"/>
                </a:solidFill>
                <a:latin typeface="Helvetica Neue"/>
                <a:ea typeface="Helvetica Neue"/>
                <a:cs typeface="Helvetica Neue"/>
              </a:defRPr>
            </a:lvl5pPr>
            <a:lvl6pPr>
              <a:defRPr sz="2400" b="1">
                <a:solidFill>
                  <a:srgbClr val="007F7B"/>
                </a:solidFill>
                <a:latin typeface="Helvetica Neue"/>
                <a:ea typeface="Helvetica Neue"/>
                <a:cs typeface="Helvetica Neue"/>
              </a:defRPr>
            </a:lvl6pPr>
            <a:lvl7pPr>
              <a:defRPr sz="2400" b="1">
                <a:solidFill>
                  <a:srgbClr val="007F7B"/>
                </a:solidFill>
                <a:latin typeface="Helvetica Neue"/>
                <a:ea typeface="Helvetica Neue"/>
                <a:cs typeface="Helvetica Neue"/>
              </a:defRPr>
            </a:lvl7pPr>
            <a:lvl8pPr>
              <a:defRPr sz="2400" b="1">
                <a:solidFill>
                  <a:srgbClr val="007F7B"/>
                </a:solidFill>
                <a:latin typeface="Helvetica Neue"/>
                <a:ea typeface="Helvetica Neue"/>
                <a:cs typeface="Helvetica Neue"/>
              </a:defRPr>
            </a:lvl8pPr>
            <a:lvl9pPr>
              <a:defRPr sz="2400" b="1">
                <a:solidFill>
                  <a:srgbClr val="007F7B"/>
                </a:solidFill>
                <a:latin typeface="Helvetica Neue"/>
                <a:ea typeface="Helvetica Neue"/>
                <a:cs typeface="Helvetica Neue"/>
              </a:defRPr>
            </a:lvl9pPr>
          </a:lstStyle>
          <a:p xmlns:a="http://schemas.openxmlformats.org/drawingml/2006/main">
            <a:pPr>
              <a:defRPr sz="2400" b="1">
                <a:solidFill>
                  <a:srgbClr val="007F7B"/>
                </a:solidFill>
                <a:latin typeface="Helvetica Neue"/>
                <a:ea typeface="Helvetica Neue"/>
                <a:cs typeface="Helvetica Neue"/>
              </a:defRPr>
            </a:pPr>
            <a:r>
              <a:rPr sz="2400" b="1">
                <a:solidFill>
                  <a:srgbClr val="007F7B"/>
                </a:solidFill>
                <a:latin typeface="Helvetica Neue"/>
                <a:ea typeface="Helvetica Neue"/>
                <a:cs typeface="Helvetica Neue"/>
              </a:rPr>
              <a:t>The delegated act is connecting a failed result to a new chemical proposal.</a:t>
            </a:r>
          </a:p>
        </p:txBody>
      </p:sp>
      <p:sp>
        <p:nvSpPr>
          <p:cNvPr id="8" name="">
            <a:extLst xmlns:a="http://schemas.openxmlformats.org/drawingml/2006/main">
              <a:ext uri="{FF2B5EF4-FFF2-40B4-BE49-F238E27FC236}">
                <a16:creationId xmlns:a16="http://schemas.microsoft.com/office/drawing/2014/main" id="{91A12932-D46C-4DC4-80CD-A16BF65BC5DD}"/>
              </a:ext>
            </a:extLst>
          </p:cNvPr>
          <p:cNvSpPr>
            <a:spLocks xmlns:a="http://schemas.openxmlformats.org/drawingml/2006/main" noGrp="1"/>
          </p:cNvSpPr>
          <p:nvPr/>
        </p:nvSpPr>
        <p:spPr>
          <a:xfrm xmlns:a="http://schemas.openxmlformats.org/drawingml/2006/main">
            <a:off x="533400" y="60483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Penalties: eV / non-Li atom. The proposed mechanism is a hypothesis, not a verified explanation.</a:t>
            </a:r>
          </a:p>
        </p:txBody>
      </p:sp>
    </p:spTree>
    <p:extLst>
      <p:ext uri="{BB962C8B-B14F-4D97-AF65-F5344CB8AC3E}">
        <p14:creationId xmlns:p14="http://schemas.microsoft.com/office/powerpoint/2010/main" val="699096203"/>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5ADFB5-526B-46E7-9275-374A6D1A019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LLZO FAILURE ANALYSIS</a:t>
            </a:r>
          </a:p>
        </p:txBody>
      </p:sp>
      <p:sp>
        <p:nvSpPr>
          <p:cNvPr id="2" name="">
            <a:extLst xmlns:a="http://schemas.openxmlformats.org/drawingml/2006/main">
              <a:ext uri="{FF2B5EF4-FFF2-40B4-BE49-F238E27FC236}">
                <a16:creationId xmlns:a16="http://schemas.microsoft.com/office/drawing/2014/main" id="{B257A590-155E-4D86-BE63-E7422A98C130}"/>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narrow prior can lose to broad exploration</a:t>
            </a:r>
          </a:p>
        </p:txBody>
      </p:sp>
      <p:sp>
        <p:nvSpPr>
          <p:cNvPr id="3" name="">
            <a:extLst xmlns:a="http://schemas.openxmlformats.org/drawingml/2006/main">
              <a:ext uri="{FF2B5EF4-FFF2-40B4-BE49-F238E27FC236}">
                <a16:creationId xmlns:a16="http://schemas.microsoft.com/office/drawing/2014/main" id="{8559FDCC-53AF-4BE5-857B-B855C5CD7C3F}"/>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Three hundred picks per arm. Random spreads its budget across more chemistry.</a:t>
            </a:r>
          </a:p>
        </p:txBody>
      </p:sp>
      <p:sp>
        <p:nvSpPr>
          <p:cNvPr id="4" name="">
            <a:extLst xmlns:a="http://schemas.openxmlformats.org/drawingml/2006/main">
              <a:ext uri="{FF2B5EF4-FFF2-40B4-BE49-F238E27FC236}">
                <a16:creationId xmlns:a16="http://schemas.microsoft.com/office/drawing/2014/main" id="{438B5A9B-352D-44B4-83D1-B53478BF0A7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DC9A932C-5CE1-4AE6-B137-6E4D75E2C9E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12</a:t>
            </a:r>
          </a:p>
        </p:txBody>
      </p:sp>
      <p:graphicFrame>
        <p:nvGraphicFramePr>
          <p:cNvPr id="6" name="">
            <a:extLst xmlns:a="http://schemas.openxmlformats.org/drawingml/2006/main">
              <a:ext uri="{FF2B5EF4-FFF2-40B4-BE49-F238E27FC236}">
                <a16:creationId xmlns:a16="http://schemas.microsoft.com/office/drawing/2014/main" id="{B8EE521D-EBB0-4A37-8490-398C7D476141}"/>
              </a:ext>
            </a:extLst>
          </p:cNvPr>
          <p:cNvGraphicFramePr/>
          <p:nvPr/>
        </p:nvGraphicFramePr>
        <p:xfrm>
          <a:off xmlns:a="http://schemas.openxmlformats.org/drawingml/2006/main" x="533400" y="2019300"/>
          <a:ext xmlns:a="http://schemas.openxmlformats.org/drawingml/2006/main" cx="11125200" cy="3238500"/>
        </p:xfrm>
        <a:graphic xmlns:a="http://schemas.openxmlformats.org/drawingml/2006/main">
          <a:graphicData uri="http://schemas.openxmlformats.org/drawingml/2006/table">
            <a:tbl>
              <a:tblPr firstRow="0" bandRow="0"/>
              <a:tblGrid>
                <a:gridCol w="2762250"/>
                <a:gridCol w="2686050"/>
                <a:gridCol w="2838450"/>
                <a:gridCol w="2838450"/>
              </a:tblGrid>
              <a:tr h="647700">
                <a:tc>
                  <a:txBody>
                    <a:bodyPr lIns="0" tIns="0" rIns="0" bIns="0">
                      <a:noAutofit/>
                    </a:bodyPr>
                    <a:lstStyle/>
                    <a:p>
                      <a:r>
                        <a:rPr sz="1725" b="1">
                          <a:solidFill>
                            <a:srgbClr val="FFFFFF"/>
                          </a:solidFill>
                          <a:latin typeface="Helvetica Neue"/>
                          <a:ea typeface="Helvetica Neue"/>
                          <a:cs typeface="Helvetica Neue"/>
                        </a:rPr>
                        <a:t>Arm</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Distinct formulas</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Acceptable picks</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Successful runs</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1950" b="0">
                          <a:solidFill>
                            <a:srgbClr val="172B3A"/>
                          </a:solidFill>
                          <a:latin typeface="Helvetica Neue"/>
                          <a:ea typeface="Helvetica Neue"/>
                          <a:cs typeface="Helvetica Neue"/>
                        </a:rPr>
                        <a:t>Random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95</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33 / 300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24 /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Iterative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33</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29 / 300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12 /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Upfront</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 / 300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 /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Sequential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19</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 / 300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 /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AD463D4D-5625-49C1-84D4-8F8EA2C2D728}"/>
              </a:ext>
            </a:extLst>
          </p:cNvPr>
          <p:cNvSpPr>
            <a:spLocks xmlns:a="http://schemas.openxmlformats.org/drawingml/2006/main" noGrp="1"/>
          </p:cNvSpPr>
          <p:nvPr/>
        </p:nvSpPr>
        <p:spPr>
          <a:xfrm xmlns:a="http://schemas.openxmlformats.org/drawingml/2006/main">
            <a:off x="533400" y="55911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Iterative finds acceptable materials late and repeatedly visits LiAlSiO₄ polymorphs.</a:t>
            </a:r>
          </a:p>
        </p:txBody>
      </p:sp>
      <p:sp>
        <p:nvSpPr>
          <p:cNvPr id="8" name="">
            <a:extLst xmlns:a="http://schemas.openxmlformats.org/drawingml/2006/main">
              <a:ext uri="{FF2B5EF4-FFF2-40B4-BE49-F238E27FC236}">
                <a16:creationId xmlns:a16="http://schemas.microsoft.com/office/drawing/2014/main" id="{6AA9A444-A31E-4205-93FB-7BFF5F0425DC}"/>
              </a:ext>
            </a:extLst>
          </p:cNvPr>
          <p:cNvSpPr>
            <a:spLocks xmlns:a="http://schemas.openxmlformats.org/drawingml/2006/main" noGrp="1"/>
          </p:cNvSpPr>
          <p:nvPr/>
        </p:nvSpPr>
        <p:spPr>
          <a:xfrm xmlns:a="http://schemas.openxmlformats.org/drawingml/2006/main">
            <a:off x="533400" y="60579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A post-hoc chemical audit flags 5 of 17 acceptable structures. The frozen result stays unchanged.</a:t>
            </a:r>
          </a:p>
        </p:txBody>
      </p:sp>
    </p:spTree>
    <p:extLst>
      <p:ext uri="{BB962C8B-B14F-4D97-AF65-F5344CB8AC3E}">
        <p14:creationId xmlns:p14="http://schemas.microsoft.com/office/powerpoint/2010/main" val="1578500041"/>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1B67BB-ADD2-4070-9040-DBD9E06CF24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22 OCT / PROSPECTIVE PET-MAD PILOT</a:t>
            </a:r>
          </a:p>
        </p:txBody>
      </p:sp>
      <p:sp>
        <p:nvSpPr>
          <p:cNvPr id="2" name="">
            <a:extLst xmlns:a="http://schemas.openxmlformats.org/drawingml/2006/main">
              <a:ext uri="{FF2B5EF4-FFF2-40B4-BE49-F238E27FC236}">
                <a16:creationId xmlns:a16="http://schemas.microsoft.com/office/drawing/2014/main" id="{B1396E4A-3988-4C9D-A1C4-7FA52CBA51CE}"/>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expensive pilot makes intuition falsifiable</a:t>
            </a:r>
          </a:p>
        </p:txBody>
      </p:sp>
      <p:sp>
        <p:nvSpPr>
          <p:cNvPr id="3" name="">
            <a:extLst xmlns:a="http://schemas.openxmlformats.org/drawingml/2006/main">
              <a:ext uri="{FF2B5EF4-FFF2-40B4-BE49-F238E27FC236}">
                <a16:creationId xmlns:a16="http://schemas.microsoft.com/office/drawing/2014/main" id="{595B02AE-22B1-44BD-B3EC-A89495C22655}"/>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One known reference, three feasible alternatives, two new coating evaluations.</a:t>
            </a:r>
          </a:p>
        </p:txBody>
      </p:sp>
      <p:sp>
        <p:nvSpPr>
          <p:cNvPr id="4" name="">
            <a:extLst xmlns:a="http://schemas.openxmlformats.org/drawingml/2006/main">
              <a:ext uri="{FF2B5EF4-FFF2-40B4-BE49-F238E27FC236}">
                <a16:creationId xmlns:a16="http://schemas.microsoft.com/office/drawing/2014/main" id="{042C54CC-AA63-4270-957D-FE119863FFF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6B21DE8A-CF43-4ACA-B0FD-C512F31BA0A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13</a:t>
            </a:r>
          </a:p>
        </p:txBody>
      </p:sp>
      <p:graphicFrame>
        <p:nvGraphicFramePr>
          <p:cNvPr id="6" name="">
            <a:extLst xmlns:a="http://schemas.openxmlformats.org/drawingml/2006/main">
              <a:ext uri="{FF2B5EF4-FFF2-40B4-BE49-F238E27FC236}">
                <a16:creationId xmlns:a16="http://schemas.microsoft.com/office/drawing/2014/main" id="{2257DD38-8BDE-4054-9608-12288C6FF901}"/>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571750"/>
                <a:gridCol w="4619625"/>
                <a:gridCol w="3933825"/>
              </a:tblGrid>
              <a:tr h="714375">
                <a:tc>
                  <a:txBody>
                    <a:bodyPr lIns="0" tIns="0" rIns="0" bIns="0">
                      <a:noAutofit/>
                    </a:bodyPr>
                    <a:lstStyle/>
                    <a:p>
                      <a:r>
                        <a:rPr sz="1725" b="1">
                          <a:solidFill>
                            <a:srgbClr val="FFFFFF"/>
                          </a:solidFill>
                          <a:latin typeface="Helvetica Neue"/>
                          <a:ea typeface="Helvetica Neue"/>
                          <a:cs typeface="Helvetica Neue"/>
                        </a:rPr>
                        <a:t>Stage</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LLM responsibility</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Physical evidence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1950" b="0">
                          <a:solidFill>
                            <a:srgbClr val="172B3A"/>
                          </a:solidFill>
                          <a:latin typeface="Helvetica Neue"/>
                          <a:ea typeface="Helvetica Neue"/>
                          <a:cs typeface="Helvetica Neue"/>
                        </a:rPr>
                        <a:t>Before a new coating</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Choose the material and forecast both contacts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Reference LiNbF₆ only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1950" b="0">
                          <a:solidFill>
                            <a:srgbClr val="172B3A"/>
                          </a:solidFill>
                          <a:latin typeface="Helvetica Neue"/>
                          <a:ea typeface="Helvetica Neue"/>
                          <a:cs typeface="Helvetica Neue"/>
                        </a:rPr>
                        <a:t>After 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Assess its earlier forecasts and choose again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Six primary jobs, three registries per contact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1950" b="0">
                          <a:solidFill>
                            <a:srgbClr val="172B3A"/>
                          </a:solidFill>
                          <a:latin typeface="Helvetica Neue"/>
                          <a:ea typeface="Helvetica Neue"/>
                          <a:cs typeface="Helvetica Neue"/>
                        </a:rPr>
                        <a:t>After 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Explain what held and what failed</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Six further primary jobs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3BF90BB3-C459-4EC9-9527-B795A305BB71}"/>
              </a:ext>
            </a:extLst>
          </p:cNvPr>
          <p:cNvSpPr>
            <a:spLocks xmlns:a="http://schemas.openxmlformats.org/drawingml/2006/main" noGrp="1"/>
          </p:cNvSpPr>
          <p:nvPr/>
        </p:nvSpPr>
        <p:spPr>
          <a:xfrm xmlns:a="http://schemas.openxmlformats.org/drawingml/2006/main">
            <a:off x="533400" y="53244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The order stayed LiTaF₆ then LiCaAlF₆. This pilot tests predictions, not search superiority.</a:t>
            </a:r>
          </a:p>
        </p:txBody>
      </p:sp>
      <p:sp>
        <p:nvSpPr>
          <p:cNvPr id="8" name="">
            <a:extLst xmlns:a="http://schemas.openxmlformats.org/drawingml/2006/main">
              <a:ext uri="{FF2B5EF4-FFF2-40B4-BE49-F238E27FC236}">
                <a16:creationId xmlns:a16="http://schemas.microsoft.com/office/drawing/2014/main" id="{C34DDBF0-0C4C-4156-B019-06EBB6E9ABAF}"/>
              </a:ext>
            </a:extLst>
          </p:cNvPr>
          <p:cNvSpPr>
            <a:spLocks xmlns:a="http://schemas.openxmlformats.org/drawingml/2006/main" noGrp="1"/>
          </p:cNvSpPr>
          <p:nvPr/>
        </p:nvSpPr>
        <p:spPr>
          <a:xfrm xmlns:a="http://schemas.openxmlformats.org/drawingml/2006/main">
            <a:off x="533400" y="60388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PET-MAD S 1.6.0 (r²SCAN). Robustness results were released after the final LLM response.</a:t>
            </a:r>
          </a:p>
        </p:txBody>
      </p:sp>
    </p:spTree>
    <p:extLst>
      <p:ext uri="{BB962C8B-B14F-4D97-AF65-F5344CB8AC3E}">
        <p14:creationId xmlns:p14="http://schemas.microsoft.com/office/powerpoint/2010/main" val="2066910232"/>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716584-D9BB-4604-9722-8252716FAA1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COMMON-PROTOCOL PHYSICAL COMPARISON</a:t>
            </a:r>
          </a:p>
        </p:txBody>
      </p:sp>
      <p:sp>
        <p:nvSpPr>
          <p:cNvPr id="2" name="">
            <a:extLst xmlns:a="http://schemas.openxmlformats.org/drawingml/2006/main">
              <a:ext uri="{FF2B5EF4-FFF2-40B4-BE49-F238E27FC236}">
                <a16:creationId xmlns:a16="http://schemas.microsoft.com/office/drawing/2014/main" id="{B2C0DB69-4103-4572-A894-8B3C67EDC02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All three coatings have a weaker electrolyte contact</a:t>
            </a:r>
          </a:p>
        </p:txBody>
      </p:sp>
      <p:sp>
        <p:nvSpPr>
          <p:cNvPr id="3" name="">
            <a:extLst xmlns:a="http://schemas.openxmlformats.org/drawingml/2006/main">
              <a:ext uri="{FF2B5EF4-FFF2-40B4-BE49-F238E27FC236}">
                <a16:creationId xmlns:a16="http://schemas.microsoft.com/office/drawing/2014/main" id="{E42E0606-F4E8-4333-B049-3086B923C28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E0736A4-7498-4B92-A130-88F1BAC24949}"/>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14</a:t>
            </a:r>
          </a:p>
        </p:txBody>
      </p:sp>
      <p:graphicFrame>
        <p:nvGraphicFramePr>
          <p:cNvPr id="5" name="Chart">
            <a:extLst xmlns:a="http://schemas.openxmlformats.org/drawingml/2006/main">
              <a:ext uri="{FF2B5EF4-FFF2-40B4-BE49-F238E27FC236}">
                <a16:creationId xmlns:a16="http://schemas.microsoft.com/office/drawing/2014/main" id="{E2BF67C3-E395-456E-8BE2-408FA4BEC9B0}"/>
              </a:ext>
            </a:extLst>
          </p:cNvPr>
          <p:cNvGraphicFramePr/>
          <p:nvPr/>
        </p:nvGraphicFramePr>
        <p:xfrm>
          <a:off xmlns:a="http://schemas.openxmlformats.org/drawingml/2006/main" x="533400" y="2038350"/>
          <a:ext xmlns:a="http://schemas.openxmlformats.org/drawingml/2006/main" cx="11125200" cy="3619500"/>
        </p:xfrm>
        <a:graphic xmlns:a="http://schemas.openxmlformats.org/drawingml/2006/main">
          <a:graphicData uri="http://schemas.openxmlformats.org/drawingml/2006/chart">
            <c:chart xmlns:r="http://schemas.openxmlformats.org/officeDocument/2006/relationships" xmlns:c="http://schemas.openxmlformats.org/drawingml/2006/chart" r:id="R4183bca94fe34319"/>
          </a:graphicData>
        </a:graphic>
      </p:graphicFrame>
      <p:sp>
        <p:nvSpPr>
          <p:cNvPr id="6" name="">
            <a:extLst xmlns:a="http://schemas.openxmlformats.org/drawingml/2006/main">
              <a:ext uri="{FF2B5EF4-FFF2-40B4-BE49-F238E27FC236}">
                <a16:creationId xmlns:a16="http://schemas.microsoft.com/office/drawing/2014/main" id="{8C3CBA1D-16D4-4F7A-A753-F9868388FBF3}"/>
              </a:ext>
            </a:extLst>
          </p:cNvPr>
          <p:cNvSpPr>
            <a:spLocks xmlns:a="http://schemas.openxmlformats.org/drawingml/2006/main" noGrp="1"/>
          </p:cNvSpPr>
          <p:nvPr/>
        </p:nvSpPr>
        <p:spPr>
          <a:xfrm xmlns:a="http://schemas.openxmlformats.org/drawingml/2006/main">
            <a:off x="533400" y="58388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Provisional adhesion for formally polar model contacts. LiF was not physically evaluated.</a:t>
            </a:r>
          </a:p>
        </p:txBody>
      </p:sp>
    </p:spTree>
    <p:extLst>
      <p:ext uri="{BB962C8B-B14F-4D97-AF65-F5344CB8AC3E}">
        <p14:creationId xmlns:p14="http://schemas.microsoft.com/office/powerpoint/2010/main" val="1335830996"/>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B281BB-462E-49A2-A4A5-FB80465F4AE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PROSPECTIVE FORECAST CHECKS</a:t>
            </a:r>
          </a:p>
        </p:txBody>
      </p:sp>
      <p:sp>
        <p:nvSpPr>
          <p:cNvPr id="2" name="">
            <a:extLst xmlns:a="http://schemas.openxmlformats.org/drawingml/2006/main">
              <a:ext uri="{FF2B5EF4-FFF2-40B4-BE49-F238E27FC236}">
                <a16:creationId xmlns:a16="http://schemas.microsoft.com/office/drawing/2014/main" id="{525A2674-C704-4B6B-9DDB-34DDCF381E5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analogy worked for Ta, failed for Ca–Al</a:t>
            </a:r>
          </a:p>
        </p:txBody>
      </p:sp>
      <p:sp>
        <p:nvSpPr>
          <p:cNvPr id="3" name="">
            <a:extLst xmlns:a="http://schemas.openxmlformats.org/drawingml/2006/main">
              <a:ext uri="{FF2B5EF4-FFF2-40B4-BE49-F238E27FC236}">
                <a16:creationId xmlns:a16="http://schemas.microsoft.com/office/drawing/2014/main" id="{E50FC356-2FE1-4980-9DCE-005E77D121C9}"/>
              </a:ext>
            </a:extLst>
          </p:cNvPr>
          <p:cNvSpPr>
            <a:spLocks xmlns:a="http://schemas.openxmlformats.org/drawingml/2006/main" noGrp="1"/>
          </p:cNvSpPr>
          <p:nvPr/>
        </p:nvSpPr>
        <p:spPr>
          <a:xfrm xmlns:a="http://schemas.openxmlformats.org/drawingml/2006/main">
            <a:off x="533400" y="146685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defRPr sz="1875" b="0">
                <a:solidFill>
                  <a:srgbClr val="526472"/>
                </a:solidFill>
                <a:latin typeface="Helvetica Neue"/>
                <a:ea typeface="Helvetica Neue"/>
                <a:cs typeface="Helvetica Neue"/>
              </a:defRPr>
            </a:lvl1pPr>
            <a:lvl2pPr>
              <a:defRPr sz="1875" b="0">
                <a:solidFill>
                  <a:srgbClr val="526472"/>
                </a:solidFill>
                <a:latin typeface="Helvetica Neue"/>
                <a:ea typeface="Helvetica Neue"/>
                <a:cs typeface="Helvetica Neue"/>
              </a:defRPr>
            </a:lvl2pPr>
            <a:lvl3pPr>
              <a:defRPr sz="1875" b="0">
                <a:solidFill>
                  <a:srgbClr val="526472"/>
                </a:solidFill>
                <a:latin typeface="Helvetica Neue"/>
                <a:ea typeface="Helvetica Neue"/>
                <a:cs typeface="Helvetica Neue"/>
              </a:defRPr>
            </a:lvl3pPr>
            <a:lvl4pPr>
              <a:defRPr sz="1875" b="0">
                <a:solidFill>
                  <a:srgbClr val="526472"/>
                </a:solidFill>
                <a:latin typeface="Helvetica Neue"/>
                <a:ea typeface="Helvetica Neue"/>
                <a:cs typeface="Helvetica Neue"/>
              </a:defRPr>
            </a:lvl4pPr>
            <a:lvl5pPr>
              <a:defRPr sz="1875" b="0">
                <a:solidFill>
                  <a:srgbClr val="526472"/>
                </a:solidFill>
                <a:latin typeface="Helvetica Neue"/>
                <a:ea typeface="Helvetica Neue"/>
                <a:cs typeface="Helvetica Neue"/>
              </a:defRPr>
            </a:lvl5pPr>
            <a:lvl6pPr>
              <a:defRPr sz="1875" b="0">
                <a:solidFill>
                  <a:srgbClr val="526472"/>
                </a:solidFill>
                <a:latin typeface="Helvetica Neue"/>
                <a:ea typeface="Helvetica Neue"/>
                <a:cs typeface="Helvetica Neue"/>
              </a:defRPr>
            </a:lvl6pPr>
            <a:lvl7pPr>
              <a:defRPr sz="1875" b="0">
                <a:solidFill>
                  <a:srgbClr val="526472"/>
                </a:solidFill>
                <a:latin typeface="Helvetica Neue"/>
                <a:ea typeface="Helvetica Neue"/>
                <a:cs typeface="Helvetica Neue"/>
              </a:defRPr>
            </a:lvl7pPr>
            <a:lvl8pPr>
              <a:defRPr sz="1875" b="0">
                <a:solidFill>
                  <a:srgbClr val="526472"/>
                </a:solidFill>
                <a:latin typeface="Helvetica Neue"/>
                <a:ea typeface="Helvetica Neue"/>
                <a:cs typeface="Helvetica Neue"/>
              </a:defRPr>
            </a:lvl8pPr>
            <a:lvl9pPr>
              <a:defRPr sz="1875" b="0">
                <a:solidFill>
                  <a:srgbClr val="526472"/>
                </a:solidFill>
                <a:latin typeface="Helvetica Neue"/>
                <a:ea typeface="Helvetica Neue"/>
                <a:cs typeface="Helvetica Neue"/>
              </a:defRPr>
            </a:lvl9pPr>
          </a:lstStyle>
          <a:p xmlns:a="http://schemas.openxmlformats.org/drawingml/2006/main">
            <a:pPr>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All forecasts were recorded before the new coating’s calculations.</a:t>
            </a:r>
          </a:p>
        </p:txBody>
      </p:sp>
      <p:sp>
        <p:nvSpPr>
          <p:cNvPr id="4" name="">
            <a:extLst xmlns:a="http://schemas.openxmlformats.org/drawingml/2006/main">
              <a:ext uri="{FF2B5EF4-FFF2-40B4-BE49-F238E27FC236}">
                <a16:creationId xmlns:a16="http://schemas.microsoft.com/office/drawing/2014/main" id="{554F1FF5-2E99-41C0-BD84-7F84AA5A881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8C1D4F79-4658-4375-AB48-121F0E8BA905}"/>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15</a:t>
            </a:r>
          </a:p>
        </p:txBody>
      </p:sp>
      <p:graphicFrame>
        <p:nvGraphicFramePr>
          <p:cNvPr id="6" name="">
            <a:extLst xmlns:a="http://schemas.openxmlformats.org/drawingml/2006/main">
              <a:ext uri="{FF2B5EF4-FFF2-40B4-BE49-F238E27FC236}">
                <a16:creationId xmlns:a16="http://schemas.microsoft.com/office/drawing/2014/main" id="{D8820ABE-5C11-4235-A82B-0875071F0BD1}"/>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4191000"/>
                <a:gridCol w="2667000"/>
                <a:gridCol w="2095500"/>
                <a:gridCol w="2171700"/>
              </a:tblGrid>
              <a:tr h="676275">
                <a:tc>
                  <a:txBody>
                    <a:bodyPr lIns="0" tIns="0" rIns="0" bIns="0">
                      <a:noAutofit/>
                    </a:bodyPr>
                    <a:lstStyle/>
                    <a:p>
                      <a:r>
                        <a:rPr sz="1725" b="1">
                          <a:solidFill>
                            <a:srgbClr val="FFFFFF"/>
                          </a:solidFill>
                          <a:latin typeface="Helvetica Neue"/>
                          <a:ea typeface="Helvetica Neue"/>
                          <a:cs typeface="Helvetica Neue"/>
                        </a:rPr>
                        <a:t>Coating / contact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Forecast Wadh</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Observed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Check</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2025" b="0">
                          <a:solidFill>
                            <a:srgbClr val="172B3A"/>
                          </a:solidFill>
                          <a:latin typeface="Helvetica Neue"/>
                          <a:ea typeface="Helvetica Neue"/>
                          <a:cs typeface="Helvetica Neue"/>
                        </a:rPr>
                        <a:t>LiTaF₆ / cathode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3.2–3.9</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3.339</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In range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2025" b="0">
                          <a:solidFill>
                            <a:srgbClr val="172B3A"/>
                          </a:solidFill>
                          <a:latin typeface="Helvetica Neue"/>
                          <a:ea typeface="Helvetica Neue"/>
                          <a:cs typeface="Helvetica Neue"/>
                        </a:rPr>
                        <a:t>LiTaF₆ / electrolyte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1.577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In range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2025" b="0">
                          <a:solidFill>
                            <a:srgbClr val="172B3A"/>
                          </a:solidFill>
                          <a:latin typeface="Helvetica Neue"/>
                          <a:ea typeface="Helvetica Neue"/>
                          <a:cs typeface="Helvetica Neue"/>
                        </a:rPr>
                        <a:t>LiCaAlF₆ / cathode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3.0–3.8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1.427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2025" b="0">
                          <a:solidFill>
                            <a:srgbClr val="172B3A"/>
                          </a:solidFill>
                          <a:latin typeface="Helvetica Neue"/>
                          <a:ea typeface="Helvetica Neue"/>
                          <a:cs typeface="Helvetica Neue"/>
                        </a:rPr>
                        <a:t>LiCaAlF₆ / electrolyte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0.744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AAA7F698-467A-47A4-B2C4-D525FB18A4F7}"/>
              </a:ext>
            </a:extLst>
          </p:cNvPr>
          <p:cNvSpPr>
            <a:spLocks xmlns:a="http://schemas.openxmlformats.org/drawingml/2006/main" noGrp="1"/>
          </p:cNvSpPr>
          <p:nvPr/>
        </p:nvSpPr>
        <p:spPr>
          <a:xfrm xmlns:a="http://schemas.openxmlformats.org/drawingml/2006/main">
            <a:off x="533400" y="57245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The weak contact was predicted correctly twice. Haiku acknowledged the Ca–Al forecast failure.</a:t>
            </a:r>
          </a:p>
        </p:txBody>
      </p:sp>
      <p:sp>
        <p:nvSpPr>
          <p:cNvPr id="8" name="">
            <a:extLst xmlns:a="http://schemas.openxmlformats.org/drawingml/2006/main">
              <a:ext uri="{FF2B5EF4-FFF2-40B4-BE49-F238E27FC236}">
                <a16:creationId xmlns:a16="http://schemas.microsoft.com/office/drawing/2014/main" id="{A36DA6DA-D7F0-4F78-A261-6967B6827DFB}"/>
              </a:ext>
            </a:extLst>
          </p:cNvPr>
          <p:cNvSpPr>
            <a:spLocks xmlns:a="http://schemas.openxmlformats.org/drawingml/2006/main" noGrp="1"/>
          </p:cNvSpPr>
          <p:nvPr/>
        </p:nvSpPr>
        <p:spPr>
          <a:xfrm xmlns:a="http://schemas.openxmlformats.org/drawingml/2006/main">
            <a:off x="533400" y="61150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472"/>
                </a:solidFill>
                <a:latin typeface="Helvetica Neue"/>
                <a:ea typeface="Helvetica Neue"/>
                <a:cs typeface="Helvetica Neue"/>
              </a:defRPr>
            </a:defPPr>
            <a:lvl1pPr>
              <a:defRPr sz="1575" b="0">
                <a:solidFill>
                  <a:srgbClr val="526472"/>
                </a:solidFill>
                <a:latin typeface="Helvetica Neue"/>
                <a:ea typeface="Helvetica Neue"/>
                <a:cs typeface="Helvetica Neue"/>
              </a:defRPr>
            </a:lvl1pPr>
            <a:lvl2pPr>
              <a:defRPr sz="1575" b="0">
                <a:solidFill>
                  <a:srgbClr val="526472"/>
                </a:solidFill>
                <a:latin typeface="Helvetica Neue"/>
                <a:ea typeface="Helvetica Neue"/>
                <a:cs typeface="Helvetica Neue"/>
              </a:defRPr>
            </a:lvl2pPr>
            <a:lvl3pPr>
              <a:defRPr sz="1575" b="0">
                <a:solidFill>
                  <a:srgbClr val="526472"/>
                </a:solidFill>
                <a:latin typeface="Helvetica Neue"/>
                <a:ea typeface="Helvetica Neue"/>
                <a:cs typeface="Helvetica Neue"/>
              </a:defRPr>
            </a:lvl3pPr>
            <a:lvl4pPr>
              <a:defRPr sz="1575" b="0">
                <a:solidFill>
                  <a:srgbClr val="526472"/>
                </a:solidFill>
                <a:latin typeface="Helvetica Neue"/>
                <a:ea typeface="Helvetica Neue"/>
                <a:cs typeface="Helvetica Neue"/>
              </a:defRPr>
            </a:lvl4pPr>
            <a:lvl5pPr>
              <a:defRPr sz="1575" b="0">
                <a:solidFill>
                  <a:srgbClr val="526472"/>
                </a:solidFill>
                <a:latin typeface="Helvetica Neue"/>
                <a:ea typeface="Helvetica Neue"/>
                <a:cs typeface="Helvetica Neue"/>
              </a:defRPr>
            </a:lvl5pPr>
            <a:lvl6pPr>
              <a:defRPr sz="1575" b="0">
                <a:solidFill>
                  <a:srgbClr val="526472"/>
                </a:solidFill>
                <a:latin typeface="Helvetica Neue"/>
                <a:ea typeface="Helvetica Neue"/>
                <a:cs typeface="Helvetica Neue"/>
              </a:defRPr>
            </a:lvl6pPr>
            <a:lvl7pPr>
              <a:defRPr sz="1575" b="0">
                <a:solidFill>
                  <a:srgbClr val="526472"/>
                </a:solidFill>
                <a:latin typeface="Helvetica Neue"/>
                <a:ea typeface="Helvetica Neue"/>
                <a:cs typeface="Helvetica Neue"/>
              </a:defRPr>
            </a:lvl7pPr>
            <a:lvl8pPr>
              <a:defRPr sz="1575" b="0">
                <a:solidFill>
                  <a:srgbClr val="526472"/>
                </a:solidFill>
                <a:latin typeface="Helvetica Neue"/>
                <a:ea typeface="Helvetica Neue"/>
                <a:cs typeface="Helvetica Neue"/>
              </a:defRPr>
            </a:lvl8pPr>
            <a:lvl9pPr>
              <a:defRPr sz="1575" b="0">
                <a:solidFill>
                  <a:srgbClr val="526472"/>
                </a:solidFill>
                <a:latin typeface="Helvetica Neue"/>
                <a:ea typeface="Helvetica Neue"/>
                <a:cs typeface="Helvetica Neue"/>
              </a:defRPr>
            </a:lvl9pPr>
          </a:lstStyle>
          <a:p xmlns:a="http://schemas.openxmlformats.org/drawingml/2006/main">
            <a:pPr>
              <a:defRPr sz="1575" b="0">
                <a:solidFill>
                  <a:srgbClr val="526472"/>
                </a:solidFill>
                <a:latin typeface="Helvetica Neue"/>
                <a:ea typeface="Helvetica Neue"/>
                <a:cs typeface="Helvetica Neue"/>
              </a:defRPr>
            </a:pPr>
            <a:r>
              <a:rPr sz="1575" b="0">
                <a:solidFill>
                  <a:srgbClr val="526472"/>
                </a:solidFill>
                <a:latin typeface="Helvetica Neue"/>
                <a:ea typeface="Helvetica Neue"/>
                <a:cs typeface="Helvetica Neue"/>
              </a:rPr>
              <a:t>Units: J/m². Two material choices do not establish forecast calibration or search advantage.</a:t>
            </a:r>
          </a:p>
        </p:txBody>
      </p:sp>
    </p:spTree>
    <p:extLst>
      <p:ext uri="{BB962C8B-B14F-4D97-AF65-F5344CB8AC3E}">
        <p14:creationId xmlns:p14="http://schemas.microsoft.com/office/powerpoint/2010/main" val="1255163132"/>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97DEC8-355B-48B1-8DA5-80EC7B512A63}"/>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UNCERTAINTY AND MODEL LIMITS</a:t>
            </a:r>
          </a:p>
        </p:txBody>
      </p:sp>
      <p:sp>
        <p:nvSpPr>
          <p:cNvPr id="2" name="">
            <a:extLst xmlns:a="http://schemas.openxmlformats.org/drawingml/2006/main">
              <a:ext uri="{FF2B5EF4-FFF2-40B4-BE49-F238E27FC236}">
                <a16:creationId xmlns:a16="http://schemas.microsoft.com/office/drawing/2014/main" id="{453296D2-2F9F-4218-92A9-AA8B3CFA4DDE}"/>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small ranking gap is not a robust materials winner</a:t>
            </a:r>
          </a:p>
        </p:txBody>
      </p:sp>
      <p:sp>
        <p:nvSpPr>
          <p:cNvPr id="3" name="">
            <a:extLst xmlns:a="http://schemas.openxmlformats.org/drawingml/2006/main">
              <a:ext uri="{FF2B5EF4-FFF2-40B4-BE49-F238E27FC236}">
                <a16:creationId xmlns:a16="http://schemas.microsoft.com/office/drawing/2014/main" id="{8FC8C440-7131-4469-A001-CB116E163E1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6749971-9C60-46AA-88F2-89FD1C758C3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16</a:t>
            </a:r>
          </a:p>
        </p:txBody>
      </p:sp>
      <p:graphicFrame>
        <p:nvGraphicFramePr>
          <p:cNvPr id="5" name="">
            <a:extLst xmlns:a="http://schemas.openxmlformats.org/drawingml/2006/main">
              <a:ext uri="{FF2B5EF4-FFF2-40B4-BE49-F238E27FC236}">
                <a16:creationId xmlns:a16="http://schemas.microsoft.com/office/drawing/2014/main" id="{A5628797-234D-40FD-B880-A88051185147}"/>
              </a:ext>
            </a:extLst>
          </p:cNvPr>
          <p:cNvGraphicFramePr/>
          <p:nvPr/>
        </p:nvGraphicFramePr>
        <p:xfrm>
          <a:off xmlns:a="http://schemas.openxmlformats.org/drawingml/2006/main" x="533400" y="1895475"/>
          <a:ext xmlns:a="http://schemas.openxmlformats.org/drawingml/2006/main" cx="11125200" cy="3619500"/>
        </p:xfrm>
        <a:graphic xmlns:a="http://schemas.openxmlformats.org/drawingml/2006/main">
          <a:graphicData uri="http://schemas.openxmlformats.org/drawingml/2006/table">
            <a:tbl>
              <a:tblPr firstRow="0" bandRow="0"/>
              <a:tblGrid>
                <a:gridCol w="4333875"/>
                <a:gridCol w="2714625"/>
                <a:gridCol w="4076700"/>
              </a:tblGrid>
              <a:tr h="723900">
                <a:tc>
                  <a:txBody>
                    <a:bodyPr lIns="0" tIns="0" rIns="0" bIns="0">
                      <a:noAutofit/>
                    </a:bodyPr>
                    <a:lstStyle/>
                    <a:p>
                      <a:r>
                        <a:rPr sz="1725" b="1">
                          <a:solidFill>
                            <a:srgbClr val="FFFFFF"/>
                          </a:solidFill>
                          <a:latin typeface="Helvetica Neue"/>
                          <a:ea typeface="Helvetica Neue"/>
                          <a:cs typeface="Helvetica Neue"/>
                        </a:rPr>
                        <a:t>Observation</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Magnitude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What we can conclude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23900">
                <a:tc>
                  <a:txBody>
                    <a:bodyPr lIns="0" tIns="0" rIns="0" bIns="0">
                      <a:noAutofit/>
                    </a:bodyPr>
                    <a:lstStyle/>
                    <a:p>
                      <a:r>
                        <a:rPr sz="1800" b="0">
                          <a:solidFill>
                            <a:srgbClr val="172B3A"/>
                          </a:solidFill>
                          <a:latin typeface="Helvetica Neue"/>
                          <a:ea typeface="Helvetica Neue"/>
                          <a:cs typeface="Helvetica Neue"/>
                        </a:rPr>
                        <a:t>LiNbF₆ versus LiTaF₆</a:t>
                      </a:r>
                    </a:p>
                    <a:p>
                      <a:r>
                        <a:rPr sz="1800" b="0">
                          <a:solidFill>
                            <a:srgbClr val="172B3A"/>
                          </a:solidFill>
                          <a:latin typeface="Helvetica Neue"/>
                          <a:ea typeface="Helvetica Neue"/>
                          <a:cs typeface="Helvetica Neue"/>
                        </a:rPr>
                        <a:t>weaker-contact gap</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0.056 J/m²</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Too small to establish a robust winner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23900">
                <a:tc>
                  <a:txBody>
                    <a:bodyPr lIns="0" tIns="0" rIns="0" bIns="0">
                      <a:noAutofit/>
                    </a:bodyPr>
                    <a:lstStyle/>
                    <a:p>
                      <a:r>
                        <a:rPr sz="1800" b="0">
                          <a:solidFill>
                            <a:srgbClr val="172B3A"/>
                          </a:solidFill>
                          <a:latin typeface="Helvetica Neue"/>
                          <a:ea typeface="Helvetica Neue"/>
                          <a:cs typeface="Helvetica Neue"/>
                        </a:rPr>
                        <a:t>Alternative electrolyte structure</a:t>
                      </a:r>
                    </a:p>
                    <a:p>
                      <a:r>
                        <a:rPr sz="1800" b="0">
                          <a:solidFill>
                            <a:srgbClr val="172B3A"/>
                          </a:solidFill>
                          <a:latin typeface="Helvetica Neue"/>
                          <a:ea typeface="Helvetica Neue"/>
                          <a:cs typeface="Helvetica Neue"/>
                        </a:rPr>
                        <a:t>Nb and Ta</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−0.121 / −0.114 J/m²</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Construction sensitivity exceeds that gap</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23900">
                <a:tc>
                  <a:txBody>
                    <a:bodyPr lIns="0" tIns="0" rIns="0" bIns="0">
                      <a:noAutofit/>
                    </a:bodyPr>
                    <a:lstStyle/>
                    <a:p>
                      <a:r>
                        <a:rPr sz="1800" b="0">
                          <a:solidFill>
                            <a:srgbClr val="172B3A"/>
                          </a:solidFill>
                          <a:latin typeface="Helvetica Neue"/>
                          <a:ea typeface="Helvetica Neue"/>
                          <a:cs typeface="Helvetica Neue"/>
                        </a:rPr>
                        <a:t>LiCaAlF₆ electrolyte</a:t>
                      </a:r>
                    </a:p>
                    <a:p>
                      <a:r>
                        <a:rPr sz="1800" b="0">
                          <a:solidFill>
                            <a:srgbClr val="172B3A"/>
                          </a:solidFill>
                          <a:latin typeface="Helvetica Neue"/>
                          <a:ea typeface="Helvetica Neue"/>
                          <a:cs typeface="Helvetica Neue"/>
                        </a:rPr>
                        <a:t>registry range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0.523–0.744 J/m²</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Substantially lower primary adhesion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23900">
                <a:tc>
                  <a:txBody>
                    <a:bodyPr lIns="0" tIns="0" rIns="0" bIns="0">
                      <a:noAutofit/>
                    </a:bodyPr>
                    <a:lstStyle/>
                    <a:p>
                      <a:r>
                        <a:rPr sz="1800" b="0">
                          <a:solidFill>
                            <a:srgbClr val="172B3A"/>
                          </a:solidFill>
                          <a:latin typeface="Helvetica Neue"/>
                          <a:ea typeface="Helvetica Neue"/>
                          <a:cs typeface="Helvetica Neue"/>
                        </a:rPr>
                        <a:t>LiCaAlF₆ electrolyte</a:t>
                      </a:r>
                    </a:p>
                    <a:p>
                      <a:r>
                        <a:rPr sz="1800" b="0">
                          <a:solidFill>
                            <a:srgbClr val="172B3A"/>
                          </a:solidFill>
                          <a:latin typeface="Helvetica Neue"/>
                          <a:ea typeface="Helvetica Neue"/>
                          <a:cs typeface="Helvetica Neue"/>
                        </a:rPr>
                        <a:t>thickness and bulk structure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Unquantified</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Four passing checks do not close these gaps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C39CECC5-793D-4F65-B2EF-2FBAE4DE1800}"/>
              </a:ext>
            </a:extLst>
          </p:cNvPr>
          <p:cNvSpPr>
            <a:spLocks xmlns:a="http://schemas.openxmlformats.org/drawingml/2006/main" noGrp="1"/>
          </p:cNvSpPr>
          <p:nvPr/>
        </p:nvSpPr>
        <p:spPr>
          <a:xfrm xmlns:a="http://schemas.openxmlformats.org/drawingml/2006/main">
            <a:off x="533400" y="58197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All contact models are formally polar. Numerical convergence is not physical validation.</a:t>
            </a:r>
          </a:p>
        </p:txBody>
      </p:sp>
    </p:spTree>
    <p:extLst>
      <p:ext uri="{BB962C8B-B14F-4D97-AF65-F5344CB8AC3E}">
        <p14:creationId xmlns:p14="http://schemas.microsoft.com/office/powerpoint/2010/main" val="2028369805"/>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7909DE-82DF-46A1-AF81-0B444BC705B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REVIEW AGAINST THE INITIAL IDEA</a:t>
            </a:r>
          </a:p>
        </p:txBody>
      </p:sp>
      <p:sp>
        <p:nvSpPr>
          <p:cNvPr id="2" name="">
            <a:extLst xmlns:a="http://schemas.openxmlformats.org/drawingml/2006/main">
              <a:ext uri="{FF2B5EF4-FFF2-40B4-BE49-F238E27FC236}">
                <a16:creationId xmlns:a16="http://schemas.microsoft.com/office/drawing/2014/main" id="{D69AC7F6-6DD0-4D2D-A73B-548FCA8D0A6B}"/>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survived the original design, and what changed</a:t>
            </a:r>
          </a:p>
        </p:txBody>
      </p:sp>
      <p:sp>
        <p:nvSpPr>
          <p:cNvPr id="3" name="">
            <a:extLst xmlns:a="http://schemas.openxmlformats.org/drawingml/2006/main">
              <a:ext uri="{FF2B5EF4-FFF2-40B4-BE49-F238E27FC236}">
                <a16:creationId xmlns:a16="http://schemas.microsoft.com/office/drawing/2014/main" id="{06E203AD-7507-4189-8D75-A23CA7712A94}"/>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D1DCF33C-6804-499B-AF43-CC1F1EC45E7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17</a:t>
            </a:r>
          </a:p>
        </p:txBody>
      </p:sp>
      <p:graphicFrame>
        <p:nvGraphicFramePr>
          <p:cNvPr id="5" name="">
            <a:extLst xmlns:a="http://schemas.openxmlformats.org/drawingml/2006/main">
              <a:ext uri="{FF2B5EF4-FFF2-40B4-BE49-F238E27FC236}">
                <a16:creationId xmlns:a16="http://schemas.microsoft.com/office/drawing/2014/main" id="{2B55FB65-AE58-4D72-BEED-468A657E048E}"/>
              </a:ext>
            </a:extLst>
          </p:cNvPr>
          <p:cNvGraphicFramePr/>
          <p:nvPr/>
        </p:nvGraphicFramePr>
        <p:xfrm>
          <a:off xmlns:a="http://schemas.openxmlformats.org/drawingml/2006/main" x="533400" y="1943100"/>
          <a:ext xmlns:a="http://schemas.openxmlformats.org/drawingml/2006/main" cx="11125200" cy="3676650"/>
        </p:xfrm>
        <a:graphic xmlns:a="http://schemas.openxmlformats.org/drawingml/2006/main">
          <a:graphicData uri="http://schemas.openxmlformats.org/drawingml/2006/table">
            <a:tbl>
              <a:tblPr firstRow="0" bandRow="0"/>
              <a:tblGrid>
                <a:gridCol w="3238500"/>
                <a:gridCol w="5286375"/>
                <a:gridCol w="2600325"/>
              </a:tblGrid>
              <a:tr h="612775">
                <a:tc>
                  <a:txBody>
                    <a:bodyPr lIns="0" tIns="0" rIns="0" bIns="0">
                      <a:noAutofit/>
                    </a:bodyPr>
                    <a:lstStyle/>
                    <a:p>
                      <a:r>
                        <a:rPr sz="1725" b="1">
                          <a:solidFill>
                            <a:srgbClr val="FFFFFF"/>
                          </a:solidFill>
                          <a:latin typeface="Helvetica Neue"/>
                          <a:ea typeface="Helvetica Neue"/>
                          <a:cs typeface="Helvetica Neue"/>
                        </a:rPr>
                        <a:t>Original intent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What we achieved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Assessment</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2775">
                <a:tc>
                  <a:txBody>
                    <a:bodyPr lIns="0" tIns="0" rIns="0" bIns="0">
                      <a:noAutofit/>
                    </a:bodyPr>
                    <a:lstStyle/>
                    <a:p>
                      <a:r>
                        <a:rPr sz="1800" b="0">
                          <a:solidFill>
                            <a:srgbClr val="172B3A"/>
                          </a:solidFill>
                          <a:latin typeface="Helvetica Neue"/>
                          <a:ea typeface="Helvetica Neue"/>
                          <a:cs typeface="Helvetica Neue"/>
                        </a:rPr>
                        <a:t>Delegate scientific intuition</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Choices, feedback interpretation, forecasts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Implemented and tested</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2775">
                <a:tc>
                  <a:txBody>
                    <a:bodyPr lIns="0" tIns="0" rIns="0" bIns="0">
                      <a:noAutofit/>
                    </a:bodyPr>
                    <a:lstStyle/>
                    <a:p>
                      <a:r>
                        <a:rPr sz="1800" b="0">
                          <a:solidFill>
                            <a:srgbClr val="172B3A"/>
                          </a:solidFill>
                          <a:latin typeface="Helvetica Neue"/>
                          <a:ea typeface="Helvetica Neue"/>
                          <a:cs typeface="Helvetica Neue"/>
                        </a:rPr>
                        <a:t>Distinguish reasoning from recall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Five arms, 30 runs, shuffled feedback</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Feedback benefit is conditional</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2775">
                <a:tc>
                  <a:txBody>
                    <a:bodyPr lIns="0" tIns="0" rIns="0" bIns="0">
                      <a:noAutofit/>
                    </a:bodyPr>
                    <a:lstStyle/>
                    <a:p>
                      <a:r>
                        <a:rPr sz="1800" b="0">
                          <a:solidFill>
                            <a:srgbClr val="172B3A"/>
                          </a:solidFill>
                          <a:latin typeface="Helvetica Neue"/>
                          <a:ea typeface="Helvetica Neue"/>
                          <a:cs typeface="Helvetica Neue"/>
                        </a:rPr>
                        <a:t>Find better coatings efficiently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Exhaustive benchmark, environment transfer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No general win over random</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2775">
                <a:tc>
                  <a:txBody>
                    <a:bodyPr lIns="0" tIns="0" rIns="0" bIns="0">
                      <a:noAutofit/>
                    </a:bodyPr>
                    <a:lstStyle/>
                    <a:p>
                      <a:r>
                        <a:rPr sz="1800" b="0">
                          <a:solidFill>
                            <a:srgbClr val="172B3A"/>
                          </a:solidFill>
                          <a:latin typeface="Helvetica Neue"/>
                          <a:ea typeface="Helvetica Neue"/>
                          <a:cs typeface="Helvetica Neue"/>
                        </a:rPr>
                        <a:t>Compare 3–5 coatings with MLIP</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Three coatings, two contacts, robustness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Lower end reached; LiF unrun</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2775">
                <a:tc>
                  <a:txBody>
                    <a:bodyPr lIns="0" tIns="0" rIns="0" bIns="0">
                      <a:noAutofit/>
                    </a:bodyPr>
                    <a:lstStyle/>
                    <a:p>
                      <a:r>
                        <a:rPr sz="1800" b="0">
                          <a:solidFill>
                            <a:srgbClr val="172B3A"/>
                          </a:solidFill>
                          <a:latin typeface="Helvetica Neue"/>
                          <a:ea typeface="Helvetica Neue"/>
                          <a:cs typeface="Helvetica Neue"/>
                        </a:rPr>
                        <a:t>Accelerate real materials discovery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Candidate prioritization under proxies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Not physically validated</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996984EB-F6D1-494A-A3B3-13F3F1B940C4}"/>
              </a:ext>
            </a:extLst>
          </p:cNvPr>
          <p:cNvSpPr>
            <a:spLocks xmlns:a="http://schemas.openxmlformats.org/drawingml/2006/main" noGrp="1"/>
          </p:cNvSpPr>
          <p:nvPr/>
        </p:nvSpPr>
        <p:spPr>
          <a:xfrm xmlns:a="http://schemas.openxmlformats.org/drawingml/2006/main">
            <a:off x="533400" y="59055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F7B"/>
                </a:solidFill>
                <a:latin typeface="Helvetica Neue"/>
                <a:ea typeface="Helvetica Neue"/>
                <a:cs typeface="Helvetica Neue"/>
              </a:defRPr>
            </a:defPPr>
            <a:lvl1pPr>
              <a:defRPr sz="1725" b="0">
                <a:solidFill>
                  <a:srgbClr val="007F7B"/>
                </a:solidFill>
                <a:latin typeface="Helvetica Neue"/>
                <a:ea typeface="Helvetica Neue"/>
                <a:cs typeface="Helvetica Neue"/>
              </a:defRPr>
            </a:lvl1pPr>
            <a:lvl2pPr>
              <a:defRPr sz="1725" b="0">
                <a:solidFill>
                  <a:srgbClr val="007F7B"/>
                </a:solidFill>
                <a:latin typeface="Helvetica Neue"/>
                <a:ea typeface="Helvetica Neue"/>
                <a:cs typeface="Helvetica Neue"/>
              </a:defRPr>
            </a:lvl2pPr>
            <a:lvl3pPr>
              <a:defRPr sz="1725" b="0">
                <a:solidFill>
                  <a:srgbClr val="007F7B"/>
                </a:solidFill>
                <a:latin typeface="Helvetica Neue"/>
                <a:ea typeface="Helvetica Neue"/>
                <a:cs typeface="Helvetica Neue"/>
              </a:defRPr>
            </a:lvl3pPr>
            <a:lvl4pPr>
              <a:defRPr sz="1725" b="0">
                <a:solidFill>
                  <a:srgbClr val="007F7B"/>
                </a:solidFill>
                <a:latin typeface="Helvetica Neue"/>
                <a:ea typeface="Helvetica Neue"/>
                <a:cs typeface="Helvetica Neue"/>
              </a:defRPr>
            </a:lvl4pPr>
            <a:lvl5pPr>
              <a:defRPr sz="1725" b="0">
                <a:solidFill>
                  <a:srgbClr val="007F7B"/>
                </a:solidFill>
                <a:latin typeface="Helvetica Neue"/>
                <a:ea typeface="Helvetica Neue"/>
                <a:cs typeface="Helvetica Neue"/>
              </a:defRPr>
            </a:lvl5pPr>
            <a:lvl6pPr>
              <a:defRPr sz="1725" b="0">
                <a:solidFill>
                  <a:srgbClr val="007F7B"/>
                </a:solidFill>
                <a:latin typeface="Helvetica Neue"/>
                <a:ea typeface="Helvetica Neue"/>
                <a:cs typeface="Helvetica Neue"/>
              </a:defRPr>
            </a:lvl6pPr>
            <a:lvl7pPr>
              <a:defRPr sz="1725" b="0">
                <a:solidFill>
                  <a:srgbClr val="007F7B"/>
                </a:solidFill>
                <a:latin typeface="Helvetica Neue"/>
                <a:ea typeface="Helvetica Neue"/>
                <a:cs typeface="Helvetica Neue"/>
              </a:defRPr>
            </a:lvl7pPr>
            <a:lvl8pPr>
              <a:defRPr sz="1725" b="0">
                <a:solidFill>
                  <a:srgbClr val="007F7B"/>
                </a:solidFill>
                <a:latin typeface="Helvetica Neue"/>
                <a:ea typeface="Helvetica Neue"/>
                <a:cs typeface="Helvetica Neue"/>
              </a:defRPr>
            </a:lvl8pPr>
            <a:lvl9pPr>
              <a:defRPr sz="1725" b="0">
                <a:solidFill>
                  <a:srgbClr val="007F7B"/>
                </a:solidFill>
                <a:latin typeface="Helvetica Neue"/>
                <a:ea typeface="Helvetica Neue"/>
                <a:cs typeface="Helvetica Neue"/>
              </a:defRPr>
            </a:lvl9pPr>
          </a:lstStyle>
          <a:p xmlns:a="http://schemas.openxmlformats.org/drawingml/2006/main">
            <a:pPr>
              <a:defRPr sz="1725" b="0">
                <a:solidFill>
                  <a:srgbClr val="007F7B"/>
                </a:solidFill>
                <a:latin typeface="Helvetica Neue"/>
                <a:ea typeface="Helvetica Neue"/>
                <a:cs typeface="Helvetica Neue"/>
              </a:defRPr>
            </a:pPr>
            <a:r>
              <a:rPr sz="1725" b="0">
                <a:solidFill>
                  <a:srgbClr val="007F7B"/>
                </a:solidFill>
                <a:latin typeface="Helvetica Neue"/>
                <a:ea typeface="Helvetica Neue"/>
                <a:cs typeface="Helvetica Neue"/>
              </a:rPr>
              <a:t>Stronger evaluation than the initial plan. A narrower discovery claim than the initial ambition.</a:t>
            </a:r>
          </a:p>
        </p:txBody>
      </p:sp>
    </p:spTree>
    <p:extLst>
      <p:ext uri="{BB962C8B-B14F-4D97-AF65-F5344CB8AC3E}">
        <p14:creationId xmlns:p14="http://schemas.microsoft.com/office/powerpoint/2010/main" val="206270443"/>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84F994-3CB9-495D-9751-6B11816F3BB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WE SHOULD CLAIM</a:t>
            </a:r>
          </a:p>
        </p:txBody>
      </p:sp>
      <p:sp>
        <p:nvSpPr>
          <p:cNvPr id="2" name="">
            <a:extLst xmlns:a="http://schemas.openxmlformats.org/drawingml/2006/main">
              <a:ext uri="{FF2B5EF4-FFF2-40B4-BE49-F238E27FC236}">
                <a16:creationId xmlns:a16="http://schemas.microsoft.com/office/drawing/2014/main" id="{9589DC21-55FF-4154-8FE5-4E97BEB46BD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An auditable test of scientific judgment</a:t>
            </a:r>
          </a:p>
        </p:txBody>
      </p:sp>
      <p:sp>
        <p:nvSpPr>
          <p:cNvPr id="3" name="">
            <a:extLst xmlns:a="http://schemas.openxmlformats.org/drawingml/2006/main">
              <a:ext uri="{FF2B5EF4-FFF2-40B4-BE49-F238E27FC236}">
                <a16:creationId xmlns:a16="http://schemas.microsoft.com/office/drawing/2014/main" id="{2FF3CDAD-FC3B-46C7-81A6-9F0B4D26A84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16A756FC-AAF5-48C1-9333-EA4DAF5F9F7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6B2885CB-C3EE-4D7C-8DA9-7071B7F5CE78}"/>
              </a:ext>
            </a:extLst>
          </p:cNvPr>
          <p:cNvSpPr>
            <a:spLocks xmlns:a="http://schemas.openxmlformats.org/drawingml/2006/main" noGrp="1"/>
          </p:cNvSpPr>
          <p:nvPr/>
        </p:nvSpPr>
        <p:spPr>
          <a:xfrm xmlns:a="http://schemas.openxmlformats.org/drawingml/2006/main">
            <a:off x="533400" y="2066925"/>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7F7B"/>
                </a:solidFill>
                <a:latin typeface="Helvetica Neue"/>
                <a:ea typeface="Helvetica Neue"/>
                <a:cs typeface="Helvetica Neue"/>
              </a:defRPr>
            </a:defPPr>
            <a:lvl1pPr>
              <a:defRPr sz="2850" b="1">
                <a:solidFill>
                  <a:srgbClr val="007F7B"/>
                </a:solidFill>
                <a:latin typeface="Helvetica Neue"/>
                <a:ea typeface="Helvetica Neue"/>
                <a:cs typeface="Helvetica Neue"/>
              </a:defRPr>
            </a:lvl1pPr>
            <a:lvl2pPr>
              <a:defRPr sz="2850" b="1">
                <a:solidFill>
                  <a:srgbClr val="007F7B"/>
                </a:solidFill>
                <a:latin typeface="Helvetica Neue"/>
                <a:ea typeface="Helvetica Neue"/>
                <a:cs typeface="Helvetica Neue"/>
              </a:defRPr>
            </a:lvl2pPr>
            <a:lvl3pPr>
              <a:defRPr sz="2850" b="1">
                <a:solidFill>
                  <a:srgbClr val="007F7B"/>
                </a:solidFill>
                <a:latin typeface="Helvetica Neue"/>
                <a:ea typeface="Helvetica Neue"/>
                <a:cs typeface="Helvetica Neue"/>
              </a:defRPr>
            </a:lvl3pPr>
            <a:lvl4pPr>
              <a:defRPr sz="2850" b="1">
                <a:solidFill>
                  <a:srgbClr val="007F7B"/>
                </a:solidFill>
                <a:latin typeface="Helvetica Neue"/>
                <a:ea typeface="Helvetica Neue"/>
                <a:cs typeface="Helvetica Neue"/>
              </a:defRPr>
            </a:lvl4pPr>
            <a:lvl5pPr>
              <a:defRPr sz="2850" b="1">
                <a:solidFill>
                  <a:srgbClr val="007F7B"/>
                </a:solidFill>
                <a:latin typeface="Helvetica Neue"/>
                <a:ea typeface="Helvetica Neue"/>
                <a:cs typeface="Helvetica Neue"/>
              </a:defRPr>
            </a:lvl5pPr>
            <a:lvl6pPr>
              <a:defRPr sz="2850" b="1">
                <a:solidFill>
                  <a:srgbClr val="007F7B"/>
                </a:solidFill>
                <a:latin typeface="Helvetica Neue"/>
                <a:ea typeface="Helvetica Neue"/>
                <a:cs typeface="Helvetica Neue"/>
              </a:defRPr>
            </a:lvl6pPr>
            <a:lvl7pPr>
              <a:defRPr sz="2850" b="1">
                <a:solidFill>
                  <a:srgbClr val="007F7B"/>
                </a:solidFill>
                <a:latin typeface="Helvetica Neue"/>
                <a:ea typeface="Helvetica Neue"/>
                <a:cs typeface="Helvetica Neue"/>
              </a:defRPr>
            </a:lvl7pPr>
            <a:lvl8pPr>
              <a:defRPr sz="2850" b="1">
                <a:solidFill>
                  <a:srgbClr val="007F7B"/>
                </a:solidFill>
                <a:latin typeface="Helvetica Neue"/>
                <a:ea typeface="Helvetica Neue"/>
                <a:cs typeface="Helvetica Neue"/>
              </a:defRPr>
            </a:lvl8pPr>
            <a:lvl9pPr>
              <a:defRPr sz="2850" b="1">
                <a:solidFill>
                  <a:srgbClr val="007F7B"/>
                </a:solidFill>
                <a:latin typeface="Helvetica Neue"/>
                <a:ea typeface="Helvetica Neue"/>
                <a:cs typeface="Helvetica Neue"/>
              </a:defRPr>
            </a:lvl9pPr>
          </a:lstStyle>
          <a:p xmlns:a="http://schemas.openxmlformats.org/drawingml/2006/main">
            <a:pPr>
              <a:defRPr sz="2850" b="1">
                <a:solidFill>
                  <a:srgbClr val="007F7B"/>
                </a:solidFill>
                <a:latin typeface="Helvetica Neue"/>
                <a:ea typeface="Helvetica Neue"/>
                <a:cs typeface="Helvetica Neue"/>
              </a:defRPr>
            </a:pPr>
            <a:r>
              <a:rPr sz="2850" b="1">
                <a:solidFill>
                  <a:srgbClr val="007F7B"/>
                </a:solidFill>
                <a:latin typeface="Helvetica Neue"/>
                <a:ea typeface="Helvetica Neue"/>
                <a:cs typeface="Helvetica Neue"/>
              </a:rPr>
              <a:t>An LLM can take over a bounded part of the scientist’s job:</a:t>
            </a:r>
          </a:p>
          <a:p xmlns:a="http://schemas.openxmlformats.org/drawingml/2006/main">
            <a:pPr>
              <a:defRPr sz="2850" b="1">
                <a:solidFill>
                  <a:srgbClr val="007F7B"/>
                </a:solidFill>
                <a:latin typeface="Helvetica Neue"/>
                <a:ea typeface="Helvetica Neue"/>
                <a:cs typeface="Helvetica Neue"/>
              </a:defRPr>
            </a:pPr>
            <a:r>
              <a:rPr sz="2850" b="1">
                <a:solidFill>
                  <a:srgbClr val="007F7B"/>
                </a:solidFill>
                <a:latin typeface="Helvetica Neue"/>
                <a:ea typeface="Helvetica Neue"/>
                <a:cs typeface="Helvetica Neue"/>
              </a:rPr>
              <a:t>choose a hypothesis, test it, and reassess it.</a:t>
            </a:r>
          </a:p>
        </p:txBody>
      </p:sp>
      <p:sp>
        <p:nvSpPr>
          <p:cNvPr id="6" name="">
            <a:extLst xmlns:a="http://schemas.openxmlformats.org/drawingml/2006/main">
              <a:ext uri="{FF2B5EF4-FFF2-40B4-BE49-F238E27FC236}">
                <a16:creationId xmlns:a16="http://schemas.microsoft.com/office/drawing/2014/main" id="{A388F13D-CD92-40A4-AF7E-FE1C07461FBD}"/>
              </a:ext>
            </a:extLst>
          </p:cNvPr>
          <p:cNvSpPr>
            <a:spLocks xmlns:a="http://schemas.openxmlformats.org/drawingml/2006/main" noGrp="1"/>
          </p:cNvSpPr>
          <p:nvPr/>
        </p:nvSpPr>
        <p:spPr>
          <a:xfrm xmlns:a="http://schemas.openxmlformats.org/drawingml/2006/main">
            <a:off x="533400" y="3562350"/>
            <a:ext cx="111252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defRPr sz="2325" b="0">
                <a:solidFill>
                  <a:srgbClr val="172B3A"/>
                </a:solidFill>
                <a:latin typeface="Helvetica Neue"/>
                <a:ea typeface="Helvetica Neue"/>
                <a:cs typeface="Helvetica Neue"/>
              </a:defRPr>
            </a:lvl1pPr>
            <a:lvl2pPr>
              <a:defRPr sz="2325" b="0">
                <a:solidFill>
                  <a:srgbClr val="172B3A"/>
                </a:solidFill>
                <a:latin typeface="Helvetica Neue"/>
                <a:ea typeface="Helvetica Neue"/>
                <a:cs typeface="Helvetica Neue"/>
              </a:defRPr>
            </a:lvl2pPr>
            <a:lvl3pPr>
              <a:defRPr sz="2325" b="0">
                <a:solidFill>
                  <a:srgbClr val="172B3A"/>
                </a:solidFill>
                <a:latin typeface="Helvetica Neue"/>
                <a:ea typeface="Helvetica Neue"/>
                <a:cs typeface="Helvetica Neue"/>
              </a:defRPr>
            </a:lvl3pPr>
            <a:lvl4pPr>
              <a:defRPr sz="2325" b="0">
                <a:solidFill>
                  <a:srgbClr val="172B3A"/>
                </a:solidFill>
                <a:latin typeface="Helvetica Neue"/>
                <a:ea typeface="Helvetica Neue"/>
                <a:cs typeface="Helvetica Neue"/>
              </a:defRPr>
            </a:lvl4pPr>
            <a:lvl5pPr>
              <a:defRPr sz="2325" b="0">
                <a:solidFill>
                  <a:srgbClr val="172B3A"/>
                </a:solidFill>
                <a:latin typeface="Helvetica Neue"/>
                <a:ea typeface="Helvetica Neue"/>
                <a:cs typeface="Helvetica Neue"/>
              </a:defRPr>
            </a:lvl5pPr>
            <a:lvl6pPr>
              <a:defRPr sz="2325" b="0">
                <a:solidFill>
                  <a:srgbClr val="172B3A"/>
                </a:solidFill>
                <a:latin typeface="Helvetica Neue"/>
                <a:ea typeface="Helvetica Neue"/>
                <a:cs typeface="Helvetica Neue"/>
              </a:defRPr>
            </a:lvl6pPr>
            <a:lvl7pPr>
              <a:defRPr sz="2325" b="0">
                <a:solidFill>
                  <a:srgbClr val="172B3A"/>
                </a:solidFill>
                <a:latin typeface="Helvetica Neue"/>
                <a:ea typeface="Helvetica Neue"/>
                <a:cs typeface="Helvetica Neue"/>
              </a:defRPr>
            </a:lvl7pPr>
            <a:lvl8pPr>
              <a:defRPr sz="2325" b="0">
                <a:solidFill>
                  <a:srgbClr val="172B3A"/>
                </a:solidFill>
                <a:latin typeface="Helvetica Neue"/>
                <a:ea typeface="Helvetica Neue"/>
                <a:cs typeface="Helvetica Neue"/>
              </a:defRPr>
            </a:lvl8pPr>
            <a:lvl9pPr>
              <a:defRPr sz="2325" b="0">
                <a:solidFill>
                  <a:srgbClr val="172B3A"/>
                </a:solidFill>
                <a:latin typeface="Helvetica Neue"/>
                <a:ea typeface="Helvetica Neue"/>
                <a:cs typeface="Helvetica Neue"/>
              </a:defRPr>
            </a:lvl9pPr>
          </a:lstStyle>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Our evidence shows where that helps: the sulfide benchmark.</a:t>
            </a:r>
          </a:p>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It also shows where it fails: narrow exploration on LLZO</a:t>
            </a:r>
          </a:p>
          <a:p xmlns:a="http://schemas.openxmlformats.org/drawingml/2006/main">
            <a:pPr>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and failed transfer to LiCaAlF₆.</a:t>
            </a:r>
          </a:p>
        </p:txBody>
      </p:sp>
      <p:sp>
        <p:nvSpPr>
          <p:cNvPr id="7" name="">
            <a:extLst xmlns:a="http://schemas.openxmlformats.org/drawingml/2006/main">
              <a:ext uri="{FF2B5EF4-FFF2-40B4-BE49-F238E27FC236}">
                <a16:creationId xmlns:a16="http://schemas.microsoft.com/office/drawing/2014/main" id="{2470D135-DCF0-46CC-A6AF-6A4A0745497E}"/>
              </a:ext>
            </a:extLst>
          </p:cNvPr>
          <p:cNvSpPr>
            <a:spLocks xmlns:a="http://schemas.openxmlformats.org/drawingml/2006/main" noGrp="1"/>
          </p:cNvSpPr>
          <p:nvPr/>
        </p:nvSpPr>
        <p:spPr>
          <a:xfrm xmlns:a="http://schemas.openxmlformats.org/drawingml/2006/main">
            <a:off x="533400" y="53625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defRPr sz="2100" b="0">
                <a:solidFill>
                  <a:srgbClr val="526472"/>
                </a:solidFill>
                <a:latin typeface="Helvetica Neue"/>
                <a:ea typeface="Helvetica Neue"/>
                <a:cs typeface="Helvetica Neue"/>
              </a:defRPr>
            </a:lvl1pPr>
            <a:lvl2pPr>
              <a:defRPr sz="2100" b="0">
                <a:solidFill>
                  <a:srgbClr val="526472"/>
                </a:solidFill>
                <a:latin typeface="Helvetica Neue"/>
                <a:ea typeface="Helvetica Neue"/>
                <a:cs typeface="Helvetica Neue"/>
              </a:defRPr>
            </a:lvl2pPr>
            <a:lvl3pPr>
              <a:defRPr sz="2100" b="0">
                <a:solidFill>
                  <a:srgbClr val="526472"/>
                </a:solidFill>
                <a:latin typeface="Helvetica Neue"/>
                <a:ea typeface="Helvetica Neue"/>
                <a:cs typeface="Helvetica Neue"/>
              </a:defRPr>
            </a:lvl3pPr>
            <a:lvl4pPr>
              <a:defRPr sz="2100" b="0">
                <a:solidFill>
                  <a:srgbClr val="526472"/>
                </a:solidFill>
                <a:latin typeface="Helvetica Neue"/>
                <a:ea typeface="Helvetica Neue"/>
                <a:cs typeface="Helvetica Neue"/>
              </a:defRPr>
            </a:lvl4pPr>
            <a:lvl5pPr>
              <a:defRPr sz="2100" b="0">
                <a:solidFill>
                  <a:srgbClr val="526472"/>
                </a:solidFill>
                <a:latin typeface="Helvetica Neue"/>
                <a:ea typeface="Helvetica Neue"/>
                <a:cs typeface="Helvetica Neue"/>
              </a:defRPr>
            </a:lvl5pPr>
            <a:lvl6pPr>
              <a:defRPr sz="2100" b="0">
                <a:solidFill>
                  <a:srgbClr val="526472"/>
                </a:solidFill>
                <a:latin typeface="Helvetica Neue"/>
                <a:ea typeface="Helvetica Neue"/>
                <a:cs typeface="Helvetica Neue"/>
              </a:defRPr>
            </a:lvl6pPr>
            <a:lvl7pPr>
              <a:defRPr sz="2100" b="0">
                <a:solidFill>
                  <a:srgbClr val="526472"/>
                </a:solidFill>
                <a:latin typeface="Helvetica Neue"/>
                <a:ea typeface="Helvetica Neue"/>
                <a:cs typeface="Helvetica Neue"/>
              </a:defRPr>
            </a:lvl7pPr>
            <a:lvl8pPr>
              <a:defRPr sz="2100" b="0">
                <a:solidFill>
                  <a:srgbClr val="526472"/>
                </a:solidFill>
                <a:latin typeface="Helvetica Neue"/>
                <a:ea typeface="Helvetica Neue"/>
                <a:cs typeface="Helvetica Neue"/>
              </a:defRPr>
            </a:lvl8pPr>
            <a:lvl9pPr>
              <a:defRPr sz="2100" b="0">
                <a:solidFill>
                  <a:srgbClr val="526472"/>
                </a:solidFill>
                <a:latin typeface="Helvetica Neue"/>
                <a:ea typeface="Helvetica Neue"/>
                <a:cs typeface="Helvetica Neue"/>
              </a:defRPr>
            </a:lvl9pPr>
          </a:lstStyle>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Next: improve exploration, add practical coating constraints,</a:t>
            </a:r>
          </a:p>
          <a:p xmlns:a="http://schemas.openxmlformats.org/drawingml/2006/main">
            <a:pPr>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and test expensive selection across more independent decisions.</a:t>
            </a:r>
          </a:p>
        </p:txBody>
      </p:sp>
    </p:spTree>
    <p:extLst>
      <p:ext uri="{BB962C8B-B14F-4D97-AF65-F5344CB8AC3E}">
        <p14:creationId xmlns:p14="http://schemas.microsoft.com/office/powerpoint/2010/main" val="1022868880"/>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944B85-78AA-44E5-8106-0EA2F9C4ED8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STATISTICAL EVIDENCE</a:t>
            </a:r>
          </a:p>
        </p:txBody>
      </p:sp>
      <p:sp>
        <p:nvSpPr>
          <p:cNvPr id="2" name="">
            <a:extLst xmlns:a="http://schemas.openxmlformats.org/drawingml/2006/main">
              <a:ext uri="{FF2B5EF4-FFF2-40B4-BE49-F238E27FC236}">
                <a16:creationId xmlns:a16="http://schemas.microsoft.com/office/drawing/2014/main" id="{F1B0177F-9E75-4817-B59D-1233EB2DEE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Three of six planned contrasts survive correction</a:t>
            </a:r>
          </a:p>
        </p:txBody>
      </p:sp>
      <p:sp>
        <p:nvSpPr>
          <p:cNvPr id="3" name="">
            <a:extLst xmlns:a="http://schemas.openxmlformats.org/drawingml/2006/main">
              <a:ext uri="{FF2B5EF4-FFF2-40B4-BE49-F238E27FC236}">
                <a16:creationId xmlns:a16="http://schemas.microsoft.com/office/drawing/2014/main" id="{47DD528C-E85F-488F-A836-9CEDD4C43BA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8AF677E-7478-4CDC-85F0-E7F12E937F8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19</a:t>
            </a:r>
          </a:p>
        </p:txBody>
      </p:sp>
      <p:graphicFrame>
        <p:nvGraphicFramePr>
          <p:cNvPr id="5" name="">
            <a:extLst xmlns:a="http://schemas.openxmlformats.org/drawingml/2006/main">
              <a:ext uri="{FF2B5EF4-FFF2-40B4-BE49-F238E27FC236}">
                <a16:creationId xmlns:a16="http://schemas.microsoft.com/office/drawing/2014/main" id="{D15C133F-3043-4E61-B5EA-EDB7D195FB66}"/>
              </a:ext>
            </a:extLst>
          </p:cNvPr>
          <p:cNvGraphicFramePr/>
          <p:nvPr/>
        </p:nvGraphicFramePr>
        <p:xfrm>
          <a:off xmlns:a="http://schemas.openxmlformats.org/drawingml/2006/main" x="533400" y="1895475"/>
          <a:ext xmlns:a="http://schemas.openxmlformats.org/drawingml/2006/main" cx="11125200" cy="3857625"/>
        </p:xfrm>
        <a:graphic xmlns:a="http://schemas.openxmlformats.org/drawingml/2006/main">
          <a:graphicData uri="http://schemas.openxmlformats.org/drawingml/2006/table">
            <a:tbl>
              <a:tblPr firstRow="0" bandRow="0"/>
              <a:tblGrid>
                <a:gridCol w="4476750"/>
                <a:gridCol w="2933700"/>
                <a:gridCol w="1857375"/>
                <a:gridCol w="1857375"/>
              </a:tblGrid>
              <a:tr h="551089">
                <a:tc>
                  <a:txBody>
                    <a:bodyPr lIns="0" tIns="0" rIns="0" bIns="0">
                      <a:noAutofit/>
                    </a:bodyPr>
                    <a:lstStyle/>
                    <a:p>
                      <a:r>
                        <a:rPr sz="1725" b="1">
                          <a:solidFill>
                            <a:srgbClr val="FFFFFF"/>
                          </a:solidFill>
                          <a:latin typeface="Helvetica Neue"/>
                          <a:ea typeface="Helvetica Neue"/>
                          <a:cs typeface="Helvetica Neue"/>
                        </a:rPr>
                        <a:t>Environment / contrast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Discordant I : control</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Raw 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Holm 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51089">
                <a:tc>
                  <a:txBody>
                    <a:bodyPr lIns="0" tIns="0" rIns="0" bIns="0">
                      <a:noAutofit/>
                    </a:bodyPr>
                    <a:lstStyle/>
                    <a:p>
                      <a:r>
                        <a:rPr sz="1800" b="0">
                          <a:solidFill>
                            <a:srgbClr val="172B3A"/>
                          </a:solidFill>
                          <a:latin typeface="Helvetica Neue"/>
                          <a:ea typeface="Helvetica Neue"/>
                          <a:cs typeface="Helvetica Neue"/>
                        </a:rPr>
                        <a:t>Sulfide / sequential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18 : 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7.63e-6</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4.58e-5</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551089">
                <a:tc>
                  <a:txBody>
                    <a:bodyPr lIns="0" tIns="0" rIns="0" bIns="0">
                      <a:noAutofit/>
                    </a:bodyPr>
                    <a:lstStyle/>
                    <a:p>
                      <a:r>
                        <a:rPr sz="1800" b="0">
                          <a:solidFill>
                            <a:srgbClr val="172B3A"/>
                          </a:solidFill>
                          <a:latin typeface="Helvetica Neue"/>
                          <a:ea typeface="Helvetica Neue"/>
                          <a:cs typeface="Helvetica Neue"/>
                        </a:rPr>
                        <a:t>Sulfide / shuffled</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15 : 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5.19e-4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0.0024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551089">
                <a:tc>
                  <a:txBody>
                    <a:bodyPr lIns="0" tIns="0" rIns="0" bIns="0">
                      <a:noAutofit/>
                    </a:bodyPr>
                    <a:lstStyle/>
                    <a:p>
                      <a:r>
                        <a:rPr sz="1800" b="0">
                          <a:solidFill>
                            <a:srgbClr val="172B3A"/>
                          </a:solidFill>
                          <a:latin typeface="Helvetica Neue"/>
                          <a:ea typeface="Helvetica Neue"/>
                          <a:cs typeface="Helvetica Neue"/>
                        </a:rPr>
                        <a:t>Chloride / sequential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 : 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1.0000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1.0000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551089">
                <a:tc>
                  <a:txBody>
                    <a:bodyPr lIns="0" tIns="0" rIns="0" bIns="0">
                      <a:noAutofit/>
                    </a:bodyPr>
                    <a:lstStyle/>
                    <a:p>
                      <a:r>
                        <a:rPr sz="1800" b="0">
                          <a:solidFill>
                            <a:srgbClr val="172B3A"/>
                          </a:solidFill>
                          <a:latin typeface="Helvetica Neue"/>
                          <a:ea typeface="Helvetica Neue"/>
                          <a:cs typeface="Helvetica Neue"/>
                        </a:rPr>
                        <a:t>Chloride / shuffled</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 : 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1.0000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1.0000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551089">
                <a:tc>
                  <a:txBody>
                    <a:bodyPr lIns="0" tIns="0" rIns="0" bIns="0">
                      <a:noAutofit/>
                    </a:bodyPr>
                    <a:lstStyle/>
                    <a:p>
                      <a:r>
                        <a:rPr sz="1800" b="0">
                          <a:solidFill>
                            <a:srgbClr val="172B3A"/>
                          </a:solidFill>
                          <a:latin typeface="Helvetica Neue"/>
                          <a:ea typeface="Helvetica Neue"/>
                          <a:cs typeface="Helvetica Neue"/>
                        </a:rPr>
                        <a:t>LLZO / sequential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12 : 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4.88e-4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0.0024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551089">
                <a:tc>
                  <a:txBody>
                    <a:bodyPr lIns="0" tIns="0" rIns="0" bIns="0">
                      <a:noAutofit/>
                    </a:bodyPr>
                    <a:lstStyle/>
                    <a:p>
                      <a:r>
                        <a:rPr sz="1800" b="0">
                          <a:solidFill>
                            <a:srgbClr val="172B3A"/>
                          </a:solidFill>
                          <a:latin typeface="Helvetica Neue"/>
                          <a:ea typeface="Helvetica Neue"/>
                          <a:cs typeface="Helvetica Neue"/>
                        </a:rPr>
                        <a:t>LLZO / shuffled</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11 : 3</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0.0574</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0.1721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3734EAAC-59FA-494D-9651-F66DE5610A4A}"/>
              </a:ext>
            </a:extLst>
          </p:cNvPr>
          <p:cNvSpPr>
            <a:spLocks xmlns:a="http://schemas.openxmlformats.org/drawingml/2006/main" noGrp="1"/>
          </p:cNvSpPr>
          <p:nvPr/>
        </p:nvSpPr>
        <p:spPr>
          <a:xfrm xmlns:a="http://schemas.openxmlformats.org/drawingml/2006/main">
            <a:off x="533400" y="59817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Primary endpoint: at least one acceptable coating within ten charged queries.</a:t>
            </a:r>
          </a:p>
        </p:txBody>
      </p:sp>
    </p:spTree>
    <p:extLst>
      <p:ext uri="{BB962C8B-B14F-4D97-AF65-F5344CB8AC3E}">
        <p14:creationId xmlns:p14="http://schemas.microsoft.com/office/powerpoint/2010/main" val="1803532214"/>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65599A-0192-4F57-B83B-BAD6D4C75AF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OBJECTIVE INTERPRETATION</a:t>
            </a:r>
          </a:p>
        </p:txBody>
      </p:sp>
      <p:sp>
        <p:nvSpPr>
          <p:cNvPr id="2" name="">
            <a:extLst xmlns:a="http://schemas.openxmlformats.org/drawingml/2006/main">
              <a:ext uri="{FF2B5EF4-FFF2-40B4-BE49-F238E27FC236}">
                <a16:creationId xmlns:a16="http://schemas.microsoft.com/office/drawing/2014/main" id="{3886C612-B2B5-40D6-8C8D-B617A83757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Acceptability, optimum-finding and practicality differ</a:t>
            </a:r>
          </a:p>
        </p:txBody>
      </p:sp>
      <p:sp>
        <p:nvSpPr>
          <p:cNvPr id="3" name="">
            <a:extLst xmlns:a="http://schemas.openxmlformats.org/drawingml/2006/main">
              <a:ext uri="{FF2B5EF4-FFF2-40B4-BE49-F238E27FC236}">
                <a16:creationId xmlns:a16="http://schemas.microsoft.com/office/drawing/2014/main" id="{DCE083E9-04FE-4FB9-B970-95A3B1AD81C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36F86EE-5332-40DA-8C28-A2C06CD2BE5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20</a:t>
            </a:r>
          </a:p>
        </p:txBody>
      </p:sp>
      <p:graphicFrame>
        <p:nvGraphicFramePr>
          <p:cNvPr id="5" name="">
            <a:extLst xmlns:a="http://schemas.openxmlformats.org/drawingml/2006/main">
              <a:ext uri="{FF2B5EF4-FFF2-40B4-BE49-F238E27FC236}">
                <a16:creationId xmlns:a16="http://schemas.microsoft.com/office/drawing/2014/main" id="{F196BB82-AF3A-4A56-8C9B-6C62C9BD27FC}"/>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3476625"/>
                <a:gridCol w="3476625"/>
                <a:gridCol w="4171950"/>
              </a:tblGrid>
              <a:tr h="676275">
                <a:tc>
                  <a:txBody>
                    <a:bodyPr lIns="0" tIns="0" rIns="0" bIns="0">
                      <a:noAutofit/>
                    </a:bodyPr>
                    <a:lstStyle/>
                    <a:p>
                      <a:r>
                        <a:rPr sz="1725" b="1">
                          <a:solidFill>
                            <a:srgbClr val="FFFFFF"/>
                          </a:solidFill>
                          <a:latin typeface="Helvetica Neue"/>
                          <a:ea typeface="Helvetica Neue"/>
                          <a:cs typeface="Helvetica Neue"/>
                        </a:rPr>
                        <a:t>Question</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Measure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Observed limitation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1875" b="0">
                          <a:solidFill>
                            <a:srgbClr val="172B3A"/>
                          </a:solidFill>
                          <a:latin typeface="Helvetica Neue"/>
                          <a:ea typeface="Helvetica Neue"/>
                          <a:cs typeface="Helvetica Neue"/>
                        </a:rPr>
                        <a:t>Can the policy find a passing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Acceptance at P ≤ 0.050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This is the primary reported result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Does it find the pool’s optimum?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Best-bin discovery / regret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Sulfide: iterative 6, random 5</a:t>
                      </a:r>
                    </a:p>
                    <a:p>
                      <a:r>
                        <a:rPr sz="1875" b="0">
                          <a:solidFill>
                            <a:srgbClr val="172B3A"/>
                          </a:solidFill>
                          <a:latin typeface="Helvetica Neue"/>
                          <a:ea typeface="Helvetica Neue"/>
                          <a:cs typeface="Helvetica Neue"/>
                        </a:rPr>
                        <a:t>LLZO: all LLMs 0, random 2 (of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actual coating useful?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Transport, processing, electrochemistry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Not established by this evaluator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search saving compute?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Cost of avoided expensive evaluations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Cheap tables alone cannot show this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5CE44975-38D2-4924-802E-2110F1B33AC4}"/>
              </a:ext>
            </a:extLst>
          </p:cNvPr>
          <p:cNvSpPr>
            <a:spLocks xmlns:a="http://schemas.openxmlformats.org/drawingml/2006/main" noGrp="1"/>
          </p:cNvSpPr>
          <p:nvPr/>
        </p:nvSpPr>
        <p:spPr>
          <a:xfrm xmlns:a="http://schemas.openxmlformats.org/drawingml/2006/main">
            <a:off x="533400" y="58007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Acceptance cuts through a ranking bin. Near-threshold conclusions depend on the frozen definition.</a:t>
            </a:r>
          </a:p>
        </p:txBody>
      </p:sp>
    </p:spTree>
    <p:extLst>
      <p:ext uri="{BB962C8B-B14F-4D97-AF65-F5344CB8AC3E}">
        <p14:creationId xmlns:p14="http://schemas.microsoft.com/office/powerpoint/2010/main" val="1892059981"/>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1CC180-0227-4620-9F20-A267E3F2EA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POST-HOC CHEMISTRY REVIEW</a:t>
            </a:r>
          </a:p>
        </p:txBody>
      </p:sp>
      <p:sp>
        <p:nvSpPr>
          <p:cNvPr id="2" name="">
            <a:extLst xmlns:a="http://schemas.openxmlformats.org/drawingml/2006/main">
              <a:ext uri="{FF2B5EF4-FFF2-40B4-BE49-F238E27FC236}">
                <a16:creationId xmlns:a16="http://schemas.microsoft.com/office/drawing/2014/main" id="{E2C490F1-AF3D-4889-9114-53406599A000}"/>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LLZO audit qualifies the criterion, not the score</a:t>
            </a:r>
          </a:p>
        </p:txBody>
      </p:sp>
      <p:sp>
        <p:nvSpPr>
          <p:cNvPr id="3" name="">
            <a:extLst xmlns:a="http://schemas.openxmlformats.org/drawingml/2006/main">
              <a:ext uri="{FF2B5EF4-FFF2-40B4-BE49-F238E27FC236}">
                <a16:creationId xmlns:a16="http://schemas.microsoft.com/office/drawing/2014/main" id="{E96FE793-38FF-4DFE-9B1B-766431FC7E7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93C9E67A-C7AC-40A9-9A7D-DD74DAC1EF1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5B1F26B-061C-433E-8AF8-2B382A7221B2}"/>
              </a:ext>
            </a:extLst>
          </p:cNvPr>
          <p:cNvSpPr>
            <a:spLocks xmlns:a="http://schemas.openxmlformats.org/drawingml/2006/main" noGrp="1"/>
          </p:cNvSpPr>
          <p:nvPr/>
        </p:nvSpPr>
        <p:spPr>
          <a:xfrm xmlns:a="http://schemas.openxmlformats.org/drawingml/2006/main">
            <a:off x="533400" y="2047875"/>
            <a:ext cx="11125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B3A"/>
                </a:solidFill>
                <a:latin typeface="Helvetica Neue"/>
                <a:ea typeface="Helvetica Neue"/>
                <a:cs typeface="Helvetica Neue"/>
              </a:defRPr>
            </a:defPPr>
            <a:lvl1pPr>
              <a:defRPr sz="2550" b="1">
                <a:solidFill>
                  <a:srgbClr val="172B3A"/>
                </a:solidFill>
                <a:latin typeface="Helvetica Neue"/>
                <a:ea typeface="Helvetica Neue"/>
                <a:cs typeface="Helvetica Neue"/>
              </a:defRPr>
            </a:lvl1pPr>
            <a:lvl2pPr>
              <a:defRPr sz="2550" b="1">
                <a:solidFill>
                  <a:srgbClr val="172B3A"/>
                </a:solidFill>
                <a:latin typeface="Helvetica Neue"/>
                <a:ea typeface="Helvetica Neue"/>
                <a:cs typeface="Helvetica Neue"/>
              </a:defRPr>
            </a:lvl2pPr>
            <a:lvl3pPr>
              <a:defRPr sz="2550" b="1">
                <a:solidFill>
                  <a:srgbClr val="172B3A"/>
                </a:solidFill>
                <a:latin typeface="Helvetica Neue"/>
                <a:ea typeface="Helvetica Neue"/>
                <a:cs typeface="Helvetica Neue"/>
              </a:defRPr>
            </a:lvl3pPr>
            <a:lvl4pPr>
              <a:defRPr sz="2550" b="1">
                <a:solidFill>
                  <a:srgbClr val="172B3A"/>
                </a:solidFill>
                <a:latin typeface="Helvetica Neue"/>
                <a:ea typeface="Helvetica Neue"/>
                <a:cs typeface="Helvetica Neue"/>
              </a:defRPr>
            </a:lvl4pPr>
            <a:lvl5pPr>
              <a:defRPr sz="2550" b="1">
                <a:solidFill>
                  <a:srgbClr val="172B3A"/>
                </a:solidFill>
                <a:latin typeface="Helvetica Neue"/>
                <a:ea typeface="Helvetica Neue"/>
                <a:cs typeface="Helvetica Neue"/>
              </a:defRPr>
            </a:lvl5pPr>
            <a:lvl6pPr>
              <a:defRPr sz="2550" b="1">
                <a:solidFill>
                  <a:srgbClr val="172B3A"/>
                </a:solidFill>
                <a:latin typeface="Helvetica Neue"/>
                <a:ea typeface="Helvetica Neue"/>
                <a:cs typeface="Helvetica Neue"/>
              </a:defRPr>
            </a:lvl6pPr>
            <a:lvl7pPr>
              <a:defRPr sz="2550" b="1">
                <a:solidFill>
                  <a:srgbClr val="172B3A"/>
                </a:solidFill>
                <a:latin typeface="Helvetica Neue"/>
                <a:ea typeface="Helvetica Neue"/>
                <a:cs typeface="Helvetica Neue"/>
              </a:defRPr>
            </a:lvl7pPr>
            <a:lvl8pPr>
              <a:defRPr sz="2550" b="1">
                <a:solidFill>
                  <a:srgbClr val="172B3A"/>
                </a:solidFill>
                <a:latin typeface="Helvetica Neue"/>
                <a:ea typeface="Helvetica Neue"/>
                <a:cs typeface="Helvetica Neue"/>
              </a:defRPr>
            </a:lvl8pPr>
            <a:lvl9pPr>
              <a:defRPr sz="2550" b="1">
                <a:solidFill>
                  <a:srgbClr val="172B3A"/>
                </a:solidFill>
                <a:latin typeface="Helvetica Neue"/>
                <a:ea typeface="Helvetica Neue"/>
                <a:cs typeface="Helvetica Neue"/>
              </a:defRPr>
            </a:lvl9pPr>
          </a:lstStyle>
          <a:p xmlns:a="http://schemas.openxmlformats.org/drawingml/2006/main">
            <a:pPr>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5 of 17 acceptable structures were flagged for practical review:</a:t>
            </a:r>
          </a:p>
          <a:p xmlns:a="http://schemas.openxmlformats.org/drawingml/2006/main">
            <a:pPr>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LiIO₃, LiClO₄ and Li₅IO₆.</a:t>
            </a:r>
          </a:p>
        </p:txBody>
      </p:sp>
      <p:graphicFrame>
        <p:nvGraphicFramePr>
          <p:cNvPr id="6" name="">
            <a:extLst xmlns:a="http://schemas.openxmlformats.org/drawingml/2006/main">
              <a:ext uri="{FF2B5EF4-FFF2-40B4-BE49-F238E27FC236}">
                <a16:creationId xmlns:a16="http://schemas.microsoft.com/office/drawing/2014/main" id="{39F54021-656F-4AD3-A1E2-263DAE1C9038}"/>
              </a:ext>
            </a:extLst>
          </p:cNvPr>
          <p:cNvGraphicFramePr/>
          <p:nvPr/>
        </p:nvGraphicFramePr>
        <p:xfrm>
          <a:off xmlns:a="http://schemas.openxmlformats.org/drawingml/2006/main" x="533400" y="3381375"/>
          <a:ext xmlns:a="http://schemas.openxmlformats.org/drawingml/2006/main" cx="11125200" cy="1885950"/>
        </p:xfrm>
        <a:graphic xmlns:a="http://schemas.openxmlformats.org/drawingml/2006/main">
          <a:graphicData uri="http://schemas.openxmlformats.org/drawingml/2006/table">
            <a:tbl>
              <a:tblPr firstRow="0" bandRow="0"/>
              <a:tblGrid>
                <a:gridCol w="8905875"/>
                <a:gridCol w="2219325"/>
              </a:tblGrid>
              <a:tr h="628650">
                <a:tc>
                  <a:txBody>
                    <a:bodyPr lIns="0" tIns="0" rIns="0" bIns="0">
                      <a:noAutofit/>
                    </a:bodyPr>
                    <a:lstStyle/>
                    <a:p>
                      <a:r>
                        <a:rPr sz="1725" b="1">
                          <a:solidFill>
                            <a:srgbClr val="FFFFFF"/>
                          </a:solidFill>
                          <a:latin typeface="Helvetica Neue"/>
                          <a:ea typeface="Helvetica Neue"/>
                          <a:cs typeface="Helvetica Neue"/>
                        </a:rPr>
                        <a:t>Random’s 24 successful runs</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Count</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28650">
                <a:tc>
                  <a:txBody>
                    <a:bodyPr lIns="0" tIns="0" rIns="0" bIns="0">
                      <a:noAutofit/>
                    </a:bodyPr>
                    <a:lstStyle/>
                    <a:p>
                      <a:r>
                        <a:rPr sz="2025" b="0">
                          <a:solidFill>
                            <a:srgbClr val="172B3A"/>
                          </a:solidFill>
                          <a:latin typeface="Helvetica Neue"/>
                          <a:ea typeface="Helvetica Neue"/>
                          <a:cs typeface="Helvetica Neue"/>
                        </a:rPr>
                        <a:t>Also found an unflagged acceptable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28650">
                <a:tc>
                  <a:txBody>
                    <a:bodyPr lIns="0" tIns="0" rIns="0" bIns="0">
                      <a:noAutofit/>
                    </a:bodyPr>
                    <a:lstStyle/>
                    <a:p>
                      <a:r>
                        <a:rPr sz="2025" b="0">
                          <a:solidFill>
                            <a:srgbClr val="172B3A"/>
                          </a:solidFill>
                          <a:latin typeface="Helvetica Neue"/>
                          <a:ea typeface="Helvetica Neue"/>
                          <a:cs typeface="Helvetica Neue"/>
                        </a:rPr>
                        <a:t>Succeeded only through a flagged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0987D0F8-CD83-4A0E-BD76-5A60357EFDA4}"/>
              </a:ext>
            </a:extLst>
          </p:cNvPr>
          <p:cNvSpPr>
            <a:spLocks xmlns:a="http://schemas.openxmlformats.org/drawingml/2006/main" noGrp="1"/>
          </p:cNvSpPr>
          <p:nvPr/>
        </p:nvSpPr>
        <p:spPr>
          <a:xfrm xmlns:a="http://schemas.openxmlformats.org/drawingml/2006/main">
            <a:off x="533400" y="56007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defRPr sz="1725" b="0">
                <a:solidFill>
                  <a:srgbClr val="A44838"/>
                </a:solidFill>
                <a:latin typeface="Helvetica Neue"/>
                <a:ea typeface="Helvetica Neue"/>
                <a:cs typeface="Helvetica Neue"/>
              </a:defRPr>
            </a:lvl1pPr>
            <a:lvl2pPr>
              <a:defRPr sz="1725" b="0">
                <a:solidFill>
                  <a:srgbClr val="A44838"/>
                </a:solidFill>
                <a:latin typeface="Helvetica Neue"/>
                <a:ea typeface="Helvetica Neue"/>
                <a:cs typeface="Helvetica Neue"/>
              </a:defRPr>
            </a:lvl2pPr>
            <a:lvl3pPr>
              <a:defRPr sz="1725" b="0">
                <a:solidFill>
                  <a:srgbClr val="A44838"/>
                </a:solidFill>
                <a:latin typeface="Helvetica Neue"/>
                <a:ea typeface="Helvetica Neue"/>
                <a:cs typeface="Helvetica Neue"/>
              </a:defRPr>
            </a:lvl3pPr>
            <a:lvl4pPr>
              <a:defRPr sz="1725" b="0">
                <a:solidFill>
                  <a:srgbClr val="A44838"/>
                </a:solidFill>
                <a:latin typeface="Helvetica Neue"/>
                <a:ea typeface="Helvetica Neue"/>
                <a:cs typeface="Helvetica Neue"/>
              </a:defRPr>
            </a:lvl4pPr>
            <a:lvl5pPr>
              <a:defRPr sz="1725" b="0">
                <a:solidFill>
                  <a:srgbClr val="A44838"/>
                </a:solidFill>
                <a:latin typeface="Helvetica Neue"/>
                <a:ea typeface="Helvetica Neue"/>
                <a:cs typeface="Helvetica Neue"/>
              </a:defRPr>
            </a:lvl5pPr>
            <a:lvl6pPr>
              <a:defRPr sz="1725" b="0">
                <a:solidFill>
                  <a:srgbClr val="A44838"/>
                </a:solidFill>
                <a:latin typeface="Helvetica Neue"/>
                <a:ea typeface="Helvetica Neue"/>
                <a:cs typeface="Helvetica Neue"/>
              </a:defRPr>
            </a:lvl6pPr>
            <a:lvl7pPr>
              <a:defRPr sz="1725" b="0">
                <a:solidFill>
                  <a:srgbClr val="A44838"/>
                </a:solidFill>
                <a:latin typeface="Helvetica Neue"/>
                <a:ea typeface="Helvetica Neue"/>
                <a:cs typeface="Helvetica Neue"/>
              </a:defRPr>
            </a:lvl7pPr>
            <a:lvl8pPr>
              <a:defRPr sz="1725" b="0">
                <a:solidFill>
                  <a:srgbClr val="A44838"/>
                </a:solidFill>
                <a:latin typeface="Helvetica Neue"/>
                <a:ea typeface="Helvetica Neue"/>
                <a:cs typeface="Helvetica Neue"/>
              </a:defRPr>
            </a:lvl8pPr>
            <a:lvl9pPr>
              <a:defRPr sz="1725" b="0">
                <a:solidFill>
                  <a:srgbClr val="A44838"/>
                </a:solidFill>
                <a:latin typeface="Helvetica Neue"/>
                <a:ea typeface="Helvetica Neue"/>
                <a:cs typeface="Helvetica Neue"/>
              </a:defRPr>
            </a:lvl9pPr>
          </a:lstStyle>
          <a:p xmlns:a="http://schemas.openxmlformats.org/drawingml/2006/main">
            <a:pPr>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This is a descriptive partition, not a rerun with a new endpoint. Primary result: 24 versus 12.</a:t>
            </a:r>
          </a:p>
        </p:txBody>
      </p:sp>
      <p:sp>
        <p:nvSpPr>
          <p:cNvPr id="8" name="">
            <a:extLst xmlns:a="http://schemas.openxmlformats.org/drawingml/2006/main">
              <a:ext uri="{FF2B5EF4-FFF2-40B4-BE49-F238E27FC236}">
                <a16:creationId xmlns:a16="http://schemas.microsoft.com/office/drawing/2014/main" id="{BC4D3CEE-9DD3-47A2-9EED-54C4DD6BC97D}"/>
              </a:ext>
            </a:extLst>
          </p:cNvPr>
          <p:cNvSpPr>
            <a:spLocks xmlns:a="http://schemas.openxmlformats.org/drawingml/2006/main" noGrp="1"/>
          </p:cNvSpPr>
          <p:nvPr/>
        </p:nvSpPr>
        <p:spPr>
          <a:xfrm xmlns:a="http://schemas.openxmlformats.org/drawingml/2006/main">
            <a:off x="533400" y="60674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The model is not proven to be making a safety judgment. Finite-temperature and processing limits remain.</a:t>
            </a:r>
          </a:p>
        </p:txBody>
      </p:sp>
    </p:spTree>
    <p:extLst>
      <p:ext uri="{BB962C8B-B14F-4D97-AF65-F5344CB8AC3E}">
        <p14:creationId xmlns:p14="http://schemas.microsoft.com/office/powerpoint/2010/main" val="278632726"/>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F27EF-BBB7-4A81-BAC4-8D8CE522A58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FINAL PHYSICAL VALUES</a:t>
            </a:r>
          </a:p>
        </p:txBody>
      </p:sp>
      <p:sp>
        <p:nvSpPr>
          <p:cNvPr id="2" name="">
            <a:extLst xmlns:a="http://schemas.openxmlformats.org/drawingml/2006/main">
              <a:ext uri="{FF2B5EF4-FFF2-40B4-BE49-F238E27FC236}">
                <a16:creationId xmlns:a16="http://schemas.microsoft.com/office/drawing/2014/main" id="{1F5234AB-8496-48D4-BF37-F6F2F1B07B5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Relaxed adhesion and rigid separation are different</a:t>
            </a:r>
          </a:p>
        </p:txBody>
      </p:sp>
      <p:sp>
        <p:nvSpPr>
          <p:cNvPr id="3" name="">
            <a:extLst xmlns:a="http://schemas.openxmlformats.org/drawingml/2006/main">
              <a:ext uri="{FF2B5EF4-FFF2-40B4-BE49-F238E27FC236}">
                <a16:creationId xmlns:a16="http://schemas.microsoft.com/office/drawing/2014/main" id="{F290F9C2-72C3-4CE1-A83C-F0874D3B5E8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7793E53F-6E77-4651-B87B-3E1200CE0C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22</a:t>
            </a:r>
          </a:p>
        </p:txBody>
      </p:sp>
      <p:graphicFrame>
        <p:nvGraphicFramePr>
          <p:cNvPr id="5" name="">
            <a:extLst xmlns:a="http://schemas.openxmlformats.org/drawingml/2006/main">
              <a:ext uri="{FF2B5EF4-FFF2-40B4-BE49-F238E27FC236}">
                <a16:creationId xmlns:a16="http://schemas.microsoft.com/office/drawing/2014/main" id="{7CD0D313-CAD2-472A-A568-CA22C6EA5670}"/>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476500"/>
                <a:gridCol w="3381375"/>
                <a:gridCol w="3381375"/>
                <a:gridCol w="1885950"/>
              </a:tblGrid>
              <a:tr h="714375">
                <a:tc>
                  <a:txBody>
                    <a:bodyPr lIns="0" tIns="0" rIns="0" bIns="0">
                      <a:noAutofit/>
                    </a:bodyPr>
                    <a:lstStyle/>
                    <a:p>
                      <a:r>
                        <a:rPr sz="1725" b="1">
                          <a:solidFill>
                            <a:srgbClr val="FFFFFF"/>
                          </a:solidFill>
                          <a:latin typeface="Helvetica Neue"/>
                          <a:ea typeface="Helvetica Neue"/>
                          <a:cs typeface="Helvetica Neue"/>
                        </a:rPr>
                        <a:t>Coating</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Cathode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Electrolyte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Atoms</a:t>
                      </a:r>
                    </a:p>
                    <a:p>
                      <a:r>
                        <a:rPr sz="1725" b="1">
                          <a:solidFill>
                            <a:srgbClr val="FFFFFF"/>
                          </a:solidFill>
                          <a:latin typeface="Helvetica Neue"/>
                          <a:ea typeface="Helvetica Neue"/>
                          <a:cs typeface="Helvetica Neue"/>
                        </a:rPr>
                        <a:t>C / 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2100" b="0">
                          <a:solidFill>
                            <a:srgbClr val="172B3A"/>
                          </a:solidFill>
                          <a:latin typeface="Helvetica Neue"/>
                          <a:ea typeface="Helvetica Neue"/>
                          <a:cs typeface="Helvetica Neue"/>
                        </a:rPr>
                        <a:t>LiNbF₆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3.617 / 5.168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 / 2.967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3.339 / 4.728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 / 2.911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1.427 / 4.322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 / 1.490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720 / 1212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8B08354C-268E-41D3-9CD8-A0DCA34D2B33}"/>
              </a:ext>
            </a:extLst>
          </p:cNvPr>
          <p:cNvSpPr>
            <a:spLocks xmlns:a="http://schemas.openxmlformats.org/drawingml/2006/main" noGrp="1"/>
          </p:cNvSpPr>
          <p:nvPr/>
        </p:nvSpPr>
        <p:spPr>
          <a:xfrm xmlns:a="http://schemas.openxmlformats.org/drawingml/2006/main">
            <a:off x="533400" y="5210175"/>
            <a:ext cx="1112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7B"/>
                </a:solidFill>
                <a:latin typeface="Helvetica Neue"/>
                <a:ea typeface="Helvetica Neue"/>
                <a:cs typeface="Helvetica Neue"/>
              </a:defRPr>
            </a:defPPr>
            <a:lvl1pPr>
              <a:defRPr sz="2100" b="0">
                <a:solidFill>
                  <a:srgbClr val="007F7B"/>
                </a:solidFill>
                <a:latin typeface="Helvetica Neue"/>
                <a:ea typeface="Helvetica Neue"/>
                <a:cs typeface="Helvetica Neue"/>
              </a:defRPr>
            </a:lvl1pPr>
            <a:lvl2pPr>
              <a:defRPr sz="2100" b="0">
                <a:solidFill>
                  <a:srgbClr val="007F7B"/>
                </a:solidFill>
                <a:latin typeface="Helvetica Neue"/>
                <a:ea typeface="Helvetica Neue"/>
                <a:cs typeface="Helvetica Neue"/>
              </a:defRPr>
            </a:lvl2pPr>
            <a:lvl3pPr>
              <a:defRPr sz="2100" b="0">
                <a:solidFill>
                  <a:srgbClr val="007F7B"/>
                </a:solidFill>
                <a:latin typeface="Helvetica Neue"/>
                <a:ea typeface="Helvetica Neue"/>
                <a:cs typeface="Helvetica Neue"/>
              </a:defRPr>
            </a:lvl3pPr>
            <a:lvl4pPr>
              <a:defRPr sz="2100" b="0">
                <a:solidFill>
                  <a:srgbClr val="007F7B"/>
                </a:solidFill>
                <a:latin typeface="Helvetica Neue"/>
                <a:ea typeface="Helvetica Neue"/>
                <a:cs typeface="Helvetica Neue"/>
              </a:defRPr>
            </a:lvl4pPr>
            <a:lvl5pPr>
              <a:defRPr sz="2100" b="0">
                <a:solidFill>
                  <a:srgbClr val="007F7B"/>
                </a:solidFill>
                <a:latin typeface="Helvetica Neue"/>
                <a:ea typeface="Helvetica Neue"/>
                <a:cs typeface="Helvetica Neue"/>
              </a:defRPr>
            </a:lvl5pPr>
            <a:lvl6pPr>
              <a:defRPr sz="2100" b="0">
                <a:solidFill>
                  <a:srgbClr val="007F7B"/>
                </a:solidFill>
                <a:latin typeface="Helvetica Neue"/>
                <a:ea typeface="Helvetica Neue"/>
                <a:cs typeface="Helvetica Neue"/>
              </a:defRPr>
            </a:lvl6pPr>
            <a:lvl7pPr>
              <a:defRPr sz="2100" b="0">
                <a:solidFill>
                  <a:srgbClr val="007F7B"/>
                </a:solidFill>
                <a:latin typeface="Helvetica Neue"/>
                <a:ea typeface="Helvetica Neue"/>
                <a:cs typeface="Helvetica Neue"/>
              </a:defRPr>
            </a:lvl7pPr>
            <a:lvl8pPr>
              <a:defRPr sz="2100" b="0">
                <a:solidFill>
                  <a:srgbClr val="007F7B"/>
                </a:solidFill>
                <a:latin typeface="Helvetica Neue"/>
                <a:ea typeface="Helvetica Neue"/>
                <a:cs typeface="Helvetica Neue"/>
              </a:defRPr>
            </a:lvl8pPr>
            <a:lvl9pPr>
              <a:defRPr sz="2100" b="0">
                <a:solidFill>
                  <a:srgbClr val="007F7B"/>
                </a:solidFill>
                <a:latin typeface="Helvetica Neue"/>
                <a:ea typeface="Helvetica Neue"/>
                <a:cs typeface="Helvetica Neue"/>
              </a:defRPr>
            </a:lvl9pPr>
          </a:lstStyle>
          <a:p xmlns:a="http://schemas.openxmlformats.org/drawingml/2006/main">
            <a:pPr>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Wadh: separated slabs are allowed to relax.</a:t>
            </a:r>
          </a:p>
          <a:p xmlns:a="http://schemas.openxmlformats.org/drawingml/2006/main">
            <a:pPr>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Wsep: fragments retain their joined-interface geometry.</a:t>
            </a:r>
          </a:p>
        </p:txBody>
      </p:sp>
      <p:sp>
        <p:nvSpPr>
          <p:cNvPr id="7" name="">
            <a:extLst xmlns:a="http://schemas.openxmlformats.org/drawingml/2006/main">
              <a:ext uri="{FF2B5EF4-FFF2-40B4-BE49-F238E27FC236}">
                <a16:creationId xmlns:a16="http://schemas.microsoft.com/office/drawing/2014/main" id="{15A1ED18-99CD-4471-AE27-5B9F9E2DDC2F}"/>
              </a:ext>
            </a:extLst>
          </p:cNvPr>
          <p:cNvSpPr>
            <a:spLocks xmlns:a="http://schemas.openxmlformats.org/drawingml/2006/main" noGrp="1"/>
          </p:cNvSpPr>
          <p:nvPr/>
        </p:nvSpPr>
        <p:spPr>
          <a:xfrm xmlns:a="http://schemas.openxmlformats.org/drawingml/2006/main">
            <a:off x="533400" y="6105525"/>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J/m². Primary snapshots unchanged. Later robustness checks are a separate record.</a:t>
            </a:r>
          </a:p>
        </p:txBody>
      </p:sp>
    </p:spTree>
    <p:extLst>
      <p:ext uri="{BB962C8B-B14F-4D97-AF65-F5344CB8AC3E}">
        <p14:creationId xmlns:p14="http://schemas.microsoft.com/office/powerpoint/2010/main" val="1237249875"/>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39EBD1-3CFB-40F0-9D08-B03BA3FD10D0}"/>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PHYSICAL REALIZATION</a:t>
            </a:r>
          </a:p>
        </p:txBody>
      </p:sp>
      <p:sp>
        <p:nvSpPr>
          <p:cNvPr id="2" name="">
            <a:extLst xmlns:a="http://schemas.openxmlformats.org/drawingml/2006/main">
              <a:ext uri="{FF2B5EF4-FFF2-40B4-BE49-F238E27FC236}">
                <a16:creationId xmlns:a16="http://schemas.microsoft.com/office/drawing/2014/main" id="{12B99ED8-4662-42ED-AE3C-FBE2CF002B37}"/>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structures and convergence evidence are archived</a:t>
            </a:r>
          </a:p>
        </p:txBody>
      </p:sp>
      <p:sp>
        <p:nvSpPr>
          <p:cNvPr id="3" name="">
            <a:extLst xmlns:a="http://schemas.openxmlformats.org/drawingml/2006/main">
              <a:ext uri="{FF2B5EF4-FFF2-40B4-BE49-F238E27FC236}">
                <a16:creationId xmlns:a16="http://schemas.microsoft.com/office/drawing/2014/main" id="{6249ADB4-3A6C-491F-B066-067ECC26B29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3EC56658-4810-4084-95D2-4278C16F19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23</a:t>
            </a:r>
          </a:p>
        </p:txBody>
      </p:sp>
      <p:pic>
        <p:nvPicPr>
          <p:cNvPr id="5" name="">
            <a:extLst xmlns:a="http://schemas.openxmlformats.org/drawingml/2006/main">
              <a:ext uri="{FF2B5EF4-FFF2-40B4-BE49-F238E27FC236}">
                <a16:creationId xmlns:a16="http://schemas.microsoft.com/office/drawing/2014/main" id="{FE7B5B84-2249-44A0-A0EA-53A5A2704A93}"/>
              </a:ext>
            </a:extLst>
          </p:cNvPr>
          <p:cNvPicPr>
            <a:picLocks xmlns:a="http://schemas.openxmlformats.org/drawingml/2006/main" noChangeAspect="1"/>
          </p:cNvPicPr>
          <p:nvPr/>
        </p:nvPicPr>
        <p:blipFill>
          <a:blip xmlns:r="http://schemas.openxmlformats.org/officeDocument/2006/relationships" xmlns:a="http://schemas.openxmlformats.org/drawingml/2006/main" r:embed="R9b59a64f9f754070"/>
          <a:stretch xmlns:a="http://schemas.openxmlformats.org/drawingml/2006/main"/>
        </p:blipFill>
        <p:spPr>
          <a:xfrm xmlns:a="http://schemas.openxmlformats.org/drawingml/2006/main">
            <a:off x="1571625" y="1838325"/>
            <a:ext cx="9048750" cy="4524375"/>
          </a:xfrm>
          <a:prstGeom xmlns:a="http://schemas.openxmlformats.org/drawingml/2006/main" prst="rect">
            <a:avLst/>
          </a:prstGeom>
        </p:spPr>
      </p:pic>
    </p:spTree>
    <p:extLst>
      <p:ext uri="{BB962C8B-B14F-4D97-AF65-F5344CB8AC3E}">
        <p14:creationId xmlns:p14="http://schemas.microsoft.com/office/powerpoint/2010/main" val="1637127024"/>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7706F-1B11-458E-9262-6FD33EC37BC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ACCOUNTING AND HANDOFF</a:t>
            </a:r>
          </a:p>
        </p:txBody>
      </p:sp>
      <p:sp>
        <p:nvSpPr>
          <p:cNvPr id="2" name="">
            <a:extLst xmlns:a="http://schemas.openxmlformats.org/drawingml/2006/main">
              <a:ext uri="{FF2B5EF4-FFF2-40B4-BE49-F238E27FC236}">
                <a16:creationId xmlns:a16="http://schemas.microsoft.com/office/drawing/2014/main" id="{F244B59E-0A21-4664-9B2B-17A060BD96F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result is reproducible; integration remains separate</a:t>
            </a:r>
          </a:p>
        </p:txBody>
      </p:sp>
      <p:sp>
        <p:nvSpPr>
          <p:cNvPr id="3" name="">
            <a:extLst xmlns:a="http://schemas.openxmlformats.org/drawingml/2006/main">
              <a:ext uri="{FF2B5EF4-FFF2-40B4-BE49-F238E27FC236}">
                <a16:creationId xmlns:a16="http://schemas.microsoft.com/office/drawing/2014/main" id="{E10F9E5F-34BA-47B7-B8BD-CC85BA82D6B9}"/>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B2F63F4-589F-4D68-A436-FB24F83C01E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24</a:t>
            </a:r>
          </a:p>
        </p:txBody>
      </p:sp>
      <p:graphicFrame>
        <p:nvGraphicFramePr>
          <p:cNvPr id="5" name="">
            <a:extLst xmlns:a="http://schemas.openxmlformats.org/drawingml/2006/main">
              <a:ext uri="{FF2B5EF4-FFF2-40B4-BE49-F238E27FC236}">
                <a16:creationId xmlns:a16="http://schemas.microsoft.com/office/drawing/2014/main" id="{5D085764-D9BF-448E-9C0A-7D085B359CEE}"/>
              </a:ext>
            </a:extLst>
          </p:cNvPr>
          <p:cNvGraphicFramePr/>
          <p:nvPr/>
        </p:nvGraphicFramePr>
        <p:xfrm>
          <a:off xmlns:a="http://schemas.openxmlformats.org/drawingml/2006/main" x="533400" y="1971675"/>
          <a:ext xmlns:a="http://schemas.openxmlformats.org/drawingml/2006/main" cx="11125200" cy="3705225"/>
        </p:xfrm>
        <a:graphic xmlns:a="http://schemas.openxmlformats.org/drawingml/2006/main">
          <a:graphicData uri="http://schemas.openxmlformats.org/drawingml/2006/table">
            <a:tbl>
              <a:tblPr firstRow="0" bandRow="0"/>
              <a:tblGrid>
                <a:gridCol w="3238500"/>
                <a:gridCol w="7886700"/>
              </a:tblGrid>
              <a:tr h="617538">
                <a:tc>
                  <a:txBody>
                    <a:bodyPr lIns="0" tIns="0" rIns="0" bIns="0">
                      <a:noAutofit/>
                    </a:bodyPr>
                    <a:lstStyle/>
                    <a:p>
                      <a:r>
                        <a:rPr sz="1725" b="1">
                          <a:solidFill>
                            <a:srgbClr val="FFFFFF"/>
                          </a:solidFill>
                          <a:latin typeface="Helvetica Neue"/>
                          <a:ea typeface="Helvetica Neue"/>
                          <a:cs typeface="Helvetica Neue"/>
                        </a:rPr>
                        <a:t>Evidence / cost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Verified record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7538">
                <a:tc>
                  <a:txBody>
                    <a:bodyPr lIns="0" tIns="0" rIns="0" bIns="0">
                      <a:noAutofit/>
                    </a:bodyPr>
                    <a:lstStyle/>
                    <a:p>
                      <a:r>
                        <a:rPr sz="1800" b="0">
                          <a:solidFill>
                            <a:srgbClr val="172B3A"/>
                          </a:solidFill>
                          <a:latin typeface="Helvetica Neue"/>
                          <a:ea typeface="Helvetica Neue"/>
                          <a:cs typeface="Helvetica Neue"/>
                        </a:rPr>
                        <a:t>Environment study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450 runs, 2,800 API calls, about $3.63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Physical pilot LLM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5 / 10 HTTP attempts, about $0.006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New PET-MAD jobs</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26 / 36, all converged, 6,632 runner calls + 52 single points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Compute time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25.4 min runner time; 47.5 min summed Slurm elapsed</a:t>
                      </a:r>
                    </a:p>
                    <a:p>
                      <a:r>
                        <a:rPr sz="1800" b="0">
                          <a:solidFill>
                            <a:srgbClr val="172B3A"/>
                          </a:solidFill>
                          <a:latin typeface="Helvetica Neue"/>
                          <a:ea typeface="Helvetica Neue"/>
                          <a:cs typeface="Helvetica Neue"/>
                        </a:rPr>
                        <a:t>Reused work, bulk preparation and queue time are separate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Remaining delivery work</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Apply final-index reader patch, review combined diff, merge,</a:t>
                      </a:r>
                    </a:p>
                    <a:p>
                      <a:r>
                        <a:rPr sz="1800" b="0">
                          <a:solidFill>
                            <a:srgbClr val="172B3A"/>
                          </a:solidFill>
                          <a:latin typeface="Helvetica Neue"/>
                          <a:ea typeface="Helvetica Neue"/>
                          <a:cs typeface="Helvetica Neue"/>
                        </a:rPr>
                        <a:t>and synchronize the structure viewer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D7AF82FC-CFFA-4A17-B3A4-758318F15595}"/>
              </a:ext>
            </a:extLst>
          </p:cNvPr>
          <p:cNvSpPr>
            <a:spLocks xmlns:a="http://schemas.openxmlformats.org/drawingml/2006/main" noGrp="1"/>
          </p:cNvSpPr>
          <p:nvPr/>
        </p:nvSpPr>
        <p:spPr>
          <a:xfrm xmlns:a="http://schemas.openxmlformats.org/drawingml/2006/main">
            <a:off x="533400" y="59721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Frozen decisions, later robustness, source hashes and limitations remain independently inspectable.</a:t>
            </a:r>
          </a:p>
        </p:txBody>
      </p:sp>
    </p:spTree>
    <p:extLst>
      <p:ext uri="{BB962C8B-B14F-4D97-AF65-F5344CB8AC3E}">
        <p14:creationId xmlns:p14="http://schemas.microsoft.com/office/powerpoint/2010/main" val="1017410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2026-10-22T09:44:34.4110000Z</dcterms:created>
  <dcterms:modified xsi:type="dcterms:W3CDTF">2026-10-22T09:44:34.4110000Z</dcterms:modified>
</coreProperties>
</file>