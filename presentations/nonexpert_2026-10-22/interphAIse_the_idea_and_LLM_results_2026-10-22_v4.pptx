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cb707473d74ca5" /><Relationship Type="http://schemas.openxmlformats.org/officeDocument/2006/relationships/extended-properties" Target="/docProps/app.xml" Id="R8f6f1a55dd634f6f" /><Relationship Type="http://schemas.openxmlformats.org/officeDocument/2006/relationships/officeDocument" Target="/ppt/presentation.xml" Id="Rbd20c8eccc514469" /></Relationships>
</file>

<file path=ppt/presentation.xml><?xml version="1.0" encoding="utf-8"?>
<p:presentation xmlns:p="http://schemas.openxmlformats.org/presentationml/2006/main">
  <p:sldMasterIdLst>
    <p:sldMasterId xmlns:r="http://schemas.openxmlformats.org/officeDocument/2006/relationships" id="2147483648" r:id="R41699d0dbbb24b8f"/>
  </p:sldMasterIdLst>
  <p:notesMasterIdLst>
    <p:notesMasterId xmlns:r="http://schemas.openxmlformats.org/officeDocument/2006/relationships" r:id="Rb63fb6dffeb649d1"/>
  </p:notesMasterIdLst>
  <p:sldIdLst>
    <p:sldId xmlns:r="http://schemas.openxmlformats.org/officeDocument/2006/relationships" id="256" r:id="R4f9b5547809a44e7"/>
    <p:sldId xmlns:r="http://schemas.openxmlformats.org/officeDocument/2006/relationships" id="257" r:id="Rfe50cc7917504717"/>
    <p:sldId xmlns:r="http://schemas.openxmlformats.org/officeDocument/2006/relationships" id="258" r:id="R4ba38bad245248e0"/>
    <p:sldId xmlns:r="http://schemas.openxmlformats.org/officeDocument/2006/relationships" id="259" r:id="Rf38a85c9b9db4155"/>
    <p:sldId xmlns:r="http://schemas.openxmlformats.org/officeDocument/2006/relationships" id="260" r:id="Rc4e74c2188d34473"/>
    <p:sldId xmlns:r="http://schemas.openxmlformats.org/officeDocument/2006/relationships" id="261" r:id="Rebd79d84416e47a2"/>
    <p:sldId xmlns:r="http://schemas.openxmlformats.org/officeDocument/2006/relationships" id="262" r:id="R5882271b738544d0"/>
    <p:sldId xmlns:r="http://schemas.openxmlformats.org/officeDocument/2006/relationships" id="263" r:id="Re94a11bfd5bc48e4"/>
    <p:sldId xmlns:r="http://schemas.openxmlformats.org/officeDocument/2006/relationships" id="264" r:id="Ra59257e7268e4643"/>
    <p:sldId xmlns:r="http://schemas.openxmlformats.org/officeDocument/2006/relationships" id="265" r:id="Rf8d1d167932d4755"/>
    <p:sldId xmlns:r="http://schemas.openxmlformats.org/officeDocument/2006/relationships" id="266" r:id="R7fb821bf5f674671"/>
    <p:sldId xmlns:r="http://schemas.openxmlformats.org/officeDocument/2006/relationships" id="267" r:id="R503f787dd9a54a37"/>
    <p:sldId xmlns:r="http://schemas.openxmlformats.org/officeDocument/2006/relationships" id="268" r:id="R88d9bac38e164c85"/>
    <p:sldId xmlns:r="http://schemas.openxmlformats.org/officeDocument/2006/relationships" id="269" r:id="Re6c9b95b04434831"/>
    <p:sldId xmlns:r="http://schemas.openxmlformats.org/officeDocument/2006/relationships" id="270" r:id="Rd874f0ac99504392"/>
    <p:sldId xmlns:r="http://schemas.openxmlformats.org/officeDocument/2006/relationships" id="271" r:id="Rde855c4063494015"/>
    <p:sldId xmlns:r="http://schemas.openxmlformats.org/officeDocument/2006/relationships" id="272" r:id="Rc8a75eae6bf8479f"/>
    <p:sldId xmlns:r="http://schemas.openxmlformats.org/officeDocument/2006/relationships" id="273" r:id="R01d5b5d934f4422d"/>
    <p:sldId xmlns:r="http://schemas.openxmlformats.org/officeDocument/2006/relationships" id="274" r:id="R7be9fa375c384bc8"/>
    <p:sldId xmlns:r="http://schemas.openxmlformats.org/officeDocument/2006/relationships" id="275" r:id="Rcdd5b75097f64628"/>
    <p:sldId xmlns:r="http://schemas.openxmlformats.org/officeDocument/2006/relationships" id="276" r:id="Rbd1df4488d51421b"/>
    <p:sldId xmlns:r="http://schemas.openxmlformats.org/officeDocument/2006/relationships" id="277" r:id="Rc2d7b44a627e4e31"/>
    <p:sldId xmlns:r="http://schemas.openxmlformats.org/officeDocument/2006/relationships" id="278" r:id="Rbbd97528db364e98"/>
    <p:sldId xmlns:r="http://schemas.openxmlformats.org/officeDocument/2006/relationships" id="279" r:id="Rcfba51ad629c4f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24a8653e1c46c7" /><Relationship Type="http://schemas.openxmlformats.org/officeDocument/2006/relationships/slideMaster" Target="/ppt/slideMasters/slideMaster1.xml" Id="R41699d0dbbb24b8f" /><Relationship Type="http://schemas.openxmlformats.org/officeDocument/2006/relationships/notesMaster" Target="/ppt/notesMasters/notesMaster1.xml" Id="Rb63fb6dffeb649d1" /><Relationship Type="http://schemas.openxmlformats.org/officeDocument/2006/relationships/presProps" Target="/ppt/presProps.xml" Id="R301ecc060ea547eb" /><Relationship Type="http://schemas.openxmlformats.org/officeDocument/2006/relationships/tableStyles" Target="/ppt/tableStyles.xml" Id="R5500183b06b548c9" /><Relationship Type="http://schemas.openxmlformats.org/officeDocument/2006/relationships/slide" Target="/ppt/slides/slide1.xml" Id="R4f9b5547809a44e7" /><Relationship Type="http://schemas.openxmlformats.org/officeDocument/2006/relationships/slide" Target="/ppt/slides/slide2.xml" Id="Rfe50cc7917504717" /><Relationship Type="http://schemas.openxmlformats.org/officeDocument/2006/relationships/slide" Target="/ppt/slides/slide3.xml" Id="R4ba38bad245248e0" /><Relationship Type="http://schemas.openxmlformats.org/officeDocument/2006/relationships/slide" Target="/ppt/slides/slide4.xml" Id="Rf38a85c9b9db4155" /><Relationship Type="http://schemas.openxmlformats.org/officeDocument/2006/relationships/slide" Target="/ppt/slides/slide5.xml" Id="Rc4e74c2188d34473" /><Relationship Type="http://schemas.openxmlformats.org/officeDocument/2006/relationships/slide" Target="/ppt/slides/slide6.xml" Id="Rebd79d84416e47a2" /><Relationship Type="http://schemas.openxmlformats.org/officeDocument/2006/relationships/slide" Target="/ppt/slides/slide7.xml" Id="R5882271b738544d0" /><Relationship Type="http://schemas.openxmlformats.org/officeDocument/2006/relationships/slide" Target="/ppt/slides/slide8.xml" Id="Re94a11bfd5bc48e4" /><Relationship Type="http://schemas.openxmlformats.org/officeDocument/2006/relationships/slide" Target="/ppt/slides/slide9.xml" Id="Ra59257e7268e4643" /><Relationship Type="http://schemas.openxmlformats.org/officeDocument/2006/relationships/slide" Target="/ppt/slides/slide10.xml" Id="Rf8d1d167932d4755" /><Relationship Type="http://schemas.openxmlformats.org/officeDocument/2006/relationships/slide" Target="/ppt/slides/slide11.xml" Id="R7fb821bf5f674671" /><Relationship Type="http://schemas.openxmlformats.org/officeDocument/2006/relationships/slide" Target="/ppt/slides/slide12.xml" Id="R503f787dd9a54a37" /><Relationship Type="http://schemas.openxmlformats.org/officeDocument/2006/relationships/slide" Target="/ppt/slides/slide13.xml" Id="R88d9bac38e164c85" /><Relationship Type="http://schemas.openxmlformats.org/officeDocument/2006/relationships/slide" Target="/ppt/slides/slide14.xml" Id="Re6c9b95b04434831" /><Relationship Type="http://schemas.openxmlformats.org/officeDocument/2006/relationships/slide" Target="/ppt/slides/slide15.xml" Id="Rd874f0ac99504392" /><Relationship Type="http://schemas.openxmlformats.org/officeDocument/2006/relationships/slide" Target="/ppt/slides/slide16.xml" Id="Rde855c4063494015" /><Relationship Type="http://schemas.openxmlformats.org/officeDocument/2006/relationships/slide" Target="/ppt/slides/slide17.xml" Id="Rc8a75eae6bf8479f" /><Relationship Type="http://schemas.openxmlformats.org/officeDocument/2006/relationships/slide" Target="/ppt/slides/slide18.xml" Id="R01d5b5d934f4422d" /><Relationship Type="http://schemas.openxmlformats.org/officeDocument/2006/relationships/slide" Target="/ppt/slides/slide19.xml" Id="R7be9fa375c384bc8" /><Relationship Type="http://schemas.openxmlformats.org/officeDocument/2006/relationships/slide" Target="/ppt/slides/slide20.xml" Id="Rcdd5b75097f64628" /><Relationship Type="http://schemas.openxmlformats.org/officeDocument/2006/relationships/slide" Target="/ppt/slides/slide21.xml" Id="Rbd1df4488d51421b" /><Relationship Type="http://schemas.openxmlformats.org/officeDocument/2006/relationships/slide" Target="/ppt/slides/slide22.xml" Id="Rc2d7b44a627e4e31" /><Relationship Type="http://schemas.openxmlformats.org/officeDocument/2006/relationships/slide" Target="/ppt/slides/slide23.xml" Id="Rbbd97528db364e98" /><Relationship Type="http://schemas.openxmlformats.org/officeDocument/2006/relationships/slide" Target="/ppt/slides/slide24.xml" Id="Rcfba51ad629c4f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ea33979a9745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a66613067344c3" /><Relationship Type="http://schemas.openxmlformats.org/officeDocument/2006/relationships/notesMaster" Target="/ppt/notesMasters/notesMaster1.xml" Id="R7b9868d924144b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a208fa040b4a86" /><Relationship Type="http://schemas.openxmlformats.org/officeDocument/2006/relationships/notesMaster" Target="/ppt/notesMasters/notesMaster1.xml" Id="R1dc74f42b28e42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c574c4b621478c" /><Relationship Type="http://schemas.openxmlformats.org/officeDocument/2006/relationships/notesMaster" Target="/ppt/notesMasters/notesMaster1.xml" Id="R76971570e0e34b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347f3d66db485a" /><Relationship Type="http://schemas.openxmlformats.org/officeDocument/2006/relationships/notesMaster" Target="/ppt/notesMasters/notesMaster1.xml" Id="R59efaf1dc5d041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4ee94d467d4cf3" /><Relationship Type="http://schemas.openxmlformats.org/officeDocument/2006/relationships/notesMaster" Target="/ppt/notesMasters/notesMaster1.xml" Id="Rb28ada3a746749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4ace179dc6405b" /><Relationship Type="http://schemas.openxmlformats.org/officeDocument/2006/relationships/notesMaster" Target="/ppt/notesMasters/notesMaster1.xml" Id="R8a6c3ea8affa4d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16e1e214c64cff" /><Relationship Type="http://schemas.openxmlformats.org/officeDocument/2006/relationships/notesMaster" Target="/ppt/notesMasters/notesMaster1.xml" Id="R288ff0fa501345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28c03a911f4b56" /><Relationship Type="http://schemas.openxmlformats.org/officeDocument/2006/relationships/notesMaster" Target="/ppt/notesMasters/notesMaster1.xml" Id="R4371f3de5cd449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499363c7224aa3" /><Relationship Type="http://schemas.openxmlformats.org/officeDocument/2006/relationships/notesMaster" Target="/ppt/notesMasters/notesMaster1.xml" Id="Rb02e8a4be5a14f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d12a6657904c78" /><Relationship Type="http://schemas.openxmlformats.org/officeDocument/2006/relationships/notesMaster" Target="/ppt/notesMasters/notesMaster1.xml" Id="Rc03a1ae4dcb048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84aaf5e88e47cc" /><Relationship Type="http://schemas.openxmlformats.org/officeDocument/2006/relationships/notesMaster" Target="/ppt/notesMasters/notesMaster1.xml" Id="R4473dc0a67994fe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62a54ea889443c" /><Relationship Type="http://schemas.openxmlformats.org/officeDocument/2006/relationships/notesMaster" Target="/ppt/notesMasters/notesMaster1.xml" Id="Raa904175d5064d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e31087425b04be3" /><Relationship Type="http://schemas.openxmlformats.org/officeDocument/2006/relationships/notesMaster" Target="/ppt/notesMasters/notesMaster1.xml" Id="Rf8d7c55bbdd145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341be90a89467b" /><Relationship Type="http://schemas.openxmlformats.org/officeDocument/2006/relationships/notesMaster" Target="/ppt/notesMasters/notesMaster1.xml" Id="R92727eb264944e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ae5cf0da934133" /><Relationship Type="http://schemas.openxmlformats.org/officeDocument/2006/relationships/notesMaster" Target="/ppt/notesMasters/notesMaster1.xml" Id="Rafcc13c16dd1405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cf35d651154f06" /><Relationship Type="http://schemas.openxmlformats.org/officeDocument/2006/relationships/notesMaster" Target="/ppt/notesMasters/notesMaster1.xml" Id="Rebcb63b964ed4a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102c6e9a1f42f5" /><Relationship Type="http://schemas.openxmlformats.org/officeDocument/2006/relationships/notesMaster" Target="/ppt/notesMasters/notesMaster1.xml" Id="R87ca505ec0a949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5326abbd9d43ef" /><Relationship Type="http://schemas.openxmlformats.org/officeDocument/2006/relationships/notesMaster" Target="/ppt/notesMasters/notesMaster1.xml" Id="Rf261e67ae3654e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40030a25654d50" /><Relationship Type="http://schemas.openxmlformats.org/officeDocument/2006/relationships/notesMaster" Target="/ppt/notesMasters/notesMaster1.xml" Id="Rdadbe73a395741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64bcb52b7c45f6" /><Relationship Type="http://schemas.openxmlformats.org/officeDocument/2006/relationships/notesMaster" Target="/ppt/notesMasters/notesMaster1.xml" Id="R492143ed23c648c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efe122fdd624d6e" /><Relationship Type="http://schemas.openxmlformats.org/officeDocument/2006/relationships/notesMaster" Target="/ppt/notesMasters/notesMaster1.xml" Id="Rc34a0ad8fcc0468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6dc042d52b64dc0" /><Relationship Type="http://schemas.openxmlformats.org/officeDocument/2006/relationships/notesMaster" Target="/ppt/notesMasters/notesMaster1.xml" Id="Rad080008543e43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a189b251f1440d4" /><Relationship Type="http://schemas.openxmlformats.org/officeDocument/2006/relationships/notesMaster" Target="/ppt/notesMasters/notesMaster1.xml" Id="Ra9536e660a5e4d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f4750bbda0d40cd" /><Relationship Type="http://schemas.openxmlformats.org/officeDocument/2006/relationships/notesMaster" Target="/ppt/notesMasters/notesMaster1.xml" Id="Rd6f14b7a4db64c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interphAIse asks whether an AI language model can take on one part of scientific work: deciding which material deserves the next calculation. We will explain the battery problem, the decision loop, and three stages of evidence. Main talk: slides 1–18, approximately 15–18 minutes. Slides 19–24 are technical backup. Authors: Davide Tisi and Adem R. N. Aouichaoui. The LLM is Haiku 5.5. All outcomes are from the completed archived studies through 22 October 2026.</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cathode is an electrode that stores lithium. The solid electrolyte carries lithium ions between electrodes. Where these materials touch, unwanted reactions and poor contact can be problems. The coating is a very thin protective layer between them, so it has two contacts to satisfy. The project tests chemical compatibility and simulated adhesion separately. The broad battery objective also requires lithium transport, synthesis and cycling, which were outside these tests. Image is an AI-generated conceptual illustration, not a simulation or an experimental image.</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/Users/davidetisi/Documents/Work/DTU/OSI_Hackathon/interphAIse/README.md</a:t>
            </a:r>
          </a:p>
          <a:p xmlns:a="http://schemas.openxmlformats.org/drawingml/2006/main">
            <a:r>
              <a:t>/Users/davidetisi/Documents/Work/DTU/OSI_Hackathon/interphAIse/presentations/source/nonexpert_assets/provenance.json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that a calculator can score a specified material but does not itself decide which chemical idea is worth pursuing. The LLM supplies that selection judgment and can express a hypothesis in words. This is why it is central to the experiment. Humans still define the candidate menu, scoring rule, budget and scientific interpretation. Deterministic code validates the choices and reveals numerical results. We measure the quality of the decisions, not whether the model internally reasons like a human. The LLM selects existing structure IDs, rather than inventing new compositions.</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/Users/davidetisi/Documents/Work/DTU/OSI_Hackathon/interphAIse/DISCOVERY_REPORT.md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steps as a loop: the fourth step becomes the next first step. In the controlled search benchmark the numerical feedback is read from a precomputed thermodynamic table. The LLM cannot see the full answer table. In the later physical pilot, new interface calculations follow choices and numerical forecasts that have already been recorded. Keeping these two forms of testing distinct prevents a false claim that the cheap benchmark saved expensive compute.</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/Users/davidetisi/Documents/Work/DTU/OSI_Hackathon/interphAIse/ENVIRONMENT_PROTOCOL.md</a:t>
            </a:r>
          </a:p>
          <a:p xmlns:a="http://schemas.openxmlformats.org/drawingml/2006/main">
            <a:r>
              <a:t>/Users/davidetisi/Documents/Work/DTU/OSI_Hackathon/interphAIse/FINAL_PILOT_REVIEW.md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used in the archived trials is Claude Haiku 5.5 through the direct Anthropic endpoint. It selects existing candidate IDs, supplies rationales and states prospective adhesion ranges. It does not calculate the reported energies. Materials Project supplies known structures, corrected GGA/GGA+U reference energies and band gaps. pymatgen handles materials, structures and phase-diagram machinery. The custom evaluator uses SciPy linear programming (linprog) for the frozen production reaction scores; pymatgen phase diagrams also provide cross-checks. In the benchmark, these scores are precomputed and the runner reveals only queried results. The LLM cannot access the whole answer table.</a:t>
            </a:r>
          </a:p>
          <a:p xmlns:a="http://schemas.openxmlformats.org/drawingml/2006/main">
            <a:r>
              <a:t/>
            </a:r>
          </a:p>
          <a:p xmlns:a="http://schemas.openxmlformats.org/drawingml/2006/main">
            <a:r>
              <a:t>pymatgen builds matched contact structures. ASE handles atomic optimization and constraints. PET-MAD S 1.6.0 (r²SCAN), accessed through UPET, supplies energy and force predictions. PET-MAD is a separate machine-learning model, not the language model. Joined and separated structures give work-of-adhesion values. Niflheim GPU jobs use Slurm. Python scripts validate IDs, enforce charged evaluation budgets and save hash-linked manifests, choices and results. The generated 3D viewer supports human geometry inspection; it does not independently validate the physics. Materials Project and PET-MAD energies are kept separate.</a:t>
            </a:r>
          </a:p>
          <a:p xmlns:a="http://schemas.openxmlformats.org/drawingml/2006/main">
            <a:r>
              <a:t/>
            </a:r>
          </a:p>
          <a:p xmlns:a="http://schemas.openxmlformats.org/drawingml/2006/main">
            <a:r>
              <a:t>Sources:</a:t>
            </a:r>
          </a:p>
          <a:p xmlns:a="http://schemas.openxmlformats.org/drawingml/2006/main">
            <a:r>
              <a:t>/Users/davidetisi/Documents/Work/DTU/OSI_Hackathon/interphAIse/requirements.txt</a:t>
            </a:r>
          </a:p>
          <a:p xmlns:a="http://schemas.openxmlformats.org/drawingml/2006/main">
            <a:r>
              <a:t>/Users/davidetisi/Documents/Work/DTU/OSI_Hackathon/interphAIse/pyproject.toml</a:t>
            </a:r>
          </a:p>
          <a:p xmlns:a="http://schemas.openxmlformats.org/drawingml/2006/main">
            <a:r>
              <a:t>/Users/davidetisi/Documents/Work/DTU/OSI_Hackathon/interphAIse/interphaise/discovery_evaluator.py</a:t>
            </a:r>
          </a:p>
          <a:p xmlns:a="http://schemas.openxmlformats.org/drawingml/2006/main">
            <a:r>
              <a:t>/Users/davidetisi/Documents/Work/DTU/OSI_Hackathon/interphAIse/interphaise/tools/matcher.py</a:t>
            </a:r>
          </a:p>
          <a:p xmlns:a="http://schemas.openxmlformats.org/drawingml/2006/main">
            <a:r>
              <a:t>/Users/davidetisi/Documents/Work/DTU/OSI_Hackathon/interphAIse/interphaise/tools/relaxation.py</a:t>
            </a:r>
          </a:p>
          <a:p xmlns:a="http://schemas.openxmlformats.org/drawingml/2006/main">
            <a:r>
              <a:t>/Users/davidetisi/Documents/Work/DTU/OSI_Hackathon/interphAIse/interphaise/tools/mlip.py</a:t>
            </a:r>
          </a:p>
          <a:p xmlns:a="http://schemas.openxmlformats.org/drawingml/2006/main">
            <a:r>
              <a:t>/Users/davidetisi/Documents/Work/DTU/OSI_Hackathon/interphAIse/ENVIRONMENT_PROTOCOL.md</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/Users/davidetisi/Documents/Work/DTU/OSI_Hackathon/interphAIse-integration/FINAL_INTEGRATION.md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menu contains 50 structure IDs representing 43 formulas. Two structures pass. Each strategy receives ten charged evaluations, repeated 30 times. Unknown, duplicate and failed queries still consume budget. The pass rule combines a thermodynamic reaction penalty no greater than 0.050 eV per non-Li atom with a band-gap proxy for electronic insulation of at least 2 eV. Lower reaction penalty is better. The rule was frozen before decisive runs. It is a screening criterion, not a demonstration of useful battery performance.</a:t>
            </a:r>
          </a:p>
          <a:p xmlns:a="http://schemas.openxmlformats.org/drawingml/2006/main">
            <a:r>
              <a:t/>
            </a:r>
          </a:p>
          <a:p xmlns:a="http://schemas.openxmlformats.org/drawingml/2006/main">
            <a:r>
              <a:t>Sources:</a:t>
            </a:r>
          </a:p>
          <a:p xmlns:a="http://schemas.openxmlformats.org/drawingml/2006/main">
            <a:r>
              <a:t>/Users/davidetisi/Documents/Work/DTU/OSI_Hackathon/interphAIse/INTEGRATED_DISCOVERY_RESULTS.md</a:t>
            </a:r>
          </a:p>
          <a:p xmlns:a="http://schemas.openxmlformats.org/drawingml/2006/main">
            <a:r>
              <a:t>/Users/davidetisi/Documents/Work/DTU/OSI_Hackathon/interphAIse/ENVIRONMENT_PROTOCOL.md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archived names are iterative, sequential, shuffled, upfront and random. The shorter labels used in the main talk explain what differs. No-results retains earlier choices and rationales. Mixed-up results tests whether correct attribution matters, although occasional correct assignments and contradictions with earlier rationales remain limitations. All LLM arms use Haiku 5.5, temperature 1.0. No single comparison proves an internal reasoning mechanism.</a:t>
            </a:r>
          </a:p>
          <a:p xmlns:a="http://schemas.openxmlformats.org/drawingml/2006/main">
            <a:r>
              <a:t/>
            </a:r>
          </a:p>
          <a:p xmlns:a="http://schemas.openxmlformats.org/drawingml/2006/main">
            <a:r>
              <a:t>Sources:</a:t>
            </a:r>
          </a:p>
          <a:p xmlns:a="http://schemas.openxmlformats.org/drawingml/2006/main">
            <a:r>
              <a:t>/Users/davidetisi/Documents/Work/DTU/OSI_Hackathon/interphAIse/ENVIRONMENT_PROTOCOL.md</a:t>
            </a:r>
          </a:p>
          <a:p xmlns:a="http://schemas.openxmlformats.org/drawingml/2006/main">
            <a:r>
              <a:t>/Users/davidetisi/Documents/Work/DTU/OSI_Hackathon/interphAIse/RESULTS_SYNTHESIS_2026-10-22.md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combines 120 original runs with the matched 30-run shuffled follow-up. Counts are 19, 4, 6, 4 and 10. Do not add the earlier ten-run preview. Exact random expectation is 36.33%, compared with the observed random 10/30. Iterative versus shuffled paired exact McNemar p is about 0.0044, unadjusted. The evidence supports useful feedback in this task. A fluoride-first rule designed after seeing the table succeeds by query two, so this result does not establish superiority over every simpler policy. The original candidate pool overlaps the expanded pool.</a:t>
            </a:r>
          </a:p>
          <a:p xmlns:a="http://schemas.openxmlformats.org/drawingml/2006/main">
            <a:r>
              <a:t/>
            </a:r>
          </a:p>
          <a:p xmlns:a="http://schemas.openxmlformats.org/drawingml/2006/main">
            <a:r>
              <a:t>Sources:</a:t>
            </a:r>
          </a:p>
          <a:p xmlns:a="http://schemas.openxmlformats.org/drawingml/2006/main">
            <a:r>
              <a:t>/Users/davidetisi/Documents/Work/DTU/OSI_Hackathon/interphAIse/INTEGRATED_DISCOVERY_RESULTS.md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electrolyte is the material carrying lithium ions. Changing it changes which coatings pass, even though the cathode remains LiCoO2 at 4 V. There are 4/141 passing structures in sulfide, 55/141 in chloride and 17/141 in LLZO. The chart shows three of the five strategies for clarity; all five counts and planned statistics are in backup slide 19. Sulfide counts are 20,2,6,0,8; chloride 30,30,30,30,29; LLZO 12,0,4,1,24, in iterative,sequential,shuffled,upfront,random order. Every run begins fresh: this is not learning transferred between environments. The expanded pool includes the original 50 structures. Do not pool those studies as independent replications.</a:t>
            </a:r>
          </a:p>
          <a:p xmlns:a="http://schemas.openxmlformats.org/drawingml/2006/main">
            <a:r>
              <a:t/>
            </a:r>
          </a:p>
          <a:p xmlns:a="http://schemas.openxmlformats.org/drawingml/2006/main">
            <a:r>
              <a:t>Sources:</a:t>
            </a:r>
          </a:p>
          <a:p xmlns:a="http://schemas.openxmlformats.org/drawingml/2006/main">
            <a:r>
              <a:t>/Users/davidetisi/Documents/Work/DTU/OSI_Hackathon/interphAIse/ENVIRONMENT_PROTOCOL.md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sulfide seed 202. The trace was chosen in the earlier analysis using the lowest seed with a typical first-hit position, before reading the rationales. The model tried familiar oxides and LiF unsuccessfully, then explored mixed-cation fluorides. It interpreted the 0.057 result as a near miss and chose the Ca analogue. The values are recorded scores in eV per non-Li atom, rounded to three decimals. Its proposed chemical explanation is a hypothesis, not a verified reaction mechanism. The observed sequence makes the delegated judgment concrete without treating one attractive example as proof. Source archive: agent commit, data/experiments/environment_v1/lpscl/iterative_r202.json.</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Formula coverage is pooled across all 30 runs, ten picks per run, not a single search. Random has 24 successful runs and iterative 12. Iterative makes 29 acceptable picks, 28 in queries 6–10, with 26 picks from LiAlSiO4 polymorphs. Random makes 33 acceptable picks. These patterns describe late and concentrated selection, not the model’s private cognitive process. A later practical-chemistry audit flagged five of 17 acceptable structures; 18 of the 24 successful random runs also found an unflagged candidate. The main endpoint remains unchanged, and there is no evidence the LLM intentionally avoided flagged materials. Details are in backup slide 21.</a:t>
            </a:r>
          </a:p>
          <a:p xmlns:a="http://schemas.openxmlformats.org/drawingml/2006/main">
            <a:r>
              <a:t/>
            </a:r>
          </a:p>
          <a:p xmlns:a="http://schemas.openxmlformats.org/drawingml/2006/main">
            <a:r>
              <a:t>Sources:</a:t>
            </a:r>
          </a:p>
          <a:p xmlns:a="http://schemas.openxmlformats.org/drawingml/2006/main">
            <a:r>
              <a:t>/Users/davidetisi/Documents/Work/DTU/OSI_Hackathon/interphAIse/data/reviews/llzo_chemistry_audit_20261021.json</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PET-MAD is a machine-learned interatomic potential used to relax explicit atomic structures and compute energies. It is a separate model from the LLM. The physical pilot uses the sulfide stack. Reference LiNbF6 is evaluated first. Feasible alternatives are LiTaF6, LiCaAlF6 and LiF; LiF does not pass the frozen thermodynamic rule and was not physically evaluated. The known-material menu and construction rules constrain the choice. The adhesion quantity W_adh compares relaxed joined and separated surfaces under fixed protocol constraints, per interface area in J/m². It is not measured fracture toughness. Three registry positions per contact were tested for each new coating.</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chose LiTaF6 using an Nb/Ta chemical analogy. Exact selected-primary values are 3.338748412819128 and 1.5773585444472311 J/m². Both fall inside the archived prospective ranges. The electrolyte contact is weaker, as forecast. This is one successful material-level analogy, not a calibrated error model. Ranges were stated by the model and are not statistical confidence intervals. Registry selection minimizes relaxed joined-interface energy, rather than choosing the largest adhesion value.</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selected-primary values are 1.426710445485596 and 0.7435735865694895 J/m². Both are below the previously recorded ranges. The model’s final assessment acknowledged the Ca–Al miss. Its choice order remained LiTaF6 then LiCaAlF6, the same as its initial shortlist; the second was the only remaining acceptable candidate in the feasible menu. The pilot therefore tests forecasts but cannot demonstrate adaptive-selection gain. The final summary also misread a weaker-contact field as a minimum over registries. The archived response is retained, with an explanatory correction in the review.</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electrolyte is the weaker contact for all three coatings. The Nb–Ta gap on that side is about 0.056 J/m². Changing the electrolyte bulk reference shifts their values by about 0.121 and 0.114 J/m², larger than the gap. These are construction sensitivities, not statistical error bars. Ca–Al shows much lower primary adhesion, but its electrolyte thickness and bulk-reference sensitivities remain unquantified. All contact models are formally polar, so numerical convergence does not remove the electrostatic limitation. The final values supersede earlier pilot values obtained with different constructions. Full W_adh/W_sep values appear in backup slide 22.</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/Users/davidetisi/Documents/Work/DTU/OSI_Hackathon/interphAIse/presentations/source/results_synthesis_2026-10-22.json</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whether the method produced a small set of useful candidates. In the flagship LiCoO2 / Li6PS5Cl system at 4 V, the frozen chemical screen accepts four of 141 structure IDs: LiNbF6, LiCaAlF6 and two LiTaF6 polymorphs (the same chemical formula with different crystal arrangements). These are known Materials Project materials. The whole frozen table establishes the pool shortlist; it is not an output invented by the LLM or guaranteed to be recovered in each ten-query search. The physical pilot starts from LiNbF6 reference results, then the LLM selects one LiTaF6 structure and LiCaAlF6.</a:t>
            </a:r>
          </a:p>
          <a:p xmlns:a="http://schemas.openxmlformats.org/drawingml/2006/main">
            <a:r>
              <a:t/>
            </a:r>
          </a:p>
          <a:p xmlns:a="http://schemas.openxmlformats.org/drawingml/2006/main">
            <a:r>
              <a:t>mp-aaaaajby: LiCaAlF6, reaction penalty 0.047719477710549185 eV/non-Li atom, objective bin 2, band gap 7.6448 eV.</a:t>
            </a:r>
          </a:p>
          <a:p xmlns:a="http://schemas.openxmlformats.org/drawingml/2006/main">
            <a:r>
              <a:t>mp-aaacjjwh: LiNbF6, reaction penalty 0.028772005147425617 eV/non-Li atom, objective bin 1, band gap 4.788851973014669 eV.</a:t>
            </a:r>
          </a:p>
          <a:p xmlns:a="http://schemas.openxmlformats.org/drawingml/2006/main">
            <a:r>
              <a:t>mp-aaacjmqp: LiTaF6, reaction penalty 0.027074933496621156 eV/non-Li atom, objective bin 1, band gap 5.917199104338054 eV.</a:t>
            </a:r>
          </a:p>
          <a:p xmlns:a="http://schemas.openxmlformats.org/drawingml/2006/main">
            <a:r>
              <a:t>mp-aaacqrlq: LiTaF6, reaction penalty 0.027074933496621156 eV/non-Li atom, objective bin 1, band gap 6.802300000000001 eV.</a:t>
            </a:r>
          </a:p>
          <a:p xmlns:a="http://schemas.openxmlformats.org/drawingml/2006/main">
            <a:r>
              <a:t/>
            </a:r>
          </a:p>
          <a:p xmlns:a="http://schemas.openxmlformats.org/drawingml/2006/main">
            <a:r>
              <a:t>The frozen pass rule is penalty ≤0.050 eV/non-Li atom and band gap ≥2 eV. LiNbF6 and both LiTaF6 polymorphs occupy the best observed reaction-score bin (bin 1, width 0.020 eV/non-Li atom). LiCaAlF6 passes in bin 2. Best observed score bin is a property of the fixed pool and proxy, not a global material optimum.</a:t>
            </a:r>
          </a:p>
          <a:p xmlns:a="http://schemas.openxmlformats.org/drawingml/2006/main">
            <a:r>
              <a:t/>
            </a:r>
          </a:p>
          <a:p xmlns:a="http://schemas.openxmlformats.org/drawingml/2006/main">
            <a:r>
              <a:t>The table shows the selected-primary work of adhesion at the weaker contact, the electrolyte side in all three cases. The proposed Nb/Ta follow-up pair is an interpretation of chemical acceptability plus stronger calculated attachment. Neither is a validated optimal coating. Their 0.056 J/m² primary gap is smaller than the roughly 0.121 and 0.114 J/m² reference/construction sensitivities. Ca–Al is a useful contrasting result but has lower adhesion in these calculations and unquantified electrolyte thickness/reference sensitivity. All model contacts are formally polar. Transport, processing, cycling and experimental performance remain untested. The shortlist is specific to this sulfide environment and cannot be generalized to the other electrolytes.</a:t>
            </a:r>
          </a:p>
          <a:p xmlns:a="http://schemas.openxmlformats.org/drawingml/2006/main">
            <a:r>
              <a:t/>
            </a:r>
          </a:p>
          <a:p xmlns:a="http://schemas.openxmlformats.org/drawingml/2006/main">
            <a:r>
              <a:t>Sources:</a:t>
            </a:r>
          </a:p>
          <a:p xmlns:a="http://schemas.openxmlformats.org/drawingml/2006/main">
            <a:r>
              <a:t>/Users/davidetisi/Documents/Work/DTU/OSI_Hackathon/interphAIse/data/benchmarks/environment_v1/lco_lpscl_4v.json</a:t>
            </a:r>
          </a:p>
          <a:p xmlns:a="http://schemas.openxmlformats.org/drawingml/2006/main">
            <a:r>
              <a:t>/Users/davidetisi/Documents/Work/DTU/OSI_Hackathon/interphAIse/presentations/source/results_synthesis_2026-10-22.json</a:t>
            </a:r>
          </a:p>
          <a:p xmlns:a="http://schemas.openxmlformats.org/drawingml/2006/main">
            <a:r>
              <a:t>/Users/davidetisi/Documents/Work/DTU/OSI_Hackathon/interphAIse/FINAL_PILOT_REVIEW.md</a:t>
            </a:r>
          </a:p>
          <a:p xmlns:a="http://schemas.openxmlformats.org/drawingml/2006/main">
            <a:r>
              <a:t>/Users/davidetisi/Documents/Work/DTU/OSI_Hackathon/interphAIse/RESULTS_SYNTHESIS_2026-10-22.md</a:t>
            </a:r>
          </a:p>
          <a:p xmlns:a="http://schemas.openxmlformats.org/drawingml/2006/main">
            <a:r>
              <a:t>Archived outcome commits: agent 800ba0378779ce7df9038bc4857719a29c2fe0a7; physics 1b76eeb0330ae1ddee3720d76145c2b308725245.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conclusion for a mixed audience. Feedback utility is conditional on the environment and the benchmark. Forecast checking is valuable because the calculation can contradict the model’s words. The physical pilot had two choices and no repeated expensive-search control, so it cannot prove general predictive reliability, compute savings or adaptive selection superiority. The model correctly identified the weaker contact twice but misunderstood the meaning of min_W_adh_J_m2 in the summary. Human interpretation and independent validation remain necessary.</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/Users/davidetisi/Documents/Work/DTU/OSI_Hackathon/interphAIse/FINAL_PILOT_REVIEW.md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future research directions, not completed experiments. A new study should preregister an exploration mechanism and compare policies on independent expensive decisions. Physical models need additional validation, particularly polar-interface treatment and missing sensitivity checks. A functional coating also needs suitable transport, processability and cycling behavior. The current bounded pilot is complete and does not require new calculations to reproduce its existing outcomes. The integrated code and viewer have since been completed in the separate final-integration worktree; this deck does not merge branches.</a:t>
            </a:r>
          </a:p>
          <a:p xmlns:a="http://schemas.openxmlformats.org/drawingml/2006/main">
            <a:r>
              <a:t/>
            </a:r>
          </a:p>
          <a:p xmlns:a="http://schemas.openxmlformats.org/drawingml/2006/main">
            <a:r>
              <a:t>Sources:</a:t>
            </a:r>
          </a:p>
          <a:p xmlns:a="http://schemas.openxmlformats.org/drawingml/2006/main">
            <a:r>
              <a:t>/Users/davidetisi/Documents/Work/DTU/OSI_Hackathon/interphAIse/RESULTS_SYNTHESIS_2026-10-22.md</a:t>
            </a:r>
          </a:p>
          <a:p xmlns:a="http://schemas.openxmlformats.org/drawingml/2006/main">
            <a:r>
              <a:t>/Users/davidetisi/Documents/Work/DTU/OSI_Hackathon/interphAIse/FINAL_PILOT_REVIEW.md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the primary frozen endpoint from the 450-run environment study. Exact paired McNemar tests use display-order seeds 200–229 and Holm correction across all six planned comparisons. Three survive the 0.05 threshold. Random comparisons are descriptive relative to this preregistered family. Acceptable pool sizes are 4/141 sulfide, 55/141 chloride and 17/141 LLZO. The frozen objective uses P≤0.050 eV per non-Li atom, band gap≥2 eV and equilibrated contact endpoints. It does not predict finite-temperature behavior, ion transport, synthesis or battery cycling.</a:t>
            </a:r>
          </a:p>
          <a:p xmlns:a="http://schemas.openxmlformats.org/drawingml/2006/main">
            <a:r>
              <a:t/>
            </a:r>
          </a:p>
          <a:p xmlns:a="http://schemas.openxmlformats.org/drawingml/2006/main">
            <a:r>
              <a:t>Sources:</a:t>
            </a:r>
          </a:p>
          <a:p xmlns:a="http://schemas.openxmlformats.org/drawingml/2006/main">
            <a:r>
              <a:t>/Users/davidetisi/Documents/Work/DTU/OSI_Hackathon/interphAIse/ENVIRONMENT_PROTOCOL.md</a:t>
            </a:r>
          </a:p>
          <a:p xmlns:a="http://schemas.openxmlformats.org/drawingml/2006/main">
            <a:r>
              <a:t>/Users/davidetisi/Documents/Work/DTU/OSI_Hackathon/interphAIse/presentations/source/results_synthesis_2026-10-22.json</a:t>
            </a:r>
          </a:p>
          <a:p xmlns:a="http://schemas.openxmlformats.org/drawingml/2006/main">
            <a:r>
              <a:t>/Users/davidetisi/Documents/Work/DTU/OSI_Hackathon/interphAIse/RESULTS_SYNTHESIS_2026-10-22.md</a:t>
            </a:r>
          </a:p>
          <a:p xmlns:a="http://schemas.openxmlformats.org/drawingml/2006/main">
            <a:r>
              <a:t/>
            </a:r>
          </a:p>
          <a:p xmlns:a="http://schemas.openxmlformats.org/drawingml/2006/main">
            <a:r>
              <a:t>Archived outcome commits: agent 800ba0378779ce7df9038bc4857719a29c2fe0a7; physics 1b76eeb0330ae1ddee3720d76145c2b308725245. Original benchmark source: 750b382844fd64aaa46f96ce96be1871e992c0f1.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frozen objective and environment analysis. Two acceptable structures in 50; 4/141 sulfide,55/141 chloride,17/141 LLZO. P cutoff0.050 crosses bin2 underwidth0.020. Best-bin success is a separate endpoint. Expanded sulfide iterative6 random5; LLZO allLLM0 random2. Missing/invalid/ineligible candidates cannot pass. Threshold not changed after outcomes.</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data/reviews/llzo_chemistry_audit_20261021.json and SYNC_ADEM_10.md. LiIO3 and LiClO4 have supplier oxidizer classifications; Li5IO6 is a family-level review flag, not verified compound-specific GHS. Supplier links and original reference are preserved in the audit JSON. Evaluator does include O2 products, so do not claim it cannot form gas. No evidence that Haiku deliberately avoided these candidates. Frozen criterion unchanged.</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 index; Wadh = (relaxed constrained separated slab energies − relaxed joined interface energy)/area, same model and reference conventions. Wsep uses separated fragments frozen at the joined geometry. It is not an experimental fracture toughness. Large Wsep−Wadh indicates relaxation of freed surfaces within this protocol. Chosen registry minimizes joined energy, not max Wadh.</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data/petmad/niflheim_batch1/cathode_reg_third_third/inspection.png at davide750b382. Actual LiCoO2(001)|LiNbF6(001), 696 atoms, selected (1/3,1/3) registry. Force trace is maximum free-atom force; fixed atoms are excluded. Their residual force remains a limitation. Vacuum isolation reflects finite-range8Å model, not long-range polar convergence.</a:t>
            </a:r>
          </a:p>
          <a:p xmlns:a="http://schemas.openxmlformats.org/drawingml/2006/main">
            <a:r>
              <a:t/>
            </a:r>
          </a:p>
          <a:p xmlns:a="http://schemas.openxmlformats.org/drawingml/2006/main">
            <a:r>
              <a:t>Sources pinned for this synthesis: davide 750b382844fd64aaa46f96ce96be1871e992c0f1; agent 800ba0378779ce7df9038bc4857719a29c2fe0a7; physics 1b76eeb0330ae1ddee3720d76145c2b308725245. No new live LLM or MLIP calls. Figures use the archived outcomes, not a new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Scientific accounting: environment study 450 runs and 2,800 API calls; physical pilot five HTTP attempts, 26 new jobs, 6,632 runner calls plus 52 rigid-fragment single points. Cost figures are recorded list-rate arithmetic, not current pricing or bills. Runner times and summed allocation times differ and exclude queue delay.</a:t>
            </a:r>
          </a:p>
          <a:p xmlns:a="http://schemas.openxmlformats.org/drawingml/2006/main">
            <a:r>
              <a:t/>
            </a:r>
          </a:p>
          <a:p xmlns:a="http://schemas.openxmlformats.org/drawingml/2006/main">
            <a:r>
              <a:t>Current engineering checkpoint: work/final-integration-20261022 at 91afca5 includes both collaborators, the final-index reader correction and the generated viewer launch fix. The integrated tree previously passed 227 tests; the viewer fix passed 13 viewer tests. These are recorded prior checks, not tests rerun to produce this deck. Main/davide remain separate.</a:t>
            </a:r>
          </a:p>
          <a:p xmlns:a="http://schemas.openxmlformats.org/drawingml/2006/main">
            <a:r>
              <a:t/>
            </a:r>
          </a:p>
          <a:p xmlns:a="http://schemas.openxmlformats.org/drawingml/2006/main">
            <a:r>
              <a:t>Sources:</a:t>
            </a:r>
          </a:p>
          <a:p xmlns:a="http://schemas.openxmlformats.org/drawingml/2006/main">
            <a:r>
              <a:t>/Users/davidetisi/Documents/Work/DTU/OSI_Hackathon/interphAIse/FINAL_PILOT_REVIEW.md</a:t>
            </a:r>
          </a:p>
          <a:p xmlns:a="http://schemas.openxmlformats.org/drawingml/2006/main">
            <a:r>
              <a:t>/Users/davidetisi/Documents/Work/DTU/OSI_Hackathon/interphAIse-integration/FINAL_INTEGRATION.md</a:t>
            </a:r>
          </a:p>
          <a:p xmlns:a="http://schemas.openxmlformats.org/drawingml/2006/main">
            <a:r>
              <a:t>/Users/davidetisi/Documents/Work/DTU/OSI_Hackathon/interphAIse-integration/REPORT.md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75d31f58042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321cdfe6a74f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70ce22107c4c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db21529e0342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e4ba77d12945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d1b85278ab4c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7b49fee9954b38" /><Relationship Type="http://schemas.openxmlformats.org/officeDocument/2006/relationships/slideLayout" Target="/ppt/slideLayouts/slideLayout1.xml" Id="R4663b6a6caf74962" /><Relationship Type="http://schemas.openxmlformats.org/officeDocument/2006/relationships/slideLayout" Target="/ppt/slideLayouts/slideLayout2.xml" Id="R16fc38fb6d3b4010" /><Relationship Type="http://schemas.openxmlformats.org/officeDocument/2006/relationships/slideLayout" Target="/ppt/slideLayouts/slideLayout3.xml" Id="R6f200126ef6547b6" /><Relationship Type="http://schemas.openxmlformats.org/officeDocument/2006/relationships/slideLayout" Target="/ppt/slideLayouts/slideLayout4.xml" Id="Rb1103d53337d4ff4" /><Relationship Type="http://schemas.openxmlformats.org/officeDocument/2006/relationships/slideLayout" Target="/ppt/slideLayouts/slideLayout5.xml" Id="Rb5a10fd2d9644de6" /><Relationship Type="http://schemas.openxmlformats.org/officeDocument/2006/relationships/slideLayout" Target="/ppt/slideLayouts/slideLayout6.xml" Id="R8d6a1ab867c84f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63b6a6caf74962"/>
    <p:sldLayoutId xmlns:r="http://schemas.openxmlformats.org/officeDocument/2006/relationships" id="2147483650" r:id="R16fc38fb6d3b4010"/>
    <p:sldLayoutId xmlns:r="http://schemas.openxmlformats.org/officeDocument/2006/relationships" id="2147483651" r:id="R6f200126ef6547b6"/>
    <p:sldLayoutId xmlns:r="http://schemas.openxmlformats.org/officeDocument/2006/relationships" id="2147483652" r:id="Rb1103d53337d4ff4"/>
    <p:sldLayoutId xmlns:r="http://schemas.openxmlformats.org/officeDocument/2006/relationships" id="2147483653" r:id="Rb5a10fd2d9644de6"/>
    <p:sldLayoutId xmlns:r="http://schemas.openxmlformats.org/officeDocument/2006/relationships" id="2147483654" r:id="R8d6a1ab867c84f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bf066393c64fed" /><Relationship Type="http://schemas.openxmlformats.org/officeDocument/2006/relationships/notesSlide" Target="/ppt/notesSlides/notesSlide1.xml" Id="Ra0f5e8a138174c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3b95e472c94d6b" /><Relationship Type="http://schemas.openxmlformats.org/officeDocument/2006/relationships/image" Target="/ppt/media/image.png" Id="R663db0575d704379" /><Relationship Type="http://schemas.openxmlformats.org/officeDocument/2006/relationships/notesSlide" Target="/ppt/notesSlides/notesSlide2.xml" Id="R634d0523a74043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345663ccde43f6" /><Relationship Type="http://schemas.openxmlformats.org/officeDocument/2006/relationships/notesSlide" Target="/ppt/notesSlides/notesSlide3.xml" Id="R4162529f1c0445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b004a732a44c0a" /><Relationship Type="http://schemas.openxmlformats.org/officeDocument/2006/relationships/notesSlide" Target="/ppt/notesSlides/notesSlide4.xml" Id="Re76bb595caec44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65ff3d754f4709" /><Relationship Type="http://schemas.openxmlformats.org/officeDocument/2006/relationships/notesSlide" Target="/ppt/notesSlides/notesSlide5.xml" Id="Racad7aeb5b004c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2f1e02f793e49c3" /><Relationship Type="http://schemas.openxmlformats.org/officeDocument/2006/relationships/notesSlide" Target="/ppt/notesSlides/notesSlide6.xml" Id="R6d9495068b8848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a38579be11455e" /><Relationship Type="http://schemas.openxmlformats.org/officeDocument/2006/relationships/notesSlide" Target="/ppt/notesSlides/notesSlide7.xml" Id="Rc33cd7b8dbde4f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ca509d5ca04adb" /><Relationship Type="http://schemas.openxmlformats.org/officeDocument/2006/relationships/chart" Target="/ppt/slides/charts/chart1.xml" Id="Re2b3db312f374dfa" /><Relationship Type="http://schemas.openxmlformats.org/officeDocument/2006/relationships/notesSlide" Target="/ppt/notesSlides/notesSlide8.xml" Id="R1357ef4b2bcb4c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bbb8f822544b6b" /><Relationship Type="http://schemas.openxmlformats.org/officeDocument/2006/relationships/chart" Target="/ppt/slides/charts/chart2.xml" Id="Ra04fe637fa4a4617" /><Relationship Type="http://schemas.openxmlformats.org/officeDocument/2006/relationships/notesSlide" Target="/ppt/notesSlides/notesSlide9.xml" Id="Rcbb271ef021d46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a0496eba2441e5" /><Relationship Type="http://schemas.openxmlformats.org/officeDocument/2006/relationships/notesSlide" Target="/ppt/notesSlides/notesSlide10.xml" Id="Rb3cb26d463a846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72bbf67b3af4edf" /><Relationship Type="http://schemas.openxmlformats.org/officeDocument/2006/relationships/notesSlide" Target="/ppt/notesSlides/notesSlide11.xml" Id="R6317ab5a929e4b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ddaa45c7fc340f0" /><Relationship Type="http://schemas.openxmlformats.org/officeDocument/2006/relationships/notesSlide" Target="/ppt/notesSlides/notesSlide12.xml" Id="Rab3ef1ba8c2348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973d05bd28c49c1" /><Relationship Type="http://schemas.openxmlformats.org/officeDocument/2006/relationships/notesSlide" Target="/ppt/notesSlides/notesSlide13.xml" Id="R52e6bd53b3bb49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ac48b78f354e4f" /><Relationship Type="http://schemas.openxmlformats.org/officeDocument/2006/relationships/notesSlide" Target="/ppt/notesSlides/notesSlide14.xml" Id="R60d5eae9c62948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8de2a18d90545a7" /><Relationship Type="http://schemas.openxmlformats.org/officeDocument/2006/relationships/chart" Target="/ppt/slides/charts/chart3.xml" Id="R772f9c9037244e7c" /><Relationship Type="http://schemas.openxmlformats.org/officeDocument/2006/relationships/notesSlide" Target="/ppt/notesSlides/notesSlide15.xml" Id="R5e677f6ddf1b45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a13f74761624eab" /><Relationship Type="http://schemas.openxmlformats.org/officeDocument/2006/relationships/notesSlide" Target="/ppt/notesSlides/notesSlide16.xml" Id="R6500ea37893142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ed15741a31641e3" /><Relationship Type="http://schemas.openxmlformats.org/officeDocument/2006/relationships/notesSlide" Target="/ppt/notesSlides/notesSlide17.xml" Id="R3678f9bba4804e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9bdc6211e82496a" /><Relationship Type="http://schemas.openxmlformats.org/officeDocument/2006/relationships/notesSlide" Target="/ppt/notesSlides/notesSlide18.xml" Id="R73608a83436349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77d2dce2637488e" /><Relationship Type="http://schemas.openxmlformats.org/officeDocument/2006/relationships/notesSlide" Target="/ppt/notesSlides/notesSlide19.xml" Id="Ra1e871afcbd3487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57ef2f2d3004703" /><Relationship Type="http://schemas.openxmlformats.org/officeDocument/2006/relationships/notesSlide" Target="/ppt/notesSlides/notesSlide20.xml" Id="R6fcd7430d55b46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87d5c307e634a7c" /><Relationship Type="http://schemas.openxmlformats.org/officeDocument/2006/relationships/notesSlide" Target="/ppt/notesSlides/notesSlide21.xml" Id="R01dfb92e9ca2438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c1d80d018374022" /><Relationship Type="http://schemas.openxmlformats.org/officeDocument/2006/relationships/notesSlide" Target="/ppt/notesSlides/notesSlide22.xml" Id="R1fa47051f96246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07f7c26437046f6" /><Relationship Type="http://schemas.openxmlformats.org/officeDocument/2006/relationships/image" Target="/ppt/media/image2.png" Id="Rada646b224e2455b" /><Relationship Type="http://schemas.openxmlformats.org/officeDocument/2006/relationships/notesSlide" Target="/ppt/notesSlides/notesSlide23.xml" Id="Rf622fc6914b347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bb55b1a142d4098" /><Relationship Type="http://schemas.openxmlformats.org/officeDocument/2006/relationships/notesSlide" Target="/ppt/notesSlides/notesSlide24.xml" Id="R0903a6b529ac483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Successful searches</c:v>
          </c:tx>
          <c:invertIfNegative val="0"/>
          <c:dPt>
            <c:idx val="0"/>
            <c:invertIfNegative val="0"/>
            <c:spPr>
              <a:solidFill xmlns:a="http://schemas.openxmlformats.org/drawingml/2006/main">
                <a:srgbClr val="007F7B"/>
              </a:solidFill>
            </c:spPr>
          </c:dPt>
          <c:dPt>
            <c:idx val="1"/>
            <c:invertIfNegative val="0"/>
            <c:spPr>
              <a:solidFill xmlns:a="http://schemas.openxmlformats.org/drawingml/2006/main">
                <a:srgbClr val="366AA8"/>
              </a:solidFill>
            </c:spPr>
          </c:dPt>
          <c:dPt>
            <c:idx val="2"/>
            <c:invertIfNegative val="0"/>
            <c:spPr>
              <a:solidFill xmlns:a="http://schemas.openxmlformats.org/drawingml/2006/main">
                <a:srgbClr val="CA713A"/>
              </a:solidFill>
            </c:spPr>
          </c:dPt>
          <c:dPt>
            <c:idx val="3"/>
            <c:invertIfNegative val="0"/>
            <c:spPr>
              <a:solidFill xmlns:a="http://schemas.openxmlformats.org/drawingml/2006/main">
                <a:srgbClr val="9076A9"/>
              </a:solidFill>
            </c:spPr>
          </c:dPt>
          <c:dPt>
            <c:idx val="4"/>
            <c:invertIfNegative val="0"/>
            <c:spPr>
              <a:solidFill xmlns:a="http://schemas.openxmlformats.org/drawingml/2006/main">
                <a:srgbClr val="8A949C"/>
              </a:solidFill>
            </c:spPr>
          </c:dPt>
          <c:cat>
            <c:strRef>
              <c:f>'Chart Data'!$A$2:$A$6</c:f>
              <c:strCache>
                <c:ptCount val="5"/>
                <c:pt idx="0">
                  <c:v>Uses results</c:v>
                </c:pt>
                <c:pt idx="1">
                  <c:v>No results</c:v>
                </c:pt>
                <c:pt idx="2">
                  <c:v>Mixed-up results</c:v>
                </c:pt>
                <c:pt idx="3">
                  <c:v>One list</c:v>
                </c:pt>
                <c:pt idx="4">
                  <c:v>Random</c:v>
                </c:pt>
              </c:strCache>
            </c:strRef>
          </c:cat>
          <c:val>
            <c:numRef>
              <c:f>'Chart Data'!$B$2:$B$6</c:f>
              <c:numCache>
                <c:formatCode>General</c:formatCode>
                <c:ptCount val="5"/>
                <c:pt idx="0">
                  <c:v>19</c:v>
                </c:pt>
                <c:pt idx="1">
                  <c:v>4</c:v>
                </c:pt>
                <c:pt idx="2">
                  <c:v>6</c:v>
                </c:pt>
                <c:pt idx="3">
                  <c:v>4</c:v>
                </c:pt>
                <c:pt idx="4">
                  <c:v>10</c:v>
                </c:pt>
              </c:numCache>
            </c:numRef>
          </c:val>
        </c:ser>
        <c:dLbls>
          <c:txPr>
            <a:bodyPr xmlns:a="http://schemas.openxmlformats.org/drawingml/2006/main" anchorCtr="1"/>
            <a:lstStyle xmlns:a="http://schemas.openxmlformats.org/drawingml/2006/main"/>
            <a:p xmlns:a="http://schemas.openxmlformats.org/drawingml/2006/main">
              <a:pPr>
                <a:defRPr sz="217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725">
                    <a:latin typeface="Helvetica Neue"/>
                    <a:ea typeface="Helvetica Neue"/>
                    <a:cs typeface="Helvetica Neue"/>
                  </a:rPr>
                  <a:t>Successful searches / 30</a:t>
                </a:r>
              </a:p>
            </c:rich>
          </c:tx>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50112"/>
        <c:crossBetween val="between"/>
        <c:majorUnit val="10"/>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Uses results</c:v>
          </c:tx>
          <c:spPr>
            <a:solidFill xmlns:a="http://schemas.openxmlformats.org/drawingml/2006/main">
              <a:srgbClr val="007F7B"/>
            </a:solidFill>
          </c:spPr>
          <c:invertIfNegative val="0"/>
          <c:cat>
            <c:strRef>
              <c:f>'Chart Data'!$A$2:$A$4</c:f>
              <c:strCache>
                <c:ptCount val="3"/>
                <c:pt idx="0">
                  <c:v>Sulfide</c:v>
                </c:pt>
                <c:pt idx="1">
                  <c:v>Chloride</c:v>
                </c:pt>
                <c:pt idx="2">
                  <c:v>Oxide (LLZO)</c:v>
                </c:pt>
              </c:strCache>
            </c:strRef>
          </c:cat>
          <c:val>
            <c:numRef>
              <c:f>'Chart Data'!$B$2:$B$4</c:f>
              <c:numCache>
                <c:formatCode>General</c:formatCode>
                <c:ptCount val="3"/>
                <c:pt idx="0">
                  <c:v>20</c:v>
                </c:pt>
                <c:pt idx="1">
                  <c:v>30</c:v>
                </c:pt>
                <c:pt idx="2">
                  <c:v>12</c:v>
                </c:pt>
              </c:numCache>
            </c:numRef>
          </c:val>
        </c:ser>
        <c:ser>
          <c:idx val="1"/>
          <c:order val="1"/>
          <c:tx>
            <c:v>No results</c:v>
          </c:tx>
          <c:spPr>
            <a:solidFill xmlns:a="http://schemas.openxmlformats.org/drawingml/2006/main">
              <a:srgbClr val="366AA8"/>
            </a:solidFill>
          </c:spPr>
          <c:invertIfNegative val="0"/>
          <c:cat>
            <c:strRef>
              <c:f>'Chart Data'!$C$2:$C$4</c:f>
              <c:strCache>
                <c:ptCount val="3"/>
                <c:pt idx="0">
                  <c:v>Sulfide</c:v>
                </c:pt>
                <c:pt idx="1">
                  <c:v>Chloride</c:v>
                </c:pt>
                <c:pt idx="2">
                  <c:v>Oxide (LLZO)</c:v>
                </c:pt>
              </c:strCache>
            </c:strRef>
          </c:cat>
          <c:val>
            <c:numRef>
              <c:f>'Chart Data'!$D$2:$D$4</c:f>
              <c:numCache>
                <c:formatCode>General</c:formatCode>
                <c:ptCount val="3"/>
                <c:pt idx="0">
                  <c:v>2</c:v>
                </c:pt>
                <c:pt idx="1">
                  <c:v>30</c:v>
                </c:pt>
                <c:pt idx="2">
                  <c:v>0</c:v>
                </c:pt>
              </c:numCache>
            </c:numRef>
          </c:val>
        </c:ser>
        <c:ser>
          <c:idx val="2"/>
          <c:order val="2"/>
          <c:tx>
            <c:v>Random</c:v>
          </c:tx>
          <c:spPr>
            <a:solidFill xmlns:a="http://schemas.openxmlformats.org/drawingml/2006/main">
              <a:srgbClr val="8A949C"/>
            </a:solidFill>
          </c:spPr>
          <c:invertIfNegative val="0"/>
          <c:cat>
            <c:strRef>
              <c:f>'Chart Data'!$E$2:$E$4</c:f>
              <c:strCache>
                <c:ptCount val="3"/>
                <c:pt idx="0">
                  <c:v>Sulfide</c:v>
                </c:pt>
                <c:pt idx="1">
                  <c:v>Chloride</c:v>
                </c:pt>
                <c:pt idx="2">
                  <c:v>Oxide (LLZO)</c:v>
                </c:pt>
              </c:strCache>
            </c:strRef>
          </c:cat>
          <c:val>
            <c:numRef>
              <c:f>'Chart Data'!$F$2:$F$4</c:f>
              <c:numCache>
                <c:formatCode>General</c:formatCode>
                <c:ptCount val="3"/>
                <c:pt idx="0">
                  <c:v>8</c:v>
                </c:pt>
                <c:pt idx="1">
                  <c:v>29</c:v>
                </c:pt>
                <c:pt idx="2">
                  <c:v>24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0"/>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725">
                    <a:latin typeface="Helvetica Neue"/>
                    <a:ea typeface="Helvetica Neue"/>
                    <a:cs typeface="Helvetica Neue"/>
                  </a:rPr>
                  <a:t>Successful searches / 30</a:t>
                </a:r>
              </a:p>
            </c:rich>
          </c:tx>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50112"/>
        <c:crossBetween val="between"/>
        <c:majorUnit val="10"/>
      </c:valAx>
      <c:spPr>
        <a:solidFill xmlns:a="http://schemas.openxmlformats.org/drawingml/2006/main">
          <a:srgbClr val="FAFAF7"/>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Cathode side</c:v>
          </c:tx>
          <c:spPr>
            <a:solidFill xmlns:a="http://schemas.openxmlformats.org/drawingml/2006/main">
              <a:srgbClr val="366AA8"/>
            </a:solidFill>
          </c:spPr>
          <c:invertIfNegative val="0"/>
          <c:cat>
            <c:strRef>
              <c:f>'Chart Data'!$A$2:$A$4</c:f>
              <c:strCache>
                <c:ptCount val="3"/>
                <c:pt idx="0">
                  <c:v>LiNbF₆ (reference)</c:v>
                </c:pt>
                <c:pt idx="1">
                  <c:v>LiTaF₆ (first choice)</c:v>
                </c:pt>
                <c:pt idx="2">
                  <c:v>LiCaAlF₆ (second choice)</c:v>
                </c:pt>
              </c:strCache>
            </c:strRef>
          </c:cat>
          <c:val>
            <c:numRef>
              <c:f>'Chart Data'!$B$2:$B$4</c:f>
              <c:numCache>
                <c:formatCode>General</c:formatCode>
                <c:ptCount val="3"/>
                <c:pt idx="0">
                  <c:v>3.617050862</c:v>
                </c:pt>
                <c:pt idx="1">
                  <c:v>3.338748413</c:v>
                </c:pt>
                <c:pt idx="2">
                  <c:v>1.426710445</c:v>
                </c:pt>
              </c:numCache>
            </c:numRef>
          </c:val>
        </c:ser>
        <c:ser>
          <c:idx val="1"/>
          <c:order val="1"/>
          <c:tx>
            <c:v>Electrolyte side</c:v>
          </c:tx>
          <c:spPr>
            <a:solidFill xmlns:a="http://schemas.openxmlformats.org/drawingml/2006/main">
              <a:srgbClr val="007F7B"/>
            </a:solidFill>
          </c:spPr>
          <c:invertIfNegative val="0"/>
          <c:cat>
            <c:strRef>
              <c:f>'Chart Data'!$C$2:$C$4</c:f>
              <c:strCache>
                <c:ptCount val="3"/>
                <c:pt idx="0">
                  <c:v>LiNbF₆ (reference)</c:v>
                </c:pt>
                <c:pt idx="1">
                  <c:v>LiTaF₆ (first choice)</c:v>
                </c:pt>
                <c:pt idx="2">
                  <c:v>LiCaAlF₆ (second choice)</c:v>
                </c:pt>
              </c:strCache>
            </c:strRef>
          </c:cat>
          <c:val>
            <c:numRef>
              <c:f>'Chart Data'!$D$2:$D$4</c:f>
              <c:numCache>
                <c:formatCode>General</c:formatCode>
                <c:ptCount val="3"/>
                <c:pt idx="0">
                  <c:v>1.633394081</c:v>
                </c:pt>
                <c:pt idx="1">
                  <c:v>1.577358544</c:v>
                </c:pt>
                <c:pt idx="2">
                  <c:v>0.7435735866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725">
                    <a:latin typeface="Helvetica Neue"/>
                    <a:ea typeface="Helvetica Neue"/>
                    <a:cs typeface="Helvetica Neue"/>
                  </a:rPr>
                  <a:t>Adhesion (J/m²)</a:t>
                </a:r>
              </a:p>
            </c:rich>
          </c:tx>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title>
        <c:numFmt formatCode="General"/>
        <c:majorTickMark val="none"/>
        <c:minorTickMark val="none"/>
        <c:spPr>
          <a:ln xmlns:a="http://schemas.openxmlformats.org/drawingml/2006/main" w="9525">
            <a:solidFill>
              <a:srgbClr val="D6DEDE"/>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50112"/>
        <c:crossBetween val="between"/>
        <c:majorUnit val="1"/>
      </c:valAx>
      <c:spPr>
        <a:solidFill xmlns:a="http://schemas.openxmlformats.org/drawingml/2006/main">
          <a:srgbClr val="FAFAF7"/>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A0B1C9-1508-4FFA-84E3-632BA6CA12B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AI-GUIDED BATTERY COATINGS</a:t>
            </a:r>
          </a:p>
        </p:txBody>
      </p:sp>
      <p:sp>
        <p:nvSpPr>
          <p:cNvPr id="2" name="">
            <a:extLst xmlns:a="http://schemas.openxmlformats.org/drawingml/2006/main">
              <a:ext uri="{FF2B5EF4-FFF2-40B4-BE49-F238E27FC236}">
                <a16:creationId xmlns:a16="http://schemas.microsoft.com/office/drawing/2014/main" id="{EE287233-F298-45D2-8150-E4D75C8E7EB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a:t>
            </a:r>
          </a:p>
        </p:txBody>
      </p:sp>
      <p:sp>
        <p:nvSpPr>
          <p:cNvPr id="3" name="">
            <a:extLst xmlns:a="http://schemas.openxmlformats.org/drawingml/2006/main">
              <a:ext uri="{FF2B5EF4-FFF2-40B4-BE49-F238E27FC236}">
                <a16:creationId xmlns:a16="http://schemas.microsoft.com/office/drawing/2014/main" id="{CE588C6F-012B-400D-8A82-E666B22BA6E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BF0CF9C2-9C27-4553-8CCB-0FA55FE88C3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47C39E95-604D-4FE5-8237-286E671C102C}"/>
              </a:ext>
            </a:extLst>
          </p:cNvPr>
          <p:cNvSpPr>
            <a:spLocks xmlns:a="http://schemas.openxmlformats.org/drawingml/2006/main" noGrp="1"/>
          </p:cNvSpPr>
          <p:nvPr/>
        </p:nvSpPr>
        <p:spPr>
          <a:xfrm xmlns:a="http://schemas.openxmlformats.org/drawingml/2006/main">
            <a:off x="533400" y="2000250"/>
            <a:ext cx="109537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72B3A"/>
                </a:solidFill>
                <a:latin typeface="Helvetica Neue"/>
                <a:ea typeface="Helvetica Neue"/>
                <a:cs typeface="Helvetica Neue"/>
              </a:defRPr>
            </a:defPPr>
            <a:lvl1pPr>
              <a:buNone/>
              <a:defRPr sz="4650" b="1">
                <a:solidFill>
                  <a:srgbClr val="172B3A"/>
                </a:solidFill>
                <a:latin typeface="Helvetica Neue"/>
                <a:ea typeface="Helvetica Neue"/>
                <a:cs typeface="Helvetica Neue"/>
              </a:defRPr>
            </a:lvl1pPr>
            <a:lvl2pPr>
              <a:buNone/>
              <a:defRPr sz="4650" b="1">
                <a:solidFill>
                  <a:srgbClr val="172B3A"/>
                </a:solidFill>
                <a:latin typeface="Helvetica Neue"/>
                <a:ea typeface="Helvetica Neue"/>
                <a:cs typeface="Helvetica Neue"/>
              </a:defRPr>
            </a:lvl2pPr>
            <a:lvl3pPr>
              <a:buNone/>
              <a:defRPr sz="4650" b="1">
                <a:solidFill>
                  <a:srgbClr val="172B3A"/>
                </a:solidFill>
                <a:latin typeface="Helvetica Neue"/>
                <a:ea typeface="Helvetica Neue"/>
                <a:cs typeface="Helvetica Neue"/>
              </a:defRPr>
            </a:lvl3pPr>
            <a:lvl4pPr>
              <a:buNone/>
              <a:defRPr sz="4650" b="1">
                <a:solidFill>
                  <a:srgbClr val="172B3A"/>
                </a:solidFill>
                <a:latin typeface="Helvetica Neue"/>
                <a:ea typeface="Helvetica Neue"/>
                <a:cs typeface="Helvetica Neue"/>
              </a:defRPr>
            </a:lvl4pPr>
            <a:lvl5pPr>
              <a:buNone/>
              <a:defRPr sz="4650" b="1">
                <a:solidFill>
                  <a:srgbClr val="172B3A"/>
                </a:solidFill>
                <a:latin typeface="Helvetica Neue"/>
                <a:ea typeface="Helvetica Neue"/>
                <a:cs typeface="Helvetica Neue"/>
              </a:defRPr>
            </a:lvl5pPr>
            <a:lvl6pPr>
              <a:buNone/>
              <a:defRPr sz="4650" b="1">
                <a:solidFill>
                  <a:srgbClr val="172B3A"/>
                </a:solidFill>
                <a:latin typeface="Helvetica Neue"/>
                <a:ea typeface="Helvetica Neue"/>
                <a:cs typeface="Helvetica Neue"/>
              </a:defRPr>
            </a:lvl6pPr>
            <a:lvl7pPr>
              <a:buNone/>
              <a:defRPr sz="4650" b="1">
                <a:solidFill>
                  <a:srgbClr val="172B3A"/>
                </a:solidFill>
                <a:latin typeface="Helvetica Neue"/>
                <a:ea typeface="Helvetica Neue"/>
                <a:cs typeface="Helvetica Neue"/>
              </a:defRPr>
            </a:lvl7pPr>
            <a:lvl8pPr>
              <a:buNone/>
              <a:defRPr sz="4650" b="1">
                <a:solidFill>
                  <a:srgbClr val="172B3A"/>
                </a:solidFill>
                <a:latin typeface="Helvetica Neue"/>
                <a:ea typeface="Helvetica Neue"/>
                <a:cs typeface="Helvetica Neue"/>
              </a:defRPr>
            </a:lvl8pPr>
            <a:lvl9pPr>
              <a:buNone/>
              <a:defRPr sz="4650" b="1">
                <a:solidFill>
                  <a:srgbClr val="172B3A"/>
                </a:solidFill>
                <a:latin typeface="Helvetica Neue"/>
                <a:ea typeface="Helvetica Neue"/>
                <a:cs typeface="Helvetica Neue"/>
              </a:defRPr>
            </a:lvl9pPr>
          </a:lstStyle>
          <a:p xmlns:a="http://schemas.openxmlformats.org/drawingml/2006/main">
            <a:pPr>
              <a:buNone/>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Can an LLM choose</a:t>
            </a:r>
          </a:p>
          <a:p xmlns:a="http://schemas.openxmlformats.org/drawingml/2006/main">
            <a:pPr>
              <a:buNone/>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the next battery</a:t>
            </a:r>
          </a:p>
          <a:p xmlns:a="http://schemas.openxmlformats.org/drawingml/2006/main">
            <a:pPr>
              <a:buNone/>
              <a:defRPr sz="4650" b="1">
                <a:solidFill>
                  <a:srgbClr val="172B3A"/>
                </a:solidFill>
                <a:latin typeface="Helvetica Neue"/>
                <a:ea typeface="Helvetica Neue"/>
                <a:cs typeface="Helvetica Neue"/>
              </a:defRPr>
            </a:pPr>
            <a:r>
              <a:rPr sz="4650" b="1">
                <a:solidFill>
                  <a:srgbClr val="172B3A"/>
                </a:solidFill>
                <a:latin typeface="Helvetica Neue"/>
                <a:ea typeface="Helvetica Neue"/>
                <a:cs typeface="Helvetica Neue"/>
              </a:rPr>
              <a:t>coating to test?</a:t>
            </a:r>
          </a:p>
        </p:txBody>
      </p:sp>
      <p:sp>
        <p:nvSpPr>
          <p:cNvPr id="6" name="">
            <a:extLst xmlns:a="http://schemas.openxmlformats.org/drawingml/2006/main">
              <a:ext uri="{FF2B5EF4-FFF2-40B4-BE49-F238E27FC236}">
                <a16:creationId xmlns:a16="http://schemas.microsoft.com/office/drawing/2014/main" id="{B3F44A90-A71C-44AF-B36B-E4731DB0AFA8}"/>
              </a:ext>
            </a:extLst>
          </p:cNvPr>
          <p:cNvSpPr>
            <a:spLocks xmlns:a="http://schemas.openxmlformats.org/drawingml/2006/main" noGrp="1"/>
          </p:cNvSpPr>
          <p:nvPr/>
        </p:nvSpPr>
        <p:spPr>
          <a:xfrm xmlns:a="http://schemas.openxmlformats.org/drawingml/2006/main">
            <a:off x="561975" y="4857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07F7B"/>
                </a:solidFill>
                <a:latin typeface="Helvetica Neue"/>
                <a:ea typeface="Helvetica Neue"/>
                <a:cs typeface="Helvetica Neue"/>
              </a:defRPr>
            </a:defPPr>
            <a:lvl1pPr>
              <a:buNone/>
              <a:defRPr sz="2325" b="0">
                <a:solidFill>
                  <a:srgbClr val="007F7B"/>
                </a:solidFill>
                <a:latin typeface="Helvetica Neue"/>
                <a:ea typeface="Helvetica Neue"/>
                <a:cs typeface="Helvetica Neue"/>
              </a:defRPr>
            </a:lvl1pPr>
            <a:lvl2pPr>
              <a:buNone/>
              <a:defRPr sz="2325" b="0">
                <a:solidFill>
                  <a:srgbClr val="007F7B"/>
                </a:solidFill>
                <a:latin typeface="Helvetica Neue"/>
                <a:ea typeface="Helvetica Neue"/>
                <a:cs typeface="Helvetica Neue"/>
              </a:defRPr>
            </a:lvl2pPr>
            <a:lvl3pPr>
              <a:buNone/>
              <a:defRPr sz="2325" b="0">
                <a:solidFill>
                  <a:srgbClr val="007F7B"/>
                </a:solidFill>
                <a:latin typeface="Helvetica Neue"/>
                <a:ea typeface="Helvetica Neue"/>
                <a:cs typeface="Helvetica Neue"/>
              </a:defRPr>
            </a:lvl3pPr>
            <a:lvl4pPr>
              <a:buNone/>
              <a:defRPr sz="2325" b="0">
                <a:solidFill>
                  <a:srgbClr val="007F7B"/>
                </a:solidFill>
                <a:latin typeface="Helvetica Neue"/>
                <a:ea typeface="Helvetica Neue"/>
                <a:cs typeface="Helvetica Neue"/>
              </a:defRPr>
            </a:lvl4pPr>
            <a:lvl5pPr>
              <a:buNone/>
              <a:defRPr sz="2325" b="0">
                <a:solidFill>
                  <a:srgbClr val="007F7B"/>
                </a:solidFill>
                <a:latin typeface="Helvetica Neue"/>
                <a:ea typeface="Helvetica Neue"/>
                <a:cs typeface="Helvetica Neue"/>
              </a:defRPr>
            </a:lvl5pPr>
            <a:lvl6pPr>
              <a:buNone/>
              <a:defRPr sz="2325" b="0">
                <a:solidFill>
                  <a:srgbClr val="007F7B"/>
                </a:solidFill>
                <a:latin typeface="Helvetica Neue"/>
                <a:ea typeface="Helvetica Neue"/>
                <a:cs typeface="Helvetica Neue"/>
              </a:defRPr>
            </a:lvl6pPr>
            <a:lvl7pPr>
              <a:buNone/>
              <a:defRPr sz="2325" b="0">
                <a:solidFill>
                  <a:srgbClr val="007F7B"/>
                </a:solidFill>
                <a:latin typeface="Helvetica Neue"/>
                <a:ea typeface="Helvetica Neue"/>
                <a:cs typeface="Helvetica Neue"/>
              </a:defRPr>
            </a:lvl7pPr>
            <a:lvl8pPr>
              <a:buNone/>
              <a:defRPr sz="2325" b="0">
                <a:solidFill>
                  <a:srgbClr val="007F7B"/>
                </a:solidFill>
                <a:latin typeface="Helvetica Neue"/>
                <a:ea typeface="Helvetica Neue"/>
                <a:cs typeface="Helvetica Neue"/>
              </a:defRPr>
            </a:lvl8pPr>
            <a:lvl9pPr>
              <a:buNone/>
              <a:defRPr sz="2325" b="0">
                <a:solidFill>
                  <a:srgbClr val="007F7B"/>
                </a:solidFill>
                <a:latin typeface="Helvetica Neue"/>
                <a:ea typeface="Helvetica Neue"/>
                <a:cs typeface="Helvetica Neue"/>
              </a:defRPr>
            </a:lvl9pPr>
          </a:lstStyle>
          <a:p xmlns:a="http://schemas.openxmlformats.org/drawingml/2006/main">
            <a:pPr>
              <a:buNone/>
              <a:defRPr sz="2325" b="0">
                <a:solidFill>
                  <a:srgbClr val="007F7B"/>
                </a:solidFill>
                <a:latin typeface="Helvetica Neue"/>
                <a:ea typeface="Helvetica Neue"/>
                <a:cs typeface="Helvetica Neue"/>
              </a:defRPr>
            </a:pPr>
            <a:r>
              <a:rPr sz="2325" b="0">
                <a:solidFill>
                  <a:srgbClr val="007F7B"/>
                </a:solidFill>
                <a:latin typeface="Helvetica Neue"/>
                <a:ea typeface="Helvetica Neue"/>
                <a:cs typeface="Helvetica Neue"/>
              </a:rPr>
              <a:t>Why the LLM matters</a:t>
            </a:r>
          </a:p>
          <a:p xmlns:a="http://schemas.openxmlformats.org/drawingml/2006/main">
            <a:pPr>
              <a:buNone/>
              <a:defRPr sz="2325" b="0">
                <a:solidFill>
                  <a:srgbClr val="007F7B"/>
                </a:solidFill>
                <a:latin typeface="Helvetica Neue"/>
                <a:ea typeface="Helvetica Neue"/>
                <a:cs typeface="Helvetica Neue"/>
              </a:defRPr>
            </a:pPr>
            <a:r>
              <a:rPr sz="2325" b="0">
                <a:solidFill>
                  <a:srgbClr val="007F7B"/>
                </a:solidFill>
                <a:latin typeface="Helvetica Neue"/>
                <a:ea typeface="Helvetica Neue"/>
                <a:cs typeface="Helvetica Neue"/>
              </a:rPr>
              <a:t>What it achieved, step by step</a:t>
            </a:r>
          </a:p>
        </p:txBody>
      </p:sp>
      <p:sp>
        <p:nvSpPr>
          <p:cNvPr id="7" name="">
            <a:extLst xmlns:a="http://schemas.openxmlformats.org/drawingml/2006/main">
              <a:ext uri="{FF2B5EF4-FFF2-40B4-BE49-F238E27FC236}">
                <a16:creationId xmlns:a16="http://schemas.microsoft.com/office/drawing/2014/main" id="{C5A5AC22-6F92-41F5-B2FA-BF7AACB45E82}"/>
              </a:ext>
            </a:extLst>
          </p:cNvPr>
          <p:cNvSpPr>
            <a:spLocks xmlns:a="http://schemas.openxmlformats.org/drawingml/2006/main" noGrp="1"/>
          </p:cNvSpPr>
          <p:nvPr/>
        </p:nvSpPr>
        <p:spPr>
          <a:xfrm xmlns:a="http://schemas.openxmlformats.org/drawingml/2006/main">
            <a:off x="561975" y="59436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Davide Tisi and Adem R. N. Aouichaoui</a:t>
            </a:r>
          </a:p>
        </p:txBody>
      </p:sp>
    </p:spTree>
    <p:extLst>
      <p:ext uri="{BB962C8B-B14F-4D97-AF65-F5344CB8AC3E}">
        <p14:creationId xmlns:p14="http://schemas.microsoft.com/office/powerpoint/2010/main" val="1043087851"/>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EF0EE0-1F5A-431D-8B70-69FEB987937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IDEA</a:t>
            </a:r>
          </a:p>
        </p:txBody>
      </p:sp>
      <p:sp>
        <p:nvSpPr>
          <p:cNvPr id="2" name="">
            <a:extLst xmlns:a="http://schemas.openxmlformats.org/drawingml/2006/main">
              <a:ext uri="{FF2B5EF4-FFF2-40B4-BE49-F238E27FC236}">
                <a16:creationId xmlns:a16="http://schemas.microsoft.com/office/drawing/2014/main" id="{B6F2F3B5-E6C5-4420-B9F5-C5920774AAC9}"/>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problem: a protective layer inside a battery</a:t>
            </a:r>
          </a:p>
        </p:txBody>
      </p:sp>
      <p:sp>
        <p:nvSpPr>
          <p:cNvPr id="3" name="">
            <a:extLst xmlns:a="http://schemas.openxmlformats.org/drawingml/2006/main">
              <a:ext uri="{FF2B5EF4-FFF2-40B4-BE49-F238E27FC236}">
                <a16:creationId xmlns:a16="http://schemas.microsoft.com/office/drawing/2014/main" id="{8EA27E87-AE7A-4A80-B12B-7CE9559CB85F}"/>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cathode stores lithium. The electrolyte lets lithium ions move.</a:t>
            </a:r>
          </a:p>
        </p:txBody>
      </p:sp>
      <p:sp>
        <p:nvSpPr>
          <p:cNvPr id="4" name="">
            <a:extLst xmlns:a="http://schemas.openxmlformats.org/drawingml/2006/main">
              <a:ext uri="{FF2B5EF4-FFF2-40B4-BE49-F238E27FC236}">
                <a16:creationId xmlns:a16="http://schemas.microsoft.com/office/drawing/2014/main" id="{DD3CD31B-5126-4C6F-945C-F2F75247F23C}"/>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6DFBA920-DAB4-42D8-A4AF-71FA192E3BB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pic>
        <p:nvPicPr>
          <p:cNvPr id="6" name="">
            <a:extLst xmlns:a="http://schemas.openxmlformats.org/drawingml/2006/main">
              <a:ext uri="{FF2B5EF4-FFF2-40B4-BE49-F238E27FC236}">
                <a16:creationId xmlns:a16="http://schemas.microsoft.com/office/drawing/2014/main" id="{A2D5EBB6-E787-4B3C-A6F2-C936F1649B8C}"/>
              </a:ext>
            </a:extLst>
          </p:cNvPr>
          <p:cNvPicPr>
            <a:picLocks xmlns:a="http://schemas.openxmlformats.org/drawingml/2006/main" noChangeAspect="1"/>
          </p:cNvPicPr>
          <p:nvPr/>
        </p:nvPicPr>
        <p:blipFill>
          <a:blip xmlns:r="http://schemas.openxmlformats.org/officeDocument/2006/relationships" xmlns:a="http://schemas.openxmlformats.org/drawingml/2006/main" r:embed="R663db0575d704379"/>
          <a:stretch xmlns:a="http://schemas.openxmlformats.org/drawingml/2006/main"/>
        </p:blipFill>
        <p:spPr>
          <a:xfrm xmlns:a="http://schemas.openxmlformats.org/drawingml/2006/main">
            <a:off x="640556" y="1952625"/>
            <a:ext cx="6500813" cy="4333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4906CFD-966A-40E4-941F-6C063C0EC037}"/>
              </a:ext>
            </a:extLst>
          </p:cNvPr>
          <p:cNvSpPr>
            <a:spLocks xmlns:a="http://schemas.openxmlformats.org/drawingml/2006/main" noGrp="1"/>
          </p:cNvSpPr>
          <p:nvPr/>
        </p:nvSpPr>
        <p:spPr>
          <a:xfrm xmlns:a="http://schemas.openxmlformats.org/drawingml/2006/main">
            <a:off x="7572375" y="2124075"/>
            <a:ext cx="4038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B3A"/>
                </a:solidFill>
                <a:latin typeface="Helvetica Neue"/>
                <a:ea typeface="Helvetica Neue"/>
                <a:cs typeface="Helvetica Neue"/>
              </a:defRPr>
            </a:defPPr>
            <a:lvl1pPr>
              <a:buNone/>
              <a:defRPr sz="2250" b="1">
                <a:solidFill>
                  <a:srgbClr val="172B3A"/>
                </a:solidFill>
                <a:latin typeface="Helvetica Neue"/>
                <a:ea typeface="Helvetica Neue"/>
                <a:cs typeface="Helvetica Neue"/>
              </a:defRPr>
            </a:lvl1pPr>
            <a:lvl2pPr>
              <a:buNone/>
              <a:defRPr sz="2250" b="1">
                <a:solidFill>
                  <a:srgbClr val="172B3A"/>
                </a:solidFill>
                <a:latin typeface="Helvetica Neue"/>
                <a:ea typeface="Helvetica Neue"/>
                <a:cs typeface="Helvetica Neue"/>
              </a:defRPr>
            </a:lvl2pPr>
            <a:lvl3pPr>
              <a:buNone/>
              <a:defRPr sz="2250" b="1">
                <a:solidFill>
                  <a:srgbClr val="172B3A"/>
                </a:solidFill>
                <a:latin typeface="Helvetica Neue"/>
                <a:ea typeface="Helvetica Neue"/>
                <a:cs typeface="Helvetica Neue"/>
              </a:defRPr>
            </a:lvl3pPr>
            <a:lvl4pPr>
              <a:buNone/>
              <a:defRPr sz="2250" b="1">
                <a:solidFill>
                  <a:srgbClr val="172B3A"/>
                </a:solidFill>
                <a:latin typeface="Helvetica Neue"/>
                <a:ea typeface="Helvetica Neue"/>
                <a:cs typeface="Helvetica Neue"/>
              </a:defRPr>
            </a:lvl4pPr>
            <a:lvl5pPr>
              <a:buNone/>
              <a:defRPr sz="2250" b="1">
                <a:solidFill>
                  <a:srgbClr val="172B3A"/>
                </a:solidFill>
                <a:latin typeface="Helvetica Neue"/>
                <a:ea typeface="Helvetica Neue"/>
                <a:cs typeface="Helvetica Neue"/>
              </a:defRPr>
            </a:lvl5pPr>
            <a:lvl6pPr>
              <a:buNone/>
              <a:defRPr sz="2250" b="1">
                <a:solidFill>
                  <a:srgbClr val="172B3A"/>
                </a:solidFill>
                <a:latin typeface="Helvetica Neue"/>
                <a:ea typeface="Helvetica Neue"/>
                <a:cs typeface="Helvetica Neue"/>
              </a:defRPr>
            </a:lvl6pPr>
            <a:lvl7pPr>
              <a:buNone/>
              <a:defRPr sz="2250" b="1">
                <a:solidFill>
                  <a:srgbClr val="172B3A"/>
                </a:solidFill>
                <a:latin typeface="Helvetica Neue"/>
                <a:ea typeface="Helvetica Neue"/>
                <a:cs typeface="Helvetica Neue"/>
              </a:defRPr>
            </a:lvl7pPr>
            <a:lvl8pPr>
              <a:buNone/>
              <a:defRPr sz="2250" b="1">
                <a:solidFill>
                  <a:srgbClr val="172B3A"/>
                </a:solidFill>
                <a:latin typeface="Helvetica Neue"/>
                <a:ea typeface="Helvetica Neue"/>
                <a:cs typeface="Helvetica Neue"/>
              </a:defRPr>
            </a:lvl8pPr>
            <a:lvl9pPr>
              <a:buNone/>
              <a:defRPr sz="2250" b="1">
                <a:solidFill>
                  <a:srgbClr val="172B3A"/>
                </a:solidFill>
                <a:latin typeface="Helvetica Neue"/>
                <a:ea typeface="Helvetica Neue"/>
                <a:cs typeface="Helvetica Neue"/>
              </a:defRPr>
            </a:lvl9pPr>
          </a:lstStyle>
          <a:p xmlns:a="http://schemas.openxmlformats.org/drawingml/2006/main">
            <a:pPr>
              <a:buNone/>
              <a:defRPr sz="2250" b="1">
                <a:solidFill>
                  <a:srgbClr val="172B3A"/>
                </a:solidFill>
                <a:latin typeface="Helvetica Neue"/>
                <a:ea typeface="Helvetica Neue"/>
                <a:cs typeface="Helvetica Neue"/>
              </a:defRPr>
            </a:pPr>
            <a:r>
              <a:rPr sz="2250" b="1">
                <a:solidFill>
                  <a:srgbClr val="172B3A"/>
                </a:solidFill>
                <a:latin typeface="Helvetica Neue"/>
                <a:ea typeface="Helvetica Neue"/>
                <a:cs typeface="Helvetica Neue"/>
              </a:rPr>
              <a:t>A useful coating must</a:t>
            </a:r>
          </a:p>
        </p:txBody>
      </p:sp>
      <p:sp>
        <p:nvSpPr>
          <p:cNvPr id="8" name="">
            <a:extLst xmlns:a="http://schemas.openxmlformats.org/drawingml/2006/main">
              <a:ext uri="{FF2B5EF4-FFF2-40B4-BE49-F238E27FC236}">
                <a16:creationId xmlns:a16="http://schemas.microsoft.com/office/drawing/2014/main" id="{6B75E8FE-ED37-49A0-822A-3D096A31176D}"/>
              </a:ext>
            </a:extLst>
          </p:cNvPr>
          <p:cNvSpPr>
            <a:spLocks xmlns:a="http://schemas.openxmlformats.org/drawingml/2006/main" noGrp="1"/>
          </p:cNvSpPr>
          <p:nvPr/>
        </p:nvSpPr>
        <p:spPr>
          <a:xfrm xmlns:a="http://schemas.openxmlformats.org/drawingml/2006/main">
            <a:off x="7572375" y="2876550"/>
            <a:ext cx="4038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Limit unwanted reactions</a:t>
            </a:r>
          </a:p>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at both contacts.</a:t>
            </a:r>
          </a:p>
        </p:txBody>
      </p:sp>
      <p:sp>
        <p:nvSpPr>
          <p:cNvPr id="9" name="">
            <a:extLst xmlns:a="http://schemas.openxmlformats.org/drawingml/2006/main">
              <a:ext uri="{FF2B5EF4-FFF2-40B4-BE49-F238E27FC236}">
                <a16:creationId xmlns:a16="http://schemas.microsoft.com/office/drawing/2014/main" id="{843CC145-3C11-4A26-BA16-701AD9C6EC3F}"/>
              </a:ext>
            </a:extLst>
          </p:cNvPr>
          <p:cNvSpPr>
            <a:spLocks xmlns:a="http://schemas.openxmlformats.org/drawingml/2006/main" noGrp="1"/>
          </p:cNvSpPr>
          <p:nvPr/>
        </p:nvSpPr>
        <p:spPr>
          <a:xfrm xmlns:a="http://schemas.openxmlformats.org/drawingml/2006/main">
            <a:off x="7572375" y="4000500"/>
            <a:ext cx="4038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66AA8"/>
                </a:solidFill>
                <a:latin typeface="Helvetica Neue"/>
                <a:ea typeface="Helvetica Neue"/>
                <a:cs typeface="Helvetica Neue"/>
              </a:defRPr>
            </a:defPPr>
            <a:lvl1pPr>
              <a:buNone/>
              <a:defRPr sz="2175" b="1">
                <a:solidFill>
                  <a:srgbClr val="366AA8"/>
                </a:solidFill>
                <a:latin typeface="Helvetica Neue"/>
                <a:ea typeface="Helvetica Neue"/>
                <a:cs typeface="Helvetica Neue"/>
              </a:defRPr>
            </a:lvl1pPr>
            <a:lvl2pPr>
              <a:buNone/>
              <a:defRPr sz="2175" b="1">
                <a:solidFill>
                  <a:srgbClr val="366AA8"/>
                </a:solidFill>
                <a:latin typeface="Helvetica Neue"/>
                <a:ea typeface="Helvetica Neue"/>
                <a:cs typeface="Helvetica Neue"/>
              </a:defRPr>
            </a:lvl2pPr>
            <a:lvl3pPr>
              <a:buNone/>
              <a:defRPr sz="2175" b="1">
                <a:solidFill>
                  <a:srgbClr val="366AA8"/>
                </a:solidFill>
                <a:latin typeface="Helvetica Neue"/>
                <a:ea typeface="Helvetica Neue"/>
                <a:cs typeface="Helvetica Neue"/>
              </a:defRPr>
            </a:lvl3pPr>
            <a:lvl4pPr>
              <a:buNone/>
              <a:defRPr sz="2175" b="1">
                <a:solidFill>
                  <a:srgbClr val="366AA8"/>
                </a:solidFill>
                <a:latin typeface="Helvetica Neue"/>
                <a:ea typeface="Helvetica Neue"/>
                <a:cs typeface="Helvetica Neue"/>
              </a:defRPr>
            </a:lvl4pPr>
            <a:lvl5pPr>
              <a:buNone/>
              <a:defRPr sz="2175" b="1">
                <a:solidFill>
                  <a:srgbClr val="366AA8"/>
                </a:solidFill>
                <a:latin typeface="Helvetica Neue"/>
                <a:ea typeface="Helvetica Neue"/>
                <a:cs typeface="Helvetica Neue"/>
              </a:defRPr>
            </a:lvl5pPr>
            <a:lvl6pPr>
              <a:buNone/>
              <a:defRPr sz="2175" b="1">
                <a:solidFill>
                  <a:srgbClr val="366AA8"/>
                </a:solidFill>
                <a:latin typeface="Helvetica Neue"/>
                <a:ea typeface="Helvetica Neue"/>
                <a:cs typeface="Helvetica Neue"/>
              </a:defRPr>
            </a:lvl6pPr>
            <a:lvl7pPr>
              <a:buNone/>
              <a:defRPr sz="2175" b="1">
                <a:solidFill>
                  <a:srgbClr val="366AA8"/>
                </a:solidFill>
                <a:latin typeface="Helvetica Neue"/>
                <a:ea typeface="Helvetica Neue"/>
                <a:cs typeface="Helvetica Neue"/>
              </a:defRPr>
            </a:lvl7pPr>
            <a:lvl8pPr>
              <a:buNone/>
              <a:defRPr sz="2175" b="1">
                <a:solidFill>
                  <a:srgbClr val="366AA8"/>
                </a:solidFill>
                <a:latin typeface="Helvetica Neue"/>
                <a:ea typeface="Helvetica Neue"/>
                <a:cs typeface="Helvetica Neue"/>
              </a:defRPr>
            </a:lvl8pPr>
            <a:lvl9pPr>
              <a:buNone/>
              <a:defRPr sz="2175" b="1">
                <a:solidFill>
                  <a:srgbClr val="366AA8"/>
                </a:solidFill>
                <a:latin typeface="Helvetica Neue"/>
                <a:ea typeface="Helvetica Neue"/>
                <a:cs typeface="Helvetica Neue"/>
              </a:defRPr>
            </a:lvl9pPr>
          </a:lstStyle>
          <a:p xmlns:a="http://schemas.openxmlformats.org/drawingml/2006/main">
            <a:pPr>
              <a:buNone/>
              <a:defRPr sz="2175" b="1">
                <a:solidFill>
                  <a:srgbClr val="366AA8"/>
                </a:solidFill>
                <a:latin typeface="Helvetica Neue"/>
                <a:ea typeface="Helvetica Neue"/>
                <a:cs typeface="Helvetica Neue"/>
              </a:defRPr>
            </a:pPr>
            <a:r>
              <a:rPr sz="2175" b="1">
                <a:solidFill>
                  <a:srgbClr val="366AA8"/>
                </a:solidFill>
                <a:latin typeface="Helvetica Neue"/>
                <a:ea typeface="Helvetica Neue"/>
                <a:cs typeface="Helvetica Neue"/>
              </a:rPr>
              <a:t>Stay attached to the</a:t>
            </a:r>
          </a:p>
          <a:p xmlns:a="http://schemas.openxmlformats.org/drawingml/2006/main">
            <a:pPr>
              <a:buNone/>
              <a:defRPr sz="2175" b="1">
                <a:solidFill>
                  <a:srgbClr val="366AA8"/>
                </a:solidFill>
                <a:latin typeface="Helvetica Neue"/>
                <a:ea typeface="Helvetica Neue"/>
                <a:cs typeface="Helvetica Neue"/>
              </a:defRPr>
            </a:pPr>
            <a:r>
              <a:rPr sz="2175" b="1">
                <a:solidFill>
                  <a:srgbClr val="366AA8"/>
                </a:solidFill>
                <a:latin typeface="Helvetica Neue"/>
                <a:ea typeface="Helvetica Neue"/>
                <a:cs typeface="Helvetica Neue"/>
              </a:rPr>
              <a:t>neighboring materials.</a:t>
            </a:r>
          </a:p>
        </p:txBody>
      </p:sp>
      <p:sp>
        <p:nvSpPr>
          <p:cNvPr id="10" name="">
            <a:extLst xmlns:a="http://schemas.openxmlformats.org/drawingml/2006/main">
              <a:ext uri="{FF2B5EF4-FFF2-40B4-BE49-F238E27FC236}">
                <a16:creationId xmlns:a16="http://schemas.microsoft.com/office/drawing/2014/main" id="{99726B17-4427-46C9-B3F8-AB08ADAC2FD1}"/>
              </a:ext>
            </a:extLst>
          </p:cNvPr>
          <p:cNvSpPr>
            <a:spLocks xmlns:a="http://schemas.openxmlformats.org/drawingml/2006/main" noGrp="1"/>
          </p:cNvSpPr>
          <p:nvPr/>
        </p:nvSpPr>
        <p:spPr>
          <a:xfrm xmlns:a="http://schemas.openxmlformats.org/drawingml/2006/main">
            <a:off x="7572375" y="5257800"/>
            <a:ext cx="4038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buNone/>
              <a:defRPr sz="1950" b="0">
                <a:solidFill>
                  <a:srgbClr val="526472"/>
                </a:solidFill>
                <a:latin typeface="Helvetica Neue"/>
                <a:ea typeface="Helvetica Neue"/>
                <a:cs typeface="Helvetica Neue"/>
              </a:defRPr>
            </a:lvl1pPr>
            <a:lvl2pPr>
              <a:buNone/>
              <a:defRPr sz="1950" b="0">
                <a:solidFill>
                  <a:srgbClr val="526472"/>
                </a:solidFill>
                <a:latin typeface="Helvetica Neue"/>
                <a:ea typeface="Helvetica Neue"/>
                <a:cs typeface="Helvetica Neue"/>
              </a:defRPr>
            </a:lvl2pPr>
            <a:lvl3pPr>
              <a:buNone/>
              <a:defRPr sz="1950" b="0">
                <a:solidFill>
                  <a:srgbClr val="526472"/>
                </a:solidFill>
                <a:latin typeface="Helvetica Neue"/>
                <a:ea typeface="Helvetica Neue"/>
                <a:cs typeface="Helvetica Neue"/>
              </a:defRPr>
            </a:lvl3pPr>
            <a:lvl4pPr>
              <a:buNone/>
              <a:defRPr sz="1950" b="0">
                <a:solidFill>
                  <a:srgbClr val="526472"/>
                </a:solidFill>
                <a:latin typeface="Helvetica Neue"/>
                <a:ea typeface="Helvetica Neue"/>
                <a:cs typeface="Helvetica Neue"/>
              </a:defRPr>
            </a:lvl4pPr>
            <a:lvl5pPr>
              <a:buNone/>
              <a:defRPr sz="1950" b="0">
                <a:solidFill>
                  <a:srgbClr val="526472"/>
                </a:solidFill>
                <a:latin typeface="Helvetica Neue"/>
                <a:ea typeface="Helvetica Neue"/>
                <a:cs typeface="Helvetica Neue"/>
              </a:defRPr>
            </a:lvl5pPr>
            <a:lvl6pPr>
              <a:buNone/>
              <a:defRPr sz="1950" b="0">
                <a:solidFill>
                  <a:srgbClr val="526472"/>
                </a:solidFill>
                <a:latin typeface="Helvetica Neue"/>
                <a:ea typeface="Helvetica Neue"/>
                <a:cs typeface="Helvetica Neue"/>
              </a:defRPr>
            </a:lvl6pPr>
            <a:lvl7pPr>
              <a:buNone/>
              <a:defRPr sz="1950" b="0">
                <a:solidFill>
                  <a:srgbClr val="526472"/>
                </a:solidFill>
                <a:latin typeface="Helvetica Neue"/>
                <a:ea typeface="Helvetica Neue"/>
                <a:cs typeface="Helvetica Neue"/>
              </a:defRPr>
            </a:lvl7pPr>
            <a:lvl8pPr>
              <a:buNone/>
              <a:defRPr sz="1950" b="0">
                <a:solidFill>
                  <a:srgbClr val="526472"/>
                </a:solidFill>
                <a:latin typeface="Helvetica Neue"/>
                <a:ea typeface="Helvetica Neue"/>
                <a:cs typeface="Helvetica Neue"/>
              </a:defRPr>
            </a:lvl8pPr>
            <a:lvl9pPr>
              <a:buNone/>
              <a:defRPr sz="1950" b="0">
                <a:solidFill>
                  <a:srgbClr val="526472"/>
                </a:solidFill>
                <a:latin typeface="Helvetica Neue"/>
                <a:ea typeface="Helvetica Neue"/>
                <a:cs typeface="Helvetica Neue"/>
              </a:defRPr>
            </a:lvl9pPr>
          </a:lstStyle>
          <a:p xmlns:a="http://schemas.openxmlformats.org/drawingml/2006/main">
            <a:pPr>
              <a:buNone/>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Lithium ions must also pass</a:t>
            </a:r>
          </a:p>
          <a:p xmlns:a="http://schemas.openxmlformats.org/drawingml/2006/main">
            <a:pPr>
              <a:buNone/>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through. That was not tested.</a:t>
            </a:r>
          </a:p>
        </p:txBody>
      </p:sp>
    </p:spTree>
    <p:extLst>
      <p:ext uri="{BB962C8B-B14F-4D97-AF65-F5344CB8AC3E}">
        <p14:creationId xmlns:p14="http://schemas.microsoft.com/office/powerpoint/2010/main" val="924646047"/>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F0925D-573E-4FAB-9836-CC3354C3A16A}"/>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DECISION BEING TESTED</a:t>
            </a:r>
          </a:p>
        </p:txBody>
      </p:sp>
      <p:sp>
        <p:nvSpPr>
          <p:cNvPr id="2" name="">
            <a:extLst xmlns:a="http://schemas.openxmlformats.org/drawingml/2006/main">
              <a:ext uri="{FF2B5EF4-FFF2-40B4-BE49-F238E27FC236}">
                <a16:creationId xmlns:a16="http://schemas.microsoft.com/office/drawing/2014/main" id="{31BDDF25-C620-4826-A3F4-8AB279260365}"/>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Why the LLM is central</a:t>
            </a:r>
          </a:p>
        </p:txBody>
      </p:sp>
      <p:sp>
        <p:nvSpPr>
          <p:cNvPr id="3" name="">
            <a:extLst xmlns:a="http://schemas.openxmlformats.org/drawingml/2006/main">
              <a:ext uri="{FF2B5EF4-FFF2-40B4-BE49-F238E27FC236}">
                <a16:creationId xmlns:a16="http://schemas.microsoft.com/office/drawing/2014/main" id="{342DF1AD-0FD9-4E3E-96C3-210AD1BDFE43}"/>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LLM = large language model. Here, it chooses what to calculate next.</a:t>
            </a:r>
          </a:p>
        </p:txBody>
      </p:sp>
      <p:sp>
        <p:nvSpPr>
          <p:cNvPr id="4" name="">
            <a:extLst xmlns:a="http://schemas.openxmlformats.org/drawingml/2006/main">
              <a:ext uri="{FF2B5EF4-FFF2-40B4-BE49-F238E27FC236}">
                <a16:creationId xmlns:a16="http://schemas.microsoft.com/office/drawing/2014/main" id="{D16824FE-D054-40B1-8C19-ADCC874DA72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3F408964-DAA8-4EB9-AA36-59D58C4D279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851EE952-8584-431D-BC95-2F7AA8951D23}"/>
              </a:ext>
            </a:extLst>
          </p:cNvPr>
          <p:cNvSpPr>
            <a:spLocks xmlns:a="http://schemas.openxmlformats.org/drawingml/2006/main" noGrp="1"/>
          </p:cNvSpPr>
          <p:nvPr/>
        </p:nvSpPr>
        <p:spPr>
          <a:xfrm xmlns:a="http://schemas.openxmlformats.org/drawingml/2006/main">
            <a:off x="533400" y="22193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59B01E0-8B65-47A9-9240-E1DA9085A632}"/>
              </a:ext>
            </a:extLst>
          </p:cNvPr>
          <p:cNvSpPr>
            <a:spLocks xmlns:a="http://schemas.openxmlformats.org/drawingml/2006/main" noGrp="1"/>
          </p:cNvSpPr>
          <p:nvPr/>
        </p:nvSpPr>
        <p:spPr>
          <a:xfrm xmlns:a="http://schemas.openxmlformats.org/drawingml/2006/main">
            <a:off x="1657350" y="22193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Connect chemistry to a candidate</a:t>
            </a:r>
          </a:p>
        </p:txBody>
      </p:sp>
      <p:sp>
        <p:nvSpPr>
          <p:cNvPr id="8" name="">
            <a:extLst xmlns:a="http://schemas.openxmlformats.org/drawingml/2006/main">
              <a:ext uri="{FF2B5EF4-FFF2-40B4-BE49-F238E27FC236}">
                <a16:creationId xmlns:a16="http://schemas.microsoft.com/office/drawing/2014/main" id="{AC88D9A3-094E-4046-B1AE-F0EC0518E630}"/>
              </a:ext>
            </a:extLst>
          </p:cNvPr>
          <p:cNvSpPr>
            <a:spLocks xmlns:a="http://schemas.openxmlformats.org/drawingml/2006/main" noGrp="1"/>
          </p:cNvSpPr>
          <p:nvPr/>
        </p:nvSpPr>
        <p:spPr>
          <a:xfrm xmlns:a="http://schemas.openxmlformats.org/drawingml/2006/main">
            <a:off x="1657350" y="26860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Choose a known material and explain why it might work.</a:t>
            </a:r>
          </a:p>
        </p:txBody>
      </p:sp>
      <p:sp>
        <p:nvSpPr>
          <p:cNvPr id="9" name="">
            <a:extLst xmlns:a="http://schemas.openxmlformats.org/drawingml/2006/main">
              <a:ext uri="{FF2B5EF4-FFF2-40B4-BE49-F238E27FC236}">
                <a16:creationId xmlns:a16="http://schemas.microsoft.com/office/drawing/2014/main" id="{DAFF9726-C477-4DD7-876E-376DFA35026D}"/>
              </a:ext>
            </a:extLst>
          </p:cNvPr>
          <p:cNvSpPr>
            <a:spLocks xmlns:a="http://schemas.openxmlformats.org/drawingml/2006/main" noGrp="1"/>
          </p:cNvSpPr>
          <p:nvPr/>
        </p:nvSpPr>
        <p:spPr>
          <a:xfrm xmlns:a="http://schemas.openxmlformats.org/drawingml/2006/main">
            <a:off x="533400" y="34004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E89BA153-A036-468E-B0E3-4083997DEDCA}"/>
              </a:ext>
            </a:extLst>
          </p:cNvPr>
          <p:cNvSpPr>
            <a:spLocks xmlns:a="http://schemas.openxmlformats.org/drawingml/2006/main" noGrp="1"/>
          </p:cNvSpPr>
          <p:nvPr/>
        </p:nvSpPr>
        <p:spPr>
          <a:xfrm xmlns:a="http://schemas.openxmlformats.org/drawingml/2006/main">
            <a:off x="1657350" y="34004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Use the last result</a:t>
            </a:r>
          </a:p>
        </p:txBody>
      </p:sp>
      <p:sp>
        <p:nvSpPr>
          <p:cNvPr id="11" name="">
            <a:extLst xmlns:a="http://schemas.openxmlformats.org/drawingml/2006/main">
              <a:ext uri="{FF2B5EF4-FFF2-40B4-BE49-F238E27FC236}">
                <a16:creationId xmlns:a16="http://schemas.microsoft.com/office/drawing/2014/main" id="{491E705B-3641-421D-949D-495E4D39D968}"/>
              </a:ext>
            </a:extLst>
          </p:cNvPr>
          <p:cNvSpPr>
            <a:spLocks xmlns:a="http://schemas.openxmlformats.org/drawingml/2006/main" noGrp="1"/>
          </p:cNvSpPr>
          <p:nvPr/>
        </p:nvSpPr>
        <p:spPr>
          <a:xfrm xmlns:a="http://schemas.openxmlformats.org/drawingml/2006/main">
            <a:off x="1657350" y="38671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Read what failed or nearly passed, then choose the next test.</a:t>
            </a:r>
          </a:p>
        </p:txBody>
      </p:sp>
      <p:sp>
        <p:nvSpPr>
          <p:cNvPr id="12" name="">
            <a:extLst xmlns:a="http://schemas.openxmlformats.org/drawingml/2006/main">
              <a:ext uri="{FF2B5EF4-FFF2-40B4-BE49-F238E27FC236}">
                <a16:creationId xmlns:a16="http://schemas.microsoft.com/office/drawing/2014/main" id="{F88B505A-B1D5-42BE-AC86-99B2D73C3BBC}"/>
              </a:ext>
            </a:extLst>
          </p:cNvPr>
          <p:cNvSpPr>
            <a:spLocks xmlns:a="http://schemas.openxmlformats.org/drawingml/2006/main" noGrp="1"/>
          </p:cNvSpPr>
          <p:nvPr/>
        </p:nvSpPr>
        <p:spPr>
          <a:xfrm xmlns:a="http://schemas.openxmlformats.org/drawingml/2006/main">
            <a:off x="533400" y="4581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A3740C32-8D4E-4238-A422-30FFCE83DCB2}"/>
              </a:ext>
            </a:extLst>
          </p:cNvPr>
          <p:cNvSpPr>
            <a:spLocks xmlns:a="http://schemas.openxmlformats.org/drawingml/2006/main" noGrp="1"/>
          </p:cNvSpPr>
          <p:nvPr/>
        </p:nvSpPr>
        <p:spPr>
          <a:xfrm xmlns:a="http://schemas.openxmlformats.org/drawingml/2006/main">
            <a:off x="1657350" y="45815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Make a prediction that can fail</a:t>
            </a:r>
          </a:p>
        </p:txBody>
      </p:sp>
      <p:sp>
        <p:nvSpPr>
          <p:cNvPr id="14" name="">
            <a:extLst xmlns:a="http://schemas.openxmlformats.org/drawingml/2006/main">
              <a:ext uri="{FF2B5EF4-FFF2-40B4-BE49-F238E27FC236}">
                <a16:creationId xmlns:a16="http://schemas.microsoft.com/office/drawing/2014/main" id="{16A13934-834C-4A75-8104-38ACD01F68EC}"/>
              </a:ext>
            </a:extLst>
          </p:cNvPr>
          <p:cNvSpPr>
            <a:spLocks xmlns:a="http://schemas.openxmlformats.org/drawingml/2006/main" noGrp="1"/>
          </p:cNvSpPr>
          <p:nvPr/>
        </p:nvSpPr>
        <p:spPr>
          <a:xfrm xmlns:a="http://schemas.openxmlformats.org/drawingml/2006/main">
            <a:off x="1657350" y="50482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State an expected result before the physical calculation.</a:t>
            </a:r>
          </a:p>
        </p:txBody>
      </p:sp>
      <p:sp>
        <p:nvSpPr>
          <p:cNvPr id="15" name="">
            <a:extLst xmlns:a="http://schemas.openxmlformats.org/drawingml/2006/main">
              <a:ext uri="{FF2B5EF4-FFF2-40B4-BE49-F238E27FC236}">
                <a16:creationId xmlns:a16="http://schemas.microsoft.com/office/drawing/2014/main" id="{597D0F43-7209-482F-95B5-B3435DC73306}"/>
              </a:ext>
            </a:extLst>
          </p:cNvPr>
          <p:cNvSpPr>
            <a:spLocks xmlns:a="http://schemas.openxmlformats.org/drawingml/2006/main" noGrp="1"/>
          </p:cNvSpPr>
          <p:nvPr/>
        </p:nvSpPr>
        <p:spPr>
          <a:xfrm xmlns:a="http://schemas.openxmlformats.org/drawingml/2006/main">
            <a:off x="533400" y="59912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buNone/>
              <a:defRPr sz="1800" b="0">
                <a:solidFill>
                  <a:srgbClr val="007F7B"/>
                </a:solidFill>
                <a:latin typeface="Helvetica Neue"/>
                <a:ea typeface="Helvetica Neue"/>
                <a:cs typeface="Helvetica Neue"/>
              </a:defRPr>
            </a:lvl1pPr>
            <a:lvl2pPr>
              <a:buNone/>
              <a:defRPr sz="1800" b="0">
                <a:solidFill>
                  <a:srgbClr val="007F7B"/>
                </a:solidFill>
                <a:latin typeface="Helvetica Neue"/>
                <a:ea typeface="Helvetica Neue"/>
                <a:cs typeface="Helvetica Neue"/>
              </a:defRPr>
            </a:lvl2pPr>
            <a:lvl3pPr>
              <a:buNone/>
              <a:defRPr sz="1800" b="0">
                <a:solidFill>
                  <a:srgbClr val="007F7B"/>
                </a:solidFill>
                <a:latin typeface="Helvetica Neue"/>
                <a:ea typeface="Helvetica Neue"/>
                <a:cs typeface="Helvetica Neue"/>
              </a:defRPr>
            </a:lvl3pPr>
            <a:lvl4pPr>
              <a:buNone/>
              <a:defRPr sz="1800" b="0">
                <a:solidFill>
                  <a:srgbClr val="007F7B"/>
                </a:solidFill>
                <a:latin typeface="Helvetica Neue"/>
                <a:ea typeface="Helvetica Neue"/>
                <a:cs typeface="Helvetica Neue"/>
              </a:defRPr>
            </a:lvl4pPr>
            <a:lvl5pPr>
              <a:buNone/>
              <a:defRPr sz="1800" b="0">
                <a:solidFill>
                  <a:srgbClr val="007F7B"/>
                </a:solidFill>
                <a:latin typeface="Helvetica Neue"/>
                <a:ea typeface="Helvetica Neue"/>
                <a:cs typeface="Helvetica Neue"/>
              </a:defRPr>
            </a:lvl5pPr>
            <a:lvl6pPr>
              <a:buNone/>
              <a:defRPr sz="1800" b="0">
                <a:solidFill>
                  <a:srgbClr val="007F7B"/>
                </a:solidFill>
                <a:latin typeface="Helvetica Neue"/>
                <a:ea typeface="Helvetica Neue"/>
                <a:cs typeface="Helvetica Neue"/>
              </a:defRPr>
            </a:lvl6pPr>
            <a:lvl7pPr>
              <a:buNone/>
              <a:defRPr sz="1800" b="0">
                <a:solidFill>
                  <a:srgbClr val="007F7B"/>
                </a:solidFill>
                <a:latin typeface="Helvetica Neue"/>
                <a:ea typeface="Helvetica Neue"/>
                <a:cs typeface="Helvetica Neue"/>
              </a:defRPr>
            </a:lvl7pPr>
            <a:lvl8pPr>
              <a:buNone/>
              <a:defRPr sz="1800" b="0">
                <a:solidFill>
                  <a:srgbClr val="007F7B"/>
                </a:solidFill>
                <a:latin typeface="Helvetica Neue"/>
                <a:ea typeface="Helvetica Neue"/>
                <a:cs typeface="Helvetica Neue"/>
              </a:defRPr>
            </a:lvl8pPr>
            <a:lvl9pPr>
              <a:buNone/>
              <a:defRPr sz="1800" b="0">
                <a:solidFill>
                  <a:srgbClr val="007F7B"/>
                </a:solidFill>
                <a:latin typeface="Helvetica Neue"/>
                <a:ea typeface="Helvetica Neue"/>
                <a:cs typeface="Helvetica Neue"/>
              </a:defRPr>
            </a:lvl9pPr>
          </a:lstStyle>
          <a:p xmlns:a="http://schemas.openxmlformats.org/drawingml/2006/main">
            <a:pPr>
              <a:buNone/>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Researchers define the task. The LLM makes choices. The physics tools calculate the results.</a:t>
            </a:r>
          </a:p>
        </p:txBody>
      </p:sp>
    </p:spTree>
    <p:extLst>
      <p:ext uri="{BB962C8B-B14F-4D97-AF65-F5344CB8AC3E}">
        <p14:creationId xmlns:p14="http://schemas.microsoft.com/office/powerpoint/2010/main" val="2072573433"/>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6357D63-98F1-4C66-9820-7FA58A15D92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D229018F-1793-4615-9F5E-600867800262}"/>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One decision loop, repeated after each result</a:t>
            </a:r>
          </a:p>
        </p:txBody>
      </p:sp>
      <p:sp>
        <p:nvSpPr>
          <p:cNvPr id="3" name="">
            <a:extLst xmlns:a="http://schemas.openxmlformats.org/drawingml/2006/main">
              <a:ext uri="{FF2B5EF4-FFF2-40B4-BE49-F238E27FC236}">
                <a16:creationId xmlns:a16="http://schemas.microsoft.com/office/drawing/2014/main" id="{DBDFA1AE-D0DC-4F11-B56B-DE5BE039B1F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59197B51-B64B-4110-AF6E-ABEE4D525C3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F4367B3-615E-499F-AE3A-5F0942B24E08}"/>
              </a:ext>
            </a:extLst>
          </p:cNvPr>
          <p:cNvSpPr>
            <a:spLocks xmlns:a="http://schemas.openxmlformats.org/drawingml/2006/main" noGrp="1"/>
          </p:cNvSpPr>
          <p:nvPr/>
        </p:nvSpPr>
        <p:spPr>
          <a:xfrm xmlns:a="http://schemas.openxmlformats.org/drawingml/2006/main">
            <a:off x="533400" y="18097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5FA0628F-FE94-417B-B3F6-A872CB719D6D}"/>
              </a:ext>
            </a:extLst>
          </p:cNvPr>
          <p:cNvSpPr>
            <a:spLocks xmlns:a="http://schemas.openxmlformats.org/drawingml/2006/main" noGrp="1"/>
          </p:cNvSpPr>
          <p:nvPr/>
        </p:nvSpPr>
        <p:spPr>
          <a:xfrm xmlns:a="http://schemas.openxmlformats.org/drawingml/2006/main">
            <a:off x="1657350" y="18097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LLM: choose a material</a:t>
            </a:r>
          </a:p>
        </p:txBody>
      </p:sp>
      <p:sp>
        <p:nvSpPr>
          <p:cNvPr id="7" name="">
            <a:extLst xmlns:a="http://schemas.openxmlformats.org/drawingml/2006/main">
              <a:ext uri="{FF2B5EF4-FFF2-40B4-BE49-F238E27FC236}">
                <a16:creationId xmlns:a16="http://schemas.microsoft.com/office/drawing/2014/main" id="{51076641-6623-49A1-8458-15FD21B23392}"/>
              </a:ext>
            </a:extLst>
          </p:cNvPr>
          <p:cNvSpPr>
            <a:spLocks xmlns:a="http://schemas.openxmlformats.org/drawingml/2006/main" noGrp="1"/>
          </p:cNvSpPr>
          <p:nvPr/>
        </p:nvSpPr>
        <p:spPr>
          <a:xfrm xmlns:a="http://schemas.openxmlformats.org/drawingml/2006/main">
            <a:off x="1657350" y="22764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Record the proposed coating and its chemical rationale.</a:t>
            </a:r>
          </a:p>
        </p:txBody>
      </p:sp>
      <p:sp>
        <p:nvSpPr>
          <p:cNvPr id="8" name="">
            <a:extLst xmlns:a="http://schemas.openxmlformats.org/drawingml/2006/main">
              <a:ext uri="{FF2B5EF4-FFF2-40B4-BE49-F238E27FC236}">
                <a16:creationId xmlns:a16="http://schemas.microsoft.com/office/drawing/2014/main" id="{346059D0-03EA-4AE5-A91D-053B98A43B99}"/>
              </a:ext>
            </a:extLst>
          </p:cNvPr>
          <p:cNvSpPr>
            <a:spLocks xmlns:a="http://schemas.openxmlformats.org/drawingml/2006/main" noGrp="1"/>
          </p:cNvSpPr>
          <p:nvPr/>
        </p:nvSpPr>
        <p:spPr>
          <a:xfrm xmlns:a="http://schemas.openxmlformats.org/drawingml/2006/main">
            <a:off x="533400" y="28765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F5D531CC-1903-4FBF-982B-C1E53F6DAEB9}"/>
              </a:ext>
            </a:extLst>
          </p:cNvPr>
          <p:cNvSpPr>
            <a:spLocks xmlns:a="http://schemas.openxmlformats.org/drawingml/2006/main" noGrp="1"/>
          </p:cNvSpPr>
          <p:nvPr/>
        </p:nvSpPr>
        <p:spPr>
          <a:xfrm xmlns:a="http://schemas.openxmlformats.org/drawingml/2006/main">
            <a:off x="1657350" y="28765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Tool: test the material</a:t>
            </a:r>
          </a:p>
        </p:txBody>
      </p:sp>
      <p:sp>
        <p:nvSpPr>
          <p:cNvPr id="10" name="">
            <a:extLst xmlns:a="http://schemas.openxmlformats.org/drawingml/2006/main">
              <a:ext uri="{FF2B5EF4-FFF2-40B4-BE49-F238E27FC236}">
                <a16:creationId xmlns:a16="http://schemas.microsoft.com/office/drawing/2014/main" id="{493C856A-B0E2-4FD0-B2FF-F9A675CEFB7A}"/>
              </a:ext>
            </a:extLst>
          </p:cNvPr>
          <p:cNvSpPr>
            <a:spLocks xmlns:a="http://schemas.openxmlformats.org/drawingml/2006/main" noGrp="1"/>
          </p:cNvSpPr>
          <p:nvPr/>
        </p:nvSpPr>
        <p:spPr>
          <a:xfrm xmlns:a="http://schemas.openxmlformats.org/drawingml/2006/main">
            <a:off x="1657350" y="33432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Return a numerical result from the defined calculation.</a:t>
            </a:r>
          </a:p>
        </p:txBody>
      </p:sp>
      <p:sp>
        <p:nvSpPr>
          <p:cNvPr id="11" name="">
            <a:extLst xmlns:a="http://schemas.openxmlformats.org/drawingml/2006/main">
              <a:ext uri="{FF2B5EF4-FFF2-40B4-BE49-F238E27FC236}">
                <a16:creationId xmlns:a16="http://schemas.microsoft.com/office/drawing/2014/main" id="{1ED08D7F-735C-48C1-8A64-C49C23B5C0B2}"/>
              </a:ext>
            </a:extLst>
          </p:cNvPr>
          <p:cNvSpPr>
            <a:spLocks xmlns:a="http://schemas.openxmlformats.org/drawingml/2006/main" noGrp="1"/>
          </p:cNvSpPr>
          <p:nvPr/>
        </p:nvSpPr>
        <p:spPr>
          <a:xfrm xmlns:a="http://schemas.openxmlformats.org/drawingml/2006/main">
            <a:off x="533400" y="39433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2B8E238F-9EBE-426A-BCEB-93B017B16E6C}"/>
              </a:ext>
            </a:extLst>
          </p:cNvPr>
          <p:cNvSpPr>
            <a:spLocks xmlns:a="http://schemas.openxmlformats.org/drawingml/2006/main" noGrp="1"/>
          </p:cNvSpPr>
          <p:nvPr/>
        </p:nvSpPr>
        <p:spPr>
          <a:xfrm xmlns:a="http://schemas.openxmlformats.org/drawingml/2006/main">
            <a:off x="1657350" y="39433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LLM: interpret the feedback</a:t>
            </a:r>
          </a:p>
        </p:txBody>
      </p:sp>
      <p:sp>
        <p:nvSpPr>
          <p:cNvPr id="13" name="">
            <a:extLst xmlns:a="http://schemas.openxmlformats.org/drawingml/2006/main">
              <a:ext uri="{FF2B5EF4-FFF2-40B4-BE49-F238E27FC236}">
                <a16:creationId xmlns:a16="http://schemas.microsoft.com/office/drawing/2014/main" id="{691BAAE6-CBDC-4DF5-AC5A-721C887061F3}"/>
              </a:ext>
            </a:extLst>
          </p:cNvPr>
          <p:cNvSpPr>
            <a:spLocks xmlns:a="http://schemas.openxmlformats.org/drawingml/2006/main" noGrp="1"/>
          </p:cNvSpPr>
          <p:nvPr/>
        </p:nvSpPr>
        <p:spPr>
          <a:xfrm xmlns:a="http://schemas.openxmlformats.org/drawingml/2006/main">
            <a:off x="1657350" y="44100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Compare the result with the earlier expectation.</a:t>
            </a:r>
          </a:p>
        </p:txBody>
      </p:sp>
      <p:sp>
        <p:nvSpPr>
          <p:cNvPr id="14" name="">
            <a:extLst xmlns:a="http://schemas.openxmlformats.org/drawingml/2006/main">
              <a:ext uri="{FF2B5EF4-FFF2-40B4-BE49-F238E27FC236}">
                <a16:creationId xmlns:a16="http://schemas.microsoft.com/office/drawing/2014/main" id="{7F99358F-5A0C-4568-8D7B-CCA20C0B713A}"/>
              </a:ext>
            </a:extLst>
          </p:cNvPr>
          <p:cNvSpPr>
            <a:spLocks xmlns:a="http://schemas.openxmlformats.org/drawingml/2006/main" noGrp="1"/>
          </p:cNvSpPr>
          <p:nvPr/>
        </p:nvSpPr>
        <p:spPr>
          <a:xfrm xmlns:a="http://schemas.openxmlformats.org/drawingml/2006/main">
            <a:off x="533400" y="5010150"/>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87B87748-F0BB-424D-8BF8-2EE8DC071708}"/>
              </a:ext>
            </a:extLst>
          </p:cNvPr>
          <p:cNvSpPr>
            <a:spLocks xmlns:a="http://schemas.openxmlformats.org/drawingml/2006/main" noGrp="1"/>
          </p:cNvSpPr>
          <p:nvPr/>
        </p:nvSpPr>
        <p:spPr>
          <a:xfrm xmlns:a="http://schemas.openxmlformats.org/drawingml/2006/main">
            <a:off x="1657350" y="50101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LLM: choose the next test</a:t>
            </a:r>
          </a:p>
        </p:txBody>
      </p:sp>
      <p:sp>
        <p:nvSpPr>
          <p:cNvPr id="16" name="">
            <a:extLst xmlns:a="http://schemas.openxmlformats.org/drawingml/2006/main">
              <a:ext uri="{FF2B5EF4-FFF2-40B4-BE49-F238E27FC236}">
                <a16:creationId xmlns:a16="http://schemas.microsoft.com/office/drawing/2014/main" id="{6D4BF07A-2FB7-4B42-8831-5BF20906E707}"/>
              </a:ext>
            </a:extLst>
          </p:cNvPr>
          <p:cNvSpPr>
            <a:spLocks xmlns:a="http://schemas.openxmlformats.org/drawingml/2006/main" noGrp="1"/>
          </p:cNvSpPr>
          <p:nvPr/>
        </p:nvSpPr>
        <p:spPr>
          <a:xfrm xmlns:a="http://schemas.openxmlformats.org/drawingml/2006/main">
            <a:off x="1657350" y="5476875"/>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Continue until the evaluation budget is used.</a:t>
            </a:r>
          </a:p>
        </p:txBody>
      </p:sp>
    </p:spTree>
    <p:extLst>
      <p:ext uri="{BB962C8B-B14F-4D97-AF65-F5344CB8AC3E}">
        <p14:creationId xmlns:p14="http://schemas.microsoft.com/office/powerpoint/2010/main" val="1005807854"/>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BDA261-ABA4-4F1F-BBBD-3B78A96CBC2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9BAA75B1-14B1-4E7F-B28C-60AFBEEEA10D}"/>
              </a:ext>
            </a:extLst>
          </p:cNvPr>
          <p:cNvSpPr>
            <a:spLocks xmlns:a="http://schemas.openxmlformats.org/drawingml/2006/main" noGrp="1"/>
          </p:cNvSpPr>
          <p:nvPr/>
        </p:nvSpPr>
        <p:spPr>
          <a:xfrm xmlns:a="http://schemas.openxmlformats.org/drawingml/2006/main">
            <a:off x="533400" y="7048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tools behind each decision</a:t>
            </a:r>
          </a:p>
        </p:txBody>
      </p:sp>
      <p:sp>
        <p:nvSpPr>
          <p:cNvPr id="3" name="">
            <a:extLst xmlns:a="http://schemas.openxmlformats.org/drawingml/2006/main">
              <a:ext uri="{FF2B5EF4-FFF2-40B4-BE49-F238E27FC236}">
                <a16:creationId xmlns:a16="http://schemas.microsoft.com/office/drawing/2014/main" id="{51FB7A94-C8B7-4B97-B113-03A18CFC78E3}"/>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LLM chooses the next test. Specialized tools return the numerical evidence.</a:t>
            </a:r>
          </a:p>
        </p:txBody>
      </p:sp>
      <p:sp>
        <p:nvSpPr>
          <p:cNvPr id="4" name="">
            <a:extLst xmlns:a="http://schemas.openxmlformats.org/drawingml/2006/main">
              <a:ext uri="{FF2B5EF4-FFF2-40B4-BE49-F238E27FC236}">
                <a16:creationId xmlns:a16="http://schemas.microsoft.com/office/drawing/2014/main" id="{D920D2FD-E086-418C-9986-C0B2CEA81CF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95682B49-1EDC-4E28-A760-7EA146152F3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graphicFrame>
        <p:nvGraphicFramePr>
          <p:cNvPr id="6" name="">
            <a:extLst xmlns:a="http://schemas.openxmlformats.org/drawingml/2006/main">
              <a:ext uri="{FF2B5EF4-FFF2-40B4-BE49-F238E27FC236}">
                <a16:creationId xmlns:a16="http://schemas.microsoft.com/office/drawing/2014/main" id="{396CB56E-58C2-4F4F-97DC-EC64C9C50A4B}"/>
              </a:ext>
            </a:extLst>
          </p:cNvPr>
          <p:cNvGraphicFramePr/>
          <p:nvPr/>
        </p:nvGraphicFramePr>
        <p:xfrm>
          <a:off xmlns:a="http://schemas.openxmlformats.org/drawingml/2006/main" x="533400" y="2105025"/>
          <a:ext xmlns:a="http://schemas.openxmlformats.org/drawingml/2006/main" cx="11125200" cy="3486150"/>
        </p:xfrm>
        <a:graphic xmlns:a="http://schemas.openxmlformats.org/drawingml/2006/main">
          <a:graphicData uri="http://schemas.openxmlformats.org/drawingml/2006/table">
            <a:tbl>
              <a:tblPr firstRow="0" bandRow="0"/>
              <a:tblGrid>
                <a:gridCol w="3448050"/>
                <a:gridCol w="7677150"/>
              </a:tblGrid>
              <a:tr h="581025">
                <a:tc>
                  <a:txBody>
                    <a:bodyPr lIns="0" tIns="0" rIns="0" bIns="0">
                      <a:noAutofit/>
                    </a:bodyPr>
                    <a:lstStyle/>
                    <a:p>
                      <a:r>
                        <a:rPr sz="1875" b="1">
                          <a:solidFill>
                            <a:srgbClr val="FFFFFF"/>
                          </a:solidFill>
                          <a:latin typeface="Helvetica Neue"/>
                          <a:ea typeface="Helvetica Neue"/>
                          <a:cs typeface="Helvetica Neue"/>
                        </a:rPr>
                        <a:t>Tool used</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Its job in interphAIse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81025">
                <a:tc>
                  <a:txBody>
                    <a:bodyPr lIns="0" tIns="0" rIns="0" bIns="0">
                      <a:noAutofit/>
                    </a:bodyPr>
                    <a:lstStyle/>
                    <a:p>
                      <a:r>
                        <a:rPr sz="2025" b="0">
                          <a:solidFill>
                            <a:srgbClr val="172B3A"/>
                          </a:solidFill>
                          <a:latin typeface="Helvetica Neue"/>
                          <a:ea typeface="Helvetica Neue"/>
                          <a:cs typeface="Helvetica Neue"/>
                        </a:rPr>
                        <a:t>Claude Haiku 5.5</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Chooses materials, explains choices and predicts outcomes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Materials Project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Supplies known crystal structures and reference energy data</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pymatgen + SciPy</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Calculate reaction scores for the chemical screen</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ASE + PET-MAD</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Relax atomic structures and calculate adhesion energies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1025">
                <a:tc>
                  <a:txBody>
                    <a:bodyPr lIns="0" tIns="0" rIns="0" bIns="0">
                      <a:noAutofit/>
                    </a:bodyPr>
                    <a:lstStyle/>
                    <a:p>
                      <a:r>
                        <a:rPr sz="2025" b="0">
                          <a:solidFill>
                            <a:srgbClr val="172B3A"/>
                          </a:solidFill>
                          <a:latin typeface="Helvetica Neue"/>
                          <a:ea typeface="Helvetica Neue"/>
                          <a:cs typeface="Helvetica Neue"/>
                        </a:rPr>
                        <a:t>Python workflow</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Enforces the test budget and saves decisions and results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2379BBA4-1281-4921-95A0-D61BABF6E187}"/>
              </a:ext>
            </a:extLst>
          </p:cNvPr>
          <p:cNvSpPr>
            <a:spLocks xmlns:a="http://schemas.openxmlformats.org/drawingml/2006/main" noGrp="1"/>
          </p:cNvSpPr>
          <p:nvPr/>
        </p:nvSpPr>
        <p:spPr>
          <a:xfrm xmlns:a="http://schemas.openxmlformats.org/drawingml/2006/main">
            <a:off x="533400" y="5838825"/>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defRPr sz="1800" b="0">
                <a:solidFill>
                  <a:srgbClr val="526472"/>
                </a:solidFill>
                <a:latin typeface="Helvetica Neue"/>
                <a:ea typeface="Helvetica Neue"/>
                <a:cs typeface="Helvetica Neue"/>
              </a:defRPr>
            </a:lvl1pPr>
            <a:lvl2pPr>
              <a:defRPr sz="1800" b="0">
                <a:solidFill>
                  <a:srgbClr val="526472"/>
                </a:solidFill>
                <a:latin typeface="Helvetica Neue"/>
                <a:ea typeface="Helvetica Neue"/>
                <a:cs typeface="Helvetica Neue"/>
              </a:defRPr>
            </a:lvl2pPr>
            <a:lvl3pPr>
              <a:defRPr sz="1800" b="0">
                <a:solidFill>
                  <a:srgbClr val="526472"/>
                </a:solidFill>
                <a:latin typeface="Helvetica Neue"/>
                <a:ea typeface="Helvetica Neue"/>
                <a:cs typeface="Helvetica Neue"/>
              </a:defRPr>
            </a:lvl3pPr>
            <a:lvl4pPr>
              <a:defRPr sz="1800" b="0">
                <a:solidFill>
                  <a:srgbClr val="526472"/>
                </a:solidFill>
                <a:latin typeface="Helvetica Neue"/>
                <a:ea typeface="Helvetica Neue"/>
                <a:cs typeface="Helvetica Neue"/>
              </a:defRPr>
            </a:lvl4pPr>
            <a:lvl5pPr>
              <a:defRPr sz="1800" b="0">
                <a:solidFill>
                  <a:srgbClr val="526472"/>
                </a:solidFill>
                <a:latin typeface="Helvetica Neue"/>
                <a:ea typeface="Helvetica Neue"/>
                <a:cs typeface="Helvetica Neue"/>
              </a:defRPr>
            </a:lvl5pPr>
            <a:lvl6pPr>
              <a:defRPr sz="1800" b="0">
                <a:solidFill>
                  <a:srgbClr val="526472"/>
                </a:solidFill>
                <a:latin typeface="Helvetica Neue"/>
                <a:ea typeface="Helvetica Neue"/>
                <a:cs typeface="Helvetica Neue"/>
              </a:defRPr>
            </a:lvl6pPr>
            <a:lvl7pPr>
              <a:defRPr sz="1800" b="0">
                <a:solidFill>
                  <a:srgbClr val="526472"/>
                </a:solidFill>
                <a:latin typeface="Helvetica Neue"/>
                <a:ea typeface="Helvetica Neue"/>
                <a:cs typeface="Helvetica Neue"/>
              </a:defRPr>
            </a:lvl7pPr>
            <a:lvl8pPr>
              <a:defRPr sz="1800" b="0">
                <a:solidFill>
                  <a:srgbClr val="526472"/>
                </a:solidFill>
                <a:latin typeface="Helvetica Neue"/>
                <a:ea typeface="Helvetica Neue"/>
                <a:cs typeface="Helvetica Neue"/>
              </a:defRPr>
            </a:lvl8pPr>
            <a:lvl9pPr>
              <a:defRPr sz="1800" b="0">
                <a:solidFill>
                  <a:srgbClr val="526472"/>
                </a:solidFill>
                <a:latin typeface="Helvetica Neue"/>
                <a:ea typeface="Helvetica Neue"/>
                <a:cs typeface="Helvetica Neue"/>
              </a:defRPr>
            </a:lvl9pPr>
          </a:lstStyle>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Niflheim GPUs + Slurm run the atomic calculations.</a:t>
            </a:r>
          </a:p>
          <a:p xmlns:a="http://schemas.openxmlformats.org/drawingml/2006/main">
            <a:pPr>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The 3D viewer lets researchers inspect the structures.</a:t>
            </a:r>
          </a:p>
        </p:txBody>
      </p:sp>
    </p:spTree>
    <p:extLst>
      <p:ext uri="{BB962C8B-B14F-4D97-AF65-F5344CB8AC3E}">
        <p14:creationId xmlns:p14="http://schemas.microsoft.com/office/powerpoint/2010/main" val="1834391441"/>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F6096B-6CF1-4F23-AFAE-B517D8B6A0E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1 / CONTROLLED SELECTION</a:t>
            </a:r>
          </a:p>
        </p:txBody>
      </p:sp>
      <p:sp>
        <p:nvSpPr>
          <p:cNvPr id="2" name="">
            <a:extLst xmlns:a="http://schemas.openxmlformats.org/drawingml/2006/main">
              <a:ext uri="{FF2B5EF4-FFF2-40B4-BE49-F238E27FC236}">
                <a16:creationId xmlns:a16="http://schemas.microsoft.com/office/drawing/2014/main" id="{A9A1AAE3-15DB-4DCC-AC96-C79234FCDA24}"/>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First test: can it find a coating that passes?</a:t>
            </a:r>
          </a:p>
        </p:txBody>
      </p:sp>
      <p:sp>
        <p:nvSpPr>
          <p:cNvPr id="3" name="">
            <a:extLst xmlns:a="http://schemas.openxmlformats.org/drawingml/2006/main">
              <a:ext uri="{FF2B5EF4-FFF2-40B4-BE49-F238E27FC236}">
                <a16:creationId xmlns:a16="http://schemas.microsoft.com/office/drawing/2014/main" id="{74AB3BAB-F97E-40AF-96CB-A535A440348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406D8989-3D69-4CC9-9AB3-41696E4B93AB}"/>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4078758C-26C7-45E3-8522-6F01878C068D}"/>
              </a:ext>
            </a:extLst>
          </p:cNvPr>
          <p:cNvSpPr>
            <a:spLocks xmlns:a="http://schemas.openxmlformats.org/drawingml/2006/main" noGrp="1"/>
          </p:cNvSpPr>
          <p:nvPr/>
        </p:nvSpPr>
        <p:spPr>
          <a:xfrm xmlns:a="http://schemas.openxmlformats.org/drawingml/2006/main">
            <a:off x="533400" y="20288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B3A"/>
                </a:solidFill>
                <a:latin typeface="Helvetica Neue"/>
                <a:ea typeface="Helvetica Neue"/>
                <a:cs typeface="Helvetica Neue"/>
              </a:defRPr>
            </a:defPPr>
            <a:lvl1pPr>
              <a:buNone/>
              <a:defRPr sz="2550" b="1">
                <a:solidFill>
                  <a:srgbClr val="172B3A"/>
                </a:solidFill>
                <a:latin typeface="Helvetica Neue"/>
                <a:ea typeface="Helvetica Neue"/>
                <a:cs typeface="Helvetica Neue"/>
              </a:defRPr>
            </a:lvl1pPr>
            <a:lvl2pPr>
              <a:buNone/>
              <a:defRPr sz="2550" b="1">
                <a:solidFill>
                  <a:srgbClr val="172B3A"/>
                </a:solidFill>
                <a:latin typeface="Helvetica Neue"/>
                <a:ea typeface="Helvetica Neue"/>
                <a:cs typeface="Helvetica Neue"/>
              </a:defRPr>
            </a:lvl2pPr>
            <a:lvl3pPr>
              <a:buNone/>
              <a:defRPr sz="2550" b="1">
                <a:solidFill>
                  <a:srgbClr val="172B3A"/>
                </a:solidFill>
                <a:latin typeface="Helvetica Neue"/>
                <a:ea typeface="Helvetica Neue"/>
                <a:cs typeface="Helvetica Neue"/>
              </a:defRPr>
            </a:lvl3pPr>
            <a:lvl4pPr>
              <a:buNone/>
              <a:defRPr sz="2550" b="1">
                <a:solidFill>
                  <a:srgbClr val="172B3A"/>
                </a:solidFill>
                <a:latin typeface="Helvetica Neue"/>
                <a:ea typeface="Helvetica Neue"/>
                <a:cs typeface="Helvetica Neue"/>
              </a:defRPr>
            </a:lvl4pPr>
            <a:lvl5pPr>
              <a:buNone/>
              <a:defRPr sz="2550" b="1">
                <a:solidFill>
                  <a:srgbClr val="172B3A"/>
                </a:solidFill>
                <a:latin typeface="Helvetica Neue"/>
                <a:ea typeface="Helvetica Neue"/>
                <a:cs typeface="Helvetica Neue"/>
              </a:defRPr>
            </a:lvl5pPr>
            <a:lvl6pPr>
              <a:buNone/>
              <a:defRPr sz="2550" b="1">
                <a:solidFill>
                  <a:srgbClr val="172B3A"/>
                </a:solidFill>
                <a:latin typeface="Helvetica Neue"/>
                <a:ea typeface="Helvetica Neue"/>
                <a:cs typeface="Helvetica Neue"/>
              </a:defRPr>
            </a:lvl6pPr>
            <a:lvl7pPr>
              <a:buNone/>
              <a:defRPr sz="2550" b="1">
                <a:solidFill>
                  <a:srgbClr val="172B3A"/>
                </a:solidFill>
                <a:latin typeface="Helvetica Neue"/>
                <a:ea typeface="Helvetica Neue"/>
                <a:cs typeface="Helvetica Neue"/>
              </a:defRPr>
            </a:lvl7pPr>
            <a:lvl8pPr>
              <a:buNone/>
              <a:defRPr sz="2550" b="1">
                <a:solidFill>
                  <a:srgbClr val="172B3A"/>
                </a:solidFill>
                <a:latin typeface="Helvetica Neue"/>
                <a:ea typeface="Helvetica Neue"/>
                <a:cs typeface="Helvetica Neue"/>
              </a:defRPr>
            </a:lvl8pPr>
            <a:lvl9pPr>
              <a:buNone/>
              <a:defRPr sz="2550" b="1">
                <a:solidFill>
                  <a:srgbClr val="172B3A"/>
                </a:solidFill>
                <a:latin typeface="Helvetica Neue"/>
                <a:ea typeface="Helvetica Neue"/>
                <a:cs typeface="Helvetica Neue"/>
              </a:defRPr>
            </a:lvl9pPr>
          </a:lstStyle>
          <a:p xmlns:a="http://schemas.openxmlformats.org/drawingml/2006/main">
            <a:pPr>
              <a:buNone/>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Choose from a fixed menu of known materials.</a:t>
            </a:r>
          </a:p>
        </p:txBody>
      </p:sp>
      <p:sp>
        <p:nvSpPr>
          <p:cNvPr id="6" name="">
            <a:extLst xmlns:a="http://schemas.openxmlformats.org/drawingml/2006/main">
              <a:ext uri="{FF2B5EF4-FFF2-40B4-BE49-F238E27FC236}">
                <a16:creationId xmlns:a16="http://schemas.microsoft.com/office/drawing/2014/main" id="{193D98EB-3F22-42CF-AB0A-983BA49A72D8}"/>
              </a:ext>
            </a:extLst>
          </p:cNvPr>
          <p:cNvSpPr>
            <a:spLocks xmlns:a="http://schemas.openxmlformats.org/drawingml/2006/main" noGrp="1"/>
          </p:cNvSpPr>
          <p:nvPr/>
        </p:nvSpPr>
        <p:spPr>
          <a:xfrm xmlns:a="http://schemas.openxmlformats.org/drawingml/2006/main">
            <a:off x="533400" y="2886075"/>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472"/>
                </a:solidFill>
                <a:latin typeface="Helvetica Neue"/>
                <a:ea typeface="Helvetica Neue"/>
                <a:cs typeface="Helvetica Neue"/>
              </a:defRPr>
            </a:defPPr>
            <a:lvl1pPr>
              <a:buNone/>
              <a:defRPr sz="2400" b="0">
                <a:solidFill>
                  <a:srgbClr val="526472"/>
                </a:solidFill>
                <a:latin typeface="Helvetica Neue"/>
                <a:ea typeface="Helvetica Neue"/>
                <a:cs typeface="Helvetica Neue"/>
              </a:defRPr>
            </a:lvl1pPr>
            <a:lvl2pPr>
              <a:buNone/>
              <a:defRPr sz="2400" b="0">
                <a:solidFill>
                  <a:srgbClr val="526472"/>
                </a:solidFill>
                <a:latin typeface="Helvetica Neue"/>
                <a:ea typeface="Helvetica Neue"/>
                <a:cs typeface="Helvetica Neue"/>
              </a:defRPr>
            </a:lvl2pPr>
            <a:lvl3pPr>
              <a:buNone/>
              <a:defRPr sz="2400" b="0">
                <a:solidFill>
                  <a:srgbClr val="526472"/>
                </a:solidFill>
                <a:latin typeface="Helvetica Neue"/>
                <a:ea typeface="Helvetica Neue"/>
                <a:cs typeface="Helvetica Neue"/>
              </a:defRPr>
            </a:lvl3pPr>
            <a:lvl4pPr>
              <a:buNone/>
              <a:defRPr sz="2400" b="0">
                <a:solidFill>
                  <a:srgbClr val="526472"/>
                </a:solidFill>
                <a:latin typeface="Helvetica Neue"/>
                <a:ea typeface="Helvetica Neue"/>
                <a:cs typeface="Helvetica Neue"/>
              </a:defRPr>
            </a:lvl4pPr>
            <a:lvl5pPr>
              <a:buNone/>
              <a:defRPr sz="2400" b="0">
                <a:solidFill>
                  <a:srgbClr val="526472"/>
                </a:solidFill>
                <a:latin typeface="Helvetica Neue"/>
                <a:ea typeface="Helvetica Neue"/>
                <a:cs typeface="Helvetica Neue"/>
              </a:defRPr>
            </a:lvl5pPr>
            <a:lvl6pPr>
              <a:buNone/>
              <a:defRPr sz="2400" b="0">
                <a:solidFill>
                  <a:srgbClr val="526472"/>
                </a:solidFill>
                <a:latin typeface="Helvetica Neue"/>
                <a:ea typeface="Helvetica Neue"/>
                <a:cs typeface="Helvetica Neue"/>
              </a:defRPr>
            </a:lvl6pPr>
            <a:lvl7pPr>
              <a:buNone/>
              <a:defRPr sz="2400" b="0">
                <a:solidFill>
                  <a:srgbClr val="526472"/>
                </a:solidFill>
                <a:latin typeface="Helvetica Neue"/>
                <a:ea typeface="Helvetica Neue"/>
                <a:cs typeface="Helvetica Neue"/>
              </a:defRPr>
            </a:lvl7pPr>
            <a:lvl8pPr>
              <a:buNone/>
              <a:defRPr sz="2400" b="0">
                <a:solidFill>
                  <a:srgbClr val="526472"/>
                </a:solidFill>
                <a:latin typeface="Helvetica Neue"/>
                <a:ea typeface="Helvetica Neue"/>
                <a:cs typeface="Helvetica Neue"/>
              </a:defRPr>
            </a:lvl8pPr>
            <a:lvl9pPr>
              <a:buNone/>
              <a:defRPr sz="2400" b="0">
                <a:solidFill>
                  <a:srgbClr val="526472"/>
                </a:solidFill>
                <a:latin typeface="Helvetica Neue"/>
                <a:ea typeface="Helvetica Neue"/>
                <a:cs typeface="Helvetica Neue"/>
              </a:defRPr>
            </a:lvl9pPr>
          </a:lstStyle>
          <a:p xmlns:a="http://schemas.openxmlformats.org/drawingml/2006/main">
            <a:pPr>
              <a:buNone/>
              <a:defRPr sz="2400" b="0">
                <a:solidFill>
                  <a:srgbClr val="526472"/>
                </a:solidFill>
                <a:latin typeface="Helvetica Neue"/>
                <a:ea typeface="Helvetica Neue"/>
                <a:cs typeface="Helvetica Neue"/>
              </a:defRPr>
            </a:pPr>
            <a:r>
              <a:rPr sz="2400" b="0">
                <a:solidFill>
                  <a:srgbClr val="526472"/>
                </a:solidFill>
                <a:latin typeface="Helvetica Neue"/>
                <a:ea typeface="Helvetica Neue"/>
                <a:cs typeface="Helvetica Neue"/>
              </a:rPr>
              <a:t>A calculation scores unwanted chemical reactions.</a:t>
            </a:r>
          </a:p>
          <a:p xmlns:a="http://schemas.openxmlformats.org/drawingml/2006/main">
            <a:pPr>
              <a:buNone/>
              <a:defRPr sz="2400" b="0">
                <a:solidFill>
                  <a:srgbClr val="526472"/>
                </a:solidFill>
                <a:latin typeface="Helvetica Neue"/>
                <a:ea typeface="Helvetica Neue"/>
                <a:cs typeface="Helvetica Neue"/>
              </a:defRPr>
            </a:pPr>
            <a:r>
              <a:rPr sz="2400" b="0">
                <a:solidFill>
                  <a:srgbClr val="526472"/>
                </a:solidFill>
                <a:latin typeface="Helvetica Neue"/>
                <a:ea typeface="Helvetica Neue"/>
                <a:cs typeface="Helvetica Neue"/>
              </a:rPr>
              <a:t>A material passes only if it meets the preset limits.</a:t>
            </a:r>
          </a:p>
        </p:txBody>
      </p:sp>
      <p:sp>
        <p:nvSpPr>
          <p:cNvPr id="7" name="">
            <a:extLst xmlns:a="http://schemas.openxmlformats.org/drawingml/2006/main">
              <a:ext uri="{FF2B5EF4-FFF2-40B4-BE49-F238E27FC236}">
                <a16:creationId xmlns:a16="http://schemas.microsoft.com/office/drawing/2014/main" id="{9E9DEE59-A30B-4BD6-9627-78114A8EA403}"/>
              </a:ext>
            </a:extLst>
          </p:cNvPr>
          <p:cNvSpPr>
            <a:spLocks xmlns:a="http://schemas.openxmlformats.org/drawingml/2006/main" noGrp="1"/>
          </p:cNvSpPr>
          <p:nvPr/>
        </p:nvSpPr>
        <p:spPr>
          <a:xfrm xmlns:a="http://schemas.openxmlformats.org/drawingml/2006/main">
            <a:off x="533400" y="44100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007F7B"/>
                </a:solidFill>
                <a:latin typeface="Helvetica Neue"/>
                <a:ea typeface="Helvetica Neue"/>
                <a:cs typeface="Helvetica Neue"/>
              </a:defRPr>
            </a:defPPr>
            <a:lvl1pPr>
              <a:buNone/>
              <a:defRPr sz="4350" b="1">
                <a:solidFill>
                  <a:srgbClr val="007F7B"/>
                </a:solidFill>
                <a:latin typeface="Helvetica Neue"/>
                <a:ea typeface="Helvetica Neue"/>
                <a:cs typeface="Helvetica Neue"/>
              </a:defRPr>
            </a:lvl1pPr>
            <a:lvl2pPr>
              <a:buNone/>
              <a:defRPr sz="4350" b="1">
                <a:solidFill>
                  <a:srgbClr val="007F7B"/>
                </a:solidFill>
                <a:latin typeface="Helvetica Neue"/>
                <a:ea typeface="Helvetica Neue"/>
                <a:cs typeface="Helvetica Neue"/>
              </a:defRPr>
            </a:lvl2pPr>
            <a:lvl3pPr>
              <a:buNone/>
              <a:defRPr sz="4350" b="1">
                <a:solidFill>
                  <a:srgbClr val="007F7B"/>
                </a:solidFill>
                <a:latin typeface="Helvetica Neue"/>
                <a:ea typeface="Helvetica Neue"/>
                <a:cs typeface="Helvetica Neue"/>
              </a:defRPr>
            </a:lvl3pPr>
            <a:lvl4pPr>
              <a:buNone/>
              <a:defRPr sz="4350" b="1">
                <a:solidFill>
                  <a:srgbClr val="007F7B"/>
                </a:solidFill>
                <a:latin typeface="Helvetica Neue"/>
                <a:ea typeface="Helvetica Neue"/>
                <a:cs typeface="Helvetica Neue"/>
              </a:defRPr>
            </a:lvl4pPr>
            <a:lvl5pPr>
              <a:buNone/>
              <a:defRPr sz="4350" b="1">
                <a:solidFill>
                  <a:srgbClr val="007F7B"/>
                </a:solidFill>
                <a:latin typeface="Helvetica Neue"/>
                <a:ea typeface="Helvetica Neue"/>
                <a:cs typeface="Helvetica Neue"/>
              </a:defRPr>
            </a:lvl5pPr>
            <a:lvl6pPr>
              <a:buNone/>
              <a:defRPr sz="4350" b="1">
                <a:solidFill>
                  <a:srgbClr val="007F7B"/>
                </a:solidFill>
                <a:latin typeface="Helvetica Neue"/>
                <a:ea typeface="Helvetica Neue"/>
                <a:cs typeface="Helvetica Neue"/>
              </a:defRPr>
            </a:lvl6pPr>
            <a:lvl7pPr>
              <a:buNone/>
              <a:defRPr sz="4350" b="1">
                <a:solidFill>
                  <a:srgbClr val="007F7B"/>
                </a:solidFill>
                <a:latin typeface="Helvetica Neue"/>
                <a:ea typeface="Helvetica Neue"/>
                <a:cs typeface="Helvetica Neue"/>
              </a:defRPr>
            </a:lvl7pPr>
            <a:lvl8pPr>
              <a:buNone/>
              <a:defRPr sz="4350" b="1">
                <a:solidFill>
                  <a:srgbClr val="007F7B"/>
                </a:solidFill>
                <a:latin typeface="Helvetica Neue"/>
                <a:ea typeface="Helvetica Neue"/>
                <a:cs typeface="Helvetica Neue"/>
              </a:defRPr>
            </a:lvl8pPr>
            <a:lvl9pPr>
              <a:buNone/>
              <a:defRPr sz="4350" b="1">
                <a:solidFill>
                  <a:srgbClr val="007F7B"/>
                </a:solidFill>
                <a:latin typeface="Helvetica Neue"/>
                <a:ea typeface="Helvetica Neue"/>
                <a:cs typeface="Helvetica Neue"/>
              </a:defRPr>
            </a:lvl9pPr>
          </a:lstStyle>
          <a:p xmlns:a="http://schemas.openxmlformats.org/drawingml/2006/main">
            <a:pPr>
              <a:buNone/>
              <a:defRPr sz="4350" b="1">
                <a:solidFill>
                  <a:srgbClr val="007F7B"/>
                </a:solidFill>
                <a:latin typeface="Helvetica Neue"/>
                <a:ea typeface="Helvetica Neue"/>
                <a:cs typeface="Helvetica Neue"/>
              </a:defRPr>
            </a:pPr>
            <a:r>
              <a:rPr sz="4350" b="1">
                <a:solidFill>
                  <a:srgbClr val="007F7B"/>
                </a:solidFill>
                <a:latin typeface="Helvetica Neue"/>
                <a:ea typeface="Helvetica Neue"/>
                <a:cs typeface="Helvetica Neue"/>
              </a:rPr>
              <a:t>10 tries</a:t>
            </a:r>
          </a:p>
        </p:txBody>
      </p:sp>
      <p:sp>
        <p:nvSpPr>
          <p:cNvPr id="8" name="">
            <a:extLst xmlns:a="http://schemas.openxmlformats.org/drawingml/2006/main">
              <a:ext uri="{FF2B5EF4-FFF2-40B4-BE49-F238E27FC236}">
                <a16:creationId xmlns:a16="http://schemas.microsoft.com/office/drawing/2014/main" id="{48854E0E-DEC6-4828-BAC2-ADA558408551}"/>
              </a:ext>
            </a:extLst>
          </p:cNvPr>
          <p:cNvSpPr>
            <a:spLocks xmlns:a="http://schemas.openxmlformats.org/drawingml/2006/main" noGrp="1"/>
          </p:cNvSpPr>
          <p:nvPr/>
        </p:nvSpPr>
        <p:spPr>
          <a:xfrm xmlns:a="http://schemas.openxmlformats.org/drawingml/2006/main">
            <a:off x="533400" y="52482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per search</a:t>
            </a:r>
          </a:p>
        </p:txBody>
      </p:sp>
      <p:sp>
        <p:nvSpPr>
          <p:cNvPr id="9" name="">
            <a:extLst xmlns:a="http://schemas.openxmlformats.org/drawingml/2006/main">
              <a:ext uri="{FF2B5EF4-FFF2-40B4-BE49-F238E27FC236}">
                <a16:creationId xmlns:a16="http://schemas.microsoft.com/office/drawing/2014/main" id="{AAB6E787-D6C6-4E19-BE28-A314F5A2C600}"/>
              </a:ext>
            </a:extLst>
          </p:cNvPr>
          <p:cNvSpPr>
            <a:spLocks xmlns:a="http://schemas.openxmlformats.org/drawingml/2006/main" noGrp="1"/>
          </p:cNvSpPr>
          <p:nvPr/>
        </p:nvSpPr>
        <p:spPr>
          <a:xfrm xmlns:a="http://schemas.openxmlformats.org/drawingml/2006/main">
            <a:off x="4857750" y="44100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350" b="1">
                <a:solidFill>
                  <a:srgbClr val="007F7B"/>
                </a:solidFill>
                <a:latin typeface="Helvetica Neue"/>
                <a:ea typeface="Helvetica Neue"/>
                <a:cs typeface="Helvetica Neue"/>
              </a:defRPr>
            </a:defPPr>
            <a:lvl1pPr>
              <a:buNone/>
              <a:defRPr sz="4350" b="1">
                <a:solidFill>
                  <a:srgbClr val="007F7B"/>
                </a:solidFill>
                <a:latin typeface="Helvetica Neue"/>
                <a:ea typeface="Helvetica Neue"/>
                <a:cs typeface="Helvetica Neue"/>
              </a:defRPr>
            </a:lvl1pPr>
            <a:lvl2pPr>
              <a:buNone/>
              <a:defRPr sz="4350" b="1">
                <a:solidFill>
                  <a:srgbClr val="007F7B"/>
                </a:solidFill>
                <a:latin typeface="Helvetica Neue"/>
                <a:ea typeface="Helvetica Neue"/>
                <a:cs typeface="Helvetica Neue"/>
              </a:defRPr>
            </a:lvl2pPr>
            <a:lvl3pPr>
              <a:buNone/>
              <a:defRPr sz="4350" b="1">
                <a:solidFill>
                  <a:srgbClr val="007F7B"/>
                </a:solidFill>
                <a:latin typeface="Helvetica Neue"/>
                <a:ea typeface="Helvetica Neue"/>
                <a:cs typeface="Helvetica Neue"/>
              </a:defRPr>
            </a:lvl3pPr>
            <a:lvl4pPr>
              <a:buNone/>
              <a:defRPr sz="4350" b="1">
                <a:solidFill>
                  <a:srgbClr val="007F7B"/>
                </a:solidFill>
                <a:latin typeface="Helvetica Neue"/>
                <a:ea typeface="Helvetica Neue"/>
                <a:cs typeface="Helvetica Neue"/>
              </a:defRPr>
            </a:lvl4pPr>
            <a:lvl5pPr>
              <a:buNone/>
              <a:defRPr sz="4350" b="1">
                <a:solidFill>
                  <a:srgbClr val="007F7B"/>
                </a:solidFill>
                <a:latin typeface="Helvetica Neue"/>
                <a:ea typeface="Helvetica Neue"/>
                <a:cs typeface="Helvetica Neue"/>
              </a:defRPr>
            </a:lvl5pPr>
            <a:lvl6pPr>
              <a:buNone/>
              <a:defRPr sz="4350" b="1">
                <a:solidFill>
                  <a:srgbClr val="007F7B"/>
                </a:solidFill>
                <a:latin typeface="Helvetica Neue"/>
                <a:ea typeface="Helvetica Neue"/>
                <a:cs typeface="Helvetica Neue"/>
              </a:defRPr>
            </a:lvl6pPr>
            <a:lvl7pPr>
              <a:buNone/>
              <a:defRPr sz="4350" b="1">
                <a:solidFill>
                  <a:srgbClr val="007F7B"/>
                </a:solidFill>
                <a:latin typeface="Helvetica Neue"/>
                <a:ea typeface="Helvetica Neue"/>
                <a:cs typeface="Helvetica Neue"/>
              </a:defRPr>
            </a:lvl7pPr>
            <a:lvl8pPr>
              <a:buNone/>
              <a:defRPr sz="4350" b="1">
                <a:solidFill>
                  <a:srgbClr val="007F7B"/>
                </a:solidFill>
                <a:latin typeface="Helvetica Neue"/>
                <a:ea typeface="Helvetica Neue"/>
                <a:cs typeface="Helvetica Neue"/>
              </a:defRPr>
            </a:lvl8pPr>
            <a:lvl9pPr>
              <a:buNone/>
              <a:defRPr sz="4350" b="1">
                <a:solidFill>
                  <a:srgbClr val="007F7B"/>
                </a:solidFill>
                <a:latin typeface="Helvetica Neue"/>
                <a:ea typeface="Helvetica Neue"/>
                <a:cs typeface="Helvetica Neue"/>
              </a:defRPr>
            </a:lvl9pPr>
          </a:lstStyle>
          <a:p xmlns:a="http://schemas.openxmlformats.org/drawingml/2006/main">
            <a:pPr>
              <a:buNone/>
              <a:defRPr sz="4350" b="1">
                <a:solidFill>
                  <a:srgbClr val="007F7B"/>
                </a:solidFill>
                <a:latin typeface="Helvetica Neue"/>
                <a:ea typeface="Helvetica Neue"/>
                <a:cs typeface="Helvetica Neue"/>
              </a:defRPr>
            </a:pPr>
            <a:r>
              <a:rPr sz="4350" b="1">
                <a:solidFill>
                  <a:srgbClr val="007F7B"/>
                </a:solidFill>
                <a:latin typeface="Helvetica Neue"/>
                <a:ea typeface="Helvetica Neue"/>
                <a:cs typeface="Helvetica Neue"/>
              </a:rPr>
              <a:t>30 searches</a:t>
            </a:r>
          </a:p>
        </p:txBody>
      </p:sp>
      <p:sp>
        <p:nvSpPr>
          <p:cNvPr id="10" name="">
            <a:extLst xmlns:a="http://schemas.openxmlformats.org/drawingml/2006/main">
              <a:ext uri="{FF2B5EF4-FFF2-40B4-BE49-F238E27FC236}">
                <a16:creationId xmlns:a16="http://schemas.microsoft.com/office/drawing/2014/main" id="{EA18A0FA-1655-41CC-AE0B-A37F414A2D66}"/>
              </a:ext>
            </a:extLst>
          </p:cNvPr>
          <p:cNvSpPr>
            <a:spLocks xmlns:a="http://schemas.openxmlformats.org/drawingml/2006/main" noGrp="1"/>
          </p:cNvSpPr>
          <p:nvPr/>
        </p:nvSpPr>
        <p:spPr>
          <a:xfrm xmlns:a="http://schemas.openxmlformats.org/drawingml/2006/main">
            <a:off x="4857750" y="524827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B3A"/>
                </a:solidFill>
                <a:latin typeface="Helvetica Neue"/>
                <a:ea typeface="Helvetica Neue"/>
                <a:cs typeface="Helvetica Neue"/>
              </a:defRPr>
            </a:defPPr>
            <a:lvl1pPr>
              <a:buNone/>
              <a:defRPr sz="2250" b="0">
                <a:solidFill>
                  <a:srgbClr val="172B3A"/>
                </a:solidFill>
                <a:latin typeface="Helvetica Neue"/>
                <a:ea typeface="Helvetica Neue"/>
                <a:cs typeface="Helvetica Neue"/>
              </a:defRPr>
            </a:lvl1pPr>
            <a:lvl2pPr>
              <a:buNone/>
              <a:defRPr sz="2250" b="0">
                <a:solidFill>
                  <a:srgbClr val="172B3A"/>
                </a:solidFill>
                <a:latin typeface="Helvetica Neue"/>
                <a:ea typeface="Helvetica Neue"/>
                <a:cs typeface="Helvetica Neue"/>
              </a:defRPr>
            </a:lvl2pPr>
            <a:lvl3pPr>
              <a:buNone/>
              <a:defRPr sz="2250" b="0">
                <a:solidFill>
                  <a:srgbClr val="172B3A"/>
                </a:solidFill>
                <a:latin typeface="Helvetica Neue"/>
                <a:ea typeface="Helvetica Neue"/>
                <a:cs typeface="Helvetica Neue"/>
              </a:defRPr>
            </a:lvl3pPr>
            <a:lvl4pPr>
              <a:buNone/>
              <a:defRPr sz="2250" b="0">
                <a:solidFill>
                  <a:srgbClr val="172B3A"/>
                </a:solidFill>
                <a:latin typeface="Helvetica Neue"/>
                <a:ea typeface="Helvetica Neue"/>
                <a:cs typeface="Helvetica Neue"/>
              </a:defRPr>
            </a:lvl4pPr>
            <a:lvl5pPr>
              <a:buNone/>
              <a:defRPr sz="2250" b="0">
                <a:solidFill>
                  <a:srgbClr val="172B3A"/>
                </a:solidFill>
                <a:latin typeface="Helvetica Neue"/>
                <a:ea typeface="Helvetica Neue"/>
                <a:cs typeface="Helvetica Neue"/>
              </a:defRPr>
            </a:lvl5pPr>
            <a:lvl6pPr>
              <a:buNone/>
              <a:defRPr sz="2250" b="0">
                <a:solidFill>
                  <a:srgbClr val="172B3A"/>
                </a:solidFill>
                <a:latin typeface="Helvetica Neue"/>
                <a:ea typeface="Helvetica Neue"/>
                <a:cs typeface="Helvetica Neue"/>
              </a:defRPr>
            </a:lvl6pPr>
            <a:lvl7pPr>
              <a:buNone/>
              <a:defRPr sz="2250" b="0">
                <a:solidFill>
                  <a:srgbClr val="172B3A"/>
                </a:solidFill>
                <a:latin typeface="Helvetica Neue"/>
                <a:ea typeface="Helvetica Neue"/>
                <a:cs typeface="Helvetica Neue"/>
              </a:defRPr>
            </a:lvl7pPr>
            <a:lvl8pPr>
              <a:buNone/>
              <a:defRPr sz="2250" b="0">
                <a:solidFill>
                  <a:srgbClr val="172B3A"/>
                </a:solidFill>
                <a:latin typeface="Helvetica Neue"/>
                <a:ea typeface="Helvetica Neue"/>
                <a:cs typeface="Helvetica Neue"/>
              </a:defRPr>
            </a:lvl8pPr>
            <a:lvl9pPr>
              <a:buNone/>
              <a:defRPr sz="2250" b="0">
                <a:solidFill>
                  <a:srgbClr val="172B3A"/>
                </a:solidFill>
                <a:latin typeface="Helvetica Neue"/>
                <a:ea typeface="Helvetica Neue"/>
                <a:cs typeface="Helvetica Neue"/>
              </a:defRPr>
            </a:lvl9pPr>
          </a:lstStyle>
          <a:p xmlns:a="http://schemas.openxmlformats.org/drawingml/2006/main">
            <a:pPr>
              <a:buNone/>
              <a:defRPr sz="2250" b="0">
                <a:solidFill>
                  <a:srgbClr val="172B3A"/>
                </a:solidFill>
                <a:latin typeface="Helvetica Neue"/>
                <a:ea typeface="Helvetica Neue"/>
                <a:cs typeface="Helvetica Neue"/>
              </a:defRPr>
            </a:pPr>
            <a:r>
              <a:rPr sz="2250" b="0">
                <a:solidFill>
                  <a:srgbClr val="172B3A"/>
                </a:solidFill>
                <a:latin typeface="Helvetica Neue"/>
                <a:ea typeface="Helvetica Neue"/>
                <a:cs typeface="Helvetica Neue"/>
              </a:rPr>
              <a:t>per strategy, with varied candidate order</a:t>
            </a:r>
          </a:p>
        </p:txBody>
      </p:sp>
      <p:sp>
        <p:nvSpPr>
          <p:cNvPr id="11" name="">
            <a:extLst xmlns:a="http://schemas.openxmlformats.org/drawingml/2006/main">
              <a:ext uri="{FF2B5EF4-FFF2-40B4-BE49-F238E27FC236}">
                <a16:creationId xmlns:a16="http://schemas.microsoft.com/office/drawing/2014/main" id="{9023C2DD-B382-410A-99D4-1D2C3C22835F}"/>
              </a:ext>
            </a:extLst>
          </p:cNvPr>
          <p:cNvSpPr>
            <a:spLocks xmlns:a="http://schemas.openxmlformats.org/drawingml/2006/main" noGrp="1"/>
          </p:cNvSpPr>
          <p:nvPr/>
        </p:nvSpPr>
        <p:spPr>
          <a:xfrm xmlns:a="http://schemas.openxmlformats.org/drawingml/2006/main">
            <a:off x="533400" y="596265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44838"/>
                </a:solidFill>
                <a:latin typeface="Helvetica Neue"/>
                <a:ea typeface="Helvetica Neue"/>
                <a:cs typeface="Helvetica Neue"/>
              </a:defRPr>
            </a:defPPr>
            <a:lvl1pPr>
              <a:buNone/>
              <a:defRPr sz="1800" b="0">
                <a:solidFill>
                  <a:srgbClr val="A44838"/>
                </a:solidFill>
                <a:latin typeface="Helvetica Neue"/>
                <a:ea typeface="Helvetica Neue"/>
                <a:cs typeface="Helvetica Neue"/>
              </a:defRPr>
            </a:lvl1pPr>
            <a:lvl2pPr>
              <a:buNone/>
              <a:defRPr sz="1800" b="0">
                <a:solidFill>
                  <a:srgbClr val="A44838"/>
                </a:solidFill>
                <a:latin typeface="Helvetica Neue"/>
                <a:ea typeface="Helvetica Neue"/>
                <a:cs typeface="Helvetica Neue"/>
              </a:defRPr>
            </a:lvl2pPr>
            <a:lvl3pPr>
              <a:buNone/>
              <a:defRPr sz="1800" b="0">
                <a:solidFill>
                  <a:srgbClr val="A44838"/>
                </a:solidFill>
                <a:latin typeface="Helvetica Neue"/>
                <a:ea typeface="Helvetica Neue"/>
                <a:cs typeface="Helvetica Neue"/>
              </a:defRPr>
            </a:lvl3pPr>
            <a:lvl4pPr>
              <a:buNone/>
              <a:defRPr sz="1800" b="0">
                <a:solidFill>
                  <a:srgbClr val="A44838"/>
                </a:solidFill>
                <a:latin typeface="Helvetica Neue"/>
                <a:ea typeface="Helvetica Neue"/>
                <a:cs typeface="Helvetica Neue"/>
              </a:defRPr>
            </a:lvl4pPr>
            <a:lvl5pPr>
              <a:buNone/>
              <a:defRPr sz="1800" b="0">
                <a:solidFill>
                  <a:srgbClr val="A44838"/>
                </a:solidFill>
                <a:latin typeface="Helvetica Neue"/>
                <a:ea typeface="Helvetica Neue"/>
                <a:cs typeface="Helvetica Neue"/>
              </a:defRPr>
            </a:lvl5pPr>
            <a:lvl6pPr>
              <a:buNone/>
              <a:defRPr sz="1800" b="0">
                <a:solidFill>
                  <a:srgbClr val="A44838"/>
                </a:solidFill>
                <a:latin typeface="Helvetica Neue"/>
                <a:ea typeface="Helvetica Neue"/>
                <a:cs typeface="Helvetica Neue"/>
              </a:defRPr>
            </a:lvl6pPr>
            <a:lvl7pPr>
              <a:buNone/>
              <a:defRPr sz="1800" b="0">
                <a:solidFill>
                  <a:srgbClr val="A44838"/>
                </a:solidFill>
                <a:latin typeface="Helvetica Neue"/>
                <a:ea typeface="Helvetica Neue"/>
                <a:cs typeface="Helvetica Neue"/>
              </a:defRPr>
            </a:lvl7pPr>
            <a:lvl8pPr>
              <a:buNone/>
              <a:defRPr sz="1800" b="0">
                <a:solidFill>
                  <a:srgbClr val="A44838"/>
                </a:solidFill>
                <a:latin typeface="Helvetica Neue"/>
                <a:ea typeface="Helvetica Neue"/>
                <a:cs typeface="Helvetica Neue"/>
              </a:defRPr>
            </a:lvl8pPr>
            <a:lvl9pPr>
              <a:buNone/>
              <a:defRPr sz="1800" b="0">
                <a:solidFill>
                  <a:srgbClr val="A44838"/>
                </a:solidFill>
                <a:latin typeface="Helvetica Neue"/>
                <a:ea typeface="Helvetica Neue"/>
                <a:cs typeface="Helvetica Neue"/>
              </a:defRPr>
            </a:lvl9pPr>
          </a:lstStyle>
          <a:p xmlns:a="http://schemas.openxmlformats.org/drawingml/2006/main">
            <a:pPr>
              <a:buNone/>
              <a:defRPr sz="1800" b="0">
                <a:solidFill>
                  <a:srgbClr val="A44838"/>
                </a:solidFill>
                <a:latin typeface="Helvetica Neue"/>
                <a:ea typeface="Helvetica Neue"/>
                <a:cs typeface="Helvetica Neue"/>
              </a:defRPr>
            </a:pPr>
            <a:r>
              <a:rPr sz="1800" b="0">
                <a:solidFill>
                  <a:srgbClr val="A44838"/>
                </a:solidFill>
                <a:latin typeface="Helvetica Neue"/>
                <a:ea typeface="Helvetica Neue"/>
                <a:cs typeface="Helvetica Neue"/>
              </a:rPr>
              <a:t>“Success” means finding at least one passing material. It does not mean a working battery.</a:t>
            </a:r>
          </a:p>
        </p:txBody>
      </p:sp>
    </p:spTree>
    <p:extLst>
      <p:ext uri="{BB962C8B-B14F-4D97-AF65-F5344CB8AC3E}">
        <p14:creationId xmlns:p14="http://schemas.microsoft.com/office/powerpoint/2010/main" val="352594858"/>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D929DC-919B-4BA5-AA5E-1CCA29ED07D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1 / COMPARISON</a:t>
            </a:r>
          </a:p>
        </p:txBody>
      </p:sp>
      <p:sp>
        <p:nvSpPr>
          <p:cNvPr id="2" name="">
            <a:extLst xmlns:a="http://schemas.openxmlformats.org/drawingml/2006/main">
              <a:ext uri="{FF2B5EF4-FFF2-40B4-BE49-F238E27FC236}">
                <a16:creationId xmlns:a16="http://schemas.microsoft.com/office/drawing/2014/main" id="{730A8723-F0F8-4BBA-B6B9-A2FC669741EA}"/>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strategies make the comparison fair</a:t>
            </a:r>
          </a:p>
        </p:txBody>
      </p:sp>
      <p:sp>
        <p:nvSpPr>
          <p:cNvPr id="3" name="">
            <a:extLst xmlns:a="http://schemas.openxmlformats.org/drawingml/2006/main">
              <a:ext uri="{FF2B5EF4-FFF2-40B4-BE49-F238E27FC236}">
                <a16:creationId xmlns:a16="http://schemas.microsoft.com/office/drawing/2014/main" id="{21834753-DED8-436E-90C4-E6C09E9AC10F}"/>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same menu, the same ten tries, and the same definition of success.</a:t>
            </a:r>
          </a:p>
        </p:txBody>
      </p:sp>
      <p:sp>
        <p:nvSpPr>
          <p:cNvPr id="4" name="">
            <a:extLst xmlns:a="http://schemas.openxmlformats.org/drawingml/2006/main">
              <a:ext uri="{FF2B5EF4-FFF2-40B4-BE49-F238E27FC236}">
                <a16:creationId xmlns:a16="http://schemas.microsoft.com/office/drawing/2014/main" id="{E93C247D-0540-4A08-B762-57CCF607B3B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19653C7B-D993-48A5-9AB8-FCC34CF93C5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5FF9DE39-792C-49F8-8A3A-764D065C83CC}"/>
              </a:ext>
            </a:extLst>
          </p:cNvPr>
          <p:cNvGraphicFramePr/>
          <p:nvPr/>
        </p:nvGraphicFramePr>
        <p:xfrm>
          <a:off xmlns:a="http://schemas.openxmlformats.org/drawingml/2006/main" x="533400" y="2143125"/>
          <a:ext xmlns:a="http://schemas.openxmlformats.org/drawingml/2006/main" cx="11125200" cy="3533775"/>
        </p:xfrm>
        <a:graphic xmlns:a="http://schemas.openxmlformats.org/drawingml/2006/main">
          <a:graphicData uri="http://schemas.openxmlformats.org/drawingml/2006/table">
            <a:tbl>
              <a:tblPr firstRow="0" bandRow="0"/>
              <a:tblGrid>
                <a:gridCol w="3619500"/>
                <a:gridCol w="7505700"/>
              </a:tblGrid>
              <a:tr h="588963">
                <a:tc>
                  <a:txBody>
                    <a:bodyPr lIns="0" tIns="0" rIns="0" bIns="0">
                      <a:noAutofit/>
                    </a:bodyPr>
                    <a:lstStyle/>
                    <a:p>
                      <a:r>
                        <a:rPr sz="1875" b="1">
                          <a:solidFill>
                            <a:srgbClr val="FFFFFF"/>
                          </a:solidFill>
                          <a:latin typeface="Helvetica Neue"/>
                          <a:ea typeface="Helvetica Neue"/>
                          <a:cs typeface="Helvetica Neue"/>
                        </a:rPr>
                        <a:t>Strategy used in the charts</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How the next choice is made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88963">
                <a:tc>
                  <a:txBody>
                    <a:bodyPr lIns="0" tIns="0" rIns="0" bIns="0">
                      <a:noAutofit/>
                    </a:bodyPr>
                    <a:lstStyle/>
                    <a:p>
                      <a:r>
                        <a:rPr sz="2025" b="0">
                          <a:solidFill>
                            <a:srgbClr val="172B3A"/>
                          </a:solidFill>
                          <a:latin typeface="Helvetica Neue"/>
                          <a:ea typeface="Helvetica Neue"/>
                          <a:cs typeface="Helvetica Neue"/>
                        </a:rPr>
                        <a:t>Uses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sees the outcomes of its earlier choices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sees its choices, but not their outcomes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sees outcomes reassigned between materials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One list</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LLM chooses all ten materials before any result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588963">
                <a:tc>
                  <a:txBody>
                    <a:bodyPr lIns="0" tIns="0" rIns="0" bIns="0">
                      <a:noAutofit/>
                    </a:bodyPr>
                    <a:lstStyle/>
                    <a:p>
                      <a:r>
                        <a:rPr sz="2025"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Software picks materials at random, without repeats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3F60A33F-9278-46FC-9449-BF669F25E143}"/>
              </a:ext>
            </a:extLst>
          </p:cNvPr>
          <p:cNvSpPr>
            <a:spLocks xmlns:a="http://schemas.openxmlformats.org/drawingml/2006/main" noGrp="1"/>
          </p:cNvSpPr>
          <p:nvPr/>
        </p:nvSpPr>
        <p:spPr>
          <a:xfrm xmlns:a="http://schemas.openxmlformats.org/drawingml/2006/main">
            <a:off x="533400" y="59436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The first four use the same LLM. Random search provides a simple comparison.</a:t>
            </a:r>
          </a:p>
        </p:txBody>
      </p:sp>
    </p:spTree>
    <p:extLst>
      <p:ext uri="{BB962C8B-B14F-4D97-AF65-F5344CB8AC3E}">
        <p14:creationId xmlns:p14="http://schemas.microsoft.com/office/powerpoint/2010/main" val="2065156266"/>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937243-8709-4C73-AA96-A306CEA6BC5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1 / RESULT</a:t>
            </a:r>
          </a:p>
        </p:txBody>
      </p:sp>
      <p:sp>
        <p:nvSpPr>
          <p:cNvPr id="2" name="">
            <a:extLst xmlns:a="http://schemas.openxmlformats.org/drawingml/2006/main">
              <a:ext uri="{FF2B5EF4-FFF2-40B4-BE49-F238E27FC236}">
                <a16:creationId xmlns:a16="http://schemas.microsoft.com/office/drawing/2014/main" id="{726206BC-092D-4B36-9A73-8129C29433C0}"/>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Using results improved the first search test</a:t>
            </a:r>
          </a:p>
        </p:txBody>
      </p:sp>
      <p:sp>
        <p:nvSpPr>
          <p:cNvPr id="3" name="">
            <a:extLst xmlns:a="http://schemas.openxmlformats.org/drawingml/2006/main">
              <a:ext uri="{FF2B5EF4-FFF2-40B4-BE49-F238E27FC236}">
                <a16:creationId xmlns:a16="http://schemas.microsoft.com/office/drawing/2014/main" id="{6CB7D728-94F8-4727-AA71-635EC35BB145}"/>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Successful searches out of 30, using the original 50-structure menu.</a:t>
            </a:r>
          </a:p>
        </p:txBody>
      </p:sp>
      <p:sp>
        <p:nvSpPr>
          <p:cNvPr id="4" name="">
            <a:extLst xmlns:a="http://schemas.openxmlformats.org/drawingml/2006/main">
              <a:ext uri="{FF2B5EF4-FFF2-40B4-BE49-F238E27FC236}">
                <a16:creationId xmlns:a16="http://schemas.microsoft.com/office/drawing/2014/main" id="{3D734DDE-5BFE-4D43-A661-3AEFA115E87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CAC3C2A5-C023-47DE-BCB7-7CBE85C5047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graphicFrame>
        <p:nvGraphicFramePr>
          <p:cNvPr id="6" name="Chart">
            <a:extLst xmlns:a="http://schemas.openxmlformats.org/drawingml/2006/main">
              <a:ext uri="{FF2B5EF4-FFF2-40B4-BE49-F238E27FC236}">
                <a16:creationId xmlns:a16="http://schemas.microsoft.com/office/drawing/2014/main" id="{16E6B4AF-3E9F-4018-9F40-B558E115DA05}"/>
              </a:ext>
            </a:extLst>
          </p:cNvPr>
          <p:cNvGraphicFramePr/>
          <p:nvPr/>
        </p:nvGraphicFramePr>
        <p:xfrm>
          <a:off xmlns:a="http://schemas.openxmlformats.org/drawingml/2006/main" x="533400" y="20955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e2b3db312f374dfa"/>
          </a:graphicData>
        </a:graphic>
      </p:graphicFrame>
      <p:sp>
        <p:nvSpPr>
          <p:cNvPr id="7" name="">
            <a:extLst xmlns:a="http://schemas.openxmlformats.org/drawingml/2006/main">
              <a:ext uri="{FF2B5EF4-FFF2-40B4-BE49-F238E27FC236}">
                <a16:creationId xmlns:a16="http://schemas.microsoft.com/office/drawing/2014/main" id="{B8869E07-D671-497F-92A0-90EF83FC7BB4}"/>
              </a:ext>
            </a:extLst>
          </p:cNvPr>
          <p:cNvSpPr>
            <a:spLocks xmlns:a="http://schemas.openxmlformats.org/drawingml/2006/main" noGrp="1"/>
          </p:cNvSpPr>
          <p:nvPr/>
        </p:nvSpPr>
        <p:spPr>
          <a:xfrm xmlns:a="http://schemas.openxmlformats.org/drawingml/2006/main">
            <a:off x="533400" y="57531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buNone/>
              <a:defRPr sz="1800" b="0">
                <a:solidFill>
                  <a:srgbClr val="007F7B"/>
                </a:solidFill>
                <a:latin typeface="Helvetica Neue"/>
                <a:ea typeface="Helvetica Neue"/>
                <a:cs typeface="Helvetica Neue"/>
              </a:defRPr>
            </a:lvl1pPr>
            <a:lvl2pPr>
              <a:buNone/>
              <a:defRPr sz="1800" b="0">
                <a:solidFill>
                  <a:srgbClr val="007F7B"/>
                </a:solidFill>
                <a:latin typeface="Helvetica Neue"/>
                <a:ea typeface="Helvetica Neue"/>
                <a:cs typeface="Helvetica Neue"/>
              </a:defRPr>
            </a:lvl2pPr>
            <a:lvl3pPr>
              <a:buNone/>
              <a:defRPr sz="1800" b="0">
                <a:solidFill>
                  <a:srgbClr val="007F7B"/>
                </a:solidFill>
                <a:latin typeface="Helvetica Neue"/>
                <a:ea typeface="Helvetica Neue"/>
                <a:cs typeface="Helvetica Neue"/>
              </a:defRPr>
            </a:lvl3pPr>
            <a:lvl4pPr>
              <a:buNone/>
              <a:defRPr sz="1800" b="0">
                <a:solidFill>
                  <a:srgbClr val="007F7B"/>
                </a:solidFill>
                <a:latin typeface="Helvetica Neue"/>
                <a:ea typeface="Helvetica Neue"/>
                <a:cs typeface="Helvetica Neue"/>
              </a:defRPr>
            </a:lvl4pPr>
            <a:lvl5pPr>
              <a:buNone/>
              <a:defRPr sz="1800" b="0">
                <a:solidFill>
                  <a:srgbClr val="007F7B"/>
                </a:solidFill>
                <a:latin typeface="Helvetica Neue"/>
                <a:ea typeface="Helvetica Neue"/>
                <a:cs typeface="Helvetica Neue"/>
              </a:defRPr>
            </a:lvl5pPr>
            <a:lvl6pPr>
              <a:buNone/>
              <a:defRPr sz="1800" b="0">
                <a:solidFill>
                  <a:srgbClr val="007F7B"/>
                </a:solidFill>
                <a:latin typeface="Helvetica Neue"/>
                <a:ea typeface="Helvetica Neue"/>
                <a:cs typeface="Helvetica Neue"/>
              </a:defRPr>
            </a:lvl6pPr>
            <a:lvl7pPr>
              <a:buNone/>
              <a:defRPr sz="1800" b="0">
                <a:solidFill>
                  <a:srgbClr val="007F7B"/>
                </a:solidFill>
                <a:latin typeface="Helvetica Neue"/>
                <a:ea typeface="Helvetica Neue"/>
                <a:cs typeface="Helvetica Neue"/>
              </a:defRPr>
            </a:lvl7pPr>
            <a:lvl8pPr>
              <a:buNone/>
              <a:defRPr sz="1800" b="0">
                <a:solidFill>
                  <a:srgbClr val="007F7B"/>
                </a:solidFill>
                <a:latin typeface="Helvetica Neue"/>
                <a:ea typeface="Helvetica Neue"/>
                <a:cs typeface="Helvetica Neue"/>
              </a:defRPr>
            </a:lvl8pPr>
            <a:lvl9pPr>
              <a:buNone/>
              <a:defRPr sz="1800" b="0">
                <a:solidFill>
                  <a:srgbClr val="007F7B"/>
                </a:solidFill>
                <a:latin typeface="Helvetica Neue"/>
                <a:ea typeface="Helvetica Neue"/>
                <a:cs typeface="Helvetica Neue"/>
              </a:defRPr>
            </a:lvl9pPr>
          </a:lstStyle>
          <a:p xmlns:a="http://schemas.openxmlformats.org/drawingml/2006/main">
            <a:pPr>
              <a:buNone/>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Correct feedback helped: 19 successes, versus 4 without results and 6 with mixed-up results.</a:t>
            </a:r>
          </a:p>
        </p:txBody>
      </p:sp>
    </p:spTree>
    <p:extLst>
      <p:ext uri="{BB962C8B-B14F-4D97-AF65-F5344CB8AC3E}">
        <p14:creationId xmlns:p14="http://schemas.microsoft.com/office/powerpoint/2010/main" val="601391771"/>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CE76E58-AB75-4694-BA07-6CA2E3284DF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2 / A LARGER TEST</a:t>
            </a:r>
          </a:p>
        </p:txBody>
      </p:sp>
      <p:sp>
        <p:nvSpPr>
          <p:cNvPr id="2" name="">
            <a:extLst xmlns:a="http://schemas.openxmlformats.org/drawingml/2006/main">
              <a:ext uri="{FF2B5EF4-FFF2-40B4-BE49-F238E27FC236}">
                <a16:creationId xmlns:a16="http://schemas.microsoft.com/office/drawing/2014/main" id="{218341E6-D23C-4B7D-B5E2-DD61599972CB}"/>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benefit changed with the battery materials</a:t>
            </a:r>
          </a:p>
        </p:txBody>
      </p:sp>
      <p:sp>
        <p:nvSpPr>
          <p:cNvPr id="3" name="">
            <a:extLst xmlns:a="http://schemas.openxmlformats.org/drawingml/2006/main">
              <a:ext uri="{FF2B5EF4-FFF2-40B4-BE49-F238E27FC236}">
                <a16:creationId xmlns:a16="http://schemas.microsoft.com/office/drawing/2014/main" id="{A8DCC6DE-2316-4A8D-AA27-CF16C590AF97}"/>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141 structures, three electrolytes, 450 searches across all five strategies.</a:t>
            </a:r>
          </a:p>
        </p:txBody>
      </p:sp>
      <p:sp>
        <p:nvSpPr>
          <p:cNvPr id="4" name="">
            <a:extLst xmlns:a="http://schemas.openxmlformats.org/drawingml/2006/main">
              <a:ext uri="{FF2B5EF4-FFF2-40B4-BE49-F238E27FC236}">
                <a16:creationId xmlns:a16="http://schemas.microsoft.com/office/drawing/2014/main" id="{828916FF-8831-47D6-8995-FDFB70CBB964}"/>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8BDF39ED-9D26-4A3B-9FC7-3C44FF67623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09</a:t>
            </a:r>
          </a:p>
        </p:txBody>
      </p:sp>
      <p:graphicFrame>
        <p:nvGraphicFramePr>
          <p:cNvPr id="6" name="Chart">
            <a:extLst xmlns:a="http://schemas.openxmlformats.org/drawingml/2006/main">
              <a:ext uri="{FF2B5EF4-FFF2-40B4-BE49-F238E27FC236}">
                <a16:creationId xmlns:a16="http://schemas.microsoft.com/office/drawing/2014/main" id="{C09E964C-1AA0-4B95-B68A-36AC12F4B536}"/>
              </a:ext>
            </a:extLst>
          </p:cNvPr>
          <p:cNvGraphicFramePr/>
          <p:nvPr/>
        </p:nvGraphicFramePr>
        <p:xfrm>
          <a:off xmlns:a="http://schemas.openxmlformats.org/drawingml/2006/main" x="533400" y="20955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a04fe637fa4a4617"/>
          </a:graphicData>
        </a:graphic>
      </p:graphicFrame>
      <p:sp>
        <p:nvSpPr>
          <p:cNvPr id="7" name="">
            <a:extLst xmlns:a="http://schemas.openxmlformats.org/drawingml/2006/main">
              <a:ext uri="{FF2B5EF4-FFF2-40B4-BE49-F238E27FC236}">
                <a16:creationId xmlns:a16="http://schemas.microsoft.com/office/drawing/2014/main" id="{6B8D16AD-9AB7-465E-B3F5-2BB02AA690CC}"/>
              </a:ext>
            </a:extLst>
          </p:cNvPr>
          <p:cNvSpPr>
            <a:spLocks xmlns:a="http://schemas.openxmlformats.org/drawingml/2006/main" noGrp="1"/>
          </p:cNvSpPr>
          <p:nvPr/>
        </p:nvSpPr>
        <p:spPr>
          <a:xfrm xmlns:a="http://schemas.openxmlformats.org/drawingml/2006/main">
            <a:off x="1009650" y="5743575"/>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Feedback helped</a:t>
            </a:r>
          </a:p>
        </p:txBody>
      </p:sp>
      <p:sp>
        <p:nvSpPr>
          <p:cNvPr id="8" name="">
            <a:extLst xmlns:a="http://schemas.openxmlformats.org/drawingml/2006/main">
              <a:ext uri="{FF2B5EF4-FFF2-40B4-BE49-F238E27FC236}">
                <a16:creationId xmlns:a16="http://schemas.microsoft.com/office/drawing/2014/main" id="{E4A3DC68-27C3-4ED8-8DF2-0E338388BC34}"/>
              </a:ext>
            </a:extLst>
          </p:cNvPr>
          <p:cNvSpPr>
            <a:spLocks xmlns:a="http://schemas.openxmlformats.org/drawingml/2006/main" noGrp="1"/>
          </p:cNvSpPr>
          <p:nvPr/>
        </p:nvSpPr>
        <p:spPr>
          <a:xfrm xmlns:a="http://schemas.openxmlformats.org/drawingml/2006/main">
            <a:off x="4295775" y="57435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2B3A"/>
                </a:solidFill>
                <a:latin typeface="Helvetica Neue"/>
                <a:ea typeface="Helvetica Neue"/>
                <a:cs typeface="Helvetica Neue"/>
              </a:defRPr>
            </a:defPPr>
            <a:lvl1pPr>
              <a:buNone/>
              <a:defRPr sz="2175" b="1">
                <a:solidFill>
                  <a:srgbClr val="172B3A"/>
                </a:solidFill>
                <a:latin typeface="Helvetica Neue"/>
                <a:ea typeface="Helvetica Neue"/>
                <a:cs typeface="Helvetica Neue"/>
              </a:defRPr>
            </a:lvl1pPr>
            <a:lvl2pPr>
              <a:buNone/>
              <a:defRPr sz="2175" b="1">
                <a:solidFill>
                  <a:srgbClr val="172B3A"/>
                </a:solidFill>
                <a:latin typeface="Helvetica Neue"/>
                <a:ea typeface="Helvetica Neue"/>
                <a:cs typeface="Helvetica Neue"/>
              </a:defRPr>
            </a:lvl2pPr>
            <a:lvl3pPr>
              <a:buNone/>
              <a:defRPr sz="2175" b="1">
                <a:solidFill>
                  <a:srgbClr val="172B3A"/>
                </a:solidFill>
                <a:latin typeface="Helvetica Neue"/>
                <a:ea typeface="Helvetica Neue"/>
                <a:cs typeface="Helvetica Neue"/>
              </a:defRPr>
            </a:lvl3pPr>
            <a:lvl4pPr>
              <a:buNone/>
              <a:defRPr sz="2175" b="1">
                <a:solidFill>
                  <a:srgbClr val="172B3A"/>
                </a:solidFill>
                <a:latin typeface="Helvetica Neue"/>
                <a:ea typeface="Helvetica Neue"/>
                <a:cs typeface="Helvetica Neue"/>
              </a:defRPr>
            </a:lvl4pPr>
            <a:lvl5pPr>
              <a:buNone/>
              <a:defRPr sz="2175" b="1">
                <a:solidFill>
                  <a:srgbClr val="172B3A"/>
                </a:solidFill>
                <a:latin typeface="Helvetica Neue"/>
                <a:ea typeface="Helvetica Neue"/>
                <a:cs typeface="Helvetica Neue"/>
              </a:defRPr>
            </a:lvl5pPr>
            <a:lvl6pPr>
              <a:buNone/>
              <a:defRPr sz="2175" b="1">
                <a:solidFill>
                  <a:srgbClr val="172B3A"/>
                </a:solidFill>
                <a:latin typeface="Helvetica Neue"/>
                <a:ea typeface="Helvetica Neue"/>
                <a:cs typeface="Helvetica Neue"/>
              </a:defRPr>
            </a:lvl6pPr>
            <a:lvl7pPr>
              <a:buNone/>
              <a:defRPr sz="2175" b="1">
                <a:solidFill>
                  <a:srgbClr val="172B3A"/>
                </a:solidFill>
                <a:latin typeface="Helvetica Neue"/>
                <a:ea typeface="Helvetica Neue"/>
                <a:cs typeface="Helvetica Neue"/>
              </a:defRPr>
            </a:lvl7pPr>
            <a:lvl8pPr>
              <a:buNone/>
              <a:defRPr sz="2175" b="1">
                <a:solidFill>
                  <a:srgbClr val="172B3A"/>
                </a:solidFill>
                <a:latin typeface="Helvetica Neue"/>
                <a:ea typeface="Helvetica Neue"/>
                <a:cs typeface="Helvetica Neue"/>
              </a:defRPr>
            </a:lvl8pPr>
            <a:lvl9pPr>
              <a:buNone/>
              <a:defRPr sz="2175" b="1">
                <a:solidFill>
                  <a:srgbClr val="172B3A"/>
                </a:solidFill>
                <a:latin typeface="Helvetica Neue"/>
                <a:ea typeface="Helvetica Neue"/>
                <a:cs typeface="Helvetica Neue"/>
              </a:defRPr>
            </a:lvl9pPr>
          </a:lstStyle>
          <a:p xmlns:a="http://schemas.openxmlformats.org/drawingml/2006/main">
            <a:pPr>
              <a:buNone/>
              <a:defRPr sz="2175" b="1">
                <a:solidFill>
                  <a:srgbClr val="172B3A"/>
                </a:solidFill>
                <a:latin typeface="Helvetica Neue"/>
                <a:ea typeface="Helvetica Neue"/>
                <a:cs typeface="Helvetica Neue"/>
              </a:defRPr>
            </a:pPr>
            <a:r>
              <a:rPr sz="2175" b="1">
                <a:solidFill>
                  <a:srgbClr val="172B3A"/>
                </a:solidFill>
                <a:latin typeface="Helvetica Neue"/>
                <a:ea typeface="Helvetica Neue"/>
                <a:cs typeface="Helvetica Neue"/>
              </a:rPr>
              <a:t>Almost all succeeded</a:t>
            </a:r>
          </a:p>
        </p:txBody>
      </p:sp>
      <p:sp>
        <p:nvSpPr>
          <p:cNvPr id="9" name="">
            <a:extLst xmlns:a="http://schemas.openxmlformats.org/drawingml/2006/main">
              <a:ext uri="{FF2B5EF4-FFF2-40B4-BE49-F238E27FC236}">
                <a16:creationId xmlns:a16="http://schemas.microsoft.com/office/drawing/2014/main" id="{AB71B6AC-CBD8-40AC-A4A0-9C8945BE2419}"/>
              </a:ext>
            </a:extLst>
          </p:cNvPr>
          <p:cNvSpPr>
            <a:spLocks xmlns:a="http://schemas.openxmlformats.org/drawingml/2006/main" noGrp="1"/>
          </p:cNvSpPr>
          <p:nvPr/>
        </p:nvSpPr>
        <p:spPr>
          <a:xfrm xmlns:a="http://schemas.openxmlformats.org/drawingml/2006/main">
            <a:off x="8372475" y="574357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A713A"/>
                </a:solidFill>
                <a:latin typeface="Helvetica Neue"/>
                <a:ea typeface="Helvetica Neue"/>
                <a:cs typeface="Helvetica Neue"/>
              </a:defRPr>
            </a:defPPr>
            <a:lvl1pPr>
              <a:buNone/>
              <a:defRPr sz="2175" b="1">
                <a:solidFill>
                  <a:srgbClr val="CA713A"/>
                </a:solidFill>
                <a:latin typeface="Helvetica Neue"/>
                <a:ea typeface="Helvetica Neue"/>
                <a:cs typeface="Helvetica Neue"/>
              </a:defRPr>
            </a:lvl1pPr>
            <a:lvl2pPr>
              <a:buNone/>
              <a:defRPr sz="2175" b="1">
                <a:solidFill>
                  <a:srgbClr val="CA713A"/>
                </a:solidFill>
                <a:latin typeface="Helvetica Neue"/>
                <a:ea typeface="Helvetica Neue"/>
                <a:cs typeface="Helvetica Neue"/>
              </a:defRPr>
            </a:lvl2pPr>
            <a:lvl3pPr>
              <a:buNone/>
              <a:defRPr sz="2175" b="1">
                <a:solidFill>
                  <a:srgbClr val="CA713A"/>
                </a:solidFill>
                <a:latin typeface="Helvetica Neue"/>
                <a:ea typeface="Helvetica Neue"/>
                <a:cs typeface="Helvetica Neue"/>
              </a:defRPr>
            </a:lvl3pPr>
            <a:lvl4pPr>
              <a:buNone/>
              <a:defRPr sz="2175" b="1">
                <a:solidFill>
                  <a:srgbClr val="CA713A"/>
                </a:solidFill>
                <a:latin typeface="Helvetica Neue"/>
                <a:ea typeface="Helvetica Neue"/>
                <a:cs typeface="Helvetica Neue"/>
              </a:defRPr>
            </a:lvl4pPr>
            <a:lvl5pPr>
              <a:buNone/>
              <a:defRPr sz="2175" b="1">
                <a:solidFill>
                  <a:srgbClr val="CA713A"/>
                </a:solidFill>
                <a:latin typeface="Helvetica Neue"/>
                <a:ea typeface="Helvetica Neue"/>
                <a:cs typeface="Helvetica Neue"/>
              </a:defRPr>
            </a:lvl5pPr>
            <a:lvl6pPr>
              <a:buNone/>
              <a:defRPr sz="2175" b="1">
                <a:solidFill>
                  <a:srgbClr val="CA713A"/>
                </a:solidFill>
                <a:latin typeface="Helvetica Neue"/>
                <a:ea typeface="Helvetica Neue"/>
                <a:cs typeface="Helvetica Neue"/>
              </a:defRPr>
            </a:lvl6pPr>
            <a:lvl7pPr>
              <a:buNone/>
              <a:defRPr sz="2175" b="1">
                <a:solidFill>
                  <a:srgbClr val="CA713A"/>
                </a:solidFill>
                <a:latin typeface="Helvetica Neue"/>
                <a:ea typeface="Helvetica Neue"/>
                <a:cs typeface="Helvetica Neue"/>
              </a:defRPr>
            </a:lvl7pPr>
            <a:lvl8pPr>
              <a:buNone/>
              <a:defRPr sz="2175" b="1">
                <a:solidFill>
                  <a:srgbClr val="CA713A"/>
                </a:solidFill>
                <a:latin typeface="Helvetica Neue"/>
                <a:ea typeface="Helvetica Neue"/>
                <a:cs typeface="Helvetica Neue"/>
              </a:defRPr>
            </a:lvl8pPr>
            <a:lvl9pPr>
              <a:buNone/>
              <a:defRPr sz="2175" b="1">
                <a:solidFill>
                  <a:srgbClr val="CA713A"/>
                </a:solidFill>
                <a:latin typeface="Helvetica Neue"/>
                <a:ea typeface="Helvetica Neue"/>
                <a:cs typeface="Helvetica Neue"/>
              </a:defRPr>
            </a:lvl9pPr>
          </a:lstStyle>
          <a:p xmlns:a="http://schemas.openxmlformats.org/drawingml/2006/main">
            <a:pPr>
              <a:buNone/>
              <a:defRPr sz="2175" b="1">
                <a:solidFill>
                  <a:srgbClr val="CA713A"/>
                </a:solidFill>
                <a:latin typeface="Helvetica Neue"/>
                <a:ea typeface="Helvetica Neue"/>
                <a:cs typeface="Helvetica Neue"/>
              </a:defRPr>
            </a:pPr>
            <a:r>
              <a:rPr sz="2175" b="1">
                <a:solidFill>
                  <a:srgbClr val="CA713A"/>
                </a:solidFill>
                <a:latin typeface="Helvetica Neue"/>
                <a:ea typeface="Helvetica Neue"/>
                <a:cs typeface="Helvetica Neue"/>
              </a:rPr>
              <a:t>Random did better</a:t>
            </a:r>
          </a:p>
        </p:txBody>
      </p:sp>
    </p:spTree>
    <p:extLst>
      <p:ext uri="{BB962C8B-B14F-4D97-AF65-F5344CB8AC3E}">
        <p14:creationId xmlns:p14="http://schemas.microsoft.com/office/powerpoint/2010/main" val="853691347"/>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95089A-B89C-4D78-8EA2-A36C3ABA16B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2 / WHAT THE LLM DID</a:t>
            </a:r>
          </a:p>
        </p:txBody>
      </p:sp>
      <p:sp>
        <p:nvSpPr>
          <p:cNvPr id="2" name="">
            <a:extLst xmlns:a="http://schemas.openxmlformats.org/drawingml/2006/main">
              <a:ext uri="{FF2B5EF4-FFF2-40B4-BE49-F238E27FC236}">
                <a16:creationId xmlns:a16="http://schemas.microsoft.com/office/drawing/2014/main" id="{FF3B6BFA-EF9A-4143-85C0-AC4DC82922E6}"/>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real example: refining a near miss</a:t>
            </a:r>
          </a:p>
        </p:txBody>
      </p:sp>
      <p:sp>
        <p:nvSpPr>
          <p:cNvPr id="3" name="">
            <a:extLst xmlns:a="http://schemas.openxmlformats.org/drawingml/2006/main">
              <a:ext uri="{FF2B5EF4-FFF2-40B4-BE49-F238E27FC236}">
                <a16:creationId xmlns:a16="http://schemas.microsoft.com/office/drawing/2014/main" id="{54D37F7A-4C59-4A0E-937C-A9EFB445D0BE}"/>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Three consecutive choices in one sulfide search. Lower reaction score is better.</a:t>
            </a:r>
          </a:p>
        </p:txBody>
      </p:sp>
      <p:sp>
        <p:nvSpPr>
          <p:cNvPr id="4" name="">
            <a:extLst xmlns:a="http://schemas.openxmlformats.org/drawingml/2006/main">
              <a:ext uri="{FF2B5EF4-FFF2-40B4-BE49-F238E27FC236}">
                <a16:creationId xmlns:a16="http://schemas.microsoft.com/office/drawing/2014/main" id="{DB7D880A-1875-4D3E-8B0A-382D75493D0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34D3EC88-8159-4966-AED2-A9D209C5DE4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10</a:t>
            </a:r>
          </a:p>
        </p:txBody>
      </p:sp>
      <p:graphicFrame>
        <p:nvGraphicFramePr>
          <p:cNvPr id="6" name="">
            <a:extLst xmlns:a="http://schemas.openxmlformats.org/drawingml/2006/main">
              <a:ext uri="{FF2B5EF4-FFF2-40B4-BE49-F238E27FC236}">
                <a16:creationId xmlns:a16="http://schemas.microsoft.com/office/drawing/2014/main" id="{A6812BD9-DD2A-41F3-AC55-96C413364593}"/>
              </a:ext>
            </a:extLst>
          </p:cNvPr>
          <p:cNvGraphicFramePr/>
          <p:nvPr/>
        </p:nvGraphicFramePr>
        <p:xfrm>
          <a:off xmlns:a="http://schemas.openxmlformats.org/drawingml/2006/main" x="533400" y="2143125"/>
          <a:ext xmlns:a="http://schemas.openxmlformats.org/drawingml/2006/main" cx="11125200" cy="2743200"/>
        </p:xfrm>
        <a:graphic xmlns:a="http://schemas.openxmlformats.org/drawingml/2006/main">
          <a:graphicData uri="http://schemas.openxmlformats.org/drawingml/2006/table">
            <a:tbl>
              <a:tblPr firstRow="0" bandRow="0"/>
              <a:tblGrid>
                <a:gridCol w="1143000"/>
                <a:gridCol w="2667000"/>
                <a:gridCol w="2524125"/>
                <a:gridCol w="4791075"/>
              </a:tblGrid>
              <a:tr h="685800">
                <a:tc>
                  <a:txBody>
                    <a:bodyPr lIns="0" tIns="0" rIns="0" bIns="0">
                      <a:noAutofit/>
                    </a:bodyPr>
                    <a:lstStyle/>
                    <a:p>
                      <a:r>
                        <a:rPr sz="1875" b="1">
                          <a:solidFill>
                            <a:srgbClr val="FFFFFF"/>
                          </a:solidFill>
                          <a:latin typeface="Helvetica Neue"/>
                          <a:ea typeface="Helvetica Neue"/>
                          <a:cs typeface="Helvetica Neue"/>
                        </a:rPr>
                        <a:t>Try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Material chosen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Reaction score</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What the test said</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85800">
                <a:tc>
                  <a:txBody>
                    <a:bodyPr lIns="0" tIns="0" rIns="0" bIns="0">
                      <a:noAutofit/>
                    </a:bodyPr>
                    <a:lstStyle/>
                    <a:p>
                      <a:r>
                        <a:rPr sz="2175" b="0">
                          <a:solidFill>
                            <a:srgbClr val="172B3A"/>
                          </a:solidFill>
                          <a:latin typeface="Helvetica Neue"/>
                          <a:ea typeface="Helvetica Neue"/>
                          <a:cs typeface="Helvetica Neue"/>
                        </a:rPr>
                        <a:t>6</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Li₃AlF₆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0.160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Does not pass</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7</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LiMgAlF₆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0.057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Close, but still above the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85800">
                <a:tc>
                  <a:txBody>
                    <a:bodyPr lIns="0" tIns="0" rIns="0" bIns="0">
                      <a:noAutofit/>
                    </a:bodyPr>
                    <a:lstStyle/>
                    <a:p>
                      <a:r>
                        <a:rPr sz="2175" b="0">
                          <a:solidFill>
                            <a:srgbClr val="172B3A"/>
                          </a:solidFill>
                          <a:latin typeface="Helvetica Neue"/>
                          <a:ea typeface="Helvetica Neue"/>
                          <a:cs typeface="Helvetica Neue"/>
                        </a:rPr>
                        <a:t>8</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LiCaAlF₆</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0.048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75" b="0">
                          <a:solidFill>
                            <a:srgbClr val="172B3A"/>
                          </a:solidFill>
                          <a:latin typeface="Helvetica Neue"/>
                          <a:ea typeface="Helvetica Neue"/>
                          <a:cs typeface="Helvetica Neue"/>
                        </a:rPr>
                        <a:t>Passes the 0.050 limit</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60CBFF44-24A5-4A2F-9B3B-29073FCA26EA}"/>
              </a:ext>
            </a:extLst>
          </p:cNvPr>
          <p:cNvSpPr>
            <a:spLocks xmlns:a="http://schemas.openxmlformats.org/drawingml/2006/main" noGrp="1"/>
          </p:cNvSpPr>
          <p:nvPr/>
        </p:nvSpPr>
        <p:spPr>
          <a:xfrm xmlns:a="http://schemas.openxmlformats.org/drawingml/2006/main">
            <a:off x="533400" y="523875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07F7B"/>
                </a:solidFill>
                <a:latin typeface="Helvetica Neue"/>
                <a:ea typeface="Helvetica Neue"/>
                <a:cs typeface="Helvetica Neue"/>
              </a:defRPr>
            </a:defPPr>
            <a:lvl1pPr>
              <a:buNone/>
              <a:defRPr sz="2475" b="1">
                <a:solidFill>
                  <a:srgbClr val="007F7B"/>
                </a:solidFill>
                <a:latin typeface="Helvetica Neue"/>
                <a:ea typeface="Helvetica Neue"/>
                <a:cs typeface="Helvetica Neue"/>
              </a:defRPr>
            </a:lvl1pPr>
            <a:lvl2pPr>
              <a:buNone/>
              <a:defRPr sz="2475" b="1">
                <a:solidFill>
                  <a:srgbClr val="007F7B"/>
                </a:solidFill>
                <a:latin typeface="Helvetica Neue"/>
                <a:ea typeface="Helvetica Neue"/>
                <a:cs typeface="Helvetica Neue"/>
              </a:defRPr>
            </a:lvl2pPr>
            <a:lvl3pPr>
              <a:buNone/>
              <a:defRPr sz="2475" b="1">
                <a:solidFill>
                  <a:srgbClr val="007F7B"/>
                </a:solidFill>
                <a:latin typeface="Helvetica Neue"/>
                <a:ea typeface="Helvetica Neue"/>
                <a:cs typeface="Helvetica Neue"/>
              </a:defRPr>
            </a:lvl3pPr>
            <a:lvl4pPr>
              <a:buNone/>
              <a:defRPr sz="2475" b="1">
                <a:solidFill>
                  <a:srgbClr val="007F7B"/>
                </a:solidFill>
                <a:latin typeface="Helvetica Neue"/>
                <a:ea typeface="Helvetica Neue"/>
                <a:cs typeface="Helvetica Neue"/>
              </a:defRPr>
            </a:lvl4pPr>
            <a:lvl5pPr>
              <a:buNone/>
              <a:defRPr sz="2475" b="1">
                <a:solidFill>
                  <a:srgbClr val="007F7B"/>
                </a:solidFill>
                <a:latin typeface="Helvetica Neue"/>
                <a:ea typeface="Helvetica Neue"/>
                <a:cs typeface="Helvetica Neue"/>
              </a:defRPr>
            </a:lvl5pPr>
            <a:lvl6pPr>
              <a:buNone/>
              <a:defRPr sz="2475" b="1">
                <a:solidFill>
                  <a:srgbClr val="007F7B"/>
                </a:solidFill>
                <a:latin typeface="Helvetica Neue"/>
                <a:ea typeface="Helvetica Neue"/>
                <a:cs typeface="Helvetica Neue"/>
              </a:defRPr>
            </a:lvl6pPr>
            <a:lvl7pPr>
              <a:buNone/>
              <a:defRPr sz="2475" b="1">
                <a:solidFill>
                  <a:srgbClr val="007F7B"/>
                </a:solidFill>
                <a:latin typeface="Helvetica Neue"/>
                <a:ea typeface="Helvetica Neue"/>
                <a:cs typeface="Helvetica Neue"/>
              </a:defRPr>
            </a:lvl7pPr>
            <a:lvl8pPr>
              <a:buNone/>
              <a:defRPr sz="2475" b="1">
                <a:solidFill>
                  <a:srgbClr val="007F7B"/>
                </a:solidFill>
                <a:latin typeface="Helvetica Neue"/>
                <a:ea typeface="Helvetica Neue"/>
                <a:cs typeface="Helvetica Neue"/>
              </a:defRPr>
            </a:lvl8pPr>
            <a:lvl9pPr>
              <a:buNone/>
              <a:defRPr sz="2475" b="1">
                <a:solidFill>
                  <a:srgbClr val="007F7B"/>
                </a:solidFill>
                <a:latin typeface="Helvetica Neue"/>
                <a:ea typeface="Helvetica Neue"/>
                <a:cs typeface="Helvetica Neue"/>
              </a:defRPr>
            </a:lvl9pPr>
          </a:lstStyle>
          <a:p xmlns:a="http://schemas.openxmlformats.org/drawingml/2006/main">
            <a:pPr>
              <a:buNone/>
              <a:defRPr sz="2475" b="1">
                <a:solidFill>
                  <a:srgbClr val="007F7B"/>
                </a:solidFill>
                <a:latin typeface="Helvetica Neue"/>
                <a:ea typeface="Helvetica Neue"/>
                <a:cs typeface="Helvetica Neue"/>
              </a:defRPr>
            </a:pPr>
            <a:r>
              <a:rPr sz="2475" b="1">
                <a:solidFill>
                  <a:srgbClr val="007F7B"/>
                </a:solidFill>
                <a:latin typeface="Helvetica Neue"/>
                <a:ea typeface="Helvetica Neue"/>
                <a:cs typeface="Helvetica Neue"/>
              </a:rPr>
              <a:t>The LLM kept testing related chemistry after a promising near miss.</a:t>
            </a:r>
          </a:p>
        </p:txBody>
      </p:sp>
      <p:sp>
        <p:nvSpPr>
          <p:cNvPr id="8" name="">
            <a:extLst xmlns:a="http://schemas.openxmlformats.org/drawingml/2006/main">
              <a:ext uri="{FF2B5EF4-FFF2-40B4-BE49-F238E27FC236}">
                <a16:creationId xmlns:a16="http://schemas.microsoft.com/office/drawing/2014/main" id="{BF21CB1F-A42D-4393-8D46-52BA5A3766A8}"/>
              </a:ext>
            </a:extLst>
          </p:cNvPr>
          <p:cNvSpPr>
            <a:spLocks xmlns:a="http://schemas.openxmlformats.org/drawingml/2006/main" noGrp="1"/>
          </p:cNvSpPr>
          <p:nvPr/>
        </p:nvSpPr>
        <p:spPr>
          <a:xfrm xmlns:a="http://schemas.openxmlformats.org/drawingml/2006/main">
            <a:off x="533400" y="60674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One illustrative search. Reaction scores are in eV per non-lithium atom.</a:t>
            </a:r>
          </a:p>
        </p:txBody>
      </p:sp>
    </p:spTree>
    <p:extLst>
      <p:ext uri="{BB962C8B-B14F-4D97-AF65-F5344CB8AC3E}">
        <p14:creationId xmlns:p14="http://schemas.microsoft.com/office/powerpoint/2010/main" val="42173479"/>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723B5A-7859-423D-A63A-1A0CC8B68F6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2 / WHERE IT STRUGGLED</a:t>
            </a:r>
          </a:p>
        </p:txBody>
      </p:sp>
      <p:sp>
        <p:nvSpPr>
          <p:cNvPr id="2" name="">
            <a:extLst xmlns:a="http://schemas.openxmlformats.org/drawingml/2006/main">
              <a:ext uri="{FF2B5EF4-FFF2-40B4-BE49-F238E27FC236}">
                <a16:creationId xmlns:a16="http://schemas.microsoft.com/office/drawing/2014/main" id="{55974B85-7FDC-4C85-B0B1-B441A142F8CC}"/>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On the oxide, the LLM tried fewer chemical options</a:t>
            </a:r>
          </a:p>
        </p:txBody>
      </p:sp>
      <p:sp>
        <p:nvSpPr>
          <p:cNvPr id="3" name="">
            <a:extLst xmlns:a="http://schemas.openxmlformats.org/drawingml/2006/main">
              <a:ext uri="{FF2B5EF4-FFF2-40B4-BE49-F238E27FC236}">
                <a16:creationId xmlns:a16="http://schemas.microsoft.com/office/drawing/2014/main" id="{DDD0AD50-827B-444E-8767-3B01F3ED8DD4}"/>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LLZO is the oxide electrolyte in the previous chart.</a:t>
            </a:r>
          </a:p>
        </p:txBody>
      </p:sp>
      <p:sp>
        <p:nvSpPr>
          <p:cNvPr id="4" name="">
            <a:extLst xmlns:a="http://schemas.openxmlformats.org/drawingml/2006/main">
              <a:ext uri="{FF2B5EF4-FFF2-40B4-BE49-F238E27FC236}">
                <a16:creationId xmlns:a16="http://schemas.microsoft.com/office/drawing/2014/main" id="{397358CC-8E5C-448D-9571-8FF12B333AA8}"/>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0D298052-A7B7-493F-8219-67210F2F78D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AD0073F6-7F50-4AFD-8D30-589103648403}"/>
              </a:ext>
            </a:extLst>
          </p:cNvPr>
          <p:cNvSpPr>
            <a:spLocks xmlns:a="http://schemas.openxmlformats.org/drawingml/2006/main" noGrp="1"/>
          </p:cNvSpPr>
          <p:nvPr/>
        </p:nvSpPr>
        <p:spPr>
          <a:xfrm xmlns:a="http://schemas.openxmlformats.org/drawingml/2006/main">
            <a:off x="533400" y="229552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007F7B"/>
                </a:solidFill>
                <a:latin typeface="Helvetica Neue"/>
                <a:ea typeface="Helvetica Neue"/>
                <a:cs typeface="Helvetica Neue"/>
              </a:defRPr>
            </a:defPPr>
            <a:lvl1pPr>
              <a:buNone/>
              <a:defRPr sz="5400" b="1">
                <a:solidFill>
                  <a:srgbClr val="007F7B"/>
                </a:solidFill>
                <a:latin typeface="Helvetica Neue"/>
                <a:ea typeface="Helvetica Neue"/>
                <a:cs typeface="Helvetica Neue"/>
              </a:defRPr>
            </a:lvl1pPr>
            <a:lvl2pPr>
              <a:buNone/>
              <a:defRPr sz="5400" b="1">
                <a:solidFill>
                  <a:srgbClr val="007F7B"/>
                </a:solidFill>
                <a:latin typeface="Helvetica Neue"/>
                <a:ea typeface="Helvetica Neue"/>
                <a:cs typeface="Helvetica Neue"/>
              </a:defRPr>
            </a:lvl2pPr>
            <a:lvl3pPr>
              <a:buNone/>
              <a:defRPr sz="5400" b="1">
                <a:solidFill>
                  <a:srgbClr val="007F7B"/>
                </a:solidFill>
                <a:latin typeface="Helvetica Neue"/>
                <a:ea typeface="Helvetica Neue"/>
                <a:cs typeface="Helvetica Neue"/>
              </a:defRPr>
            </a:lvl3pPr>
            <a:lvl4pPr>
              <a:buNone/>
              <a:defRPr sz="5400" b="1">
                <a:solidFill>
                  <a:srgbClr val="007F7B"/>
                </a:solidFill>
                <a:latin typeface="Helvetica Neue"/>
                <a:ea typeface="Helvetica Neue"/>
                <a:cs typeface="Helvetica Neue"/>
              </a:defRPr>
            </a:lvl4pPr>
            <a:lvl5pPr>
              <a:buNone/>
              <a:defRPr sz="5400" b="1">
                <a:solidFill>
                  <a:srgbClr val="007F7B"/>
                </a:solidFill>
                <a:latin typeface="Helvetica Neue"/>
                <a:ea typeface="Helvetica Neue"/>
                <a:cs typeface="Helvetica Neue"/>
              </a:defRPr>
            </a:lvl5pPr>
            <a:lvl6pPr>
              <a:buNone/>
              <a:defRPr sz="5400" b="1">
                <a:solidFill>
                  <a:srgbClr val="007F7B"/>
                </a:solidFill>
                <a:latin typeface="Helvetica Neue"/>
                <a:ea typeface="Helvetica Neue"/>
                <a:cs typeface="Helvetica Neue"/>
              </a:defRPr>
            </a:lvl6pPr>
            <a:lvl7pPr>
              <a:buNone/>
              <a:defRPr sz="5400" b="1">
                <a:solidFill>
                  <a:srgbClr val="007F7B"/>
                </a:solidFill>
                <a:latin typeface="Helvetica Neue"/>
                <a:ea typeface="Helvetica Neue"/>
                <a:cs typeface="Helvetica Neue"/>
              </a:defRPr>
            </a:lvl7pPr>
            <a:lvl8pPr>
              <a:buNone/>
              <a:defRPr sz="5400" b="1">
                <a:solidFill>
                  <a:srgbClr val="007F7B"/>
                </a:solidFill>
                <a:latin typeface="Helvetica Neue"/>
                <a:ea typeface="Helvetica Neue"/>
                <a:cs typeface="Helvetica Neue"/>
              </a:defRPr>
            </a:lvl8pPr>
            <a:lvl9pPr>
              <a:buNone/>
              <a:defRPr sz="5400" b="1">
                <a:solidFill>
                  <a:srgbClr val="007F7B"/>
                </a:solidFill>
                <a:latin typeface="Helvetica Neue"/>
                <a:ea typeface="Helvetica Neue"/>
                <a:cs typeface="Helvetica Neue"/>
              </a:defRPr>
            </a:lvl9pPr>
          </a:lstStyle>
          <a:p xmlns:a="http://schemas.openxmlformats.org/drawingml/2006/main">
            <a:pPr>
              <a:buNone/>
              <a:defRPr sz="5400" b="1">
                <a:solidFill>
                  <a:srgbClr val="007F7B"/>
                </a:solidFill>
                <a:latin typeface="Helvetica Neue"/>
                <a:ea typeface="Helvetica Neue"/>
                <a:cs typeface="Helvetica Neue"/>
              </a:defRPr>
            </a:pPr>
            <a:r>
              <a:rPr sz="5400" b="1">
                <a:solidFill>
                  <a:srgbClr val="007F7B"/>
                </a:solidFill>
                <a:latin typeface="Helvetica Neue"/>
                <a:ea typeface="Helvetica Neue"/>
                <a:cs typeface="Helvetica Neue"/>
              </a:rPr>
              <a:t>33</a:t>
            </a:r>
          </a:p>
        </p:txBody>
      </p:sp>
      <p:sp>
        <p:nvSpPr>
          <p:cNvPr id="7" name="">
            <a:extLst xmlns:a="http://schemas.openxmlformats.org/drawingml/2006/main">
              <a:ext uri="{FF2B5EF4-FFF2-40B4-BE49-F238E27FC236}">
                <a16:creationId xmlns:a16="http://schemas.microsoft.com/office/drawing/2014/main" id="{2C0800E5-9B3E-4038-882F-15FCA5783554}"/>
              </a:ext>
            </a:extLst>
          </p:cNvPr>
          <p:cNvSpPr>
            <a:spLocks xmlns:a="http://schemas.openxmlformats.org/drawingml/2006/main" noGrp="1"/>
          </p:cNvSpPr>
          <p:nvPr/>
        </p:nvSpPr>
        <p:spPr>
          <a:xfrm xmlns:a="http://schemas.openxmlformats.org/drawingml/2006/main">
            <a:off x="533400" y="325755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buNone/>
              <a:defRPr sz="2325" b="0">
                <a:solidFill>
                  <a:srgbClr val="172B3A"/>
                </a:solidFill>
                <a:latin typeface="Helvetica Neue"/>
                <a:ea typeface="Helvetica Neue"/>
                <a:cs typeface="Helvetica Neue"/>
              </a:defRPr>
            </a:lvl1pPr>
            <a:lvl2pPr>
              <a:buNone/>
              <a:defRPr sz="2325" b="0">
                <a:solidFill>
                  <a:srgbClr val="172B3A"/>
                </a:solidFill>
                <a:latin typeface="Helvetica Neue"/>
                <a:ea typeface="Helvetica Neue"/>
                <a:cs typeface="Helvetica Neue"/>
              </a:defRPr>
            </a:lvl2pPr>
            <a:lvl3pPr>
              <a:buNone/>
              <a:defRPr sz="2325" b="0">
                <a:solidFill>
                  <a:srgbClr val="172B3A"/>
                </a:solidFill>
                <a:latin typeface="Helvetica Neue"/>
                <a:ea typeface="Helvetica Neue"/>
                <a:cs typeface="Helvetica Neue"/>
              </a:defRPr>
            </a:lvl3pPr>
            <a:lvl4pPr>
              <a:buNone/>
              <a:defRPr sz="2325" b="0">
                <a:solidFill>
                  <a:srgbClr val="172B3A"/>
                </a:solidFill>
                <a:latin typeface="Helvetica Neue"/>
                <a:ea typeface="Helvetica Neue"/>
                <a:cs typeface="Helvetica Neue"/>
              </a:defRPr>
            </a:lvl4pPr>
            <a:lvl5pPr>
              <a:buNone/>
              <a:defRPr sz="2325" b="0">
                <a:solidFill>
                  <a:srgbClr val="172B3A"/>
                </a:solidFill>
                <a:latin typeface="Helvetica Neue"/>
                <a:ea typeface="Helvetica Neue"/>
                <a:cs typeface="Helvetica Neue"/>
              </a:defRPr>
            </a:lvl5pPr>
            <a:lvl6pPr>
              <a:buNone/>
              <a:defRPr sz="2325" b="0">
                <a:solidFill>
                  <a:srgbClr val="172B3A"/>
                </a:solidFill>
                <a:latin typeface="Helvetica Neue"/>
                <a:ea typeface="Helvetica Neue"/>
                <a:cs typeface="Helvetica Neue"/>
              </a:defRPr>
            </a:lvl6pPr>
            <a:lvl7pPr>
              <a:buNone/>
              <a:defRPr sz="2325" b="0">
                <a:solidFill>
                  <a:srgbClr val="172B3A"/>
                </a:solidFill>
                <a:latin typeface="Helvetica Neue"/>
                <a:ea typeface="Helvetica Neue"/>
                <a:cs typeface="Helvetica Neue"/>
              </a:defRPr>
            </a:lvl7pPr>
            <a:lvl8pPr>
              <a:buNone/>
              <a:defRPr sz="2325" b="0">
                <a:solidFill>
                  <a:srgbClr val="172B3A"/>
                </a:solidFill>
                <a:latin typeface="Helvetica Neue"/>
                <a:ea typeface="Helvetica Neue"/>
                <a:cs typeface="Helvetica Neue"/>
              </a:defRPr>
            </a:lvl8pPr>
            <a:lvl9pPr>
              <a:buNone/>
              <a:defRPr sz="2325" b="0">
                <a:solidFill>
                  <a:srgbClr val="172B3A"/>
                </a:solidFill>
                <a:latin typeface="Helvetica Neue"/>
                <a:ea typeface="Helvetica Neue"/>
                <a:cs typeface="Helvetica Neue"/>
              </a:defRPr>
            </a:lvl9pPr>
          </a:lstStyle>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different chemical formulas</a:t>
            </a:r>
          </a:p>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tried by the LLM using results</a:t>
            </a:r>
          </a:p>
        </p:txBody>
      </p:sp>
      <p:sp>
        <p:nvSpPr>
          <p:cNvPr id="8" name="">
            <a:extLst xmlns:a="http://schemas.openxmlformats.org/drawingml/2006/main">
              <a:ext uri="{FF2B5EF4-FFF2-40B4-BE49-F238E27FC236}">
                <a16:creationId xmlns:a16="http://schemas.microsoft.com/office/drawing/2014/main" id="{335B8BB7-0016-4BFF-93D4-127C075FA8E4}"/>
              </a:ext>
            </a:extLst>
          </p:cNvPr>
          <p:cNvSpPr>
            <a:spLocks xmlns:a="http://schemas.openxmlformats.org/drawingml/2006/main" noGrp="1"/>
          </p:cNvSpPr>
          <p:nvPr/>
        </p:nvSpPr>
        <p:spPr>
          <a:xfrm xmlns:a="http://schemas.openxmlformats.org/drawingml/2006/main">
            <a:off x="6562725" y="229552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8A949C"/>
                </a:solidFill>
                <a:latin typeface="Helvetica Neue"/>
                <a:ea typeface="Helvetica Neue"/>
                <a:cs typeface="Helvetica Neue"/>
              </a:defRPr>
            </a:defPPr>
            <a:lvl1pPr>
              <a:buNone/>
              <a:defRPr sz="5400" b="1">
                <a:solidFill>
                  <a:srgbClr val="8A949C"/>
                </a:solidFill>
                <a:latin typeface="Helvetica Neue"/>
                <a:ea typeface="Helvetica Neue"/>
                <a:cs typeface="Helvetica Neue"/>
              </a:defRPr>
            </a:lvl1pPr>
            <a:lvl2pPr>
              <a:buNone/>
              <a:defRPr sz="5400" b="1">
                <a:solidFill>
                  <a:srgbClr val="8A949C"/>
                </a:solidFill>
                <a:latin typeface="Helvetica Neue"/>
                <a:ea typeface="Helvetica Neue"/>
                <a:cs typeface="Helvetica Neue"/>
              </a:defRPr>
            </a:lvl2pPr>
            <a:lvl3pPr>
              <a:buNone/>
              <a:defRPr sz="5400" b="1">
                <a:solidFill>
                  <a:srgbClr val="8A949C"/>
                </a:solidFill>
                <a:latin typeface="Helvetica Neue"/>
                <a:ea typeface="Helvetica Neue"/>
                <a:cs typeface="Helvetica Neue"/>
              </a:defRPr>
            </a:lvl3pPr>
            <a:lvl4pPr>
              <a:buNone/>
              <a:defRPr sz="5400" b="1">
                <a:solidFill>
                  <a:srgbClr val="8A949C"/>
                </a:solidFill>
                <a:latin typeface="Helvetica Neue"/>
                <a:ea typeface="Helvetica Neue"/>
                <a:cs typeface="Helvetica Neue"/>
              </a:defRPr>
            </a:lvl4pPr>
            <a:lvl5pPr>
              <a:buNone/>
              <a:defRPr sz="5400" b="1">
                <a:solidFill>
                  <a:srgbClr val="8A949C"/>
                </a:solidFill>
                <a:latin typeface="Helvetica Neue"/>
                <a:ea typeface="Helvetica Neue"/>
                <a:cs typeface="Helvetica Neue"/>
              </a:defRPr>
            </a:lvl5pPr>
            <a:lvl6pPr>
              <a:buNone/>
              <a:defRPr sz="5400" b="1">
                <a:solidFill>
                  <a:srgbClr val="8A949C"/>
                </a:solidFill>
                <a:latin typeface="Helvetica Neue"/>
                <a:ea typeface="Helvetica Neue"/>
                <a:cs typeface="Helvetica Neue"/>
              </a:defRPr>
            </a:lvl6pPr>
            <a:lvl7pPr>
              <a:buNone/>
              <a:defRPr sz="5400" b="1">
                <a:solidFill>
                  <a:srgbClr val="8A949C"/>
                </a:solidFill>
                <a:latin typeface="Helvetica Neue"/>
                <a:ea typeface="Helvetica Neue"/>
                <a:cs typeface="Helvetica Neue"/>
              </a:defRPr>
            </a:lvl7pPr>
            <a:lvl8pPr>
              <a:buNone/>
              <a:defRPr sz="5400" b="1">
                <a:solidFill>
                  <a:srgbClr val="8A949C"/>
                </a:solidFill>
                <a:latin typeface="Helvetica Neue"/>
                <a:ea typeface="Helvetica Neue"/>
                <a:cs typeface="Helvetica Neue"/>
              </a:defRPr>
            </a:lvl8pPr>
            <a:lvl9pPr>
              <a:buNone/>
              <a:defRPr sz="5400" b="1">
                <a:solidFill>
                  <a:srgbClr val="8A949C"/>
                </a:solidFill>
                <a:latin typeface="Helvetica Neue"/>
                <a:ea typeface="Helvetica Neue"/>
                <a:cs typeface="Helvetica Neue"/>
              </a:defRPr>
            </a:lvl9pPr>
          </a:lstStyle>
          <a:p xmlns:a="http://schemas.openxmlformats.org/drawingml/2006/main">
            <a:pPr>
              <a:buNone/>
              <a:defRPr sz="5400" b="1">
                <a:solidFill>
                  <a:srgbClr val="8A949C"/>
                </a:solidFill>
                <a:latin typeface="Helvetica Neue"/>
                <a:ea typeface="Helvetica Neue"/>
                <a:cs typeface="Helvetica Neue"/>
              </a:defRPr>
            </a:pPr>
            <a:r>
              <a:rPr sz="5400" b="1">
                <a:solidFill>
                  <a:srgbClr val="8A949C"/>
                </a:solidFill>
                <a:latin typeface="Helvetica Neue"/>
                <a:ea typeface="Helvetica Neue"/>
                <a:cs typeface="Helvetica Neue"/>
              </a:rPr>
              <a:t>95</a:t>
            </a:r>
          </a:p>
        </p:txBody>
      </p:sp>
      <p:sp>
        <p:nvSpPr>
          <p:cNvPr id="9" name="">
            <a:extLst xmlns:a="http://schemas.openxmlformats.org/drawingml/2006/main">
              <a:ext uri="{FF2B5EF4-FFF2-40B4-BE49-F238E27FC236}">
                <a16:creationId xmlns:a16="http://schemas.microsoft.com/office/drawing/2014/main" id="{C125B8AB-F8FA-4CE8-802D-6CA4DD52848B}"/>
              </a:ext>
            </a:extLst>
          </p:cNvPr>
          <p:cNvSpPr>
            <a:spLocks xmlns:a="http://schemas.openxmlformats.org/drawingml/2006/main" noGrp="1"/>
          </p:cNvSpPr>
          <p:nvPr/>
        </p:nvSpPr>
        <p:spPr>
          <a:xfrm xmlns:a="http://schemas.openxmlformats.org/drawingml/2006/main">
            <a:off x="6562725" y="3257550"/>
            <a:ext cx="5048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B3A"/>
                </a:solidFill>
                <a:latin typeface="Helvetica Neue"/>
                <a:ea typeface="Helvetica Neue"/>
                <a:cs typeface="Helvetica Neue"/>
              </a:defRPr>
            </a:defPPr>
            <a:lvl1pPr>
              <a:buNone/>
              <a:defRPr sz="2325" b="0">
                <a:solidFill>
                  <a:srgbClr val="172B3A"/>
                </a:solidFill>
                <a:latin typeface="Helvetica Neue"/>
                <a:ea typeface="Helvetica Neue"/>
                <a:cs typeface="Helvetica Neue"/>
              </a:defRPr>
            </a:lvl1pPr>
            <a:lvl2pPr>
              <a:buNone/>
              <a:defRPr sz="2325" b="0">
                <a:solidFill>
                  <a:srgbClr val="172B3A"/>
                </a:solidFill>
                <a:latin typeface="Helvetica Neue"/>
                <a:ea typeface="Helvetica Neue"/>
                <a:cs typeface="Helvetica Neue"/>
              </a:defRPr>
            </a:lvl2pPr>
            <a:lvl3pPr>
              <a:buNone/>
              <a:defRPr sz="2325" b="0">
                <a:solidFill>
                  <a:srgbClr val="172B3A"/>
                </a:solidFill>
                <a:latin typeface="Helvetica Neue"/>
                <a:ea typeface="Helvetica Neue"/>
                <a:cs typeface="Helvetica Neue"/>
              </a:defRPr>
            </a:lvl3pPr>
            <a:lvl4pPr>
              <a:buNone/>
              <a:defRPr sz="2325" b="0">
                <a:solidFill>
                  <a:srgbClr val="172B3A"/>
                </a:solidFill>
                <a:latin typeface="Helvetica Neue"/>
                <a:ea typeface="Helvetica Neue"/>
                <a:cs typeface="Helvetica Neue"/>
              </a:defRPr>
            </a:lvl4pPr>
            <a:lvl5pPr>
              <a:buNone/>
              <a:defRPr sz="2325" b="0">
                <a:solidFill>
                  <a:srgbClr val="172B3A"/>
                </a:solidFill>
                <a:latin typeface="Helvetica Neue"/>
                <a:ea typeface="Helvetica Neue"/>
                <a:cs typeface="Helvetica Neue"/>
              </a:defRPr>
            </a:lvl5pPr>
            <a:lvl6pPr>
              <a:buNone/>
              <a:defRPr sz="2325" b="0">
                <a:solidFill>
                  <a:srgbClr val="172B3A"/>
                </a:solidFill>
                <a:latin typeface="Helvetica Neue"/>
                <a:ea typeface="Helvetica Neue"/>
                <a:cs typeface="Helvetica Neue"/>
              </a:defRPr>
            </a:lvl6pPr>
            <a:lvl7pPr>
              <a:buNone/>
              <a:defRPr sz="2325" b="0">
                <a:solidFill>
                  <a:srgbClr val="172B3A"/>
                </a:solidFill>
                <a:latin typeface="Helvetica Neue"/>
                <a:ea typeface="Helvetica Neue"/>
                <a:cs typeface="Helvetica Neue"/>
              </a:defRPr>
            </a:lvl7pPr>
            <a:lvl8pPr>
              <a:buNone/>
              <a:defRPr sz="2325" b="0">
                <a:solidFill>
                  <a:srgbClr val="172B3A"/>
                </a:solidFill>
                <a:latin typeface="Helvetica Neue"/>
                <a:ea typeface="Helvetica Neue"/>
                <a:cs typeface="Helvetica Neue"/>
              </a:defRPr>
            </a:lvl8pPr>
            <a:lvl9pPr>
              <a:buNone/>
              <a:defRPr sz="2325" b="0">
                <a:solidFill>
                  <a:srgbClr val="172B3A"/>
                </a:solidFill>
                <a:latin typeface="Helvetica Neue"/>
                <a:ea typeface="Helvetica Neue"/>
                <a:cs typeface="Helvetica Neue"/>
              </a:defRPr>
            </a:lvl9pPr>
          </a:lstStyle>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different chemical formulas</a:t>
            </a:r>
          </a:p>
          <a:p xmlns:a="http://schemas.openxmlformats.org/drawingml/2006/main">
            <a:pPr>
              <a:buNone/>
              <a:defRPr sz="2325" b="0">
                <a:solidFill>
                  <a:srgbClr val="172B3A"/>
                </a:solidFill>
                <a:latin typeface="Helvetica Neue"/>
                <a:ea typeface="Helvetica Neue"/>
                <a:cs typeface="Helvetica Neue"/>
              </a:defRPr>
            </a:pPr>
            <a:r>
              <a:rPr sz="2325" b="0">
                <a:solidFill>
                  <a:srgbClr val="172B3A"/>
                </a:solidFill>
                <a:latin typeface="Helvetica Neue"/>
                <a:ea typeface="Helvetica Neue"/>
                <a:cs typeface="Helvetica Neue"/>
              </a:rPr>
              <a:t>tried by random search</a:t>
            </a:r>
          </a:p>
        </p:txBody>
      </p:sp>
      <p:sp>
        <p:nvSpPr>
          <p:cNvPr id="10" name="">
            <a:extLst xmlns:a="http://schemas.openxmlformats.org/drawingml/2006/main">
              <a:ext uri="{FF2B5EF4-FFF2-40B4-BE49-F238E27FC236}">
                <a16:creationId xmlns:a16="http://schemas.microsoft.com/office/drawing/2014/main" id="{EE33D6AB-49CA-43F6-A877-4B093021FD53}"/>
              </a:ext>
            </a:extLst>
          </p:cNvPr>
          <p:cNvSpPr>
            <a:spLocks xmlns:a="http://schemas.openxmlformats.org/drawingml/2006/main" noGrp="1"/>
          </p:cNvSpPr>
          <p:nvPr/>
        </p:nvSpPr>
        <p:spPr>
          <a:xfrm xmlns:a="http://schemas.openxmlformats.org/drawingml/2006/main">
            <a:off x="533400" y="469582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CA713A"/>
                </a:solidFill>
                <a:latin typeface="Helvetica Neue"/>
                <a:ea typeface="Helvetica Neue"/>
                <a:cs typeface="Helvetica Neue"/>
              </a:defRPr>
            </a:defPPr>
            <a:lvl1pPr>
              <a:buNone/>
              <a:defRPr sz="2550" b="1">
                <a:solidFill>
                  <a:srgbClr val="CA713A"/>
                </a:solidFill>
                <a:latin typeface="Helvetica Neue"/>
                <a:ea typeface="Helvetica Neue"/>
                <a:cs typeface="Helvetica Neue"/>
              </a:defRPr>
            </a:lvl1pPr>
            <a:lvl2pPr>
              <a:buNone/>
              <a:defRPr sz="2550" b="1">
                <a:solidFill>
                  <a:srgbClr val="CA713A"/>
                </a:solidFill>
                <a:latin typeface="Helvetica Neue"/>
                <a:ea typeface="Helvetica Neue"/>
                <a:cs typeface="Helvetica Neue"/>
              </a:defRPr>
            </a:lvl2pPr>
            <a:lvl3pPr>
              <a:buNone/>
              <a:defRPr sz="2550" b="1">
                <a:solidFill>
                  <a:srgbClr val="CA713A"/>
                </a:solidFill>
                <a:latin typeface="Helvetica Neue"/>
                <a:ea typeface="Helvetica Neue"/>
                <a:cs typeface="Helvetica Neue"/>
              </a:defRPr>
            </a:lvl3pPr>
            <a:lvl4pPr>
              <a:buNone/>
              <a:defRPr sz="2550" b="1">
                <a:solidFill>
                  <a:srgbClr val="CA713A"/>
                </a:solidFill>
                <a:latin typeface="Helvetica Neue"/>
                <a:ea typeface="Helvetica Neue"/>
                <a:cs typeface="Helvetica Neue"/>
              </a:defRPr>
            </a:lvl4pPr>
            <a:lvl5pPr>
              <a:buNone/>
              <a:defRPr sz="2550" b="1">
                <a:solidFill>
                  <a:srgbClr val="CA713A"/>
                </a:solidFill>
                <a:latin typeface="Helvetica Neue"/>
                <a:ea typeface="Helvetica Neue"/>
                <a:cs typeface="Helvetica Neue"/>
              </a:defRPr>
            </a:lvl5pPr>
            <a:lvl6pPr>
              <a:buNone/>
              <a:defRPr sz="2550" b="1">
                <a:solidFill>
                  <a:srgbClr val="CA713A"/>
                </a:solidFill>
                <a:latin typeface="Helvetica Neue"/>
                <a:ea typeface="Helvetica Neue"/>
                <a:cs typeface="Helvetica Neue"/>
              </a:defRPr>
            </a:lvl6pPr>
            <a:lvl7pPr>
              <a:buNone/>
              <a:defRPr sz="2550" b="1">
                <a:solidFill>
                  <a:srgbClr val="CA713A"/>
                </a:solidFill>
                <a:latin typeface="Helvetica Neue"/>
                <a:ea typeface="Helvetica Neue"/>
                <a:cs typeface="Helvetica Neue"/>
              </a:defRPr>
            </a:lvl7pPr>
            <a:lvl8pPr>
              <a:buNone/>
              <a:defRPr sz="2550" b="1">
                <a:solidFill>
                  <a:srgbClr val="CA713A"/>
                </a:solidFill>
                <a:latin typeface="Helvetica Neue"/>
                <a:ea typeface="Helvetica Neue"/>
                <a:cs typeface="Helvetica Neue"/>
              </a:defRPr>
            </a:lvl8pPr>
            <a:lvl9pPr>
              <a:buNone/>
              <a:defRPr sz="2550" b="1">
                <a:solidFill>
                  <a:srgbClr val="CA713A"/>
                </a:solidFill>
                <a:latin typeface="Helvetica Neue"/>
                <a:ea typeface="Helvetica Neue"/>
                <a:cs typeface="Helvetica Neue"/>
              </a:defRPr>
            </a:lvl9pPr>
          </a:lstStyle>
          <a:p xmlns:a="http://schemas.openxmlformats.org/drawingml/2006/main">
            <a:pPr>
              <a:buNone/>
              <a:defRPr sz="2550" b="1">
                <a:solidFill>
                  <a:srgbClr val="CA713A"/>
                </a:solidFill>
                <a:latin typeface="Helvetica Neue"/>
                <a:ea typeface="Helvetica Neue"/>
                <a:cs typeface="Helvetica Neue"/>
              </a:defRPr>
            </a:pPr>
            <a:r>
              <a:rPr sz="2550" b="1">
                <a:solidFill>
                  <a:srgbClr val="CA713A"/>
                </a:solidFill>
                <a:latin typeface="Helvetica Neue"/>
                <a:ea typeface="Helvetica Neue"/>
                <a:cs typeface="Helvetica Neue"/>
              </a:rPr>
              <a:t>10 of its 12 successful searches first passed on tries 8–10.</a:t>
            </a:r>
          </a:p>
        </p:txBody>
      </p:sp>
      <p:sp>
        <p:nvSpPr>
          <p:cNvPr id="11" name="">
            <a:extLst xmlns:a="http://schemas.openxmlformats.org/drawingml/2006/main">
              <a:ext uri="{FF2B5EF4-FFF2-40B4-BE49-F238E27FC236}">
                <a16:creationId xmlns:a16="http://schemas.microsoft.com/office/drawing/2014/main" id="{905C8722-FF28-421E-BF85-014B5BEF10E2}"/>
              </a:ext>
            </a:extLst>
          </p:cNvPr>
          <p:cNvSpPr>
            <a:spLocks xmlns:a="http://schemas.openxmlformats.org/drawingml/2006/main" noGrp="1"/>
          </p:cNvSpPr>
          <p:nvPr/>
        </p:nvSpPr>
        <p:spPr>
          <a:xfrm xmlns:a="http://schemas.openxmlformats.org/drawingml/2006/main">
            <a:off x="533400" y="58578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Across 300 choices per strategy. Broad exploration was more effective in this test.</a:t>
            </a:r>
          </a:p>
        </p:txBody>
      </p:sp>
    </p:spTree>
    <p:extLst>
      <p:ext uri="{BB962C8B-B14F-4D97-AF65-F5344CB8AC3E}">
        <p14:creationId xmlns:p14="http://schemas.microsoft.com/office/powerpoint/2010/main" val="1187676140"/>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132C63-3CA3-4986-85DE-89FD8A48983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PHYSICAL CALCULATIONS</a:t>
            </a:r>
          </a:p>
        </p:txBody>
      </p:sp>
      <p:sp>
        <p:nvSpPr>
          <p:cNvPr id="2" name="">
            <a:extLst xmlns:a="http://schemas.openxmlformats.org/drawingml/2006/main">
              <a:ext uri="{FF2B5EF4-FFF2-40B4-BE49-F238E27FC236}">
                <a16:creationId xmlns:a16="http://schemas.microsoft.com/office/drawing/2014/main" id="{CF0AD9F6-1ECA-4D56-9BB6-900B3B1C8BE1}"/>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Next test: predict how strongly the coating attaches</a:t>
            </a:r>
          </a:p>
        </p:txBody>
      </p:sp>
      <p:sp>
        <p:nvSpPr>
          <p:cNvPr id="3" name="">
            <a:extLst xmlns:a="http://schemas.openxmlformats.org/drawingml/2006/main">
              <a:ext uri="{FF2B5EF4-FFF2-40B4-BE49-F238E27FC236}">
                <a16:creationId xmlns:a16="http://schemas.microsoft.com/office/drawing/2014/main" id="{101B662C-7C85-4BBA-9D0D-D6ED0744F3F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C9A8815A-B74B-4976-959B-4E04B8D81C4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DD2CBE69-4D0A-450D-8CD5-A495C6BE3F5C}"/>
              </a:ext>
            </a:extLst>
          </p:cNvPr>
          <p:cNvSpPr>
            <a:spLocks xmlns:a="http://schemas.openxmlformats.org/drawingml/2006/main" noGrp="1"/>
          </p:cNvSpPr>
          <p:nvPr/>
        </p:nvSpPr>
        <p:spPr>
          <a:xfrm xmlns:a="http://schemas.openxmlformats.org/drawingml/2006/main">
            <a:off x="533400" y="2152650"/>
            <a:ext cx="452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2B3A"/>
                </a:solidFill>
                <a:latin typeface="Helvetica Neue"/>
                <a:ea typeface="Helvetica Neue"/>
                <a:cs typeface="Helvetica Neue"/>
              </a:defRPr>
            </a:defPPr>
            <a:lvl1pPr>
              <a:buNone/>
              <a:defRPr sz="2475" b="1">
                <a:solidFill>
                  <a:srgbClr val="172B3A"/>
                </a:solidFill>
                <a:latin typeface="Helvetica Neue"/>
                <a:ea typeface="Helvetica Neue"/>
                <a:cs typeface="Helvetica Neue"/>
              </a:defRPr>
            </a:lvl1pPr>
            <a:lvl2pPr>
              <a:buNone/>
              <a:defRPr sz="2475" b="1">
                <a:solidFill>
                  <a:srgbClr val="172B3A"/>
                </a:solidFill>
                <a:latin typeface="Helvetica Neue"/>
                <a:ea typeface="Helvetica Neue"/>
                <a:cs typeface="Helvetica Neue"/>
              </a:defRPr>
            </a:lvl2pPr>
            <a:lvl3pPr>
              <a:buNone/>
              <a:defRPr sz="2475" b="1">
                <a:solidFill>
                  <a:srgbClr val="172B3A"/>
                </a:solidFill>
                <a:latin typeface="Helvetica Neue"/>
                <a:ea typeface="Helvetica Neue"/>
                <a:cs typeface="Helvetica Neue"/>
              </a:defRPr>
            </a:lvl3pPr>
            <a:lvl4pPr>
              <a:buNone/>
              <a:defRPr sz="2475" b="1">
                <a:solidFill>
                  <a:srgbClr val="172B3A"/>
                </a:solidFill>
                <a:latin typeface="Helvetica Neue"/>
                <a:ea typeface="Helvetica Neue"/>
                <a:cs typeface="Helvetica Neue"/>
              </a:defRPr>
            </a:lvl4pPr>
            <a:lvl5pPr>
              <a:buNone/>
              <a:defRPr sz="2475" b="1">
                <a:solidFill>
                  <a:srgbClr val="172B3A"/>
                </a:solidFill>
                <a:latin typeface="Helvetica Neue"/>
                <a:ea typeface="Helvetica Neue"/>
                <a:cs typeface="Helvetica Neue"/>
              </a:defRPr>
            </a:lvl5pPr>
            <a:lvl6pPr>
              <a:buNone/>
              <a:defRPr sz="2475" b="1">
                <a:solidFill>
                  <a:srgbClr val="172B3A"/>
                </a:solidFill>
                <a:latin typeface="Helvetica Neue"/>
                <a:ea typeface="Helvetica Neue"/>
                <a:cs typeface="Helvetica Neue"/>
              </a:defRPr>
            </a:lvl6pPr>
            <a:lvl7pPr>
              <a:buNone/>
              <a:defRPr sz="2475" b="1">
                <a:solidFill>
                  <a:srgbClr val="172B3A"/>
                </a:solidFill>
                <a:latin typeface="Helvetica Neue"/>
                <a:ea typeface="Helvetica Neue"/>
                <a:cs typeface="Helvetica Neue"/>
              </a:defRPr>
            </a:lvl7pPr>
            <a:lvl8pPr>
              <a:buNone/>
              <a:defRPr sz="2475" b="1">
                <a:solidFill>
                  <a:srgbClr val="172B3A"/>
                </a:solidFill>
                <a:latin typeface="Helvetica Neue"/>
                <a:ea typeface="Helvetica Neue"/>
                <a:cs typeface="Helvetica Neue"/>
              </a:defRPr>
            </a:lvl8pPr>
            <a:lvl9pPr>
              <a:buNone/>
              <a:defRPr sz="2475" b="1">
                <a:solidFill>
                  <a:srgbClr val="172B3A"/>
                </a:solidFill>
                <a:latin typeface="Helvetica Neue"/>
                <a:ea typeface="Helvetica Neue"/>
                <a:cs typeface="Helvetica Neue"/>
              </a:defRPr>
            </a:lvl9pPr>
          </a:lstStyle>
          <a:p xmlns:a="http://schemas.openxmlformats.org/drawingml/2006/main">
            <a:pPr>
              <a:buNone/>
              <a:defRPr sz="2475" b="1">
                <a:solidFill>
                  <a:srgbClr val="172B3A"/>
                </a:solidFill>
                <a:latin typeface="Helvetica Neue"/>
                <a:ea typeface="Helvetica Neue"/>
                <a:cs typeface="Helvetica Neue"/>
              </a:defRPr>
            </a:pPr>
            <a:r>
              <a:rPr sz="2475" b="1">
                <a:solidFill>
                  <a:srgbClr val="172B3A"/>
                </a:solidFill>
                <a:latin typeface="Helvetica Neue"/>
                <a:ea typeface="Helvetica Neue"/>
                <a:cs typeface="Helvetica Neue"/>
              </a:rPr>
              <a:t>One known reference</a:t>
            </a:r>
          </a:p>
        </p:txBody>
      </p:sp>
      <p:sp>
        <p:nvSpPr>
          <p:cNvPr id="6" name="">
            <a:extLst xmlns:a="http://schemas.openxmlformats.org/drawingml/2006/main">
              <a:ext uri="{FF2B5EF4-FFF2-40B4-BE49-F238E27FC236}">
                <a16:creationId xmlns:a16="http://schemas.microsoft.com/office/drawing/2014/main" id="{88584E97-9F6D-42AD-9371-BF9BA5A5C2EB}"/>
              </a:ext>
            </a:extLst>
          </p:cNvPr>
          <p:cNvSpPr>
            <a:spLocks xmlns:a="http://schemas.openxmlformats.org/drawingml/2006/main" noGrp="1"/>
          </p:cNvSpPr>
          <p:nvPr/>
        </p:nvSpPr>
        <p:spPr>
          <a:xfrm xmlns:a="http://schemas.openxmlformats.org/drawingml/2006/main">
            <a:off x="533400" y="2857500"/>
            <a:ext cx="47625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26472"/>
                </a:solidFill>
                <a:latin typeface="Helvetica Neue"/>
                <a:ea typeface="Helvetica Neue"/>
                <a:cs typeface="Helvetica Neue"/>
              </a:defRPr>
            </a:defPPr>
            <a:lvl1pPr>
              <a:buNone/>
              <a:defRPr sz="2325" b="0">
                <a:solidFill>
                  <a:srgbClr val="526472"/>
                </a:solidFill>
                <a:latin typeface="Helvetica Neue"/>
                <a:ea typeface="Helvetica Neue"/>
                <a:cs typeface="Helvetica Neue"/>
              </a:defRPr>
            </a:lvl1pPr>
            <a:lvl2pPr>
              <a:buNone/>
              <a:defRPr sz="2325" b="0">
                <a:solidFill>
                  <a:srgbClr val="526472"/>
                </a:solidFill>
                <a:latin typeface="Helvetica Neue"/>
                <a:ea typeface="Helvetica Neue"/>
                <a:cs typeface="Helvetica Neue"/>
              </a:defRPr>
            </a:lvl2pPr>
            <a:lvl3pPr>
              <a:buNone/>
              <a:defRPr sz="2325" b="0">
                <a:solidFill>
                  <a:srgbClr val="526472"/>
                </a:solidFill>
                <a:latin typeface="Helvetica Neue"/>
                <a:ea typeface="Helvetica Neue"/>
                <a:cs typeface="Helvetica Neue"/>
              </a:defRPr>
            </a:lvl3pPr>
            <a:lvl4pPr>
              <a:buNone/>
              <a:defRPr sz="2325" b="0">
                <a:solidFill>
                  <a:srgbClr val="526472"/>
                </a:solidFill>
                <a:latin typeface="Helvetica Neue"/>
                <a:ea typeface="Helvetica Neue"/>
                <a:cs typeface="Helvetica Neue"/>
              </a:defRPr>
            </a:lvl4pPr>
            <a:lvl5pPr>
              <a:buNone/>
              <a:defRPr sz="2325" b="0">
                <a:solidFill>
                  <a:srgbClr val="526472"/>
                </a:solidFill>
                <a:latin typeface="Helvetica Neue"/>
                <a:ea typeface="Helvetica Neue"/>
                <a:cs typeface="Helvetica Neue"/>
              </a:defRPr>
            </a:lvl5pPr>
            <a:lvl6pPr>
              <a:buNone/>
              <a:defRPr sz="2325" b="0">
                <a:solidFill>
                  <a:srgbClr val="526472"/>
                </a:solidFill>
                <a:latin typeface="Helvetica Neue"/>
                <a:ea typeface="Helvetica Neue"/>
                <a:cs typeface="Helvetica Neue"/>
              </a:defRPr>
            </a:lvl6pPr>
            <a:lvl7pPr>
              <a:buNone/>
              <a:defRPr sz="2325" b="0">
                <a:solidFill>
                  <a:srgbClr val="526472"/>
                </a:solidFill>
                <a:latin typeface="Helvetica Neue"/>
                <a:ea typeface="Helvetica Neue"/>
                <a:cs typeface="Helvetica Neue"/>
              </a:defRPr>
            </a:lvl7pPr>
            <a:lvl8pPr>
              <a:buNone/>
              <a:defRPr sz="2325" b="0">
                <a:solidFill>
                  <a:srgbClr val="526472"/>
                </a:solidFill>
                <a:latin typeface="Helvetica Neue"/>
                <a:ea typeface="Helvetica Neue"/>
                <a:cs typeface="Helvetica Neue"/>
              </a:defRPr>
            </a:lvl8pPr>
            <a:lvl9pPr>
              <a:buNone/>
              <a:defRPr sz="2325" b="0">
                <a:solidFill>
                  <a:srgbClr val="526472"/>
                </a:solidFill>
                <a:latin typeface="Helvetica Neue"/>
                <a:ea typeface="Helvetica Neue"/>
                <a:cs typeface="Helvetica Neue"/>
              </a:defRPr>
            </a:lvl9pPr>
          </a:lstStyle>
          <a:p xmlns:a="http://schemas.openxmlformats.org/drawingml/2006/main">
            <a:pPr>
              <a:buNone/>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The LLM sees calculated results</a:t>
            </a:r>
          </a:p>
          <a:p xmlns:a="http://schemas.openxmlformats.org/drawingml/2006/main">
            <a:pPr>
              <a:buNone/>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for LiNbF₆, then chooses two</a:t>
            </a:r>
          </a:p>
          <a:p xmlns:a="http://schemas.openxmlformats.org/drawingml/2006/main">
            <a:pPr>
              <a:buNone/>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more coatings from a small menu.</a:t>
            </a:r>
          </a:p>
        </p:txBody>
      </p:sp>
      <p:sp>
        <p:nvSpPr>
          <p:cNvPr id="7" name="">
            <a:extLst xmlns:a="http://schemas.openxmlformats.org/drawingml/2006/main">
              <a:ext uri="{FF2B5EF4-FFF2-40B4-BE49-F238E27FC236}">
                <a16:creationId xmlns:a16="http://schemas.microsoft.com/office/drawing/2014/main" id="{7EAF7E76-2E7E-435A-9B23-1B9A6605A390}"/>
              </a:ext>
            </a:extLst>
          </p:cNvPr>
          <p:cNvSpPr>
            <a:spLocks xmlns:a="http://schemas.openxmlformats.org/drawingml/2006/main" noGrp="1"/>
          </p:cNvSpPr>
          <p:nvPr/>
        </p:nvSpPr>
        <p:spPr>
          <a:xfrm xmlns:a="http://schemas.openxmlformats.org/drawingml/2006/main">
            <a:off x="6562725" y="215265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72B3A"/>
                </a:solidFill>
                <a:latin typeface="Helvetica Neue"/>
                <a:ea typeface="Helvetica Neue"/>
                <a:cs typeface="Helvetica Neue"/>
              </a:defRPr>
            </a:defPPr>
            <a:lvl1pPr>
              <a:buNone/>
              <a:defRPr sz="2475" b="1">
                <a:solidFill>
                  <a:srgbClr val="172B3A"/>
                </a:solidFill>
                <a:latin typeface="Helvetica Neue"/>
                <a:ea typeface="Helvetica Neue"/>
                <a:cs typeface="Helvetica Neue"/>
              </a:defRPr>
            </a:lvl1pPr>
            <a:lvl2pPr>
              <a:buNone/>
              <a:defRPr sz="2475" b="1">
                <a:solidFill>
                  <a:srgbClr val="172B3A"/>
                </a:solidFill>
                <a:latin typeface="Helvetica Neue"/>
                <a:ea typeface="Helvetica Neue"/>
                <a:cs typeface="Helvetica Neue"/>
              </a:defRPr>
            </a:lvl2pPr>
            <a:lvl3pPr>
              <a:buNone/>
              <a:defRPr sz="2475" b="1">
                <a:solidFill>
                  <a:srgbClr val="172B3A"/>
                </a:solidFill>
                <a:latin typeface="Helvetica Neue"/>
                <a:ea typeface="Helvetica Neue"/>
                <a:cs typeface="Helvetica Neue"/>
              </a:defRPr>
            </a:lvl3pPr>
            <a:lvl4pPr>
              <a:buNone/>
              <a:defRPr sz="2475" b="1">
                <a:solidFill>
                  <a:srgbClr val="172B3A"/>
                </a:solidFill>
                <a:latin typeface="Helvetica Neue"/>
                <a:ea typeface="Helvetica Neue"/>
                <a:cs typeface="Helvetica Neue"/>
              </a:defRPr>
            </a:lvl4pPr>
            <a:lvl5pPr>
              <a:buNone/>
              <a:defRPr sz="2475" b="1">
                <a:solidFill>
                  <a:srgbClr val="172B3A"/>
                </a:solidFill>
                <a:latin typeface="Helvetica Neue"/>
                <a:ea typeface="Helvetica Neue"/>
                <a:cs typeface="Helvetica Neue"/>
              </a:defRPr>
            </a:lvl5pPr>
            <a:lvl6pPr>
              <a:buNone/>
              <a:defRPr sz="2475" b="1">
                <a:solidFill>
                  <a:srgbClr val="172B3A"/>
                </a:solidFill>
                <a:latin typeface="Helvetica Neue"/>
                <a:ea typeface="Helvetica Neue"/>
                <a:cs typeface="Helvetica Neue"/>
              </a:defRPr>
            </a:lvl6pPr>
            <a:lvl7pPr>
              <a:buNone/>
              <a:defRPr sz="2475" b="1">
                <a:solidFill>
                  <a:srgbClr val="172B3A"/>
                </a:solidFill>
                <a:latin typeface="Helvetica Neue"/>
                <a:ea typeface="Helvetica Neue"/>
                <a:cs typeface="Helvetica Neue"/>
              </a:defRPr>
            </a:lvl7pPr>
            <a:lvl8pPr>
              <a:buNone/>
              <a:defRPr sz="2475" b="1">
                <a:solidFill>
                  <a:srgbClr val="172B3A"/>
                </a:solidFill>
                <a:latin typeface="Helvetica Neue"/>
                <a:ea typeface="Helvetica Neue"/>
                <a:cs typeface="Helvetica Neue"/>
              </a:defRPr>
            </a:lvl8pPr>
            <a:lvl9pPr>
              <a:buNone/>
              <a:defRPr sz="2475" b="1">
                <a:solidFill>
                  <a:srgbClr val="172B3A"/>
                </a:solidFill>
                <a:latin typeface="Helvetica Neue"/>
                <a:ea typeface="Helvetica Neue"/>
                <a:cs typeface="Helvetica Neue"/>
              </a:defRPr>
            </a:lvl9pPr>
          </a:lstStyle>
          <a:p xmlns:a="http://schemas.openxmlformats.org/drawingml/2006/main">
            <a:pPr>
              <a:buNone/>
              <a:defRPr sz="2475" b="1">
                <a:solidFill>
                  <a:srgbClr val="172B3A"/>
                </a:solidFill>
                <a:latin typeface="Helvetica Neue"/>
                <a:ea typeface="Helvetica Neue"/>
                <a:cs typeface="Helvetica Neue"/>
              </a:defRPr>
            </a:pPr>
            <a:r>
              <a:rPr sz="2475" b="1">
                <a:solidFill>
                  <a:srgbClr val="172B3A"/>
                </a:solidFill>
                <a:latin typeface="Helvetica Neue"/>
                <a:ea typeface="Helvetica Neue"/>
                <a:cs typeface="Helvetica Neue"/>
              </a:rPr>
              <a:t>A prediction before the test</a:t>
            </a:r>
          </a:p>
        </p:txBody>
      </p:sp>
      <p:sp>
        <p:nvSpPr>
          <p:cNvPr id="8" name="">
            <a:extLst xmlns:a="http://schemas.openxmlformats.org/drawingml/2006/main">
              <a:ext uri="{FF2B5EF4-FFF2-40B4-BE49-F238E27FC236}">
                <a16:creationId xmlns:a16="http://schemas.microsoft.com/office/drawing/2014/main" id="{BF79D4A3-F794-42AC-83E0-927D38225964}"/>
              </a:ext>
            </a:extLst>
          </p:cNvPr>
          <p:cNvSpPr>
            <a:spLocks xmlns:a="http://schemas.openxmlformats.org/drawingml/2006/main" noGrp="1"/>
          </p:cNvSpPr>
          <p:nvPr/>
        </p:nvSpPr>
        <p:spPr>
          <a:xfrm xmlns:a="http://schemas.openxmlformats.org/drawingml/2006/main">
            <a:off x="6562725" y="2857500"/>
            <a:ext cx="50958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26472"/>
                </a:solidFill>
                <a:latin typeface="Helvetica Neue"/>
                <a:ea typeface="Helvetica Neue"/>
                <a:cs typeface="Helvetica Neue"/>
              </a:defRPr>
            </a:defPPr>
            <a:lvl1pPr>
              <a:buNone/>
              <a:defRPr sz="2325" b="0">
                <a:solidFill>
                  <a:srgbClr val="526472"/>
                </a:solidFill>
                <a:latin typeface="Helvetica Neue"/>
                <a:ea typeface="Helvetica Neue"/>
                <a:cs typeface="Helvetica Neue"/>
              </a:defRPr>
            </a:lvl1pPr>
            <a:lvl2pPr>
              <a:buNone/>
              <a:defRPr sz="2325" b="0">
                <a:solidFill>
                  <a:srgbClr val="526472"/>
                </a:solidFill>
                <a:latin typeface="Helvetica Neue"/>
                <a:ea typeface="Helvetica Neue"/>
                <a:cs typeface="Helvetica Neue"/>
              </a:defRPr>
            </a:lvl2pPr>
            <a:lvl3pPr>
              <a:buNone/>
              <a:defRPr sz="2325" b="0">
                <a:solidFill>
                  <a:srgbClr val="526472"/>
                </a:solidFill>
                <a:latin typeface="Helvetica Neue"/>
                <a:ea typeface="Helvetica Neue"/>
                <a:cs typeface="Helvetica Neue"/>
              </a:defRPr>
            </a:lvl3pPr>
            <a:lvl4pPr>
              <a:buNone/>
              <a:defRPr sz="2325" b="0">
                <a:solidFill>
                  <a:srgbClr val="526472"/>
                </a:solidFill>
                <a:latin typeface="Helvetica Neue"/>
                <a:ea typeface="Helvetica Neue"/>
                <a:cs typeface="Helvetica Neue"/>
              </a:defRPr>
            </a:lvl4pPr>
            <a:lvl5pPr>
              <a:buNone/>
              <a:defRPr sz="2325" b="0">
                <a:solidFill>
                  <a:srgbClr val="526472"/>
                </a:solidFill>
                <a:latin typeface="Helvetica Neue"/>
                <a:ea typeface="Helvetica Neue"/>
                <a:cs typeface="Helvetica Neue"/>
              </a:defRPr>
            </a:lvl5pPr>
            <a:lvl6pPr>
              <a:buNone/>
              <a:defRPr sz="2325" b="0">
                <a:solidFill>
                  <a:srgbClr val="526472"/>
                </a:solidFill>
                <a:latin typeface="Helvetica Neue"/>
                <a:ea typeface="Helvetica Neue"/>
                <a:cs typeface="Helvetica Neue"/>
              </a:defRPr>
            </a:lvl6pPr>
            <a:lvl7pPr>
              <a:buNone/>
              <a:defRPr sz="2325" b="0">
                <a:solidFill>
                  <a:srgbClr val="526472"/>
                </a:solidFill>
                <a:latin typeface="Helvetica Neue"/>
                <a:ea typeface="Helvetica Neue"/>
                <a:cs typeface="Helvetica Neue"/>
              </a:defRPr>
            </a:lvl7pPr>
            <a:lvl8pPr>
              <a:buNone/>
              <a:defRPr sz="2325" b="0">
                <a:solidFill>
                  <a:srgbClr val="526472"/>
                </a:solidFill>
                <a:latin typeface="Helvetica Neue"/>
                <a:ea typeface="Helvetica Neue"/>
                <a:cs typeface="Helvetica Neue"/>
              </a:defRPr>
            </a:lvl8pPr>
            <a:lvl9pPr>
              <a:buNone/>
              <a:defRPr sz="2325" b="0">
                <a:solidFill>
                  <a:srgbClr val="526472"/>
                </a:solidFill>
                <a:latin typeface="Helvetica Neue"/>
                <a:ea typeface="Helvetica Neue"/>
                <a:cs typeface="Helvetica Neue"/>
              </a:defRPr>
            </a:lvl9pPr>
          </a:lstStyle>
          <a:p xmlns:a="http://schemas.openxmlformats.org/drawingml/2006/main">
            <a:pPr>
              <a:buNone/>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For each choice, it predicts</a:t>
            </a:r>
          </a:p>
          <a:p xmlns:a="http://schemas.openxmlformats.org/drawingml/2006/main">
            <a:pPr>
              <a:buNone/>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adhesion at both contacts</a:t>
            </a:r>
          </a:p>
          <a:p xmlns:a="http://schemas.openxmlformats.org/drawingml/2006/main">
            <a:pPr>
              <a:buNone/>
              <a:defRPr sz="2325" b="0">
                <a:solidFill>
                  <a:srgbClr val="526472"/>
                </a:solidFill>
                <a:latin typeface="Helvetica Neue"/>
                <a:ea typeface="Helvetica Neue"/>
                <a:cs typeface="Helvetica Neue"/>
              </a:defRPr>
            </a:pPr>
            <a:r>
              <a:rPr sz="2325" b="0">
                <a:solidFill>
                  <a:srgbClr val="526472"/>
                </a:solidFill>
                <a:latin typeface="Helvetica Neue"/>
                <a:ea typeface="Helvetica Neue"/>
                <a:cs typeface="Helvetica Neue"/>
              </a:rPr>
              <a:t>before the new results exist.</a:t>
            </a:r>
          </a:p>
        </p:txBody>
      </p:sp>
      <p:sp>
        <p:nvSpPr>
          <p:cNvPr id="9" name="">
            <a:extLst xmlns:a="http://schemas.openxmlformats.org/drawingml/2006/main">
              <a:ext uri="{FF2B5EF4-FFF2-40B4-BE49-F238E27FC236}">
                <a16:creationId xmlns:a16="http://schemas.microsoft.com/office/drawing/2014/main" id="{05E140D9-0FDC-4BAC-944D-BF993D3743FB}"/>
              </a:ext>
            </a:extLst>
          </p:cNvPr>
          <p:cNvSpPr>
            <a:spLocks xmlns:a="http://schemas.openxmlformats.org/drawingml/2006/main" noGrp="1"/>
          </p:cNvSpPr>
          <p:nvPr/>
        </p:nvSpPr>
        <p:spPr>
          <a:xfrm xmlns:a="http://schemas.openxmlformats.org/drawingml/2006/main">
            <a:off x="533400" y="472440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buNone/>
              <a:defRPr sz="2250" b="1">
                <a:solidFill>
                  <a:srgbClr val="007F7B"/>
                </a:solidFill>
                <a:latin typeface="Helvetica Neue"/>
                <a:ea typeface="Helvetica Neue"/>
                <a:cs typeface="Helvetica Neue"/>
              </a:defRPr>
            </a:lvl1pPr>
            <a:lvl2pPr>
              <a:buNone/>
              <a:defRPr sz="2250" b="1">
                <a:solidFill>
                  <a:srgbClr val="007F7B"/>
                </a:solidFill>
                <a:latin typeface="Helvetica Neue"/>
                <a:ea typeface="Helvetica Neue"/>
                <a:cs typeface="Helvetica Neue"/>
              </a:defRPr>
            </a:lvl2pPr>
            <a:lvl3pPr>
              <a:buNone/>
              <a:defRPr sz="2250" b="1">
                <a:solidFill>
                  <a:srgbClr val="007F7B"/>
                </a:solidFill>
                <a:latin typeface="Helvetica Neue"/>
                <a:ea typeface="Helvetica Neue"/>
                <a:cs typeface="Helvetica Neue"/>
              </a:defRPr>
            </a:lvl3pPr>
            <a:lvl4pPr>
              <a:buNone/>
              <a:defRPr sz="2250" b="1">
                <a:solidFill>
                  <a:srgbClr val="007F7B"/>
                </a:solidFill>
                <a:latin typeface="Helvetica Neue"/>
                <a:ea typeface="Helvetica Neue"/>
                <a:cs typeface="Helvetica Neue"/>
              </a:defRPr>
            </a:lvl4pPr>
            <a:lvl5pPr>
              <a:buNone/>
              <a:defRPr sz="2250" b="1">
                <a:solidFill>
                  <a:srgbClr val="007F7B"/>
                </a:solidFill>
                <a:latin typeface="Helvetica Neue"/>
                <a:ea typeface="Helvetica Neue"/>
                <a:cs typeface="Helvetica Neue"/>
              </a:defRPr>
            </a:lvl5pPr>
            <a:lvl6pPr>
              <a:buNone/>
              <a:defRPr sz="2250" b="1">
                <a:solidFill>
                  <a:srgbClr val="007F7B"/>
                </a:solidFill>
                <a:latin typeface="Helvetica Neue"/>
                <a:ea typeface="Helvetica Neue"/>
                <a:cs typeface="Helvetica Neue"/>
              </a:defRPr>
            </a:lvl6pPr>
            <a:lvl7pPr>
              <a:buNone/>
              <a:defRPr sz="2250" b="1">
                <a:solidFill>
                  <a:srgbClr val="007F7B"/>
                </a:solidFill>
                <a:latin typeface="Helvetica Neue"/>
                <a:ea typeface="Helvetica Neue"/>
                <a:cs typeface="Helvetica Neue"/>
              </a:defRPr>
            </a:lvl7pPr>
            <a:lvl8pPr>
              <a:buNone/>
              <a:defRPr sz="2250" b="1">
                <a:solidFill>
                  <a:srgbClr val="007F7B"/>
                </a:solidFill>
                <a:latin typeface="Helvetica Neue"/>
                <a:ea typeface="Helvetica Neue"/>
                <a:cs typeface="Helvetica Neue"/>
              </a:defRPr>
            </a:lvl8pPr>
            <a:lvl9pPr>
              <a:buNone/>
              <a:defRPr sz="2250" b="1">
                <a:solidFill>
                  <a:srgbClr val="007F7B"/>
                </a:solidFill>
                <a:latin typeface="Helvetica Neue"/>
                <a:ea typeface="Helvetica Neue"/>
                <a:cs typeface="Helvetica Neue"/>
              </a:defRPr>
            </a:lvl9pPr>
          </a:lstStyle>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Adhesion = energy needed to separate a contact in this model.</a:t>
            </a:r>
          </a:p>
          <a:p xmlns:a="http://schemas.openxmlformats.org/drawingml/2006/main">
            <a:pPr>
              <a:buNone/>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Higher values mean stronger attachment under the tested conditions.</a:t>
            </a:r>
          </a:p>
        </p:txBody>
      </p:sp>
      <p:sp>
        <p:nvSpPr>
          <p:cNvPr id="10" name="">
            <a:extLst xmlns:a="http://schemas.openxmlformats.org/drawingml/2006/main">
              <a:ext uri="{FF2B5EF4-FFF2-40B4-BE49-F238E27FC236}">
                <a16:creationId xmlns:a16="http://schemas.microsoft.com/office/drawing/2014/main" id="{E4F023CF-F53F-46A0-8594-9E1C4C6F6122}"/>
              </a:ext>
            </a:extLst>
          </p:cNvPr>
          <p:cNvSpPr>
            <a:spLocks xmlns:a="http://schemas.openxmlformats.org/drawingml/2006/main" noGrp="1"/>
          </p:cNvSpPr>
          <p:nvPr/>
        </p:nvSpPr>
        <p:spPr>
          <a:xfrm xmlns:a="http://schemas.openxmlformats.org/drawingml/2006/main">
            <a:off x="533400" y="6019800"/>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PET-MAD simulates the atoms. These results have not been measured in a real battery.</a:t>
            </a:r>
          </a:p>
        </p:txBody>
      </p:sp>
    </p:spTree>
    <p:extLst>
      <p:ext uri="{BB962C8B-B14F-4D97-AF65-F5344CB8AC3E}">
        <p14:creationId xmlns:p14="http://schemas.microsoft.com/office/powerpoint/2010/main" val="1107248138"/>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C3EAF9-6398-49B4-ADC1-5697B435695B}"/>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PREDICTION CHECKED</a:t>
            </a:r>
          </a:p>
        </p:txBody>
      </p:sp>
      <p:sp>
        <p:nvSpPr>
          <p:cNvPr id="2" name="">
            <a:extLst xmlns:a="http://schemas.openxmlformats.org/drawingml/2006/main">
              <a:ext uri="{FF2B5EF4-FFF2-40B4-BE49-F238E27FC236}">
                <a16:creationId xmlns:a16="http://schemas.microsoft.com/office/drawing/2014/main" id="{8D372829-1687-4500-B48A-B6CB4DF64BDF}"/>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First choice: the forecast worked for LiTaF₆</a:t>
            </a:r>
          </a:p>
        </p:txBody>
      </p:sp>
      <p:sp>
        <p:nvSpPr>
          <p:cNvPr id="3" name="">
            <a:extLst xmlns:a="http://schemas.openxmlformats.org/drawingml/2006/main">
              <a:ext uri="{FF2B5EF4-FFF2-40B4-BE49-F238E27FC236}">
                <a16:creationId xmlns:a16="http://schemas.microsoft.com/office/drawing/2014/main" id="{E600EE0A-1D3B-40F2-94ED-8059D1B301DF}"/>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Its idea: replace niobium (Nb) with chemically related tantalum (Ta).</a:t>
            </a:r>
          </a:p>
        </p:txBody>
      </p:sp>
      <p:sp>
        <p:nvSpPr>
          <p:cNvPr id="4" name="">
            <a:extLst xmlns:a="http://schemas.openxmlformats.org/drawingml/2006/main">
              <a:ext uri="{FF2B5EF4-FFF2-40B4-BE49-F238E27FC236}">
                <a16:creationId xmlns:a16="http://schemas.microsoft.com/office/drawing/2014/main" id="{171E6BC1-2591-4000-87C4-E3D7CE39126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AEA0D7AE-1DC8-43FF-B894-390156D999F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13</a:t>
            </a:r>
          </a:p>
        </p:txBody>
      </p:sp>
      <p:graphicFrame>
        <p:nvGraphicFramePr>
          <p:cNvPr id="6" name="">
            <a:extLst xmlns:a="http://schemas.openxmlformats.org/drawingml/2006/main">
              <a:ext uri="{FF2B5EF4-FFF2-40B4-BE49-F238E27FC236}">
                <a16:creationId xmlns:a16="http://schemas.microsoft.com/office/drawing/2014/main" id="{BB9D6758-2B13-40AE-8B11-D7D50E457BA6}"/>
              </a:ext>
            </a:extLst>
          </p:cNvPr>
          <p:cNvGraphicFramePr/>
          <p:nvPr/>
        </p:nvGraphicFramePr>
        <p:xfrm>
          <a:off xmlns:a="http://schemas.openxmlformats.org/drawingml/2006/main" x="533400" y="2257425"/>
          <a:ext xmlns:a="http://schemas.openxmlformats.org/drawingml/2006/main" cx="11125200" cy="2343150"/>
        </p:xfrm>
        <a:graphic xmlns:a="http://schemas.openxmlformats.org/drawingml/2006/main">
          <a:graphicData uri="http://schemas.openxmlformats.org/drawingml/2006/table">
            <a:tbl>
              <a:tblPr firstRow="0" bandRow="0"/>
              <a:tblGrid>
                <a:gridCol w="4095750"/>
                <a:gridCol w="2857500"/>
                <a:gridCol w="4171950"/>
              </a:tblGrid>
              <a:tr h="781050">
                <a:tc>
                  <a:txBody>
                    <a:bodyPr lIns="0" tIns="0" rIns="0" bIns="0">
                      <a:noAutofit/>
                    </a:bodyPr>
                    <a:lstStyle/>
                    <a:p>
                      <a:r>
                        <a:rPr sz="1875" b="1">
                          <a:solidFill>
                            <a:srgbClr val="FFFFFF"/>
                          </a:solidFill>
                          <a:latin typeface="Helvetica Neue"/>
                          <a:ea typeface="Helvetica Neue"/>
                          <a:cs typeface="Helvetica Neue"/>
                        </a:rPr>
                        <a:t>Contact with the 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LLM forecast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Calculated adhesion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81050">
                <a:tc>
                  <a:txBody>
                    <a:bodyPr lIns="0" tIns="0" rIns="0" bIns="0">
                      <a:noAutofit/>
                    </a:bodyPr>
                    <a:lstStyle/>
                    <a:p>
                      <a:r>
                        <a:rPr sz="2250" b="0">
                          <a:solidFill>
                            <a:srgbClr val="172B3A"/>
                          </a:solidFill>
                          <a:latin typeface="Helvetica Neue"/>
                          <a:ea typeface="Helvetica Neue"/>
                          <a:cs typeface="Helvetica Neue"/>
                        </a:rPr>
                        <a:t>Cathode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3.2–3.9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3.339 (within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81050">
                <a:tc>
                  <a:txBody>
                    <a:bodyPr lIns="0" tIns="0" rIns="0" bIns="0">
                      <a:noAutofit/>
                    </a:bodyPr>
                    <a:lstStyle/>
                    <a:p>
                      <a:r>
                        <a:rPr sz="2250" b="0">
                          <a:solidFill>
                            <a:srgbClr val="172B3A"/>
                          </a:solidFill>
                          <a:latin typeface="Helvetica Neue"/>
                          <a:ea typeface="Helvetica Neue"/>
                          <a:cs typeface="Helvetica Neue"/>
                        </a:rPr>
                        <a:t>Electrolyte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1.577 (within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CC84711C-D659-429E-8AB0-2391FABE9F02}"/>
              </a:ext>
            </a:extLst>
          </p:cNvPr>
          <p:cNvSpPr>
            <a:spLocks xmlns:a="http://schemas.openxmlformats.org/drawingml/2006/main" noGrp="1"/>
          </p:cNvSpPr>
          <p:nvPr/>
        </p:nvSpPr>
        <p:spPr>
          <a:xfrm xmlns:a="http://schemas.openxmlformats.org/drawingml/2006/main">
            <a:off x="533400" y="50958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7F7B"/>
                </a:solidFill>
                <a:latin typeface="Helvetica Neue"/>
                <a:ea typeface="Helvetica Neue"/>
                <a:cs typeface="Helvetica Neue"/>
              </a:defRPr>
            </a:defPPr>
            <a:lvl1pPr>
              <a:buNone/>
              <a:defRPr sz="2550" b="1">
                <a:solidFill>
                  <a:srgbClr val="007F7B"/>
                </a:solidFill>
                <a:latin typeface="Helvetica Neue"/>
                <a:ea typeface="Helvetica Neue"/>
                <a:cs typeface="Helvetica Neue"/>
              </a:defRPr>
            </a:lvl1pPr>
            <a:lvl2pPr>
              <a:buNone/>
              <a:defRPr sz="2550" b="1">
                <a:solidFill>
                  <a:srgbClr val="007F7B"/>
                </a:solidFill>
                <a:latin typeface="Helvetica Neue"/>
                <a:ea typeface="Helvetica Neue"/>
                <a:cs typeface="Helvetica Neue"/>
              </a:defRPr>
            </a:lvl2pPr>
            <a:lvl3pPr>
              <a:buNone/>
              <a:defRPr sz="2550" b="1">
                <a:solidFill>
                  <a:srgbClr val="007F7B"/>
                </a:solidFill>
                <a:latin typeface="Helvetica Neue"/>
                <a:ea typeface="Helvetica Neue"/>
                <a:cs typeface="Helvetica Neue"/>
              </a:defRPr>
            </a:lvl3pPr>
            <a:lvl4pPr>
              <a:buNone/>
              <a:defRPr sz="2550" b="1">
                <a:solidFill>
                  <a:srgbClr val="007F7B"/>
                </a:solidFill>
                <a:latin typeface="Helvetica Neue"/>
                <a:ea typeface="Helvetica Neue"/>
                <a:cs typeface="Helvetica Neue"/>
              </a:defRPr>
            </a:lvl4pPr>
            <a:lvl5pPr>
              <a:buNone/>
              <a:defRPr sz="2550" b="1">
                <a:solidFill>
                  <a:srgbClr val="007F7B"/>
                </a:solidFill>
                <a:latin typeface="Helvetica Neue"/>
                <a:ea typeface="Helvetica Neue"/>
                <a:cs typeface="Helvetica Neue"/>
              </a:defRPr>
            </a:lvl5pPr>
            <a:lvl6pPr>
              <a:buNone/>
              <a:defRPr sz="2550" b="1">
                <a:solidFill>
                  <a:srgbClr val="007F7B"/>
                </a:solidFill>
                <a:latin typeface="Helvetica Neue"/>
                <a:ea typeface="Helvetica Neue"/>
                <a:cs typeface="Helvetica Neue"/>
              </a:defRPr>
            </a:lvl6pPr>
            <a:lvl7pPr>
              <a:buNone/>
              <a:defRPr sz="2550" b="1">
                <a:solidFill>
                  <a:srgbClr val="007F7B"/>
                </a:solidFill>
                <a:latin typeface="Helvetica Neue"/>
                <a:ea typeface="Helvetica Neue"/>
                <a:cs typeface="Helvetica Neue"/>
              </a:defRPr>
            </a:lvl7pPr>
            <a:lvl8pPr>
              <a:buNone/>
              <a:defRPr sz="2550" b="1">
                <a:solidFill>
                  <a:srgbClr val="007F7B"/>
                </a:solidFill>
                <a:latin typeface="Helvetica Neue"/>
                <a:ea typeface="Helvetica Neue"/>
                <a:cs typeface="Helvetica Neue"/>
              </a:defRPr>
            </a:lvl8pPr>
            <a:lvl9pPr>
              <a:buNone/>
              <a:defRPr sz="2550" b="1">
                <a:solidFill>
                  <a:srgbClr val="007F7B"/>
                </a:solidFill>
                <a:latin typeface="Helvetica Neue"/>
                <a:ea typeface="Helvetica Neue"/>
                <a:cs typeface="Helvetica Neue"/>
              </a:defRPr>
            </a:lvl9pPr>
          </a:lstStyle>
          <a:p xmlns:a="http://schemas.openxmlformats.org/drawingml/2006/main">
            <a:pPr>
              <a:buNone/>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Both forecasts held. It also predicted the weaker contact correctly.</a:t>
            </a:r>
          </a:p>
        </p:txBody>
      </p:sp>
      <p:sp>
        <p:nvSpPr>
          <p:cNvPr id="8" name="">
            <a:extLst xmlns:a="http://schemas.openxmlformats.org/drawingml/2006/main">
              <a:ext uri="{FF2B5EF4-FFF2-40B4-BE49-F238E27FC236}">
                <a16:creationId xmlns:a16="http://schemas.microsoft.com/office/drawing/2014/main" id="{F2BD42BB-846E-4D63-AB16-798D3D7E6C77}"/>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Units: J/m². Forecasts were recorded before the new calculations.</a:t>
            </a:r>
          </a:p>
        </p:txBody>
      </p:sp>
    </p:spTree>
    <p:extLst>
      <p:ext uri="{BB962C8B-B14F-4D97-AF65-F5344CB8AC3E}">
        <p14:creationId xmlns:p14="http://schemas.microsoft.com/office/powerpoint/2010/main" val="131055105"/>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309FFD-01E0-4A7C-B785-87682857F48D}"/>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PREDICTION CHECKED</a:t>
            </a:r>
          </a:p>
        </p:txBody>
      </p:sp>
      <p:sp>
        <p:nvSpPr>
          <p:cNvPr id="2" name="">
            <a:extLst xmlns:a="http://schemas.openxmlformats.org/drawingml/2006/main">
              <a:ext uri="{FF2B5EF4-FFF2-40B4-BE49-F238E27FC236}">
                <a16:creationId xmlns:a16="http://schemas.microsoft.com/office/drawing/2014/main" id="{3F6FA0F6-556B-439F-9718-CBDE27C2EB4C}"/>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Second choice: the forecast failed for LiCaAlF₆</a:t>
            </a:r>
          </a:p>
        </p:txBody>
      </p:sp>
      <p:sp>
        <p:nvSpPr>
          <p:cNvPr id="3" name="">
            <a:extLst xmlns:a="http://schemas.openxmlformats.org/drawingml/2006/main">
              <a:ext uri="{FF2B5EF4-FFF2-40B4-BE49-F238E27FC236}">
                <a16:creationId xmlns:a16="http://schemas.microsoft.com/office/drawing/2014/main" id="{FFAB9C2C-2B6D-4DB0-BE96-C49E3C4F2308}"/>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The LLM expected stronger attachment than the calculations found.</a:t>
            </a:r>
          </a:p>
        </p:txBody>
      </p:sp>
      <p:sp>
        <p:nvSpPr>
          <p:cNvPr id="4" name="">
            <a:extLst xmlns:a="http://schemas.openxmlformats.org/drawingml/2006/main">
              <a:ext uri="{FF2B5EF4-FFF2-40B4-BE49-F238E27FC236}">
                <a16:creationId xmlns:a16="http://schemas.microsoft.com/office/drawing/2014/main" id="{16D20085-422B-4850-98C9-A0A8B2F5F49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D75370A5-790A-449A-BAB8-75FFF60A89D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14</a:t>
            </a:r>
          </a:p>
        </p:txBody>
      </p:sp>
      <p:graphicFrame>
        <p:nvGraphicFramePr>
          <p:cNvPr id="6" name="">
            <a:extLst xmlns:a="http://schemas.openxmlformats.org/drawingml/2006/main">
              <a:ext uri="{FF2B5EF4-FFF2-40B4-BE49-F238E27FC236}">
                <a16:creationId xmlns:a16="http://schemas.microsoft.com/office/drawing/2014/main" id="{233A2EBD-43A5-46F3-9BEB-35B7AE79B004}"/>
              </a:ext>
            </a:extLst>
          </p:cNvPr>
          <p:cNvGraphicFramePr/>
          <p:nvPr/>
        </p:nvGraphicFramePr>
        <p:xfrm>
          <a:off xmlns:a="http://schemas.openxmlformats.org/drawingml/2006/main" x="533400" y="2257425"/>
          <a:ext xmlns:a="http://schemas.openxmlformats.org/drawingml/2006/main" cx="11125200" cy="2343150"/>
        </p:xfrm>
        <a:graphic xmlns:a="http://schemas.openxmlformats.org/drawingml/2006/main">
          <a:graphicData uri="http://schemas.openxmlformats.org/drawingml/2006/table">
            <a:tbl>
              <a:tblPr firstRow="0" bandRow="0"/>
              <a:tblGrid>
                <a:gridCol w="4095750"/>
                <a:gridCol w="2857500"/>
                <a:gridCol w="4171950"/>
              </a:tblGrid>
              <a:tr h="781050">
                <a:tc>
                  <a:txBody>
                    <a:bodyPr lIns="0" tIns="0" rIns="0" bIns="0">
                      <a:noAutofit/>
                    </a:bodyPr>
                    <a:lstStyle/>
                    <a:p>
                      <a:r>
                        <a:rPr sz="1875" b="1">
                          <a:solidFill>
                            <a:srgbClr val="FFFFFF"/>
                          </a:solidFill>
                          <a:latin typeface="Helvetica Neue"/>
                          <a:ea typeface="Helvetica Neue"/>
                          <a:cs typeface="Helvetica Neue"/>
                        </a:rPr>
                        <a:t>Contact with the 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LLM forecast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75" b="1">
                          <a:solidFill>
                            <a:srgbClr val="FFFFFF"/>
                          </a:solidFill>
                          <a:latin typeface="Helvetica Neue"/>
                          <a:ea typeface="Helvetica Neue"/>
                          <a:cs typeface="Helvetica Neue"/>
                        </a:rPr>
                        <a:t>Calculated adhesion</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81050">
                <a:tc>
                  <a:txBody>
                    <a:bodyPr lIns="0" tIns="0" rIns="0" bIns="0">
                      <a:noAutofit/>
                    </a:bodyPr>
                    <a:lstStyle/>
                    <a:p>
                      <a:r>
                        <a:rPr sz="2250" b="0">
                          <a:solidFill>
                            <a:srgbClr val="172B3A"/>
                          </a:solidFill>
                          <a:latin typeface="Helvetica Neue"/>
                          <a:ea typeface="Helvetica Neue"/>
                          <a:cs typeface="Helvetica Neue"/>
                        </a:rPr>
                        <a:t>Cathode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3.0–3.8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1.427 (below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81050">
                <a:tc>
                  <a:txBody>
                    <a:bodyPr lIns="0" tIns="0" rIns="0" bIns="0">
                      <a:noAutofit/>
                    </a:bodyPr>
                    <a:lstStyle/>
                    <a:p>
                      <a:r>
                        <a:rPr sz="2250" b="0">
                          <a:solidFill>
                            <a:srgbClr val="172B3A"/>
                          </a:solidFill>
                          <a:latin typeface="Helvetica Neue"/>
                          <a:ea typeface="Helvetica Neue"/>
                          <a:cs typeface="Helvetica Neue"/>
                        </a:rPr>
                        <a:t>Electrolyte side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1.4–1.9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250" b="0">
                          <a:solidFill>
                            <a:srgbClr val="172B3A"/>
                          </a:solidFill>
                          <a:latin typeface="Helvetica Neue"/>
                          <a:ea typeface="Helvetica Neue"/>
                          <a:cs typeface="Helvetica Neue"/>
                        </a:rPr>
                        <a:t>0.744 (below range)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69ADCFB3-31AF-4E18-B778-15DCCF771DCE}"/>
              </a:ext>
            </a:extLst>
          </p:cNvPr>
          <p:cNvSpPr>
            <a:spLocks xmlns:a="http://schemas.openxmlformats.org/drawingml/2006/main" noGrp="1"/>
          </p:cNvSpPr>
          <p:nvPr/>
        </p:nvSpPr>
        <p:spPr>
          <a:xfrm xmlns:a="http://schemas.openxmlformats.org/drawingml/2006/main">
            <a:off x="533400" y="50958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CA713A"/>
                </a:solidFill>
                <a:latin typeface="Helvetica Neue"/>
                <a:ea typeface="Helvetica Neue"/>
                <a:cs typeface="Helvetica Neue"/>
              </a:defRPr>
            </a:defPPr>
            <a:lvl1pPr>
              <a:buNone/>
              <a:defRPr sz="2550" b="1">
                <a:solidFill>
                  <a:srgbClr val="CA713A"/>
                </a:solidFill>
                <a:latin typeface="Helvetica Neue"/>
                <a:ea typeface="Helvetica Neue"/>
                <a:cs typeface="Helvetica Neue"/>
              </a:defRPr>
            </a:lvl1pPr>
            <a:lvl2pPr>
              <a:buNone/>
              <a:defRPr sz="2550" b="1">
                <a:solidFill>
                  <a:srgbClr val="CA713A"/>
                </a:solidFill>
                <a:latin typeface="Helvetica Neue"/>
                <a:ea typeface="Helvetica Neue"/>
                <a:cs typeface="Helvetica Neue"/>
              </a:defRPr>
            </a:lvl2pPr>
            <a:lvl3pPr>
              <a:buNone/>
              <a:defRPr sz="2550" b="1">
                <a:solidFill>
                  <a:srgbClr val="CA713A"/>
                </a:solidFill>
                <a:latin typeface="Helvetica Neue"/>
                <a:ea typeface="Helvetica Neue"/>
                <a:cs typeface="Helvetica Neue"/>
              </a:defRPr>
            </a:lvl3pPr>
            <a:lvl4pPr>
              <a:buNone/>
              <a:defRPr sz="2550" b="1">
                <a:solidFill>
                  <a:srgbClr val="CA713A"/>
                </a:solidFill>
                <a:latin typeface="Helvetica Neue"/>
                <a:ea typeface="Helvetica Neue"/>
                <a:cs typeface="Helvetica Neue"/>
              </a:defRPr>
            </a:lvl4pPr>
            <a:lvl5pPr>
              <a:buNone/>
              <a:defRPr sz="2550" b="1">
                <a:solidFill>
                  <a:srgbClr val="CA713A"/>
                </a:solidFill>
                <a:latin typeface="Helvetica Neue"/>
                <a:ea typeface="Helvetica Neue"/>
                <a:cs typeface="Helvetica Neue"/>
              </a:defRPr>
            </a:lvl5pPr>
            <a:lvl6pPr>
              <a:buNone/>
              <a:defRPr sz="2550" b="1">
                <a:solidFill>
                  <a:srgbClr val="CA713A"/>
                </a:solidFill>
                <a:latin typeface="Helvetica Neue"/>
                <a:ea typeface="Helvetica Neue"/>
                <a:cs typeface="Helvetica Neue"/>
              </a:defRPr>
            </a:lvl6pPr>
            <a:lvl7pPr>
              <a:buNone/>
              <a:defRPr sz="2550" b="1">
                <a:solidFill>
                  <a:srgbClr val="CA713A"/>
                </a:solidFill>
                <a:latin typeface="Helvetica Neue"/>
                <a:ea typeface="Helvetica Neue"/>
                <a:cs typeface="Helvetica Neue"/>
              </a:defRPr>
            </a:lvl7pPr>
            <a:lvl8pPr>
              <a:buNone/>
              <a:defRPr sz="2550" b="1">
                <a:solidFill>
                  <a:srgbClr val="CA713A"/>
                </a:solidFill>
                <a:latin typeface="Helvetica Neue"/>
                <a:ea typeface="Helvetica Neue"/>
                <a:cs typeface="Helvetica Neue"/>
              </a:defRPr>
            </a:lvl8pPr>
            <a:lvl9pPr>
              <a:buNone/>
              <a:defRPr sz="2550" b="1">
                <a:solidFill>
                  <a:srgbClr val="CA713A"/>
                </a:solidFill>
                <a:latin typeface="Helvetica Neue"/>
                <a:ea typeface="Helvetica Neue"/>
                <a:cs typeface="Helvetica Neue"/>
              </a:defRPr>
            </a:lvl9pPr>
          </a:lstStyle>
          <a:p xmlns:a="http://schemas.openxmlformats.org/drawingml/2006/main">
            <a:pPr>
              <a:buNone/>
              <a:defRPr sz="2550" b="1">
                <a:solidFill>
                  <a:srgbClr val="CA713A"/>
                </a:solidFill>
                <a:latin typeface="Helvetica Neue"/>
                <a:ea typeface="Helvetica Neue"/>
                <a:cs typeface="Helvetica Neue"/>
              </a:defRPr>
            </a:pPr>
            <a:r>
              <a:rPr sz="2550" b="1">
                <a:solidFill>
                  <a:srgbClr val="CA713A"/>
                </a:solidFill>
                <a:latin typeface="Helvetica Neue"/>
                <a:ea typeface="Helvetica Neue"/>
                <a:cs typeface="Helvetica Neue"/>
              </a:rPr>
              <a:t>Both forecasts missed. The LLM acknowledged the failure afterward.</a:t>
            </a:r>
          </a:p>
        </p:txBody>
      </p:sp>
      <p:sp>
        <p:nvSpPr>
          <p:cNvPr id="8" name="">
            <a:extLst xmlns:a="http://schemas.openxmlformats.org/drawingml/2006/main">
              <a:ext uri="{FF2B5EF4-FFF2-40B4-BE49-F238E27FC236}">
                <a16:creationId xmlns:a16="http://schemas.microsoft.com/office/drawing/2014/main" id="{4A445982-0978-4242-B377-42BFDF9B5D90}"/>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Units: J/m². It still identified the electrolyte side as the weaker contact.</a:t>
            </a:r>
          </a:p>
        </p:txBody>
      </p:sp>
    </p:spTree>
    <p:extLst>
      <p:ext uri="{BB962C8B-B14F-4D97-AF65-F5344CB8AC3E}">
        <p14:creationId xmlns:p14="http://schemas.microsoft.com/office/powerpoint/2010/main" val="64688523"/>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30E15A-4AC0-4FE0-A633-FDFA9FD80C7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STEP 3 / RESULT</a:t>
            </a:r>
          </a:p>
        </p:txBody>
      </p:sp>
      <p:sp>
        <p:nvSpPr>
          <p:cNvPr id="2" name="">
            <a:extLst xmlns:a="http://schemas.openxmlformats.org/drawingml/2006/main">
              <a:ext uri="{FF2B5EF4-FFF2-40B4-BE49-F238E27FC236}">
                <a16:creationId xmlns:a16="http://schemas.microsoft.com/office/drawing/2014/main" id="{5F8AC785-430E-441C-AE8C-4BB21B58F619}"/>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the physical calculations found</a:t>
            </a:r>
          </a:p>
        </p:txBody>
      </p:sp>
      <p:sp>
        <p:nvSpPr>
          <p:cNvPr id="3" name="">
            <a:extLst xmlns:a="http://schemas.openxmlformats.org/drawingml/2006/main">
              <a:ext uri="{FF2B5EF4-FFF2-40B4-BE49-F238E27FC236}">
                <a16:creationId xmlns:a16="http://schemas.microsoft.com/office/drawing/2014/main" id="{3E569ADD-83B7-4B84-8A01-6E9BB52C0A3E}"/>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Adhesion in the tested structures. Higher values mean stronger attachment.</a:t>
            </a:r>
          </a:p>
        </p:txBody>
      </p:sp>
      <p:sp>
        <p:nvSpPr>
          <p:cNvPr id="4" name="">
            <a:extLst xmlns:a="http://schemas.openxmlformats.org/drawingml/2006/main">
              <a:ext uri="{FF2B5EF4-FFF2-40B4-BE49-F238E27FC236}">
                <a16:creationId xmlns:a16="http://schemas.microsoft.com/office/drawing/2014/main" id="{573928EB-D1E9-43B8-96EE-18113CA743F2}"/>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BF5540A1-D399-4E74-95AB-0D29490788BC}"/>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15</a:t>
            </a:r>
          </a:p>
        </p:txBody>
      </p:sp>
      <p:graphicFrame>
        <p:nvGraphicFramePr>
          <p:cNvPr id="6" name="Chart">
            <a:extLst xmlns:a="http://schemas.openxmlformats.org/drawingml/2006/main">
              <a:ext uri="{FF2B5EF4-FFF2-40B4-BE49-F238E27FC236}">
                <a16:creationId xmlns:a16="http://schemas.microsoft.com/office/drawing/2014/main" id="{24B5E3CB-5270-4233-9B17-60218C56B985}"/>
              </a:ext>
            </a:extLst>
          </p:cNvPr>
          <p:cNvGraphicFramePr/>
          <p:nvPr/>
        </p:nvGraphicFramePr>
        <p:xfrm>
          <a:off xmlns:a="http://schemas.openxmlformats.org/drawingml/2006/main" x="533400" y="2105025"/>
          <a:ext xmlns:a="http://schemas.openxmlformats.org/drawingml/2006/main" cx="11125200" cy="3381375"/>
        </p:xfrm>
        <a:graphic xmlns:a="http://schemas.openxmlformats.org/drawingml/2006/main">
          <a:graphicData uri="http://schemas.openxmlformats.org/drawingml/2006/chart">
            <c:chart xmlns:r="http://schemas.openxmlformats.org/officeDocument/2006/relationships" xmlns:c="http://schemas.openxmlformats.org/drawingml/2006/chart" r:id="R772f9c9037244e7c"/>
          </a:graphicData>
        </a:graphic>
      </p:graphicFrame>
      <p:sp>
        <p:nvSpPr>
          <p:cNvPr id="7" name="">
            <a:extLst xmlns:a="http://schemas.openxmlformats.org/drawingml/2006/main">
              <a:ext uri="{FF2B5EF4-FFF2-40B4-BE49-F238E27FC236}">
                <a16:creationId xmlns:a16="http://schemas.microsoft.com/office/drawing/2014/main" id="{211F0DD0-3FCA-4D5E-905F-B0D19A2A44B4}"/>
              </a:ext>
            </a:extLst>
          </p:cNvPr>
          <p:cNvSpPr>
            <a:spLocks xmlns:a="http://schemas.openxmlformats.org/drawingml/2006/main" noGrp="1"/>
          </p:cNvSpPr>
          <p:nvPr/>
        </p:nvSpPr>
        <p:spPr>
          <a:xfrm xmlns:a="http://schemas.openxmlformats.org/drawingml/2006/main">
            <a:off x="533400" y="57054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buNone/>
              <a:defRPr sz="1800" b="0">
                <a:solidFill>
                  <a:srgbClr val="007F7B"/>
                </a:solidFill>
                <a:latin typeface="Helvetica Neue"/>
                <a:ea typeface="Helvetica Neue"/>
                <a:cs typeface="Helvetica Neue"/>
              </a:defRPr>
            </a:lvl1pPr>
            <a:lvl2pPr>
              <a:buNone/>
              <a:defRPr sz="1800" b="0">
                <a:solidFill>
                  <a:srgbClr val="007F7B"/>
                </a:solidFill>
                <a:latin typeface="Helvetica Neue"/>
                <a:ea typeface="Helvetica Neue"/>
                <a:cs typeface="Helvetica Neue"/>
              </a:defRPr>
            </a:lvl2pPr>
            <a:lvl3pPr>
              <a:buNone/>
              <a:defRPr sz="1800" b="0">
                <a:solidFill>
                  <a:srgbClr val="007F7B"/>
                </a:solidFill>
                <a:latin typeface="Helvetica Neue"/>
                <a:ea typeface="Helvetica Neue"/>
                <a:cs typeface="Helvetica Neue"/>
              </a:defRPr>
            </a:lvl3pPr>
            <a:lvl4pPr>
              <a:buNone/>
              <a:defRPr sz="1800" b="0">
                <a:solidFill>
                  <a:srgbClr val="007F7B"/>
                </a:solidFill>
                <a:latin typeface="Helvetica Neue"/>
                <a:ea typeface="Helvetica Neue"/>
                <a:cs typeface="Helvetica Neue"/>
              </a:defRPr>
            </a:lvl4pPr>
            <a:lvl5pPr>
              <a:buNone/>
              <a:defRPr sz="1800" b="0">
                <a:solidFill>
                  <a:srgbClr val="007F7B"/>
                </a:solidFill>
                <a:latin typeface="Helvetica Neue"/>
                <a:ea typeface="Helvetica Neue"/>
                <a:cs typeface="Helvetica Neue"/>
              </a:defRPr>
            </a:lvl5pPr>
            <a:lvl6pPr>
              <a:buNone/>
              <a:defRPr sz="1800" b="0">
                <a:solidFill>
                  <a:srgbClr val="007F7B"/>
                </a:solidFill>
                <a:latin typeface="Helvetica Neue"/>
                <a:ea typeface="Helvetica Neue"/>
                <a:cs typeface="Helvetica Neue"/>
              </a:defRPr>
            </a:lvl6pPr>
            <a:lvl7pPr>
              <a:buNone/>
              <a:defRPr sz="1800" b="0">
                <a:solidFill>
                  <a:srgbClr val="007F7B"/>
                </a:solidFill>
                <a:latin typeface="Helvetica Neue"/>
                <a:ea typeface="Helvetica Neue"/>
                <a:cs typeface="Helvetica Neue"/>
              </a:defRPr>
            </a:lvl7pPr>
            <a:lvl8pPr>
              <a:buNone/>
              <a:defRPr sz="1800" b="0">
                <a:solidFill>
                  <a:srgbClr val="007F7B"/>
                </a:solidFill>
                <a:latin typeface="Helvetica Neue"/>
                <a:ea typeface="Helvetica Neue"/>
                <a:cs typeface="Helvetica Neue"/>
              </a:defRPr>
            </a:lvl8pPr>
            <a:lvl9pPr>
              <a:buNone/>
              <a:defRPr sz="1800" b="0">
                <a:solidFill>
                  <a:srgbClr val="007F7B"/>
                </a:solidFill>
                <a:latin typeface="Helvetica Neue"/>
                <a:ea typeface="Helvetica Neue"/>
                <a:cs typeface="Helvetica Neue"/>
              </a:defRPr>
            </a:lvl9pPr>
          </a:lstStyle>
          <a:p xmlns:a="http://schemas.openxmlformats.org/drawingml/2006/main">
            <a:pPr>
              <a:buNone/>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Ca–Al attached less strongly. The small Nb–Ta gap does not establish a reliable winner.</a:t>
            </a:r>
          </a:p>
        </p:txBody>
      </p:sp>
      <p:sp>
        <p:nvSpPr>
          <p:cNvPr id="8" name="">
            <a:extLst xmlns:a="http://schemas.openxmlformats.org/drawingml/2006/main">
              <a:ext uri="{FF2B5EF4-FFF2-40B4-BE49-F238E27FC236}">
                <a16:creationId xmlns:a16="http://schemas.microsoft.com/office/drawing/2014/main" id="{8E3FAF43-38EB-413E-A19F-1533A9CF052B}"/>
              </a:ext>
            </a:extLst>
          </p:cNvPr>
          <p:cNvSpPr>
            <a:spLocks xmlns:a="http://schemas.openxmlformats.org/drawingml/2006/main" noGrp="1"/>
          </p:cNvSpPr>
          <p:nvPr/>
        </p:nvSpPr>
        <p:spPr>
          <a:xfrm xmlns:a="http://schemas.openxmlformats.org/drawingml/2006/main">
            <a:off x="533400" y="6105525"/>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Numerical sensitivity and charged model surfaces still limit the physical interpretation.</a:t>
            </a:r>
          </a:p>
        </p:txBody>
      </p:sp>
    </p:spTree>
    <p:extLst>
      <p:ext uri="{BB962C8B-B14F-4D97-AF65-F5344CB8AC3E}">
        <p14:creationId xmlns:p14="http://schemas.microsoft.com/office/powerpoint/2010/main" val="910524772"/>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FF6D71-FDEE-43B7-85B3-3FCE3ECAFAA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defRPr sz="1350" b="1">
                <a:solidFill>
                  <a:srgbClr val="007F7B"/>
                </a:solidFill>
                <a:latin typeface="Helvetica Neue"/>
                <a:ea typeface="Helvetica Neue"/>
                <a:cs typeface="Helvetica Neue"/>
              </a:defRPr>
            </a:lvl1pPr>
            <a:lvl2pPr>
              <a:defRPr sz="1350" b="1">
                <a:solidFill>
                  <a:srgbClr val="007F7B"/>
                </a:solidFill>
                <a:latin typeface="Helvetica Neue"/>
                <a:ea typeface="Helvetica Neue"/>
                <a:cs typeface="Helvetica Neue"/>
              </a:defRPr>
            </a:lvl2pPr>
            <a:lvl3pPr>
              <a:defRPr sz="1350" b="1">
                <a:solidFill>
                  <a:srgbClr val="007F7B"/>
                </a:solidFill>
                <a:latin typeface="Helvetica Neue"/>
                <a:ea typeface="Helvetica Neue"/>
                <a:cs typeface="Helvetica Neue"/>
              </a:defRPr>
            </a:lvl3pPr>
            <a:lvl4pPr>
              <a:defRPr sz="1350" b="1">
                <a:solidFill>
                  <a:srgbClr val="007F7B"/>
                </a:solidFill>
                <a:latin typeface="Helvetica Neue"/>
                <a:ea typeface="Helvetica Neue"/>
                <a:cs typeface="Helvetica Neue"/>
              </a:defRPr>
            </a:lvl4pPr>
            <a:lvl5pPr>
              <a:defRPr sz="1350" b="1">
                <a:solidFill>
                  <a:srgbClr val="007F7B"/>
                </a:solidFill>
                <a:latin typeface="Helvetica Neue"/>
                <a:ea typeface="Helvetica Neue"/>
                <a:cs typeface="Helvetica Neue"/>
              </a:defRPr>
            </a:lvl5pPr>
            <a:lvl6pPr>
              <a:defRPr sz="1350" b="1">
                <a:solidFill>
                  <a:srgbClr val="007F7B"/>
                </a:solidFill>
                <a:latin typeface="Helvetica Neue"/>
                <a:ea typeface="Helvetica Neue"/>
                <a:cs typeface="Helvetica Neue"/>
              </a:defRPr>
            </a:lvl6pPr>
            <a:lvl7pPr>
              <a:defRPr sz="1350" b="1">
                <a:solidFill>
                  <a:srgbClr val="007F7B"/>
                </a:solidFill>
                <a:latin typeface="Helvetica Neue"/>
                <a:ea typeface="Helvetica Neue"/>
                <a:cs typeface="Helvetica Neue"/>
              </a:defRPr>
            </a:lvl7pPr>
            <a:lvl8pPr>
              <a:defRPr sz="1350" b="1">
                <a:solidFill>
                  <a:srgbClr val="007F7B"/>
                </a:solidFill>
                <a:latin typeface="Helvetica Neue"/>
                <a:ea typeface="Helvetica Neue"/>
                <a:cs typeface="Helvetica Neue"/>
              </a:defRPr>
            </a:lvl8pPr>
            <a:lvl9pPr>
              <a:defRPr sz="1350" b="1">
                <a:solidFill>
                  <a:srgbClr val="007F7B"/>
                </a:solidFill>
                <a:latin typeface="Helvetica Neue"/>
                <a:ea typeface="Helvetica Neue"/>
                <a:cs typeface="Helvetica Neue"/>
              </a:defRPr>
            </a:lvl9pPr>
          </a:lstStyle>
          <a:p xmlns:a="http://schemas.openxmlformats.org/drawingml/2006/main">
            <a:pPr>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CANDIDATE OUTCOME</a:t>
            </a:r>
          </a:p>
        </p:txBody>
      </p:sp>
      <p:sp>
        <p:nvSpPr>
          <p:cNvPr id="2" name="">
            <a:extLst xmlns:a="http://schemas.openxmlformats.org/drawingml/2006/main">
              <a:ext uri="{FF2B5EF4-FFF2-40B4-BE49-F238E27FC236}">
                <a16:creationId xmlns:a16="http://schemas.microsoft.com/office/drawing/2014/main" id="{84297A22-F512-4293-9C5D-FCA210E31898}"/>
              </a:ext>
            </a:extLst>
          </p:cNvPr>
          <p:cNvSpPr>
            <a:spLocks xmlns:a="http://schemas.openxmlformats.org/drawingml/2006/main" noGrp="1"/>
          </p:cNvSpPr>
          <p:nvPr/>
        </p:nvSpPr>
        <p:spPr>
          <a:xfrm xmlns:a="http://schemas.openxmlformats.org/drawingml/2006/main">
            <a:off x="533400" y="7048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defRPr sz="3300" b="1">
                <a:solidFill>
                  <a:srgbClr val="172B3A"/>
                </a:solidFill>
                <a:latin typeface="Helvetica Neue"/>
                <a:ea typeface="Helvetica Neue"/>
                <a:cs typeface="Helvetica Neue"/>
              </a:defRPr>
            </a:lvl1pPr>
            <a:lvl2pPr>
              <a:defRPr sz="3300" b="1">
                <a:solidFill>
                  <a:srgbClr val="172B3A"/>
                </a:solidFill>
                <a:latin typeface="Helvetica Neue"/>
                <a:ea typeface="Helvetica Neue"/>
                <a:cs typeface="Helvetica Neue"/>
              </a:defRPr>
            </a:lvl2pPr>
            <a:lvl3pPr>
              <a:defRPr sz="3300" b="1">
                <a:solidFill>
                  <a:srgbClr val="172B3A"/>
                </a:solidFill>
                <a:latin typeface="Helvetica Neue"/>
                <a:ea typeface="Helvetica Neue"/>
                <a:cs typeface="Helvetica Neue"/>
              </a:defRPr>
            </a:lvl3pPr>
            <a:lvl4pPr>
              <a:defRPr sz="3300" b="1">
                <a:solidFill>
                  <a:srgbClr val="172B3A"/>
                </a:solidFill>
                <a:latin typeface="Helvetica Neue"/>
                <a:ea typeface="Helvetica Neue"/>
                <a:cs typeface="Helvetica Neue"/>
              </a:defRPr>
            </a:lvl4pPr>
            <a:lvl5pPr>
              <a:defRPr sz="3300" b="1">
                <a:solidFill>
                  <a:srgbClr val="172B3A"/>
                </a:solidFill>
                <a:latin typeface="Helvetica Neue"/>
                <a:ea typeface="Helvetica Neue"/>
                <a:cs typeface="Helvetica Neue"/>
              </a:defRPr>
            </a:lvl5pPr>
            <a:lvl6pPr>
              <a:defRPr sz="3300" b="1">
                <a:solidFill>
                  <a:srgbClr val="172B3A"/>
                </a:solidFill>
                <a:latin typeface="Helvetica Neue"/>
                <a:ea typeface="Helvetica Neue"/>
                <a:cs typeface="Helvetica Neue"/>
              </a:defRPr>
            </a:lvl6pPr>
            <a:lvl7pPr>
              <a:defRPr sz="3300" b="1">
                <a:solidFill>
                  <a:srgbClr val="172B3A"/>
                </a:solidFill>
                <a:latin typeface="Helvetica Neue"/>
                <a:ea typeface="Helvetica Neue"/>
                <a:cs typeface="Helvetica Neue"/>
              </a:defRPr>
            </a:lvl7pPr>
            <a:lvl8pPr>
              <a:defRPr sz="3300" b="1">
                <a:solidFill>
                  <a:srgbClr val="172B3A"/>
                </a:solidFill>
                <a:latin typeface="Helvetica Neue"/>
                <a:ea typeface="Helvetica Neue"/>
                <a:cs typeface="Helvetica Neue"/>
              </a:defRPr>
            </a:lvl8pPr>
            <a:lvl9pPr>
              <a:defRPr sz="3300" b="1">
                <a:solidFill>
                  <a:srgbClr val="172B3A"/>
                </a:solidFill>
                <a:latin typeface="Helvetica Neue"/>
                <a:ea typeface="Helvetica Neue"/>
                <a:cs typeface="Helvetica Neue"/>
              </a:defRPr>
            </a:lvl9pPr>
          </a:lstStyle>
          <a:p xmlns:a="http://schemas.openxmlformats.org/drawingml/2006/main">
            <a:pPr>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 small shortlist for further testing</a:t>
            </a:r>
          </a:p>
        </p:txBody>
      </p:sp>
      <p:sp>
        <p:nvSpPr>
          <p:cNvPr id="3" name="">
            <a:extLst xmlns:a="http://schemas.openxmlformats.org/drawingml/2006/main">
              <a:ext uri="{FF2B5EF4-FFF2-40B4-BE49-F238E27FC236}">
                <a16:creationId xmlns:a16="http://schemas.microsoft.com/office/drawing/2014/main" id="{BFF05A0C-001C-4EA2-BACF-1541F302B0BD}"/>
              </a:ext>
            </a:extLst>
          </p:cNvPr>
          <p:cNvSpPr>
            <a:spLocks xmlns:a="http://schemas.openxmlformats.org/drawingml/2006/main" noGrp="1"/>
          </p:cNvSpPr>
          <p:nvPr/>
        </p:nvSpPr>
        <p:spPr>
          <a:xfrm xmlns:a="http://schemas.openxmlformats.org/drawingml/2006/main">
            <a:off x="533400" y="147637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defRPr sz="2025" b="0">
                <a:solidFill>
                  <a:srgbClr val="526472"/>
                </a:solidFill>
                <a:latin typeface="Helvetica Neue"/>
                <a:ea typeface="Helvetica Neue"/>
                <a:cs typeface="Helvetica Neue"/>
              </a:defRPr>
            </a:lvl1pPr>
            <a:lvl2pPr>
              <a:defRPr sz="2025" b="0">
                <a:solidFill>
                  <a:srgbClr val="526472"/>
                </a:solidFill>
                <a:latin typeface="Helvetica Neue"/>
                <a:ea typeface="Helvetica Neue"/>
                <a:cs typeface="Helvetica Neue"/>
              </a:defRPr>
            </a:lvl2pPr>
            <a:lvl3pPr>
              <a:defRPr sz="2025" b="0">
                <a:solidFill>
                  <a:srgbClr val="526472"/>
                </a:solidFill>
                <a:latin typeface="Helvetica Neue"/>
                <a:ea typeface="Helvetica Neue"/>
                <a:cs typeface="Helvetica Neue"/>
              </a:defRPr>
            </a:lvl3pPr>
            <a:lvl4pPr>
              <a:defRPr sz="2025" b="0">
                <a:solidFill>
                  <a:srgbClr val="526472"/>
                </a:solidFill>
                <a:latin typeface="Helvetica Neue"/>
                <a:ea typeface="Helvetica Neue"/>
                <a:cs typeface="Helvetica Neue"/>
              </a:defRPr>
            </a:lvl4pPr>
            <a:lvl5pPr>
              <a:defRPr sz="2025" b="0">
                <a:solidFill>
                  <a:srgbClr val="526472"/>
                </a:solidFill>
                <a:latin typeface="Helvetica Neue"/>
                <a:ea typeface="Helvetica Neue"/>
                <a:cs typeface="Helvetica Neue"/>
              </a:defRPr>
            </a:lvl5pPr>
            <a:lvl6pPr>
              <a:defRPr sz="2025" b="0">
                <a:solidFill>
                  <a:srgbClr val="526472"/>
                </a:solidFill>
                <a:latin typeface="Helvetica Neue"/>
                <a:ea typeface="Helvetica Neue"/>
                <a:cs typeface="Helvetica Neue"/>
              </a:defRPr>
            </a:lvl6pPr>
            <a:lvl7pPr>
              <a:defRPr sz="2025" b="0">
                <a:solidFill>
                  <a:srgbClr val="526472"/>
                </a:solidFill>
                <a:latin typeface="Helvetica Neue"/>
                <a:ea typeface="Helvetica Neue"/>
                <a:cs typeface="Helvetica Neue"/>
              </a:defRPr>
            </a:lvl7pPr>
            <a:lvl8pPr>
              <a:defRPr sz="2025" b="0">
                <a:solidFill>
                  <a:srgbClr val="526472"/>
                </a:solidFill>
                <a:latin typeface="Helvetica Neue"/>
                <a:ea typeface="Helvetica Neue"/>
                <a:cs typeface="Helvetica Neue"/>
              </a:defRPr>
            </a:lvl8pPr>
            <a:lvl9pPr>
              <a:defRPr sz="2025" b="0">
                <a:solidFill>
                  <a:srgbClr val="526472"/>
                </a:solidFill>
                <a:latin typeface="Helvetica Neue"/>
                <a:ea typeface="Helvetica Neue"/>
                <a:cs typeface="Helvetica Neue"/>
              </a:defRPr>
            </a:lvl9pPr>
          </a:lstStyle>
          <a:p xmlns:a="http://schemas.openxmlformats.org/drawingml/2006/main">
            <a:pPr>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Four of 141 structures pass the sulfide screen, representing three chemical formulas.</a:t>
            </a:r>
          </a:p>
        </p:txBody>
      </p:sp>
      <p:sp>
        <p:nvSpPr>
          <p:cNvPr id="4" name="">
            <a:extLst xmlns:a="http://schemas.openxmlformats.org/drawingml/2006/main">
              <a:ext uri="{FF2B5EF4-FFF2-40B4-BE49-F238E27FC236}">
                <a16:creationId xmlns:a16="http://schemas.microsoft.com/office/drawing/2014/main" id="{2EBFFC34-18F2-4E12-A823-B5072A2ECF4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defRPr sz="1275" b="0">
                <a:solidFill>
                  <a:srgbClr val="526472"/>
                </a:solidFill>
                <a:latin typeface="Helvetica Neue"/>
                <a:ea typeface="Helvetica Neue"/>
                <a:cs typeface="Helvetica Neue"/>
              </a:defRPr>
            </a:lvl1pPr>
            <a:lvl2pPr>
              <a:defRPr sz="1275" b="0">
                <a:solidFill>
                  <a:srgbClr val="526472"/>
                </a:solidFill>
                <a:latin typeface="Helvetica Neue"/>
                <a:ea typeface="Helvetica Neue"/>
                <a:cs typeface="Helvetica Neue"/>
              </a:defRPr>
            </a:lvl2pPr>
            <a:lvl3pPr>
              <a:defRPr sz="1275" b="0">
                <a:solidFill>
                  <a:srgbClr val="526472"/>
                </a:solidFill>
                <a:latin typeface="Helvetica Neue"/>
                <a:ea typeface="Helvetica Neue"/>
                <a:cs typeface="Helvetica Neue"/>
              </a:defRPr>
            </a:lvl3pPr>
            <a:lvl4pPr>
              <a:defRPr sz="1275" b="0">
                <a:solidFill>
                  <a:srgbClr val="526472"/>
                </a:solidFill>
                <a:latin typeface="Helvetica Neue"/>
                <a:ea typeface="Helvetica Neue"/>
                <a:cs typeface="Helvetica Neue"/>
              </a:defRPr>
            </a:lvl4pPr>
            <a:lvl5pPr>
              <a:defRPr sz="1275" b="0">
                <a:solidFill>
                  <a:srgbClr val="526472"/>
                </a:solidFill>
                <a:latin typeface="Helvetica Neue"/>
                <a:ea typeface="Helvetica Neue"/>
                <a:cs typeface="Helvetica Neue"/>
              </a:defRPr>
            </a:lvl5pPr>
            <a:lvl6pPr>
              <a:defRPr sz="1275" b="0">
                <a:solidFill>
                  <a:srgbClr val="526472"/>
                </a:solidFill>
                <a:latin typeface="Helvetica Neue"/>
                <a:ea typeface="Helvetica Neue"/>
                <a:cs typeface="Helvetica Neue"/>
              </a:defRPr>
            </a:lvl6pPr>
            <a:lvl7pPr>
              <a:defRPr sz="1275" b="0">
                <a:solidFill>
                  <a:srgbClr val="526472"/>
                </a:solidFill>
                <a:latin typeface="Helvetica Neue"/>
                <a:ea typeface="Helvetica Neue"/>
                <a:cs typeface="Helvetica Neue"/>
              </a:defRPr>
            </a:lvl7pPr>
            <a:lvl8pPr>
              <a:defRPr sz="1275" b="0">
                <a:solidFill>
                  <a:srgbClr val="526472"/>
                </a:solidFill>
                <a:latin typeface="Helvetica Neue"/>
                <a:ea typeface="Helvetica Neue"/>
                <a:cs typeface="Helvetica Neue"/>
              </a:defRPr>
            </a:lvl8pPr>
            <a:lvl9pPr>
              <a:defRPr sz="1275" b="0">
                <a:solidFill>
                  <a:srgbClr val="526472"/>
                </a:solidFill>
                <a:latin typeface="Helvetica Neue"/>
                <a:ea typeface="Helvetica Neue"/>
                <a:cs typeface="Helvetica Neue"/>
              </a:defRPr>
            </a:lvl9pPr>
          </a:lstStyle>
          <a:p xmlns:a="http://schemas.openxmlformats.org/drawingml/2006/main">
            <a:pPr>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5" name="">
            <a:extLst xmlns:a="http://schemas.openxmlformats.org/drawingml/2006/main">
              <a:ext uri="{FF2B5EF4-FFF2-40B4-BE49-F238E27FC236}">
                <a16:creationId xmlns:a16="http://schemas.microsoft.com/office/drawing/2014/main" id="{954072AB-00B2-43A0-BD52-413F0127757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defRPr sz="1425" b="0">
                <a:solidFill>
                  <a:srgbClr val="526472"/>
                </a:solidFill>
                <a:latin typeface="Helvetica Neue"/>
                <a:ea typeface="Helvetica Neue"/>
                <a:cs typeface="Helvetica Neue"/>
              </a:defRPr>
            </a:lvl1pPr>
            <a:lvl2pPr>
              <a:defRPr sz="1425" b="0">
                <a:solidFill>
                  <a:srgbClr val="526472"/>
                </a:solidFill>
                <a:latin typeface="Helvetica Neue"/>
                <a:ea typeface="Helvetica Neue"/>
                <a:cs typeface="Helvetica Neue"/>
              </a:defRPr>
            </a:lvl2pPr>
            <a:lvl3pPr>
              <a:defRPr sz="1425" b="0">
                <a:solidFill>
                  <a:srgbClr val="526472"/>
                </a:solidFill>
                <a:latin typeface="Helvetica Neue"/>
                <a:ea typeface="Helvetica Neue"/>
                <a:cs typeface="Helvetica Neue"/>
              </a:defRPr>
            </a:lvl3pPr>
            <a:lvl4pPr>
              <a:defRPr sz="1425" b="0">
                <a:solidFill>
                  <a:srgbClr val="526472"/>
                </a:solidFill>
                <a:latin typeface="Helvetica Neue"/>
                <a:ea typeface="Helvetica Neue"/>
                <a:cs typeface="Helvetica Neue"/>
              </a:defRPr>
            </a:lvl4pPr>
            <a:lvl5pPr>
              <a:defRPr sz="1425" b="0">
                <a:solidFill>
                  <a:srgbClr val="526472"/>
                </a:solidFill>
                <a:latin typeface="Helvetica Neue"/>
                <a:ea typeface="Helvetica Neue"/>
                <a:cs typeface="Helvetica Neue"/>
              </a:defRPr>
            </a:lvl5pPr>
            <a:lvl6pPr>
              <a:defRPr sz="1425" b="0">
                <a:solidFill>
                  <a:srgbClr val="526472"/>
                </a:solidFill>
                <a:latin typeface="Helvetica Neue"/>
                <a:ea typeface="Helvetica Neue"/>
                <a:cs typeface="Helvetica Neue"/>
              </a:defRPr>
            </a:lvl6pPr>
            <a:lvl7pPr>
              <a:defRPr sz="1425" b="0">
                <a:solidFill>
                  <a:srgbClr val="526472"/>
                </a:solidFill>
                <a:latin typeface="Helvetica Neue"/>
                <a:ea typeface="Helvetica Neue"/>
                <a:cs typeface="Helvetica Neue"/>
              </a:defRPr>
            </a:lvl7pPr>
            <a:lvl8pPr>
              <a:defRPr sz="1425" b="0">
                <a:solidFill>
                  <a:srgbClr val="526472"/>
                </a:solidFill>
                <a:latin typeface="Helvetica Neue"/>
                <a:ea typeface="Helvetica Neue"/>
                <a:cs typeface="Helvetica Neue"/>
              </a:defRPr>
            </a:lvl8pPr>
            <a:lvl9pPr>
              <a:defRPr sz="1425" b="0">
                <a:solidFill>
                  <a:srgbClr val="526472"/>
                </a:solidFill>
                <a:latin typeface="Helvetica Neue"/>
                <a:ea typeface="Helvetica Neue"/>
                <a:cs typeface="Helvetica Neue"/>
              </a:defRPr>
            </a:lvl9pPr>
          </a:lstStyle>
          <a:p xmlns:a="http://schemas.openxmlformats.org/drawingml/2006/main">
            <a:pPr>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16</a:t>
            </a:r>
          </a:p>
        </p:txBody>
      </p:sp>
      <p:graphicFrame>
        <p:nvGraphicFramePr>
          <p:cNvPr id="6" name="">
            <a:extLst xmlns:a="http://schemas.openxmlformats.org/drawingml/2006/main">
              <a:ext uri="{FF2B5EF4-FFF2-40B4-BE49-F238E27FC236}">
                <a16:creationId xmlns:a16="http://schemas.microsoft.com/office/drawing/2014/main" id="{B1C36F65-21DB-4651-945C-7D47B81BE701}"/>
              </a:ext>
            </a:extLst>
          </p:cNvPr>
          <p:cNvGraphicFramePr/>
          <p:nvPr/>
        </p:nvGraphicFramePr>
        <p:xfrm>
          <a:off xmlns:a="http://schemas.openxmlformats.org/drawingml/2006/main" x="533400" y="2152650"/>
          <a:ext xmlns:a="http://schemas.openxmlformats.org/drawingml/2006/main" cx="11125200" cy="2876550"/>
        </p:xfrm>
        <a:graphic xmlns:a="http://schemas.openxmlformats.org/drawingml/2006/main">
          <a:graphicData uri="http://schemas.openxmlformats.org/drawingml/2006/table">
            <a:tbl>
              <a:tblPr firstRow="0" bandRow="0"/>
              <a:tblGrid>
                <a:gridCol w="3143250"/>
                <a:gridCol w="2952750"/>
                <a:gridCol w="5029200"/>
              </a:tblGrid>
              <a:tr h="719138">
                <a:tc>
                  <a:txBody>
                    <a:bodyPr lIns="0" tIns="0" rIns="0" bIns="0">
                      <a:noAutofit/>
                    </a:bodyPr>
                    <a:lstStyle/>
                    <a:p>
                      <a:r>
                        <a:rPr sz="1800" b="1">
                          <a:solidFill>
                            <a:srgbClr val="FFFFFF"/>
                          </a:solidFill>
                          <a:latin typeface="Helvetica Neue"/>
                          <a:ea typeface="Helvetica Neue"/>
                          <a:cs typeface="Helvetica Neue"/>
                        </a:rPr>
                        <a:t>Material and role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Adhesion at weaker</a:t>
                      </a:r>
                    </a:p>
                    <a:p>
                      <a:r>
                        <a:rPr sz="1800" b="1">
                          <a:solidFill>
                            <a:srgbClr val="FFFFFF"/>
                          </a:solidFill>
                          <a:latin typeface="Helvetica Neue"/>
                          <a:ea typeface="Helvetica Neue"/>
                          <a:cs typeface="Helvetica Neue"/>
                        </a:rPr>
                        <a:t>contact (J/m²)</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What the evidence supports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9138">
                <a:tc>
                  <a:txBody>
                    <a:bodyPr lIns="0" tIns="0" rIns="0" bIns="0">
                      <a:noAutofit/>
                    </a:bodyPr>
                    <a:lstStyle/>
                    <a:p>
                      <a:r>
                        <a:rPr sz="2100" b="0">
                          <a:solidFill>
                            <a:srgbClr val="172B3A"/>
                          </a:solidFill>
                          <a:latin typeface="Helvetica Neue"/>
                          <a:ea typeface="Helvetica Neue"/>
                          <a:cs typeface="Helvetica Neue"/>
                        </a:rPr>
                        <a:t>LiNbF₆</a:t>
                      </a:r>
                    </a:p>
                    <a:p>
                      <a:r>
                        <a:rPr sz="2100" b="0">
                          <a:solidFill>
                            <a:srgbClr val="172B3A"/>
                          </a:solidFill>
                          <a:latin typeface="Helvetica Neue"/>
                          <a:ea typeface="Helvetica Neue"/>
                          <a:cs typeface="Helvetica Neue"/>
                        </a:rPr>
                        <a:t>Reference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1.633</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Promising reference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19138">
                <a:tc>
                  <a:txBody>
                    <a:bodyPr lIns="0" tIns="0" rIns="0" bIns="0">
                      <a:noAutofit/>
                    </a:bodyPr>
                    <a:lstStyle/>
                    <a:p>
                      <a:r>
                        <a:rPr sz="2100" b="0">
                          <a:solidFill>
                            <a:srgbClr val="172B3A"/>
                          </a:solidFill>
                          <a:latin typeface="Helvetica Neue"/>
                          <a:ea typeface="Helvetica Neue"/>
                          <a:cs typeface="Helvetica Neue"/>
                        </a:rPr>
                        <a:t>LiTaF₆</a:t>
                      </a:r>
                    </a:p>
                    <a:p>
                      <a:r>
                        <a:rPr sz="2100" b="0">
                          <a:solidFill>
                            <a:srgbClr val="172B3A"/>
                          </a:solidFill>
                          <a:latin typeface="Helvetica Neue"/>
                          <a:ea typeface="Helvetica Neue"/>
                          <a:cs typeface="Helvetica Neue"/>
                        </a:rPr>
                        <a:t>First LLM choice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1.577</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Promising alternative</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719138">
                <a:tc>
                  <a:txBody>
                    <a:bodyPr lIns="0" tIns="0" rIns="0" bIns="0">
                      <a:noAutofit/>
                    </a:bodyPr>
                    <a:lstStyle/>
                    <a:p>
                      <a:r>
                        <a:rPr sz="2100" b="0">
                          <a:solidFill>
                            <a:srgbClr val="172B3A"/>
                          </a:solidFill>
                          <a:latin typeface="Helvetica Neue"/>
                          <a:ea typeface="Helvetica Neue"/>
                          <a:cs typeface="Helvetica Neue"/>
                        </a:rPr>
                        <a:t>LiCaAlF₆</a:t>
                      </a:r>
                    </a:p>
                    <a:p>
                      <a:r>
                        <a:rPr sz="2100" b="0">
                          <a:solidFill>
                            <a:srgbClr val="172B3A"/>
                          </a:solidFill>
                          <a:latin typeface="Helvetica Neue"/>
                          <a:ea typeface="Helvetica Neue"/>
                          <a:cs typeface="Helvetica Neue"/>
                        </a:rPr>
                        <a:t>Second LLM choice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0.744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Passes chemistry,</a:t>
                      </a:r>
                    </a:p>
                    <a:p>
                      <a:r>
                        <a:rPr sz="2100" b="0">
                          <a:solidFill>
                            <a:srgbClr val="172B3A"/>
                          </a:solidFill>
                          <a:latin typeface="Helvetica Neue"/>
                          <a:ea typeface="Helvetica Neue"/>
                          <a:cs typeface="Helvetica Neue"/>
                        </a:rPr>
                        <a:t>but attaches less strongly</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AE161027-85CA-4CE2-9C6E-89246D863D1B}"/>
              </a:ext>
            </a:extLst>
          </p:cNvPr>
          <p:cNvSpPr>
            <a:spLocks xmlns:a="http://schemas.openxmlformats.org/drawingml/2006/main" noGrp="1"/>
          </p:cNvSpPr>
          <p:nvPr/>
        </p:nvSpPr>
        <p:spPr>
          <a:xfrm xmlns:a="http://schemas.openxmlformats.org/drawingml/2006/main">
            <a:off x="533400" y="5257800"/>
            <a:ext cx="111252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07F7B"/>
                </a:solidFill>
                <a:latin typeface="Helvetica Neue"/>
                <a:ea typeface="Helvetica Neue"/>
                <a:cs typeface="Helvetica Neue"/>
              </a:defRPr>
            </a:defPPr>
            <a:lvl1pPr>
              <a:defRPr sz="2250" b="1">
                <a:solidFill>
                  <a:srgbClr val="007F7B"/>
                </a:solidFill>
                <a:latin typeface="Helvetica Neue"/>
                <a:ea typeface="Helvetica Neue"/>
                <a:cs typeface="Helvetica Neue"/>
              </a:defRPr>
            </a:lvl1pPr>
            <a:lvl2pPr>
              <a:defRPr sz="2250" b="1">
                <a:solidFill>
                  <a:srgbClr val="007F7B"/>
                </a:solidFill>
                <a:latin typeface="Helvetica Neue"/>
                <a:ea typeface="Helvetica Neue"/>
                <a:cs typeface="Helvetica Neue"/>
              </a:defRPr>
            </a:lvl2pPr>
            <a:lvl3pPr>
              <a:defRPr sz="2250" b="1">
                <a:solidFill>
                  <a:srgbClr val="007F7B"/>
                </a:solidFill>
                <a:latin typeface="Helvetica Neue"/>
                <a:ea typeface="Helvetica Neue"/>
                <a:cs typeface="Helvetica Neue"/>
              </a:defRPr>
            </a:lvl3pPr>
            <a:lvl4pPr>
              <a:defRPr sz="2250" b="1">
                <a:solidFill>
                  <a:srgbClr val="007F7B"/>
                </a:solidFill>
                <a:latin typeface="Helvetica Neue"/>
                <a:ea typeface="Helvetica Neue"/>
                <a:cs typeface="Helvetica Neue"/>
              </a:defRPr>
            </a:lvl4pPr>
            <a:lvl5pPr>
              <a:defRPr sz="2250" b="1">
                <a:solidFill>
                  <a:srgbClr val="007F7B"/>
                </a:solidFill>
                <a:latin typeface="Helvetica Neue"/>
                <a:ea typeface="Helvetica Neue"/>
                <a:cs typeface="Helvetica Neue"/>
              </a:defRPr>
            </a:lvl5pPr>
            <a:lvl6pPr>
              <a:defRPr sz="2250" b="1">
                <a:solidFill>
                  <a:srgbClr val="007F7B"/>
                </a:solidFill>
                <a:latin typeface="Helvetica Neue"/>
                <a:ea typeface="Helvetica Neue"/>
                <a:cs typeface="Helvetica Neue"/>
              </a:defRPr>
            </a:lvl6pPr>
            <a:lvl7pPr>
              <a:defRPr sz="2250" b="1">
                <a:solidFill>
                  <a:srgbClr val="007F7B"/>
                </a:solidFill>
                <a:latin typeface="Helvetica Neue"/>
                <a:ea typeface="Helvetica Neue"/>
                <a:cs typeface="Helvetica Neue"/>
              </a:defRPr>
            </a:lvl7pPr>
            <a:lvl8pPr>
              <a:defRPr sz="2250" b="1">
                <a:solidFill>
                  <a:srgbClr val="007F7B"/>
                </a:solidFill>
                <a:latin typeface="Helvetica Neue"/>
                <a:ea typeface="Helvetica Neue"/>
                <a:cs typeface="Helvetica Neue"/>
              </a:defRPr>
            </a:lvl8pPr>
            <a:lvl9pPr>
              <a:defRPr sz="2250" b="1">
                <a:solidFill>
                  <a:srgbClr val="007F7B"/>
                </a:solidFill>
                <a:latin typeface="Helvetica Neue"/>
                <a:ea typeface="Helvetica Neue"/>
                <a:cs typeface="Helvetica Neue"/>
              </a:defRPr>
            </a:lvl9pPr>
          </a:lstStyle>
          <a:p xmlns:a="http://schemas.openxmlformats.org/drawingml/2006/main">
            <a:pPr>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Suggested follow-up: LiNbF₆ and LiTaF₆.</a:t>
            </a:r>
          </a:p>
          <a:p xmlns:a="http://schemas.openxmlformats.org/drawingml/2006/main">
            <a:pPr>
              <a:defRPr sz="2250" b="1">
                <a:solidFill>
                  <a:srgbClr val="007F7B"/>
                </a:solidFill>
                <a:latin typeface="Helvetica Neue"/>
                <a:ea typeface="Helvetica Neue"/>
                <a:cs typeface="Helvetica Neue"/>
              </a:defRPr>
            </a:pPr>
            <a:r>
              <a:rPr sz="2250" b="1">
                <a:solidFill>
                  <a:srgbClr val="007F7B"/>
                </a:solidFill>
                <a:latin typeface="Helvetica Neue"/>
                <a:ea typeface="Helvetica Neue"/>
                <a:cs typeface="Helvetica Neue"/>
              </a:rPr>
              <a:t>Their small difference does not establish a proven optimum.</a:t>
            </a:r>
          </a:p>
        </p:txBody>
      </p:sp>
      <p:sp>
        <p:nvSpPr>
          <p:cNvPr id="8" name="">
            <a:extLst xmlns:a="http://schemas.openxmlformats.org/drawingml/2006/main">
              <a:ext uri="{FF2B5EF4-FFF2-40B4-BE49-F238E27FC236}">
                <a16:creationId xmlns:a16="http://schemas.microsoft.com/office/drawing/2014/main" id="{4BC810A2-2373-4BB7-9423-A5340B48DE93}"/>
              </a:ext>
            </a:extLst>
          </p:cNvPr>
          <p:cNvSpPr>
            <a:spLocks xmlns:a="http://schemas.openxmlformats.org/drawingml/2006/main" noGrp="1"/>
          </p:cNvSpPr>
          <p:nvPr/>
        </p:nvSpPr>
        <p:spPr>
          <a:xfrm xmlns:a="http://schemas.openxmlformats.org/drawingml/2006/main">
            <a:off x="533400" y="6124575"/>
            <a:ext cx="11125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defRPr sz="1650" b="0">
                <a:solidFill>
                  <a:srgbClr val="526472"/>
                </a:solidFill>
                <a:latin typeface="Helvetica Neue"/>
                <a:ea typeface="Helvetica Neue"/>
                <a:cs typeface="Helvetica Neue"/>
              </a:defRPr>
            </a:lvl1pPr>
            <a:lvl2pPr>
              <a:defRPr sz="1650" b="0">
                <a:solidFill>
                  <a:srgbClr val="526472"/>
                </a:solidFill>
                <a:latin typeface="Helvetica Neue"/>
                <a:ea typeface="Helvetica Neue"/>
                <a:cs typeface="Helvetica Neue"/>
              </a:defRPr>
            </a:lvl2pPr>
            <a:lvl3pPr>
              <a:defRPr sz="1650" b="0">
                <a:solidFill>
                  <a:srgbClr val="526472"/>
                </a:solidFill>
                <a:latin typeface="Helvetica Neue"/>
                <a:ea typeface="Helvetica Neue"/>
                <a:cs typeface="Helvetica Neue"/>
              </a:defRPr>
            </a:lvl3pPr>
            <a:lvl4pPr>
              <a:defRPr sz="1650" b="0">
                <a:solidFill>
                  <a:srgbClr val="526472"/>
                </a:solidFill>
                <a:latin typeface="Helvetica Neue"/>
                <a:ea typeface="Helvetica Neue"/>
                <a:cs typeface="Helvetica Neue"/>
              </a:defRPr>
            </a:lvl4pPr>
            <a:lvl5pPr>
              <a:defRPr sz="1650" b="0">
                <a:solidFill>
                  <a:srgbClr val="526472"/>
                </a:solidFill>
                <a:latin typeface="Helvetica Neue"/>
                <a:ea typeface="Helvetica Neue"/>
                <a:cs typeface="Helvetica Neue"/>
              </a:defRPr>
            </a:lvl5pPr>
            <a:lvl6pPr>
              <a:defRPr sz="1650" b="0">
                <a:solidFill>
                  <a:srgbClr val="526472"/>
                </a:solidFill>
                <a:latin typeface="Helvetica Neue"/>
                <a:ea typeface="Helvetica Neue"/>
                <a:cs typeface="Helvetica Neue"/>
              </a:defRPr>
            </a:lvl6pPr>
            <a:lvl7pPr>
              <a:defRPr sz="1650" b="0">
                <a:solidFill>
                  <a:srgbClr val="526472"/>
                </a:solidFill>
                <a:latin typeface="Helvetica Neue"/>
                <a:ea typeface="Helvetica Neue"/>
                <a:cs typeface="Helvetica Neue"/>
              </a:defRPr>
            </a:lvl7pPr>
            <a:lvl8pPr>
              <a:defRPr sz="1650" b="0">
                <a:solidFill>
                  <a:srgbClr val="526472"/>
                </a:solidFill>
                <a:latin typeface="Helvetica Neue"/>
                <a:ea typeface="Helvetica Neue"/>
                <a:cs typeface="Helvetica Neue"/>
              </a:defRPr>
            </a:lvl8pPr>
            <a:lvl9pPr>
              <a:defRPr sz="1650" b="0">
                <a:solidFill>
                  <a:srgbClr val="526472"/>
                </a:solidFill>
                <a:latin typeface="Helvetica Neue"/>
                <a:ea typeface="Helvetica Neue"/>
                <a:cs typeface="Helvetica Neue"/>
              </a:defRPr>
            </a:lvl9pPr>
          </a:lstStyle>
          <a:p xmlns:a="http://schemas.openxmlformats.org/drawingml/2006/main">
            <a:pPr>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Two Ta crystal forms pass screening. One was simulated. Real battery performance remains untested.</a:t>
            </a:r>
          </a:p>
        </p:txBody>
      </p:sp>
    </p:spTree>
    <p:extLst>
      <p:ext uri="{BB962C8B-B14F-4D97-AF65-F5344CB8AC3E}">
        <p14:creationId xmlns:p14="http://schemas.microsoft.com/office/powerpoint/2010/main" val="1264600484"/>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E6AF45-57BA-4F36-A4C5-240B34CC767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ANSWER</a:t>
            </a:r>
          </a:p>
        </p:txBody>
      </p:sp>
      <p:sp>
        <p:nvSpPr>
          <p:cNvPr id="2" name="">
            <a:extLst xmlns:a="http://schemas.openxmlformats.org/drawingml/2006/main">
              <a:ext uri="{FF2B5EF4-FFF2-40B4-BE49-F238E27FC236}">
                <a16:creationId xmlns:a16="http://schemas.microsoft.com/office/drawing/2014/main" id="{39860711-3AD9-4F0B-AA0E-4F059BFD5055}"/>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the LLM achieved</a:t>
            </a:r>
          </a:p>
        </p:txBody>
      </p:sp>
      <p:sp>
        <p:nvSpPr>
          <p:cNvPr id="3" name="">
            <a:extLst xmlns:a="http://schemas.openxmlformats.org/drawingml/2006/main">
              <a:ext uri="{FF2B5EF4-FFF2-40B4-BE49-F238E27FC236}">
                <a16:creationId xmlns:a16="http://schemas.microsoft.com/office/drawing/2014/main" id="{90C7B4F1-9EA1-462F-9D02-77ECE2FCFDF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BE3C350C-BCF7-4D2C-841B-35E992DFFB5D}"/>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90B99DE2-8ACA-4CCC-BB49-ACD5B47C20C9}"/>
              </a:ext>
            </a:extLst>
          </p:cNvPr>
          <p:cNvSpPr>
            <a:spLocks xmlns:a="http://schemas.openxmlformats.org/drawingml/2006/main" noGrp="1"/>
          </p:cNvSpPr>
          <p:nvPr/>
        </p:nvSpPr>
        <p:spPr>
          <a:xfrm xmlns:a="http://schemas.openxmlformats.org/drawingml/2006/main">
            <a:off x="533400" y="20669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5C8B6683-359C-440F-BBD5-AE489F2BEC0B}"/>
              </a:ext>
            </a:extLst>
          </p:cNvPr>
          <p:cNvSpPr>
            <a:spLocks xmlns:a="http://schemas.openxmlformats.org/drawingml/2006/main" noGrp="1"/>
          </p:cNvSpPr>
          <p:nvPr/>
        </p:nvSpPr>
        <p:spPr>
          <a:xfrm xmlns:a="http://schemas.openxmlformats.org/drawingml/2006/main">
            <a:off x="1657350" y="20669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Useful feedback improved some choices</a:t>
            </a:r>
          </a:p>
        </p:txBody>
      </p:sp>
      <p:sp>
        <p:nvSpPr>
          <p:cNvPr id="7" name="">
            <a:extLst xmlns:a="http://schemas.openxmlformats.org/drawingml/2006/main">
              <a:ext uri="{FF2B5EF4-FFF2-40B4-BE49-F238E27FC236}">
                <a16:creationId xmlns:a16="http://schemas.microsoft.com/office/drawing/2014/main" id="{E67F2D22-FE11-4DD7-A685-D46C3BF1FF29}"/>
              </a:ext>
            </a:extLst>
          </p:cNvPr>
          <p:cNvSpPr>
            <a:spLocks xmlns:a="http://schemas.openxmlformats.org/drawingml/2006/main" noGrp="1"/>
          </p:cNvSpPr>
          <p:nvPr/>
        </p:nvSpPr>
        <p:spPr>
          <a:xfrm xmlns:a="http://schemas.openxmlformats.org/drawingml/2006/main">
            <a:off x="1657350" y="25336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Strong gains in the sulfide tests. The oxide result showed a limit.</a:t>
            </a:r>
          </a:p>
        </p:txBody>
      </p:sp>
      <p:sp>
        <p:nvSpPr>
          <p:cNvPr id="8" name="">
            <a:extLst xmlns:a="http://schemas.openxmlformats.org/drawingml/2006/main">
              <a:ext uri="{FF2B5EF4-FFF2-40B4-BE49-F238E27FC236}">
                <a16:creationId xmlns:a16="http://schemas.microsoft.com/office/drawing/2014/main" id="{A26A1087-C9BF-4E85-BF7F-FB2D525226BE}"/>
              </a:ext>
            </a:extLst>
          </p:cNvPr>
          <p:cNvSpPr>
            <a:spLocks xmlns:a="http://schemas.openxmlformats.org/drawingml/2006/main" noGrp="1"/>
          </p:cNvSpPr>
          <p:nvPr/>
        </p:nvSpPr>
        <p:spPr>
          <a:xfrm xmlns:a="http://schemas.openxmlformats.org/drawingml/2006/main">
            <a:off x="533400" y="33242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63D5096A-EEBE-46D8-BE38-45AA411906F2}"/>
              </a:ext>
            </a:extLst>
          </p:cNvPr>
          <p:cNvSpPr>
            <a:spLocks xmlns:a="http://schemas.openxmlformats.org/drawingml/2006/main" noGrp="1"/>
          </p:cNvSpPr>
          <p:nvPr/>
        </p:nvSpPr>
        <p:spPr>
          <a:xfrm xmlns:a="http://schemas.openxmlformats.org/drawingml/2006/main">
            <a:off x="1657350" y="33242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It made chemical hypotheses testable</a:t>
            </a:r>
          </a:p>
        </p:txBody>
      </p:sp>
      <p:sp>
        <p:nvSpPr>
          <p:cNvPr id="10" name="">
            <a:extLst xmlns:a="http://schemas.openxmlformats.org/drawingml/2006/main">
              <a:ext uri="{FF2B5EF4-FFF2-40B4-BE49-F238E27FC236}">
                <a16:creationId xmlns:a16="http://schemas.microsoft.com/office/drawing/2014/main" id="{0CF7C6E9-294D-4EAD-B8EB-1E0AAF8F9055}"/>
              </a:ext>
            </a:extLst>
          </p:cNvPr>
          <p:cNvSpPr>
            <a:spLocks xmlns:a="http://schemas.openxmlformats.org/drawingml/2006/main" noGrp="1"/>
          </p:cNvSpPr>
          <p:nvPr/>
        </p:nvSpPr>
        <p:spPr>
          <a:xfrm xmlns:a="http://schemas.openxmlformats.org/drawingml/2006/main">
            <a:off x="1657350" y="37909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Two adhesion forecasts held and two failed, all recorded in advance.</a:t>
            </a:r>
          </a:p>
        </p:txBody>
      </p:sp>
      <p:sp>
        <p:nvSpPr>
          <p:cNvPr id="11" name="">
            <a:extLst xmlns:a="http://schemas.openxmlformats.org/drawingml/2006/main">
              <a:ext uri="{FF2B5EF4-FFF2-40B4-BE49-F238E27FC236}">
                <a16:creationId xmlns:a16="http://schemas.microsoft.com/office/drawing/2014/main" id="{701DF57E-99CC-4858-B3A5-CAD48C6999E4}"/>
              </a:ext>
            </a:extLst>
          </p:cNvPr>
          <p:cNvSpPr>
            <a:spLocks xmlns:a="http://schemas.openxmlformats.org/drawingml/2006/main" noGrp="1"/>
          </p:cNvSpPr>
          <p:nvPr/>
        </p:nvSpPr>
        <p:spPr>
          <a:xfrm xmlns:a="http://schemas.openxmlformats.org/drawingml/2006/main">
            <a:off x="533400" y="458152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32A69F77-AAA8-45A2-97AD-1BF46F767D5A}"/>
              </a:ext>
            </a:extLst>
          </p:cNvPr>
          <p:cNvSpPr>
            <a:spLocks xmlns:a="http://schemas.openxmlformats.org/drawingml/2006/main" noGrp="1"/>
          </p:cNvSpPr>
          <p:nvPr/>
        </p:nvSpPr>
        <p:spPr>
          <a:xfrm xmlns:a="http://schemas.openxmlformats.org/drawingml/2006/main">
            <a:off x="1657350" y="45815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It assessed results, but still needed review</a:t>
            </a:r>
          </a:p>
        </p:txBody>
      </p:sp>
      <p:sp>
        <p:nvSpPr>
          <p:cNvPr id="13" name="">
            <a:extLst xmlns:a="http://schemas.openxmlformats.org/drawingml/2006/main">
              <a:ext uri="{FF2B5EF4-FFF2-40B4-BE49-F238E27FC236}">
                <a16:creationId xmlns:a16="http://schemas.microsoft.com/office/drawing/2014/main" id="{08D82B9A-B2BF-4A9D-8FB9-8AD767E4A556}"/>
              </a:ext>
            </a:extLst>
          </p:cNvPr>
          <p:cNvSpPr>
            <a:spLocks xmlns:a="http://schemas.openxmlformats.org/drawingml/2006/main" noGrp="1"/>
          </p:cNvSpPr>
          <p:nvPr/>
        </p:nvSpPr>
        <p:spPr>
          <a:xfrm xmlns:a="http://schemas.openxmlformats.org/drawingml/2006/main">
            <a:off x="1657350" y="504825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Its order stayed the same. A human corrected one interpretation.</a:t>
            </a:r>
          </a:p>
        </p:txBody>
      </p:sp>
      <p:sp>
        <p:nvSpPr>
          <p:cNvPr id="14" name="">
            <a:extLst xmlns:a="http://schemas.openxmlformats.org/drawingml/2006/main">
              <a:ext uri="{FF2B5EF4-FFF2-40B4-BE49-F238E27FC236}">
                <a16:creationId xmlns:a16="http://schemas.microsoft.com/office/drawing/2014/main" id="{C1FD9109-D7EB-4206-AF3E-FF19B22E7199}"/>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buNone/>
              <a:defRPr sz="1800" b="0">
                <a:solidFill>
                  <a:srgbClr val="007F7B"/>
                </a:solidFill>
                <a:latin typeface="Helvetica Neue"/>
                <a:ea typeface="Helvetica Neue"/>
                <a:cs typeface="Helvetica Neue"/>
              </a:defRPr>
            </a:lvl1pPr>
            <a:lvl2pPr>
              <a:buNone/>
              <a:defRPr sz="1800" b="0">
                <a:solidFill>
                  <a:srgbClr val="007F7B"/>
                </a:solidFill>
                <a:latin typeface="Helvetica Neue"/>
                <a:ea typeface="Helvetica Neue"/>
                <a:cs typeface="Helvetica Neue"/>
              </a:defRPr>
            </a:lvl2pPr>
            <a:lvl3pPr>
              <a:buNone/>
              <a:defRPr sz="1800" b="0">
                <a:solidFill>
                  <a:srgbClr val="007F7B"/>
                </a:solidFill>
                <a:latin typeface="Helvetica Neue"/>
                <a:ea typeface="Helvetica Neue"/>
                <a:cs typeface="Helvetica Neue"/>
              </a:defRPr>
            </a:lvl3pPr>
            <a:lvl4pPr>
              <a:buNone/>
              <a:defRPr sz="1800" b="0">
                <a:solidFill>
                  <a:srgbClr val="007F7B"/>
                </a:solidFill>
                <a:latin typeface="Helvetica Neue"/>
                <a:ea typeface="Helvetica Neue"/>
                <a:cs typeface="Helvetica Neue"/>
              </a:defRPr>
            </a:lvl4pPr>
            <a:lvl5pPr>
              <a:buNone/>
              <a:defRPr sz="1800" b="0">
                <a:solidFill>
                  <a:srgbClr val="007F7B"/>
                </a:solidFill>
                <a:latin typeface="Helvetica Neue"/>
                <a:ea typeface="Helvetica Neue"/>
                <a:cs typeface="Helvetica Neue"/>
              </a:defRPr>
            </a:lvl5pPr>
            <a:lvl6pPr>
              <a:buNone/>
              <a:defRPr sz="1800" b="0">
                <a:solidFill>
                  <a:srgbClr val="007F7B"/>
                </a:solidFill>
                <a:latin typeface="Helvetica Neue"/>
                <a:ea typeface="Helvetica Neue"/>
                <a:cs typeface="Helvetica Neue"/>
              </a:defRPr>
            </a:lvl6pPr>
            <a:lvl7pPr>
              <a:buNone/>
              <a:defRPr sz="1800" b="0">
                <a:solidFill>
                  <a:srgbClr val="007F7B"/>
                </a:solidFill>
                <a:latin typeface="Helvetica Neue"/>
                <a:ea typeface="Helvetica Neue"/>
                <a:cs typeface="Helvetica Neue"/>
              </a:defRPr>
            </a:lvl7pPr>
            <a:lvl8pPr>
              <a:buNone/>
              <a:defRPr sz="1800" b="0">
                <a:solidFill>
                  <a:srgbClr val="007F7B"/>
                </a:solidFill>
                <a:latin typeface="Helvetica Neue"/>
                <a:ea typeface="Helvetica Neue"/>
                <a:cs typeface="Helvetica Neue"/>
              </a:defRPr>
            </a:lvl8pPr>
            <a:lvl9pPr>
              <a:buNone/>
              <a:defRPr sz="1800" b="0">
                <a:solidFill>
                  <a:srgbClr val="007F7B"/>
                </a:solidFill>
                <a:latin typeface="Helvetica Neue"/>
                <a:ea typeface="Helvetica Neue"/>
                <a:cs typeface="Helvetica Neue"/>
              </a:defRPr>
            </a:lvl9pPr>
          </a:lstStyle>
          <a:p xmlns:a="http://schemas.openxmlformats.org/drawingml/2006/main">
            <a:pPr>
              <a:buNone/>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We tested a scientific decision process. A better battery coating has not yet been validated.</a:t>
            </a:r>
          </a:p>
        </p:txBody>
      </p:sp>
    </p:spTree>
    <p:extLst>
      <p:ext uri="{BB962C8B-B14F-4D97-AF65-F5344CB8AC3E}">
        <p14:creationId xmlns:p14="http://schemas.microsoft.com/office/powerpoint/2010/main" val="1061926165"/>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990AD30-45ED-4A17-B2DC-085CD5E44E7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TOWARD USEFUL BATTERY COATINGS</a:t>
            </a:r>
          </a:p>
        </p:txBody>
      </p:sp>
      <p:sp>
        <p:nvSpPr>
          <p:cNvPr id="2" name="">
            <a:extLst xmlns:a="http://schemas.openxmlformats.org/drawingml/2006/main">
              <a:ext uri="{FF2B5EF4-FFF2-40B4-BE49-F238E27FC236}">
                <a16:creationId xmlns:a16="http://schemas.microsoft.com/office/drawing/2014/main" id="{F33F4CD9-B63E-47DA-ADA8-A03F7000CA5C}"/>
              </a:ext>
            </a:extLst>
          </p:cNvPr>
          <p:cNvSpPr>
            <a:spLocks xmlns:a="http://schemas.openxmlformats.org/drawingml/2006/main" noGrp="1"/>
          </p:cNvSpPr>
          <p:nvPr/>
        </p:nvSpPr>
        <p:spPr>
          <a:xfrm xmlns:a="http://schemas.openxmlformats.org/drawingml/2006/main">
            <a:off x="533400" y="704850"/>
            <a:ext cx="11125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comes next</a:t>
            </a:r>
          </a:p>
        </p:txBody>
      </p:sp>
      <p:sp>
        <p:nvSpPr>
          <p:cNvPr id="3" name="">
            <a:extLst xmlns:a="http://schemas.openxmlformats.org/drawingml/2006/main">
              <a:ext uri="{FF2B5EF4-FFF2-40B4-BE49-F238E27FC236}">
                <a16:creationId xmlns:a16="http://schemas.microsoft.com/office/drawing/2014/main" id="{42054062-BA11-43C4-8993-6709B4488C37}"/>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EA85907C-41A9-4B3F-B3D6-7F233B426CE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76AAA46C-34D1-43B3-8626-CA0DAD962EA5}"/>
              </a:ext>
            </a:extLst>
          </p:cNvPr>
          <p:cNvSpPr>
            <a:spLocks xmlns:a="http://schemas.openxmlformats.org/drawingml/2006/main" noGrp="1"/>
          </p:cNvSpPr>
          <p:nvPr/>
        </p:nvSpPr>
        <p:spPr>
          <a:xfrm xmlns:a="http://schemas.openxmlformats.org/drawingml/2006/main">
            <a:off x="533400" y="20097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06C2052E-31D5-4391-9997-06C0BE69509A}"/>
              </a:ext>
            </a:extLst>
          </p:cNvPr>
          <p:cNvSpPr>
            <a:spLocks xmlns:a="http://schemas.openxmlformats.org/drawingml/2006/main" noGrp="1"/>
          </p:cNvSpPr>
          <p:nvPr/>
        </p:nvSpPr>
        <p:spPr>
          <a:xfrm xmlns:a="http://schemas.openxmlformats.org/drawingml/2006/main">
            <a:off x="1657350" y="20097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Improve how the LLM explores</a:t>
            </a:r>
          </a:p>
        </p:txBody>
      </p:sp>
      <p:sp>
        <p:nvSpPr>
          <p:cNvPr id="7" name="">
            <a:extLst xmlns:a="http://schemas.openxmlformats.org/drawingml/2006/main">
              <a:ext uri="{FF2B5EF4-FFF2-40B4-BE49-F238E27FC236}">
                <a16:creationId xmlns:a16="http://schemas.microsoft.com/office/drawing/2014/main" id="{B230406A-7980-4E21-B4B7-E4AE8FEF6EC0}"/>
              </a:ext>
            </a:extLst>
          </p:cNvPr>
          <p:cNvSpPr>
            <a:spLocks xmlns:a="http://schemas.openxmlformats.org/drawingml/2006/main" noGrp="1"/>
          </p:cNvSpPr>
          <p:nvPr/>
        </p:nvSpPr>
        <p:spPr>
          <a:xfrm xmlns:a="http://schemas.openxmlformats.org/drawingml/2006/main">
            <a:off x="1657350" y="247650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Test ways to avoid repeating a narrow set of chemical ideas.</a:t>
            </a:r>
          </a:p>
        </p:txBody>
      </p:sp>
      <p:sp>
        <p:nvSpPr>
          <p:cNvPr id="8" name="">
            <a:extLst xmlns:a="http://schemas.openxmlformats.org/drawingml/2006/main">
              <a:ext uri="{FF2B5EF4-FFF2-40B4-BE49-F238E27FC236}">
                <a16:creationId xmlns:a16="http://schemas.microsoft.com/office/drawing/2014/main" id="{1935B013-EB9A-4A3B-B578-BC348095AF03}"/>
              </a:ext>
            </a:extLst>
          </p:cNvPr>
          <p:cNvSpPr>
            <a:spLocks xmlns:a="http://schemas.openxmlformats.org/drawingml/2006/main" noGrp="1"/>
          </p:cNvSpPr>
          <p:nvPr/>
        </p:nvSpPr>
        <p:spPr>
          <a:xfrm xmlns:a="http://schemas.openxmlformats.org/drawingml/2006/main">
            <a:off x="533400" y="32670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2CE9BDFC-DEED-46EB-A8F0-A9E8053C31B1}"/>
              </a:ext>
            </a:extLst>
          </p:cNvPr>
          <p:cNvSpPr>
            <a:spLocks xmlns:a="http://schemas.openxmlformats.org/drawingml/2006/main" noGrp="1"/>
          </p:cNvSpPr>
          <p:nvPr/>
        </p:nvSpPr>
        <p:spPr>
          <a:xfrm xmlns:a="http://schemas.openxmlformats.org/drawingml/2006/main">
            <a:off x="1657350" y="32670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Test choices over more physical calculations</a:t>
            </a:r>
          </a:p>
        </p:txBody>
      </p:sp>
      <p:sp>
        <p:nvSpPr>
          <p:cNvPr id="10" name="">
            <a:extLst xmlns:a="http://schemas.openxmlformats.org/drawingml/2006/main">
              <a:ext uri="{FF2B5EF4-FFF2-40B4-BE49-F238E27FC236}">
                <a16:creationId xmlns:a16="http://schemas.microsoft.com/office/drawing/2014/main" id="{409C3885-685A-447E-8127-6F5DEFAE186A}"/>
              </a:ext>
            </a:extLst>
          </p:cNvPr>
          <p:cNvSpPr>
            <a:spLocks xmlns:a="http://schemas.openxmlformats.org/drawingml/2006/main" noGrp="1"/>
          </p:cNvSpPr>
          <p:nvPr/>
        </p:nvSpPr>
        <p:spPr>
          <a:xfrm xmlns:a="http://schemas.openxmlformats.org/drawingml/2006/main">
            <a:off x="1657350" y="373380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Compare LLM-guided selection with simple rules and random choices.</a:t>
            </a:r>
          </a:p>
        </p:txBody>
      </p:sp>
      <p:sp>
        <p:nvSpPr>
          <p:cNvPr id="11" name="">
            <a:extLst xmlns:a="http://schemas.openxmlformats.org/drawingml/2006/main">
              <a:ext uri="{FF2B5EF4-FFF2-40B4-BE49-F238E27FC236}">
                <a16:creationId xmlns:a16="http://schemas.microsoft.com/office/drawing/2014/main" id="{4C5931EE-40AF-4181-8984-F9D913EFCCD0}"/>
              </a:ext>
            </a:extLst>
          </p:cNvPr>
          <p:cNvSpPr>
            <a:spLocks xmlns:a="http://schemas.openxmlformats.org/drawingml/2006/main" noGrp="1"/>
          </p:cNvSpPr>
          <p:nvPr/>
        </p:nvSpPr>
        <p:spPr>
          <a:xfrm xmlns:a="http://schemas.openxmlformats.org/drawingml/2006/main">
            <a:off x="533400" y="4524375"/>
            <a:ext cx="85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007F7B"/>
                </a:solidFill>
                <a:latin typeface="Helvetica Neue"/>
                <a:ea typeface="Helvetica Neue"/>
                <a:cs typeface="Helvetica Neue"/>
              </a:defRPr>
            </a:defPPr>
            <a:lvl1pPr>
              <a:buNone/>
              <a:defRPr sz="3225" b="1">
                <a:solidFill>
                  <a:srgbClr val="007F7B"/>
                </a:solidFill>
                <a:latin typeface="Helvetica Neue"/>
                <a:ea typeface="Helvetica Neue"/>
                <a:cs typeface="Helvetica Neue"/>
              </a:defRPr>
            </a:lvl1pPr>
            <a:lvl2pPr>
              <a:buNone/>
              <a:defRPr sz="3225" b="1">
                <a:solidFill>
                  <a:srgbClr val="007F7B"/>
                </a:solidFill>
                <a:latin typeface="Helvetica Neue"/>
                <a:ea typeface="Helvetica Neue"/>
                <a:cs typeface="Helvetica Neue"/>
              </a:defRPr>
            </a:lvl2pPr>
            <a:lvl3pPr>
              <a:buNone/>
              <a:defRPr sz="3225" b="1">
                <a:solidFill>
                  <a:srgbClr val="007F7B"/>
                </a:solidFill>
                <a:latin typeface="Helvetica Neue"/>
                <a:ea typeface="Helvetica Neue"/>
                <a:cs typeface="Helvetica Neue"/>
              </a:defRPr>
            </a:lvl3pPr>
            <a:lvl4pPr>
              <a:buNone/>
              <a:defRPr sz="3225" b="1">
                <a:solidFill>
                  <a:srgbClr val="007F7B"/>
                </a:solidFill>
                <a:latin typeface="Helvetica Neue"/>
                <a:ea typeface="Helvetica Neue"/>
                <a:cs typeface="Helvetica Neue"/>
              </a:defRPr>
            </a:lvl4pPr>
            <a:lvl5pPr>
              <a:buNone/>
              <a:defRPr sz="3225" b="1">
                <a:solidFill>
                  <a:srgbClr val="007F7B"/>
                </a:solidFill>
                <a:latin typeface="Helvetica Neue"/>
                <a:ea typeface="Helvetica Neue"/>
                <a:cs typeface="Helvetica Neue"/>
              </a:defRPr>
            </a:lvl5pPr>
            <a:lvl6pPr>
              <a:buNone/>
              <a:defRPr sz="3225" b="1">
                <a:solidFill>
                  <a:srgbClr val="007F7B"/>
                </a:solidFill>
                <a:latin typeface="Helvetica Neue"/>
                <a:ea typeface="Helvetica Neue"/>
                <a:cs typeface="Helvetica Neue"/>
              </a:defRPr>
            </a:lvl6pPr>
            <a:lvl7pPr>
              <a:buNone/>
              <a:defRPr sz="3225" b="1">
                <a:solidFill>
                  <a:srgbClr val="007F7B"/>
                </a:solidFill>
                <a:latin typeface="Helvetica Neue"/>
                <a:ea typeface="Helvetica Neue"/>
                <a:cs typeface="Helvetica Neue"/>
              </a:defRPr>
            </a:lvl7pPr>
            <a:lvl8pPr>
              <a:buNone/>
              <a:defRPr sz="3225" b="1">
                <a:solidFill>
                  <a:srgbClr val="007F7B"/>
                </a:solidFill>
                <a:latin typeface="Helvetica Neue"/>
                <a:ea typeface="Helvetica Neue"/>
                <a:cs typeface="Helvetica Neue"/>
              </a:defRPr>
            </a:lvl8pPr>
            <a:lvl9pPr>
              <a:buNone/>
              <a:defRPr sz="3225" b="1">
                <a:solidFill>
                  <a:srgbClr val="007F7B"/>
                </a:solidFill>
                <a:latin typeface="Helvetica Neue"/>
                <a:ea typeface="Helvetica Neue"/>
                <a:cs typeface="Helvetica Neue"/>
              </a:defRPr>
            </a:lvl9pPr>
          </a:lstStyle>
          <a:p xmlns:a="http://schemas.openxmlformats.org/drawingml/2006/main">
            <a:pPr>
              <a:buNone/>
              <a:defRPr sz="3225" b="1">
                <a:solidFill>
                  <a:srgbClr val="007F7B"/>
                </a:solidFill>
                <a:latin typeface="Helvetica Neue"/>
                <a:ea typeface="Helvetica Neue"/>
                <a:cs typeface="Helvetica Neue"/>
              </a:defRPr>
            </a:pPr>
            <a:r>
              <a:rPr sz="3225" b="1">
                <a:solidFill>
                  <a:srgbClr val="007F7B"/>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B8E4C9B3-6914-40B5-807E-A2F288524ECD}"/>
              </a:ext>
            </a:extLst>
          </p:cNvPr>
          <p:cNvSpPr>
            <a:spLocks xmlns:a="http://schemas.openxmlformats.org/drawingml/2006/main" noGrp="1"/>
          </p:cNvSpPr>
          <p:nvPr/>
        </p:nvSpPr>
        <p:spPr>
          <a:xfrm xmlns:a="http://schemas.openxmlformats.org/drawingml/2006/main">
            <a:off x="1657350" y="45243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Check the missing battery requirements</a:t>
            </a:r>
          </a:p>
        </p:txBody>
      </p:sp>
      <p:sp>
        <p:nvSpPr>
          <p:cNvPr id="13" name="">
            <a:extLst xmlns:a="http://schemas.openxmlformats.org/drawingml/2006/main">
              <a:ext uri="{FF2B5EF4-FFF2-40B4-BE49-F238E27FC236}">
                <a16:creationId xmlns:a16="http://schemas.microsoft.com/office/drawing/2014/main" id="{69E200AB-F394-471E-B149-C20983255696}"/>
              </a:ext>
            </a:extLst>
          </p:cNvPr>
          <p:cNvSpPr>
            <a:spLocks xmlns:a="http://schemas.openxmlformats.org/drawingml/2006/main" noGrp="1"/>
          </p:cNvSpPr>
          <p:nvPr/>
        </p:nvSpPr>
        <p:spPr>
          <a:xfrm xmlns:a="http://schemas.openxmlformats.org/drawingml/2006/main">
            <a:off x="1657350" y="4991100"/>
            <a:ext cx="985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Test ion transport, practical preparation and experimental performance.</a:t>
            </a:r>
          </a:p>
        </p:txBody>
      </p:sp>
      <p:sp>
        <p:nvSpPr>
          <p:cNvPr id="14" name="">
            <a:extLst xmlns:a="http://schemas.openxmlformats.org/drawingml/2006/main">
              <a:ext uri="{FF2B5EF4-FFF2-40B4-BE49-F238E27FC236}">
                <a16:creationId xmlns:a16="http://schemas.microsoft.com/office/drawing/2014/main" id="{497B3F21-CC39-4481-A6BC-45E05C9F3AB6}"/>
              </a:ext>
            </a:extLst>
          </p:cNvPr>
          <p:cNvSpPr>
            <a:spLocks xmlns:a="http://schemas.openxmlformats.org/drawingml/2006/main" noGrp="1"/>
          </p:cNvSpPr>
          <p:nvPr/>
        </p:nvSpPr>
        <p:spPr>
          <a:xfrm xmlns:a="http://schemas.openxmlformats.org/drawingml/2006/main">
            <a:off x="533400" y="601027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07F7B"/>
                </a:solidFill>
                <a:latin typeface="Helvetica Neue"/>
                <a:ea typeface="Helvetica Neue"/>
                <a:cs typeface="Helvetica Neue"/>
              </a:defRPr>
            </a:defPPr>
            <a:lvl1pPr>
              <a:buNone/>
              <a:defRPr sz="1800" b="0">
                <a:solidFill>
                  <a:srgbClr val="007F7B"/>
                </a:solidFill>
                <a:latin typeface="Helvetica Neue"/>
                <a:ea typeface="Helvetica Neue"/>
                <a:cs typeface="Helvetica Neue"/>
              </a:defRPr>
            </a:lvl1pPr>
            <a:lvl2pPr>
              <a:buNone/>
              <a:defRPr sz="1800" b="0">
                <a:solidFill>
                  <a:srgbClr val="007F7B"/>
                </a:solidFill>
                <a:latin typeface="Helvetica Neue"/>
                <a:ea typeface="Helvetica Neue"/>
                <a:cs typeface="Helvetica Neue"/>
              </a:defRPr>
            </a:lvl2pPr>
            <a:lvl3pPr>
              <a:buNone/>
              <a:defRPr sz="1800" b="0">
                <a:solidFill>
                  <a:srgbClr val="007F7B"/>
                </a:solidFill>
                <a:latin typeface="Helvetica Neue"/>
                <a:ea typeface="Helvetica Neue"/>
                <a:cs typeface="Helvetica Neue"/>
              </a:defRPr>
            </a:lvl3pPr>
            <a:lvl4pPr>
              <a:buNone/>
              <a:defRPr sz="1800" b="0">
                <a:solidFill>
                  <a:srgbClr val="007F7B"/>
                </a:solidFill>
                <a:latin typeface="Helvetica Neue"/>
                <a:ea typeface="Helvetica Neue"/>
                <a:cs typeface="Helvetica Neue"/>
              </a:defRPr>
            </a:lvl4pPr>
            <a:lvl5pPr>
              <a:buNone/>
              <a:defRPr sz="1800" b="0">
                <a:solidFill>
                  <a:srgbClr val="007F7B"/>
                </a:solidFill>
                <a:latin typeface="Helvetica Neue"/>
                <a:ea typeface="Helvetica Neue"/>
                <a:cs typeface="Helvetica Neue"/>
              </a:defRPr>
            </a:lvl5pPr>
            <a:lvl6pPr>
              <a:buNone/>
              <a:defRPr sz="1800" b="0">
                <a:solidFill>
                  <a:srgbClr val="007F7B"/>
                </a:solidFill>
                <a:latin typeface="Helvetica Neue"/>
                <a:ea typeface="Helvetica Neue"/>
                <a:cs typeface="Helvetica Neue"/>
              </a:defRPr>
            </a:lvl6pPr>
            <a:lvl7pPr>
              <a:buNone/>
              <a:defRPr sz="1800" b="0">
                <a:solidFill>
                  <a:srgbClr val="007F7B"/>
                </a:solidFill>
                <a:latin typeface="Helvetica Neue"/>
                <a:ea typeface="Helvetica Neue"/>
                <a:cs typeface="Helvetica Neue"/>
              </a:defRPr>
            </a:lvl7pPr>
            <a:lvl8pPr>
              <a:buNone/>
              <a:defRPr sz="1800" b="0">
                <a:solidFill>
                  <a:srgbClr val="007F7B"/>
                </a:solidFill>
                <a:latin typeface="Helvetica Neue"/>
                <a:ea typeface="Helvetica Neue"/>
                <a:cs typeface="Helvetica Neue"/>
              </a:defRPr>
            </a:lvl8pPr>
            <a:lvl9pPr>
              <a:buNone/>
              <a:defRPr sz="1800" b="0">
                <a:solidFill>
                  <a:srgbClr val="007F7B"/>
                </a:solidFill>
                <a:latin typeface="Helvetica Neue"/>
                <a:ea typeface="Helvetica Neue"/>
                <a:cs typeface="Helvetica Neue"/>
              </a:defRPr>
            </a:lvl9pPr>
          </a:lstStyle>
          <a:p xmlns:a="http://schemas.openxmlformats.org/drawingml/2006/main">
            <a:pPr>
              <a:buNone/>
              <a:defRPr sz="1800" b="0">
                <a:solidFill>
                  <a:srgbClr val="007F7B"/>
                </a:solidFill>
                <a:latin typeface="Helvetica Neue"/>
                <a:ea typeface="Helvetica Neue"/>
                <a:cs typeface="Helvetica Neue"/>
              </a:defRPr>
            </a:pPr>
            <a:r>
              <a:rPr sz="1800" b="0">
                <a:solidFill>
                  <a:srgbClr val="007F7B"/>
                </a:solidFill>
                <a:latin typeface="Helvetica Neue"/>
                <a:ea typeface="Helvetica Neue"/>
                <a:cs typeface="Helvetica Neue"/>
              </a:rPr>
              <a:t>The contribution: a measured test of AI-guided scientific choices, including where they fail.</a:t>
            </a:r>
          </a:p>
        </p:txBody>
      </p:sp>
    </p:spTree>
    <p:extLst>
      <p:ext uri="{BB962C8B-B14F-4D97-AF65-F5344CB8AC3E}">
        <p14:creationId xmlns:p14="http://schemas.microsoft.com/office/powerpoint/2010/main" val="1928760311"/>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944B85-78AA-44E5-8106-0EA2F9C4ED87}"/>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STATISTICAL EVIDENCE</a:t>
            </a:r>
          </a:p>
        </p:txBody>
      </p:sp>
      <p:sp>
        <p:nvSpPr>
          <p:cNvPr id="2" name="">
            <a:extLst xmlns:a="http://schemas.openxmlformats.org/drawingml/2006/main">
              <a:ext uri="{FF2B5EF4-FFF2-40B4-BE49-F238E27FC236}">
                <a16:creationId xmlns:a16="http://schemas.microsoft.com/office/drawing/2014/main" id="{F1B0177F-9E75-4817-B59D-1233EB2DEE8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All five strategies and the planned statistical tests</a:t>
            </a:r>
          </a:p>
        </p:txBody>
      </p:sp>
      <p:sp>
        <p:nvSpPr>
          <p:cNvPr id="3" name="">
            <a:extLst xmlns:a="http://schemas.openxmlformats.org/drawingml/2006/main">
              <a:ext uri="{FF2B5EF4-FFF2-40B4-BE49-F238E27FC236}">
                <a16:creationId xmlns:a16="http://schemas.microsoft.com/office/drawing/2014/main" id="{47DD528C-E85F-488F-A836-9CEDD4C43BAB}"/>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8AF677E-7478-4CDC-85F0-E7F12E937F8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19</a:t>
            </a:r>
          </a:p>
        </p:txBody>
      </p:sp>
      <p:graphicFrame>
        <p:nvGraphicFramePr>
          <p:cNvPr id="8" name="">
            <a:extLst xmlns:a="http://schemas.openxmlformats.org/drawingml/2006/main">
              <a:ext uri="{FF2B5EF4-FFF2-40B4-BE49-F238E27FC236}">
                <a16:creationId xmlns:a16="http://schemas.microsoft.com/office/drawing/2014/main" id="{30375EFB-8EC9-4BEA-B56D-6895CCBC0A2E}"/>
              </a:ext>
            </a:extLst>
          </p:cNvPr>
          <p:cNvGraphicFramePr/>
          <p:nvPr/>
        </p:nvGraphicFramePr>
        <p:xfrm>
          <a:off xmlns:a="http://schemas.openxmlformats.org/drawingml/2006/main" x="533400" y="2076450"/>
          <a:ext xmlns:a="http://schemas.openxmlformats.org/drawingml/2006/main" cx="11125200" cy="2647950"/>
        </p:xfrm>
        <a:graphic xmlns:a="http://schemas.openxmlformats.org/drawingml/2006/main">
          <a:graphicData uri="http://schemas.openxmlformats.org/drawingml/2006/table">
            <a:tbl>
              <a:tblPr firstRow="0" bandRow="0"/>
              <a:tblGrid>
                <a:gridCol w="2647950"/>
                <a:gridCol w="1695450"/>
                <a:gridCol w="1695450"/>
                <a:gridCol w="1695450"/>
                <a:gridCol w="1695450"/>
                <a:gridCol w="1695450"/>
              </a:tblGrid>
              <a:tr h="661988">
                <a:tc>
                  <a:txBody>
                    <a:bodyPr lIns="0" tIns="0" rIns="0" bIns="0">
                      <a:noAutofit/>
                    </a:bodyPr>
                    <a:lstStyle/>
                    <a:p>
                      <a:r>
                        <a:rPr sz="1800" b="1">
                          <a:solidFill>
                            <a:srgbClr val="FFFFFF"/>
                          </a:solidFill>
                          <a:latin typeface="Helvetica Neue"/>
                          <a:ea typeface="Helvetica Neue"/>
                          <a:cs typeface="Helvetica Neue"/>
                        </a:rPr>
                        <a:t>Electrolyte</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Uses 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No results</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Mixed up</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One list</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800" b="1">
                          <a:solidFill>
                            <a:srgbClr val="FFFFFF"/>
                          </a:solidFill>
                          <a:latin typeface="Helvetica Neue"/>
                          <a:ea typeface="Helvetica Neue"/>
                          <a:cs typeface="Helvetica Neue"/>
                        </a:rPr>
                        <a:t>Random</a:t>
                      </a:r>
                    </a:p>
                  </a:txBody>
                  <a:tcPr marL="133350" marR="114300" marT="47625" marB="47625"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61988">
                <a:tc>
                  <a:txBody>
                    <a:bodyPr lIns="0" tIns="0" rIns="0" bIns="0">
                      <a:noAutofit/>
                    </a:bodyPr>
                    <a:lstStyle/>
                    <a:p>
                      <a:r>
                        <a:rPr sz="2025" b="0">
                          <a:solidFill>
                            <a:srgbClr val="172B3A"/>
                          </a:solidFill>
                          <a:latin typeface="Helvetica Neue"/>
                          <a:ea typeface="Helvetica Neue"/>
                          <a:cs typeface="Helvetica Neue"/>
                        </a:rPr>
                        <a:t>Sulfide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8</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61988">
                <a:tc>
                  <a:txBody>
                    <a:bodyPr lIns="0" tIns="0" rIns="0" bIns="0">
                      <a:noAutofit/>
                    </a:bodyPr>
                    <a:lstStyle/>
                    <a:p>
                      <a:r>
                        <a:rPr sz="2025" b="0">
                          <a:solidFill>
                            <a:srgbClr val="172B3A"/>
                          </a:solidFill>
                          <a:latin typeface="Helvetica Neue"/>
                          <a:ea typeface="Helvetica Neue"/>
                          <a:cs typeface="Helvetica Neue"/>
                        </a:rPr>
                        <a:t>Chloride</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30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29</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r h="661988">
                <a:tc>
                  <a:txBody>
                    <a:bodyPr lIns="0" tIns="0" rIns="0" bIns="0">
                      <a:noAutofit/>
                    </a:bodyPr>
                    <a:lstStyle/>
                    <a:p>
                      <a:r>
                        <a:rPr sz="2025" b="0">
                          <a:solidFill>
                            <a:srgbClr val="172B3A"/>
                          </a:solidFill>
                          <a:latin typeface="Helvetica Neue"/>
                          <a:ea typeface="Helvetica Neue"/>
                          <a:cs typeface="Helvetica Neue"/>
                        </a:rPr>
                        <a:t>Oxide (LLZO)</a:t>
                      </a:r>
                    </a:p>
                  </a:txBody>
                  <a:tcPr marL="133350" marR="114300" marT="47625" marB="47625"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12</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0</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24</a:t>
                      </a:r>
                    </a:p>
                  </a:txBody>
                  <a:tcPr marL="133350" marR="114300" marT="47625" marB="47625"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9" name="">
            <a:extLst xmlns:a="http://schemas.openxmlformats.org/drawingml/2006/main">
              <a:ext uri="{FF2B5EF4-FFF2-40B4-BE49-F238E27FC236}">
                <a16:creationId xmlns:a16="http://schemas.microsoft.com/office/drawing/2014/main" id="{D5FF8437-09C7-4458-9538-B4917289176F}"/>
              </a:ext>
            </a:extLst>
          </p:cNvPr>
          <p:cNvSpPr>
            <a:spLocks xmlns:a="http://schemas.openxmlformats.org/drawingml/2006/main" noGrp="1"/>
          </p:cNvSpPr>
          <p:nvPr/>
        </p:nvSpPr>
        <p:spPr>
          <a:xfrm xmlns:a="http://schemas.openxmlformats.org/drawingml/2006/main">
            <a:off x="533400" y="49911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B3A"/>
                </a:solidFill>
                <a:latin typeface="Helvetica Neue"/>
                <a:ea typeface="Helvetica Neue"/>
                <a:cs typeface="Helvetica Neue"/>
              </a:defRPr>
            </a:defPPr>
            <a:lvl1pPr>
              <a:buNone/>
              <a:defRPr sz="1950" b="1">
                <a:solidFill>
                  <a:srgbClr val="172B3A"/>
                </a:solidFill>
                <a:latin typeface="Helvetica Neue"/>
                <a:ea typeface="Helvetica Neue"/>
                <a:cs typeface="Helvetica Neue"/>
              </a:defRPr>
            </a:lvl1pPr>
            <a:lvl2pPr>
              <a:buNone/>
              <a:defRPr sz="1950" b="1">
                <a:solidFill>
                  <a:srgbClr val="172B3A"/>
                </a:solidFill>
                <a:latin typeface="Helvetica Neue"/>
                <a:ea typeface="Helvetica Neue"/>
                <a:cs typeface="Helvetica Neue"/>
              </a:defRPr>
            </a:lvl2pPr>
            <a:lvl3pPr>
              <a:buNone/>
              <a:defRPr sz="1950" b="1">
                <a:solidFill>
                  <a:srgbClr val="172B3A"/>
                </a:solidFill>
                <a:latin typeface="Helvetica Neue"/>
                <a:ea typeface="Helvetica Neue"/>
                <a:cs typeface="Helvetica Neue"/>
              </a:defRPr>
            </a:lvl3pPr>
            <a:lvl4pPr>
              <a:buNone/>
              <a:defRPr sz="1950" b="1">
                <a:solidFill>
                  <a:srgbClr val="172B3A"/>
                </a:solidFill>
                <a:latin typeface="Helvetica Neue"/>
                <a:ea typeface="Helvetica Neue"/>
                <a:cs typeface="Helvetica Neue"/>
              </a:defRPr>
            </a:lvl4pPr>
            <a:lvl5pPr>
              <a:buNone/>
              <a:defRPr sz="1950" b="1">
                <a:solidFill>
                  <a:srgbClr val="172B3A"/>
                </a:solidFill>
                <a:latin typeface="Helvetica Neue"/>
                <a:ea typeface="Helvetica Neue"/>
                <a:cs typeface="Helvetica Neue"/>
              </a:defRPr>
            </a:lvl5pPr>
            <a:lvl6pPr>
              <a:buNone/>
              <a:defRPr sz="1950" b="1">
                <a:solidFill>
                  <a:srgbClr val="172B3A"/>
                </a:solidFill>
                <a:latin typeface="Helvetica Neue"/>
                <a:ea typeface="Helvetica Neue"/>
                <a:cs typeface="Helvetica Neue"/>
              </a:defRPr>
            </a:lvl6pPr>
            <a:lvl7pPr>
              <a:buNone/>
              <a:defRPr sz="1950" b="1">
                <a:solidFill>
                  <a:srgbClr val="172B3A"/>
                </a:solidFill>
                <a:latin typeface="Helvetica Neue"/>
                <a:ea typeface="Helvetica Neue"/>
                <a:cs typeface="Helvetica Neue"/>
              </a:defRPr>
            </a:lvl7pPr>
            <a:lvl8pPr>
              <a:buNone/>
              <a:defRPr sz="1950" b="1">
                <a:solidFill>
                  <a:srgbClr val="172B3A"/>
                </a:solidFill>
                <a:latin typeface="Helvetica Neue"/>
                <a:ea typeface="Helvetica Neue"/>
                <a:cs typeface="Helvetica Neue"/>
              </a:defRPr>
            </a:lvl8pPr>
            <a:lvl9pPr>
              <a:buNone/>
              <a:defRPr sz="1950" b="1">
                <a:solidFill>
                  <a:srgbClr val="172B3A"/>
                </a:solidFill>
                <a:latin typeface="Helvetica Neue"/>
                <a:ea typeface="Helvetica Neue"/>
                <a:cs typeface="Helvetica Neue"/>
              </a:defRPr>
            </a:lvl9pPr>
          </a:lstStyle>
          <a:p xmlns:a="http://schemas.openxmlformats.org/drawingml/2006/main">
            <a:pPr>
              <a:buNone/>
              <a:defRPr sz="1950" b="1">
                <a:solidFill>
                  <a:srgbClr val="172B3A"/>
                </a:solidFill>
                <a:latin typeface="Helvetica Neue"/>
                <a:ea typeface="Helvetica Neue"/>
                <a:cs typeface="Helvetica Neue"/>
              </a:defRPr>
            </a:pPr>
            <a:r>
              <a:rPr sz="1950" b="1">
                <a:solidFill>
                  <a:srgbClr val="172B3A"/>
                </a:solidFill>
                <a:latin typeface="Helvetica Neue"/>
                <a:ea typeface="Helvetica Neue"/>
                <a:cs typeface="Helvetica Neue"/>
              </a:rPr>
              <a:t>Successful searches out of 30, after ten tries. Holm-adjusted paired tests:</a:t>
            </a:r>
          </a:p>
        </p:txBody>
      </p:sp>
      <p:sp>
        <p:nvSpPr>
          <p:cNvPr id="10" name="">
            <a:extLst xmlns:a="http://schemas.openxmlformats.org/drawingml/2006/main">
              <a:ext uri="{FF2B5EF4-FFF2-40B4-BE49-F238E27FC236}">
                <a16:creationId xmlns:a16="http://schemas.microsoft.com/office/drawing/2014/main" id="{E5A049D0-1798-44A2-AA63-E54DEB978570}"/>
              </a:ext>
            </a:extLst>
          </p:cNvPr>
          <p:cNvSpPr>
            <a:spLocks xmlns:a="http://schemas.openxmlformats.org/drawingml/2006/main" noGrp="1"/>
          </p:cNvSpPr>
          <p:nvPr/>
        </p:nvSpPr>
        <p:spPr>
          <a:xfrm xmlns:a="http://schemas.openxmlformats.org/drawingml/2006/main">
            <a:off x="533400" y="5467350"/>
            <a:ext cx="11125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Sulfide: versus no results p = 0.0000458, versus mixed-up p = 0.00244.</a:t>
            </a:r>
          </a:p>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LLZO: versus no results p = 0.00244, versus mixed-up p = 0.172.</a:t>
            </a:r>
          </a:p>
          <a:p xmlns:a="http://schemas.openxmlformats.org/drawingml/2006/main">
            <a:pPr>
              <a:buNone/>
              <a:defRPr sz="1800" b="0">
                <a:solidFill>
                  <a:srgbClr val="526472"/>
                </a:solidFill>
                <a:latin typeface="Helvetica Neue"/>
                <a:ea typeface="Helvetica Neue"/>
                <a:cs typeface="Helvetica Neue"/>
              </a:defRPr>
            </a:pPr>
            <a:r>
              <a:rPr sz="1800" b="0">
                <a:solidFill>
                  <a:srgbClr val="526472"/>
                </a:solidFill>
                <a:latin typeface="Helvetica Neue"/>
                <a:ea typeface="Helvetica Neue"/>
                <a:cs typeface="Helvetica Neue"/>
              </a:rPr>
              <a:t>Chloride: p = 1 for both comparisons. Six planned tests in total.</a:t>
            </a:r>
          </a:p>
        </p:txBody>
      </p:sp>
    </p:spTree>
    <p:extLst>
      <p:ext uri="{BB962C8B-B14F-4D97-AF65-F5344CB8AC3E}">
        <p14:creationId xmlns:p14="http://schemas.microsoft.com/office/powerpoint/2010/main" val="1803532214"/>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65599A-0192-4F57-B83B-BAD6D4C75AF8}"/>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OBJECTIVE INTERPRETATION</a:t>
            </a:r>
          </a:p>
        </p:txBody>
      </p:sp>
      <p:sp>
        <p:nvSpPr>
          <p:cNvPr id="2" name="">
            <a:extLst xmlns:a="http://schemas.openxmlformats.org/drawingml/2006/main">
              <a:ext uri="{FF2B5EF4-FFF2-40B4-BE49-F238E27FC236}">
                <a16:creationId xmlns:a16="http://schemas.microsoft.com/office/drawing/2014/main" id="{3886C612-B2B5-40D6-8C8D-B617A837578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Acceptability, optimum-finding and practicality differ</a:t>
            </a:r>
          </a:p>
        </p:txBody>
      </p:sp>
      <p:sp>
        <p:nvSpPr>
          <p:cNvPr id="3" name="">
            <a:extLst xmlns:a="http://schemas.openxmlformats.org/drawingml/2006/main">
              <a:ext uri="{FF2B5EF4-FFF2-40B4-BE49-F238E27FC236}">
                <a16:creationId xmlns:a16="http://schemas.microsoft.com/office/drawing/2014/main" id="{DCE083E9-04FE-4FB9-B970-95A3B1AD81C1}"/>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836F86EE-5332-40DA-8C28-A2C06CD2BE5E}"/>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20</a:t>
            </a:r>
          </a:p>
        </p:txBody>
      </p:sp>
      <p:graphicFrame>
        <p:nvGraphicFramePr>
          <p:cNvPr id="5" name="">
            <a:extLst xmlns:a="http://schemas.openxmlformats.org/drawingml/2006/main">
              <a:ext uri="{FF2B5EF4-FFF2-40B4-BE49-F238E27FC236}">
                <a16:creationId xmlns:a16="http://schemas.microsoft.com/office/drawing/2014/main" id="{7EEEC63D-E25B-4255-903C-B18C4043874B}"/>
              </a:ext>
            </a:extLst>
          </p:cNvPr>
          <p:cNvGraphicFramePr/>
          <p:nvPr/>
        </p:nvGraphicFramePr>
        <p:xfrm>
          <a:off xmlns:a="http://schemas.openxmlformats.org/drawingml/2006/main" x="533400" y="2019300"/>
          <a:ext xmlns:a="http://schemas.openxmlformats.org/drawingml/2006/main" cx="11125200" cy="3381375"/>
        </p:xfrm>
        <a:graphic xmlns:a="http://schemas.openxmlformats.org/drawingml/2006/main">
          <a:graphicData uri="http://schemas.openxmlformats.org/drawingml/2006/table">
            <a:tbl>
              <a:tblPr firstRow="0" bandRow="0"/>
              <a:tblGrid>
                <a:gridCol w="3476625"/>
                <a:gridCol w="3476625"/>
                <a:gridCol w="4171950"/>
              </a:tblGrid>
              <a:tr h="676275">
                <a:tc>
                  <a:txBody>
                    <a:bodyPr lIns="0" tIns="0" rIns="0" bIns="0">
                      <a:noAutofit/>
                    </a:bodyPr>
                    <a:lstStyle/>
                    <a:p>
                      <a:r>
                        <a:rPr sz="1725" b="1">
                          <a:solidFill>
                            <a:srgbClr val="FFFFFF"/>
                          </a:solidFill>
                          <a:latin typeface="Helvetica Neue"/>
                          <a:ea typeface="Helvetica Neue"/>
                          <a:cs typeface="Helvetica Neue"/>
                        </a:rPr>
                        <a:t>Question</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Measure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Observed limitation</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76275">
                <a:tc>
                  <a:txBody>
                    <a:bodyPr lIns="0" tIns="0" rIns="0" bIns="0">
                      <a:noAutofit/>
                    </a:bodyPr>
                    <a:lstStyle/>
                    <a:p>
                      <a:r>
                        <a:rPr sz="1875" b="0">
                          <a:solidFill>
                            <a:srgbClr val="172B3A"/>
                          </a:solidFill>
                          <a:latin typeface="Helvetica Neue"/>
                          <a:ea typeface="Helvetica Neue"/>
                          <a:cs typeface="Helvetica Neue"/>
                        </a:rPr>
                        <a:t>Can the policy find a passing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Acceptance at P ≤ 0.050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This is the primary reported result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Does it find the pool’s optimum?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Best-bin discovery / regret</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Sulfide: iterative 6, random 5</a:t>
                      </a:r>
                    </a:p>
                    <a:p>
                      <a:r>
                        <a:rPr sz="1875" b="0">
                          <a:solidFill>
                            <a:srgbClr val="172B3A"/>
                          </a:solidFill>
                          <a:latin typeface="Helvetica Neue"/>
                          <a:ea typeface="Helvetica Neue"/>
                          <a:cs typeface="Helvetica Neue"/>
                        </a:rPr>
                        <a:t>LLZO: all LLMs 0, random 2 (of 30)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Is the actual coating useful?</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Transport, processing, electrochemistry</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Not established by this evaluator</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76275">
                <a:tc>
                  <a:txBody>
                    <a:bodyPr lIns="0" tIns="0" rIns="0" bIns="0">
                      <a:noAutofit/>
                    </a:bodyPr>
                    <a:lstStyle/>
                    <a:p>
                      <a:r>
                        <a:rPr sz="1875" b="0">
                          <a:solidFill>
                            <a:srgbClr val="172B3A"/>
                          </a:solidFill>
                          <a:latin typeface="Helvetica Neue"/>
                          <a:ea typeface="Helvetica Neue"/>
                          <a:cs typeface="Helvetica Neue"/>
                        </a:rPr>
                        <a:t>Is the search saving compute?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Cost of avoided expensive evaluations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75" b="0">
                          <a:solidFill>
                            <a:srgbClr val="172B3A"/>
                          </a:solidFill>
                          <a:latin typeface="Helvetica Neue"/>
                          <a:ea typeface="Helvetica Neue"/>
                          <a:cs typeface="Helvetica Neue"/>
                        </a:rPr>
                        <a:t>Cheap tables alone cannot show this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5CE44975-38D2-4924-802E-2110F1B33AC4}"/>
              </a:ext>
            </a:extLst>
          </p:cNvPr>
          <p:cNvSpPr>
            <a:spLocks xmlns:a="http://schemas.openxmlformats.org/drawingml/2006/main" noGrp="1"/>
          </p:cNvSpPr>
          <p:nvPr/>
        </p:nvSpPr>
        <p:spPr>
          <a:xfrm xmlns:a="http://schemas.openxmlformats.org/drawingml/2006/main">
            <a:off x="533400" y="580072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Acceptance cuts through a ranking bin. Near-threshold conclusions depend on the frozen definition.</a:t>
            </a:r>
          </a:p>
        </p:txBody>
      </p:sp>
    </p:spTree>
    <p:extLst>
      <p:ext uri="{BB962C8B-B14F-4D97-AF65-F5344CB8AC3E}">
        <p14:creationId xmlns:p14="http://schemas.microsoft.com/office/powerpoint/2010/main" val="1892059981"/>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1CC180-0227-4620-9F20-A267E3F2EA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POST-HOC CHEMISTRY REVIEW</a:t>
            </a:r>
          </a:p>
        </p:txBody>
      </p:sp>
      <p:sp>
        <p:nvSpPr>
          <p:cNvPr id="2" name="">
            <a:extLst xmlns:a="http://schemas.openxmlformats.org/drawingml/2006/main">
              <a:ext uri="{FF2B5EF4-FFF2-40B4-BE49-F238E27FC236}">
                <a16:creationId xmlns:a16="http://schemas.microsoft.com/office/drawing/2014/main" id="{E2C490F1-AF3D-4889-9114-53406599A000}"/>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LLZO audit qualifies the criterion, not the score</a:t>
            </a:r>
          </a:p>
        </p:txBody>
      </p:sp>
      <p:sp>
        <p:nvSpPr>
          <p:cNvPr id="3" name="">
            <a:extLst xmlns:a="http://schemas.openxmlformats.org/drawingml/2006/main">
              <a:ext uri="{FF2B5EF4-FFF2-40B4-BE49-F238E27FC236}">
                <a16:creationId xmlns:a16="http://schemas.microsoft.com/office/drawing/2014/main" id="{E96FE793-38FF-4DFE-9B1B-766431FC7E7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93C9E67A-C7AC-40A9-9A7D-DD74DAC1EF1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D5B1F26B-061C-433E-8AF8-2B382A7221B2}"/>
              </a:ext>
            </a:extLst>
          </p:cNvPr>
          <p:cNvSpPr>
            <a:spLocks xmlns:a="http://schemas.openxmlformats.org/drawingml/2006/main" noGrp="1"/>
          </p:cNvSpPr>
          <p:nvPr/>
        </p:nvSpPr>
        <p:spPr>
          <a:xfrm xmlns:a="http://schemas.openxmlformats.org/drawingml/2006/main">
            <a:off x="533400" y="2047875"/>
            <a:ext cx="111252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72B3A"/>
                </a:solidFill>
                <a:latin typeface="Helvetica Neue"/>
                <a:ea typeface="Helvetica Neue"/>
                <a:cs typeface="Helvetica Neue"/>
              </a:defRPr>
            </a:defPPr>
            <a:lvl1pPr>
              <a:buNone/>
              <a:defRPr sz="2550" b="1">
                <a:solidFill>
                  <a:srgbClr val="172B3A"/>
                </a:solidFill>
                <a:latin typeface="Helvetica Neue"/>
                <a:ea typeface="Helvetica Neue"/>
                <a:cs typeface="Helvetica Neue"/>
              </a:defRPr>
            </a:lvl1pPr>
            <a:lvl2pPr>
              <a:buNone/>
              <a:defRPr sz="2550" b="1">
                <a:solidFill>
                  <a:srgbClr val="172B3A"/>
                </a:solidFill>
                <a:latin typeface="Helvetica Neue"/>
                <a:ea typeface="Helvetica Neue"/>
                <a:cs typeface="Helvetica Neue"/>
              </a:defRPr>
            </a:lvl2pPr>
            <a:lvl3pPr>
              <a:buNone/>
              <a:defRPr sz="2550" b="1">
                <a:solidFill>
                  <a:srgbClr val="172B3A"/>
                </a:solidFill>
                <a:latin typeface="Helvetica Neue"/>
                <a:ea typeface="Helvetica Neue"/>
                <a:cs typeface="Helvetica Neue"/>
              </a:defRPr>
            </a:lvl3pPr>
            <a:lvl4pPr>
              <a:buNone/>
              <a:defRPr sz="2550" b="1">
                <a:solidFill>
                  <a:srgbClr val="172B3A"/>
                </a:solidFill>
                <a:latin typeface="Helvetica Neue"/>
                <a:ea typeface="Helvetica Neue"/>
                <a:cs typeface="Helvetica Neue"/>
              </a:defRPr>
            </a:lvl4pPr>
            <a:lvl5pPr>
              <a:buNone/>
              <a:defRPr sz="2550" b="1">
                <a:solidFill>
                  <a:srgbClr val="172B3A"/>
                </a:solidFill>
                <a:latin typeface="Helvetica Neue"/>
                <a:ea typeface="Helvetica Neue"/>
                <a:cs typeface="Helvetica Neue"/>
              </a:defRPr>
            </a:lvl5pPr>
            <a:lvl6pPr>
              <a:buNone/>
              <a:defRPr sz="2550" b="1">
                <a:solidFill>
                  <a:srgbClr val="172B3A"/>
                </a:solidFill>
                <a:latin typeface="Helvetica Neue"/>
                <a:ea typeface="Helvetica Neue"/>
                <a:cs typeface="Helvetica Neue"/>
              </a:defRPr>
            </a:lvl6pPr>
            <a:lvl7pPr>
              <a:buNone/>
              <a:defRPr sz="2550" b="1">
                <a:solidFill>
                  <a:srgbClr val="172B3A"/>
                </a:solidFill>
                <a:latin typeface="Helvetica Neue"/>
                <a:ea typeface="Helvetica Neue"/>
                <a:cs typeface="Helvetica Neue"/>
              </a:defRPr>
            </a:lvl7pPr>
            <a:lvl8pPr>
              <a:buNone/>
              <a:defRPr sz="2550" b="1">
                <a:solidFill>
                  <a:srgbClr val="172B3A"/>
                </a:solidFill>
                <a:latin typeface="Helvetica Neue"/>
                <a:ea typeface="Helvetica Neue"/>
                <a:cs typeface="Helvetica Neue"/>
              </a:defRPr>
            </a:lvl8pPr>
            <a:lvl9pPr>
              <a:buNone/>
              <a:defRPr sz="2550" b="1">
                <a:solidFill>
                  <a:srgbClr val="172B3A"/>
                </a:solidFill>
                <a:latin typeface="Helvetica Neue"/>
                <a:ea typeface="Helvetica Neue"/>
                <a:cs typeface="Helvetica Neue"/>
              </a:defRPr>
            </a:lvl9pPr>
          </a:lstStyle>
          <a:p xmlns:a="http://schemas.openxmlformats.org/drawingml/2006/main">
            <a:pPr>
              <a:buNone/>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5 of 17 acceptable structures were flagged for practical review:</a:t>
            </a:r>
          </a:p>
          <a:p xmlns:a="http://schemas.openxmlformats.org/drawingml/2006/main">
            <a:pPr>
              <a:buNone/>
              <a:defRPr sz="2550" b="1">
                <a:solidFill>
                  <a:srgbClr val="172B3A"/>
                </a:solidFill>
                <a:latin typeface="Helvetica Neue"/>
                <a:ea typeface="Helvetica Neue"/>
                <a:cs typeface="Helvetica Neue"/>
              </a:defRPr>
            </a:pPr>
            <a:r>
              <a:rPr sz="2550" b="1">
                <a:solidFill>
                  <a:srgbClr val="172B3A"/>
                </a:solidFill>
                <a:latin typeface="Helvetica Neue"/>
                <a:ea typeface="Helvetica Neue"/>
                <a:cs typeface="Helvetica Neue"/>
              </a:rPr>
              <a:t>LiIO₃, LiClO₄ and Li₅IO₆.</a:t>
            </a:r>
          </a:p>
        </p:txBody>
      </p:sp>
      <p:graphicFrame>
        <p:nvGraphicFramePr>
          <p:cNvPr id="6" name="">
            <a:extLst xmlns:a="http://schemas.openxmlformats.org/drawingml/2006/main">
              <a:ext uri="{FF2B5EF4-FFF2-40B4-BE49-F238E27FC236}">
                <a16:creationId xmlns:a16="http://schemas.microsoft.com/office/drawing/2014/main" id="{6FA61EE7-AB28-4447-A9D7-DB3B6FE59E61}"/>
              </a:ext>
            </a:extLst>
          </p:cNvPr>
          <p:cNvGraphicFramePr/>
          <p:nvPr/>
        </p:nvGraphicFramePr>
        <p:xfrm>
          <a:off xmlns:a="http://schemas.openxmlformats.org/drawingml/2006/main" x="533400" y="3381375"/>
          <a:ext xmlns:a="http://schemas.openxmlformats.org/drawingml/2006/main" cx="11125200" cy="1885950"/>
        </p:xfrm>
        <a:graphic xmlns:a="http://schemas.openxmlformats.org/drawingml/2006/main">
          <a:graphicData uri="http://schemas.openxmlformats.org/drawingml/2006/table">
            <a:tbl>
              <a:tblPr firstRow="0" bandRow="0"/>
              <a:tblGrid>
                <a:gridCol w="8905875"/>
                <a:gridCol w="2219325"/>
              </a:tblGrid>
              <a:tr h="628650">
                <a:tc>
                  <a:txBody>
                    <a:bodyPr lIns="0" tIns="0" rIns="0" bIns="0">
                      <a:noAutofit/>
                    </a:bodyPr>
                    <a:lstStyle/>
                    <a:p>
                      <a:r>
                        <a:rPr sz="1725" b="1">
                          <a:solidFill>
                            <a:srgbClr val="FFFFFF"/>
                          </a:solidFill>
                          <a:latin typeface="Helvetica Neue"/>
                          <a:ea typeface="Helvetica Neue"/>
                          <a:cs typeface="Helvetica Neue"/>
                        </a:rPr>
                        <a:t>Random’s 24 successful runs</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Count</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28650">
                <a:tc>
                  <a:txBody>
                    <a:bodyPr lIns="0" tIns="0" rIns="0" bIns="0">
                      <a:noAutofit/>
                    </a:bodyPr>
                    <a:lstStyle/>
                    <a:p>
                      <a:r>
                        <a:rPr sz="2025" b="0">
                          <a:solidFill>
                            <a:srgbClr val="172B3A"/>
                          </a:solidFill>
                          <a:latin typeface="Helvetica Neue"/>
                          <a:ea typeface="Helvetica Neue"/>
                          <a:cs typeface="Helvetica Neue"/>
                        </a:rPr>
                        <a:t>Also found an unflagged acceptable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18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28650">
                <a:tc>
                  <a:txBody>
                    <a:bodyPr lIns="0" tIns="0" rIns="0" bIns="0">
                      <a:noAutofit/>
                    </a:bodyPr>
                    <a:lstStyle/>
                    <a:p>
                      <a:r>
                        <a:rPr sz="2025" b="0">
                          <a:solidFill>
                            <a:srgbClr val="172B3A"/>
                          </a:solidFill>
                          <a:latin typeface="Helvetica Neue"/>
                          <a:ea typeface="Helvetica Neue"/>
                          <a:cs typeface="Helvetica Neue"/>
                        </a:rPr>
                        <a:t>Succeeded only through a flagged candidate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025" b="0">
                          <a:solidFill>
                            <a:srgbClr val="172B3A"/>
                          </a:solidFill>
                          <a:latin typeface="Helvetica Neue"/>
                          <a:ea typeface="Helvetica Neue"/>
                          <a:cs typeface="Helvetica Neue"/>
                        </a:rPr>
                        <a:t>6</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7" name="">
            <a:extLst xmlns:a="http://schemas.openxmlformats.org/drawingml/2006/main">
              <a:ext uri="{FF2B5EF4-FFF2-40B4-BE49-F238E27FC236}">
                <a16:creationId xmlns:a16="http://schemas.microsoft.com/office/drawing/2014/main" id="{0987D0F8-CD83-4A0E-BD76-5A60357EFDA4}"/>
              </a:ext>
            </a:extLst>
          </p:cNvPr>
          <p:cNvSpPr>
            <a:spLocks xmlns:a="http://schemas.openxmlformats.org/drawingml/2006/main" noGrp="1"/>
          </p:cNvSpPr>
          <p:nvPr/>
        </p:nvSpPr>
        <p:spPr>
          <a:xfrm xmlns:a="http://schemas.openxmlformats.org/drawingml/2006/main">
            <a:off x="533400" y="56007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44838"/>
                </a:solidFill>
                <a:latin typeface="Helvetica Neue"/>
                <a:ea typeface="Helvetica Neue"/>
                <a:cs typeface="Helvetica Neue"/>
              </a:defRPr>
            </a:defPPr>
            <a:lvl1pPr>
              <a:buNone/>
              <a:defRPr sz="1725" b="0">
                <a:solidFill>
                  <a:srgbClr val="A44838"/>
                </a:solidFill>
                <a:latin typeface="Helvetica Neue"/>
                <a:ea typeface="Helvetica Neue"/>
                <a:cs typeface="Helvetica Neue"/>
              </a:defRPr>
            </a:lvl1pPr>
            <a:lvl2pPr>
              <a:buNone/>
              <a:defRPr sz="1725" b="0">
                <a:solidFill>
                  <a:srgbClr val="A44838"/>
                </a:solidFill>
                <a:latin typeface="Helvetica Neue"/>
                <a:ea typeface="Helvetica Neue"/>
                <a:cs typeface="Helvetica Neue"/>
              </a:defRPr>
            </a:lvl2pPr>
            <a:lvl3pPr>
              <a:buNone/>
              <a:defRPr sz="1725" b="0">
                <a:solidFill>
                  <a:srgbClr val="A44838"/>
                </a:solidFill>
                <a:latin typeface="Helvetica Neue"/>
                <a:ea typeface="Helvetica Neue"/>
                <a:cs typeface="Helvetica Neue"/>
              </a:defRPr>
            </a:lvl3pPr>
            <a:lvl4pPr>
              <a:buNone/>
              <a:defRPr sz="1725" b="0">
                <a:solidFill>
                  <a:srgbClr val="A44838"/>
                </a:solidFill>
                <a:latin typeface="Helvetica Neue"/>
                <a:ea typeface="Helvetica Neue"/>
                <a:cs typeface="Helvetica Neue"/>
              </a:defRPr>
            </a:lvl4pPr>
            <a:lvl5pPr>
              <a:buNone/>
              <a:defRPr sz="1725" b="0">
                <a:solidFill>
                  <a:srgbClr val="A44838"/>
                </a:solidFill>
                <a:latin typeface="Helvetica Neue"/>
                <a:ea typeface="Helvetica Neue"/>
                <a:cs typeface="Helvetica Neue"/>
              </a:defRPr>
            </a:lvl5pPr>
            <a:lvl6pPr>
              <a:buNone/>
              <a:defRPr sz="1725" b="0">
                <a:solidFill>
                  <a:srgbClr val="A44838"/>
                </a:solidFill>
                <a:latin typeface="Helvetica Neue"/>
                <a:ea typeface="Helvetica Neue"/>
                <a:cs typeface="Helvetica Neue"/>
              </a:defRPr>
            </a:lvl6pPr>
            <a:lvl7pPr>
              <a:buNone/>
              <a:defRPr sz="1725" b="0">
                <a:solidFill>
                  <a:srgbClr val="A44838"/>
                </a:solidFill>
                <a:latin typeface="Helvetica Neue"/>
                <a:ea typeface="Helvetica Neue"/>
                <a:cs typeface="Helvetica Neue"/>
              </a:defRPr>
            </a:lvl7pPr>
            <a:lvl8pPr>
              <a:buNone/>
              <a:defRPr sz="1725" b="0">
                <a:solidFill>
                  <a:srgbClr val="A44838"/>
                </a:solidFill>
                <a:latin typeface="Helvetica Neue"/>
                <a:ea typeface="Helvetica Neue"/>
                <a:cs typeface="Helvetica Neue"/>
              </a:defRPr>
            </a:lvl8pPr>
            <a:lvl9pPr>
              <a:buNone/>
              <a:defRPr sz="1725" b="0">
                <a:solidFill>
                  <a:srgbClr val="A44838"/>
                </a:solidFill>
                <a:latin typeface="Helvetica Neue"/>
                <a:ea typeface="Helvetica Neue"/>
                <a:cs typeface="Helvetica Neue"/>
              </a:defRPr>
            </a:lvl9pPr>
          </a:lstStyle>
          <a:p xmlns:a="http://schemas.openxmlformats.org/drawingml/2006/main">
            <a:pPr>
              <a:buNone/>
              <a:defRPr sz="1725" b="0">
                <a:solidFill>
                  <a:srgbClr val="A44838"/>
                </a:solidFill>
                <a:latin typeface="Helvetica Neue"/>
                <a:ea typeface="Helvetica Neue"/>
                <a:cs typeface="Helvetica Neue"/>
              </a:defRPr>
            </a:pPr>
            <a:r>
              <a:rPr sz="1725" b="0">
                <a:solidFill>
                  <a:srgbClr val="A44838"/>
                </a:solidFill>
                <a:latin typeface="Helvetica Neue"/>
                <a:ea typeface="Helvetica Neue"/>
                <a:cs typeface="Helvetica Neue"/>
              </a:rPr>
              <a:t>This is a descriptive partition, not a rerun with a new endpoint. Primary result: 24 versus 12.</a:t>
            </a:r>
          </a:p>
        </p:txBody>
      </p:sp>
      <p:sp>
        <p:nvSpPr>
          <p:cNvPr id="8" name="">
            <a:extLst xmlns:a="http://schemas.openxmlformats.org/drawingml/2006/main">
              <a:ext uri="{FF2B5EF4-FFF2-40B4-BE49-F238E27FC236}">
                <a16:creationId xmlns:a16="http://schemas.microsoft.com/office/drawing/2014/main" id="{BC4D3CEE-9DD3-47A2-9EED-54C4DD6BC97D}"/>
              </a:ext>
            </a:extLst>
          </p:cNvPr>
          <p:cNvSpPr>
            <a:spLocks xmlns:a="http://schemas.openxmlformats.org/drawingml/2006/main" noGrp="1"/>
          </p:cNvSpPr>
          <p:nvPr/>
        </p:nvSpPr>
        <p:spPr>
          <a:xfrm xmlns:a="http://schemas.openxmlformats.org/drawingml/2006/main">
            <a:off x="533400" y="606742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The model is not proven to be making a safety judgment. Finite-temperature and processing limits remain.</a:t>
            </a:r>
          </a:p>
        </p:txBody>
      </p:sp>
    </p:spTree>
    <p:extLst>
      <p:ext uri="{BB962C8B-B14F-4D97-AF65-F5344CB8AC3E}">
        <p14:creationId xmlns:p14="http://schemas.microsoft.com/office/powerpoint/2010/main" val="278632726"/>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FF27EF-BBB7-4A81-BAC4-8D8CE522A58E}"/>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FINAL PHYSICAL VALUES</a:t>
            </a:r>
          </a:p>
        </p:txBody>
      </p:sp>
      <p:sp>
        <p:nvSpPr>
          <p:cNvPr id="2" name="">
            <a:extLst xmlns:a="http://schemas.openxmlformats.org/drawingml/2006/main">
              <a:ext uri="{FF2B5EF4-FFF2-40B4-BE49-F238E27FC236}">
                <a16:creationId xmlns:a16="http://schemas.microsoft.com/office/drawing/2014/main" id="{1F5234AB-8496-48D4-BF37-F6F2F1B07B52}"/>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Relaxed adhesion and rigid separation are different</a:t>
            </a:r>
          </a:p>
        </p:txBody>
      </p:sp>
      <p:sp>
        <p:nvSpPr>
          <p:cNvPr id="3" name="">
            <a:extLst xmlns:a="http://schemas.openxmlformats.org/drawingml/2006/main">
              <a:ext uri="{FF2B5EF4-FFF2-40B4-BE49-F238E27FC236}">
                <a16:creationId xmlns:a16="http://schemas.microsoft.com/office/drawing/2014/main" id="{F290F9C2-72C3-4CE1-A83C-F0874D3B5E8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7793E53F-6E77-4651-B87B-3E1200CE0C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22</a:t>
            </a:r>
          </a:p>
        </p:txBody>
      </p:sp>
      <p:graphicFrame>
        <p:nvGraphicFramePr>
          <p:cNvPr id="5" name="">
            <a:extLst xmlns:a="http://schemas.openxmlformats.org/drawingml/2006/main">
              <a:ext uri="{FF2B5EF4-FFF2-40B4-BE49-F238E27FC236}">
                <a16:creationId xmlns:a16="http://schemas.microsoft.com/office/drawing/2014/main" id="{5BB1584E-3AEF-480A-8EAA-8C4975E69349}"/>
              </a:ext>
            </a:extLst>
          </p:cNvPr>
          <p:cNvGraphicFramePr/>
          <p:nvPr/>
        </p:nvGraphicFramePr>
        <p:xfrm>
          <a:off xmlns:a="http://schemas.openxmlformats.org/drawingml/2006/main" x="533400" y="2019300"/>
          <a:ext xmlns:a="http://schemas.openxmlformats.org/drawingml/2006/main" cx="11125200" cy="2857500"/>
        </p:xfrm>
        <a:graphic xmlns:a="http://schemas.openxmlformats.org/drawingml/2006/main">
          <a:graphicData uri="http://schemas.openxmlformats.org/drawingml/2006/table">
            <a:tbl>
              <a:tblPr firstRow="0" bandRow="0"/>
              <a:tblGrid>
                <a:gridCol w="2476500"/>
                <a:gridCol w="3381375"/>
                <a:gridCol w="3381375"/>
                <a:gridCol w="1885950"/>
              </a:tblGrid>
              <a:tr h="714375">
                <a:tc>
                  <a:txBody>
                    <a:bodyPr lIns="0" tIns="0" rIns="0" bIns="0">
                      <a:noAutofit/>
                    </a:bodyPr>
                    <a:lstStyle/>
                    <a:p>
                      <a:r>
                        <a:rPr sz="1725" b="1">
                          <a:solidFill>
                            <a:srgbClr val="FFFFFF"/>
                          </a:solidFill>
                          <a:latin typeface="Helvetica Neue"/>
                          <a:ea typeface="Helvetica Neue"/>
                          <a:cs typeface="Helvetica Neue"/>
                        </a:rPr>
                        <a:t>Coating</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Cathode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Electrolyte</a:t>
                      </a:r>
                    </a:p>
                    <a:p>
                      <a:r>
                        <a:rPr sz="1725" b="1">
                          <a:solidFill>
                            <a:srgbClr val="FFFFFF"/>
                          </a:solidFill>
                          <a:latin typeface="Helvetica Neue"/>
                          <a:ea typeface="Helvetica Neue"/>
                          <a:cs typeface="Helvetica Neue"/>
                        </a:rPr>
                        <a:t>Wadh / Wsep</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Atoms</a:t>
                      </a:r>
                    </a:p>
                    <a:p>
                      <a:r>
                        <a:rPr sz="1725" b="1">
                          <a:solidFill>
                            <a:srgbClr val="FFFFFF"/>
                          </a:solidFill>
                          <a:latin typeface="Helvetica Neue"/>
                          <a:ea typeface="Helvetica Neue"/>
                          <a:cs typeface="Helvetica Neue"/>
                        </a:rPr>
                        <a:t>C / E</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lIns="0" tIns="0" rIns="0" bIns="0">
                      <a:noAutofit/>
                    </a:bodyPr>
                    <a:lstStyle/>
                    <a:p>
                      <a:r>
                        <a:rPr sz="2100" b="0">
                          <a:solidFill>
                            <a:srgbClr val="172B3A"/>
                          </a:solidFill>
                          <a:latin typeface="Helvetica Neue"/>
                          <a:ea typeface="Helvetica Neue"/>
                          <a:cs typeface="Helvetica Neue"/>
                        </a:rPr>
                        <a:t>LiNbF₆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3.617 / 5.168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1.633 / 2.967</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LiTaF₆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3.339 / 4.728</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1.577 / 2.911</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696 / 880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714375">
                <a:tc>
                  <a:txBody>
                    <a:bodyPr lIns="0" tIns="0" rIns="0" bIns="0">
                      <a:noAutofit/>
                    </a:bodyPr>
                    <a:lstStyle/>
                    <a:p>
                      <a:r>
                        <a:rPr sz="2100" b="0">
                          <a:solidFill>
                            <a:srgbClr val="172B3A"/>
                          </a:solidFill>
                          <a:latin typeface="Helvetica Neue"/>
                          <a:ea typeface="Helvetica Neue"/>
                          <a:cs typeface="Helvetica Neue"/>
                        </a:rPr>
                        <a:t>LiCaAlF₆</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1.427 / 4.322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0.744 / 1.490</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2100" b="0">
                          <a:solidFill>
                            <a:srgbClr val="172B3A"/>
                          </a:solidFill>
                          <a:latin typeface="Helvetica Neue"/>
                          <a:ea typeface="Helvetica Neue"/>
                          <a:cs typeface="Helvetica Neue"/>
                        </a:rPr>
                        <a:t>720 / 1212</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8B08354C-268E-41D3-9CD8-A0DCA34D2B33}"/>
              </a:ext>
            </a:extLst>
          </p:cNvPr>
          <p:cNvSpPr>
            <a:spLocks xmlns:a="http://schemas.openxmlformats.org/drawingml/2006/main" noGrp="1"/>
          </p:cNvSpPr>
          <p:nvPr/>
        </p:nvSpPr>
        <p:spPr>
          <a:xfrm xmlns:a="http://schemas.openxmlformats.org/drawingml/2006/main">
            <a:off x="533400" y="5210175"/>
            <a:ext cx="11125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7B"/>
                </a:solidFill>
                <a:latin typeface="Helvetica Neue"/>
                <a:ea typeface="Helvetica Neue"/>
                <a:cs typeface="Helvetica Neue"/>
              </a:defRPr>
            </a:defPPr>
            <a:lvl1pPr>
              <a:buNone/>
              <a:defRPr sz="2100" b="0">
                <a:solidFill>
                  <a:srgbClr val="007F7B"/>
                </a:solidFill>
                <a:latin typeface="Helvetica Neue"/>
                <a:ea typeface="Helvetica Neue"/>
                <a:cs typeface="Helvetica Neue"/>
              </a:defRPr>
            </a:lvl1pPr>
            <a:lvl2pPr>
              <a:buNone/>
              <a:defRPr sz="2100" b="0">
                <a:solidFill>
                  <a:srgbClr val="007F7B"/>
                </a:solidFill>
                <a:latin typeface="Helvetica Neue"/>
                <a:ea typeface="Helvetica Neue"/>
                <a:cs typeface="Helvetica Neue"/>
              </a:defRPr>
            </a:lvl2pPr>
            <a:lvl3pPr>
              <a:buNone/>
              <a:defRPr sz="2100" b="0">
                <a:solidFill>
                  <a:srgbClr val="007F7B"/>
                </a:solidFill>
                <a:latin typeface="Helvetica Neue"/>
                <a:ea typeface="Helvetica Neue"/>
                <a:cs typeface="Helvetica Neue"/>
              </a:defRPr>
            </a:lvl3pPr>
            <a:lvl4pPr>
              <a:buNone/>
              <a:defRPr sz="2100" b="0">
                <a:solidFill>
                  <a:srgbClr val="007F7B"/>
                </a:solidFill>
                <a:latin typeface="Helvetica Neue"/>
                <a:ea typeface="Helvetica Neue"/>
                <a:cs typeface="Helvetica Neue"/>
              </a:defRPr>
            </a:lvl4pPr>
            <a:lvl5pPr>
              <a:buNone/>
              <a:defRPr sz="2100" b="0">
                <a:solidFill>
                  <a:srgbClr val="007F7B"/>
                </a:solidFill>
                <a:latin typeface="Helvetica Neue"/>
                <a:ea typeface="Helvetica Neue"/>
                <a:cs typeface="Helvetica Neue"/>
              </a:defRPr>
            </a:lvl5pPr>
            <a:lvl6pPr>
              <a:buNone/>
              <a:defRPr sz="2100" b="0">
                <a:solidFill>
                  <a:srgbClr val="007F7B"/>
                </a:solidFill>
                <a:latin typeface="Helvetica Neue"/>
                <a:ea typeface="Helvetica Neue"/>
                <a:cs typeface="Helvetica Neue"/>
              </a:defRPr>
            </a:lvl6pPr>
            <a:lvl7pPr>
              <a:buNone/>
              <a:defRPr sz="2100" b="0">
                <a:solidFill>
                  <a:srgbClr val="007F7B"/>
                </a:solidFill>
                <a:latin typeface="Helvetica Neue"/>
                <a:ea typeface="Helvetica Neue"/>
                <a:cs typeface="Helvetica Neue"/>
              </a:defRPr>
            </a:lvl7pPr>
            <a:lvl8pPr>
              <a:buNone/>
              <a:defRPr sz="2100" b="0">
                <a:solidFill>
                  <a:srgbClr val="007F7B"/>
                </a:solidFill>
                <a:latin typeface="Helvetica Neue"/>
                <a:ea typeface="Helvetica Neue"/>
                <a:cs typeface="Helvetica Neue"/>
              </a:defRPr>
            </a:lvl8pPr>
            <a:lvl9pPr>
              <a:buNone/>
              <a:defRPr sz="2100" b="0">
                <a:solidFill>
                  <a:srgbClr val="007F7B"/>
                </a:solidFill>
                <a:latin typeface="Helvetica Neue"/>
                <a:ea typeface="Helvetica Neue"/>
                <a:cs typeface="Helvetica Neue"/>
              </a:defRPr>
            </a:lvl9pPr>
          </a:lstStyle>
          <a:p xmlns:a="http://schemas.openxmlformats.org/drawingml/2006/main">
            <a:pPr>
              <a:buNone/>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Wadh: separated slabs are allowed to relax.</a:t>
            </a:r>
          </a:p>
          <a:p xmlns:a="http://schemas.openxmlformats.org/drawingml/2006/main">
            <a:pPr>
              <a:buNone/>
              <a:defRPr sz="2100" b="0">
                <a:solidFill>
                  <a:srgbClr val="007F7B"/>
                </a:solidFill>
                <a:latin typeface="Helvetica Neue"/>
                <a:ea typeface="Helvetica Neue"/>
                <a:cs typeface="Helvetica Neue"/>
              </a:defRPr>
            </a:pPr>
            <a:r>
              <a:rPr sz="2100" b="0">
                <a:solidFill>
                  <a:srgbClr val="007F7B"/>
                </a:solidFill>
                <a:latin typeface="Helvetica Neue"/>
                <a:ea typeface="Helvetica Neue"/>
                <a:cs typeface="Helvetica Neue"/>
              </a:rPr>
              <a:t>Wsep: fragments retain their joined-interface geometry.</a:t>
            </a:r>
          </a:p>
        </p:txBody>
      </p:sp>
      <p:sp>
        <p:nvSpPr>
          <p:cNvPr id="7" name="">
            <a:extLst xmlns:a="http://schemas.openxmlformats.org/drawingml/2006/main">
              <a:ext uri="{FF2B5EF4-FFF2-40B4-BE49-F238E27FC236}">
                <a16:creationId xmlns:a16="http://schemas.microsoft.com/office/drawing/2014/main" id="{15A1ED18-99CD-4471-AE27-5B9F9E2DDC2F}"/>
              </a:ext>
            </a:extLst>
          </p:cNvPr>
          <p:cNvSpPr>
            <a:spLocks xmlns:a="http://schemas.openxmlformats.org/drawingml/2006/main" noGrp="1"/>
          </p:cNvSpPr>
          <p:nvPr/>
        </p:nvSpPr>
        <p:spPr>
          <a:xfrm xmlns:a="http://schemas.openxmlformats.org/drawingml/2006/main">
            <a:off x="533400" y="6105525"/>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650" b="0">
                <a:solidFill>
                  <a:srgbClr val="526472"/>
                </a:solidFill>
                <a:latin typeface="Helvetica Neue"/>
                <a:ea typeface="Helvetica Neue"/>
                <a:cs typeface="Helvetica Neue"/>
              </a:defRPr>
            </a:lvl1pPr>
            <a:lvl2pPr>
              <a:buNone/>
              <a:defRPr sz="1650" b="0">
                <a:solidFill>
                  <a:srgbClr val="526472"/>
                </a:solidFill>
                <a:latin typeface="Helvetica Neue"/>
                <a:ea typeface="Helvetica Neue"/>
                <a:cs typeface="Helvetica Neue"/>
              </a:defRPr>
            </a:lvl2pPr>
            <a:lvl3pPr>
              <a:buNone/>
              <a:defRPr sz="1650" b="0">
                <a:solidFill>
                  <a:srgbClr val="526472"/>
                </a:solidFill>
                <a:latin typeface="Helvetica Neue"/>
                <a:ea typeface="Helvetica Neue"/>
                <a:cs typeface="Helvetica Neue"/>
              </a:defRPr>
            </a:lvl3pPr>
            <a:lvl4pPr>
              <a:buNone/>
              <a:defRPr sz="1650" b="0">
                <a:solidFill>
                  <a:srgbClr val="526472"/>
                </a:solidFill>
                <a:latin typeface="Helvetica Neue"/>
                <a:ea typeface="Helvetica Neue"/>
                <a:cs typeface="Helvetica Neue"/>
              </a:defRPr>
            </a:lvl4pPr>
            <a:lvl5pPr>
              <a:buNone/>
              <a:defRPr sz="1650" b="0">
                <a:solidFill>
                  <a:srgbClr val="526472"/>
                </a:solidFill>
                <a:latin typeface="Helvetica Neue"/>
                <a:ea typeface="Helvetica Neue"/>
                <a:cs typeface="Helvetica Neue"/>
              </a:defRPr>
            </a:lvl5pPr>
            <a:lvl6pPr>
              <a:buNone/>
              <a:defRPr sz="1650" b="0">
                <a:solidFill>
                  <a:srgbClr val="526472"/>
                </a:solidFill>
                <a:latin typeface="Helvetica Neue"/>
                <a:ea typeface="Helvetica Neue"/>
                <a:cs typeface="Helvetica Neue"/>
              </a:defRPr>
            </a:lvl6pPr>
            <a:lvl7pPr>
              <a:buNone/>
              <a:defRPr sz="1650" b="0">
                <a:solidFill>
                  <a:srgbClr val="526472"/>
                </a:solidFill>
                <a:latin typeface="Helvetica Neue"/>
                <a:ea typeface="Helvetica Neue"/>
                <a:cs typeface="Helvetica Neue"/>
              </a:defRPr>
            </a:lvl7pPr>
            <a:lvl8pPr>
              <a:buNone/>
              <a:defRPr sz="1650" b="0">
                <a:solidFill>
                  <a:srgbClr val="526472"/>
                </a:solidFill>
                <a:latin typeface="Helvetica Neue"/>
                <a:ea typeface="Helvetica Neue"/>
                <a:cs typeface="Helvetica Neue"/>
              </a:defRPr>
            </a:lvl8pPr>
            <a:lvl9pPr>
              <a:buNone/>
              <a:defRPr sz="165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J/m². Primary snapshots unchanged. Later robustness checks are a separate record.</a:t>
            </a:r>
          </a:p>
        </p:txBody>
      </p:sp>
    </p:spTree>
    <p:extLst>
      <p:ext uri="{BB962C8B-B14F-4D97-AF65-F5344CB8AC3E}">
        <p14:creationId xmlns:p14="http://schemas.microsoft.com/office/powerpoint/2010/main" val="1237249875"/>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39EBD1-3CFB-40F0-9D08-B03BA3FD10D0}"/>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PHYSICAL REALIZATION</a:t>
            </a:r>
          </a:p>
        </p:txBody>
      </p:sp>
      <p:sp>
        <p:nvSpPr>
          <p:cNvPr id="2" name="">
            <a:extLst xmlns:a="http://schemas.openxmlformats.org/drawingml/2006/main">
              <a:ext uri="{FF2B5EF4-FFF2-40B4-BE49-F238E27FC236}">
                <a16:creationId xmlns:a16="http://schemas.microsoft.com/office/drawing/2014/main" id="{12B99ED8-4662-42ED-AE3C-FBE2CF002B37}"/>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structures and convergence evidence are archived</a:t>
            </a:r>
          </a:p>
        </p:txBody>
      </p:sp>
      <p:sp>
        <p:nvSpPr>
          <p:cNvPr id="3" name="">
            <a:extLst xmlns:a="http://schemas.openxmlformats.org/drawingml/2006/main">
              <a:ext uri="{FF2B5EF4-FFF2-40B4-BE49-F238E27FC236}">
                <a16:creationId xmlns:a16="http://schemas.microsoft.com/office/drawing/2014/main" id="{6249ADB4-3A6C-491F-B066-067ECC26B295}"/>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3EC56658-4810-4084-95D2-4278C16F19D0}"/>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23</a:t>
            </a:r>
          </a:p>
        </p:txBody>
      </p:sp>
      <p:pic>
        <p:nvPicPr>
          <p:cNvPr id="5" name="">
            <a:extLst xmlns:a="http://schemas.openxmlformats.org/drawingml/2006/main">
              <a:ext uri="{FF2B5EF4-FFF2-40B4-BE49-F238E27FC236}">
                <a16:creationId xmlns:a16="http://schemas.microsoft.com/office/drawing/2014/main" id="{70EEB05D-1FF2-42BB-979F-B8C89119D8CE}"/>
              </a:ext>
            </a:extLst>
          </p:cNvPr>
          <p:cNvPicPr>
            <a:picLocks xmlns:a="http://schemas.openxmlformats.org/drawingml/2006/main" noChangeAspect="1"/>
          </p:cNvPicPr>
          <p:nvPr/>
        </p:nvPicPr>
        <p:blipFill>
          <a:blip xmlns:r="http://schemas.openxmlformats.org/officeDocument/2006/relationships" xmlns:a="http://schemas.openxmlformats.org/drawingml/2006/main" r:embed="Rada646b224e2455b"/>
          <a:stretch xmlns:a="http://schemas.openxmlformats.org/drawingml/2006/main"/>
        </p:blipFill>
        <p:spPr>
          <a:xfrm xmlns:a="http://schemas.openxmlformats.org/drawingml/2006/main">
            <a:off x="1571625" y="1838325"/>
            <a:ext cx="9048750" cy="4524375"/>
          </a:xfrm>
          <a:prstGeom xmlns:a="http://schemas.openxmlformats.org/drawingml/2006/main" prst="rect">
            <a:avLst/>
          </a:prstGeom>
        </p:spPr>
      </p:pic>
    </p:spTree>
    <p:extLst>
      <p:ext uri="{BB962C8B-B14F-4D97-AF65-F5344CB8AC3E}">
        <p14:creationId xmlns:p14="http://schemas.microsoft.com/office/powerpoint/2010/main" val="1637127024"/>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47706F-1B11-458E-9262-6FD33EC37BC4}"/>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BACKUP / ACCOUNTING AND HANDOFF</a:t>
            </a:r>
          </a:p>
        </p:txBody>
      </p:sp>
      <p:sp>
        <p:nvSpPr>
          <p:cNvPr id="2" name="">
            <a:extLst xmlns:a="http://schemas.openxmlformats.org/drawingml/2006/main">
              <a:ext uri="{FF2B5EF4-FFF2-40B4-BE49-F238E27FC236}">
                <a16:creationId xmlns:a16="http://schemas.microsoft.com/office/drawing/2014/main" id="{F244B59E-0A21-4664-9B2B-17A060BD96FF}"/>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Archived evidence and completed integration</a:t>
            </a:r>
          </a:p>
        </p:txBody>
      </p:sp>
      <p:sp>
        <p:nvSpPr>
          <p:cNvPr id="3" name="">
            <a:extLst xmlns:a="http://schemas.openxmlformats.org/drawingml/2006/main">
              <a:ext uri="{FF2B5EF4-FFF2-40B4-BE49-F238E27FC236}">
                <a16:creationId xmlns:a16="http://schemas.microsoft.com/office/drawing/2014/main" id="{E10F9E5F-34BA-47B7-B8BD-CC85BA82D6B9}"/>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Results through 22 October 2026</a:t>
            </a:r>
          </a:p>
        </p:txBody>
      </p:sp>
      <p:sp>
        <p:nvSpPr>
          <p:cNvPr id="4" name="">
            <a:extLst xmlns:a="http://schemas.openxmlformats.org/drawingml/2006/main">
              <a:ext uri="{FF2B5EF4-FFF2-40B4-BE49-F238E27FC236}">
                <a16:creationId xmlns:a16="http://schemas.microsoft.com/office/drawing/2014/main" id="{4B2F63F4-589F-4D68-A436-FB24F83C01E7}"/>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24</a:t>
            </a:r>
          </a:p>
        </p:txBody>
      </p:sp>
      <p:graphicFrame>
        <p:nvGraphicFramePr>
          <p:cNvPr id="5" name="">
            <a:extLst xmlns:a="http://schemas.openxmlformats.org/drawingml/2006/main">
              <a:ext uri="{FF2B5EF4-FFF2-40B4-BE49-F238E27FC236}">
                <a16:creationId xmlns:a16="http://schemas.microsoft.com/office/drawing/2014/main" id="{21447159-3A8F-4D74-957A-3A867B2C3E71}"/>
              </a:ext>
            </a:extLst>
          </p:cNvPr>
          <p:cNvGraphicFramePr/>
          <p:nvPr/>
        </p:nvGraphicFramePr>
        <p:xfrm>
          <a:off xmlns:a="http://schemas.openxmlformats.org/drawingml/2006/main" x="533400" y="1971675"/>
          <a:ext xmlns:a="http://schemas.openxmlformats.org/drawingml/2006/main" cx="11125200" cy="3705225"/>
        </p:xfrm>
        <a:graphic xmlns:a="http://schemas.openxmlformats.org/drawingml/2006/main">
          <a:graphicData uri="http://schemas.openxmlformats.org/drawingml/2006/table">
            <a:tbl>
              <a:tblPr firstRow="0" bandRow="0"/>
              <a:tblGrid>
                <a:gridCol w="3238500"/>
                <a:gridCol w="7886700"/>
              </a:tblGrid>
              <a:tr h="617538">
                <a:tc>
                  <a:txBody>
                    <a:bodyPr lIns="0" tIns="0" rIns="0" bIns="0">
                      <a:noAutofit/>
                    </a:bodyPr>
                    <a:lstStyle/>
                    <a:p>
                      <a:r>
                        <a:rPr sz="1725" b="1">
                          <a:solidFill>
                            <a:srgbClr val="FFFFFF"/>
                          </a:solidFill>
                          <a:latin typeface="Helvetica Neue"/>
                          <a:ea typeface="Helvetica Neue"/>
                          <a:cs typeface="Helvetica Neue"/>
                        </a:rPr>
                        <a:t>Evidence / cost</a:t>
                      </a:r>
                    </a:p>
                  </a:txBody>
                  <a:tcPr marL="133350" marR="114300" marT="38100" marB="38100"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lIns="0" tIns="0" rIns="0" bIns="0">
                      <a:noAutofit/>
                    </a:bodyPr>
                    <a:lstStyle/>
                    <a:p>
                      <a:r>
                        <a:rPr sz="1725" b="1">
                          <a:solidFill>
                            <a:srgbClr val="FFFFFF"/>
                          </a:solidFill>
                          <a:latin typeface="Helvetica Neue"/>
                          <a:ea typeface="Helvetica Neue"/>
                          <a:cs typeface="Helvetica Neue"/>
                        </a:rPr>
                        <a:t>Verified record</a:t>
                      </a:r>
                    </a:p>
                  </a:txBody>
                  <a:tcPr marL="133350" marR="114300" marT="38100" marB="38100" anchor="ctr">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617538">
                <a:tc>
                  <a:txBody>
                    <a:bodyPr lIns="0" tIns="0" rIns="0" bIns="0">
                      <a:noAutofit/>
                    </a:bodyPr>
                    <a:lstStyle/>
                    <a:p>
                      <a:r>
                        <a:rPr sz="1800" b="0">
                          <a:solidFill>
                            <a:srgbClr val="172B3A"/>
                          </a:solidFill>
                          <a:latin typeface="Helvetica Neue"/>
                          <a:ea typeface="Helvetica Neue"/>
                          <a:cs typeface="Helvetica Neue"/>
                        </a:rPr>
                        <a:t>Environment study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450 runs, 2,800 API calls, about $3.63 at recorded list rates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Physical pilot LLM</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5 / 10 HTTP attempts, about $0.006 at recorded list rates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New PET-MAD jobs</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26 / 36, all converged, 6,632 runner calls + 52 single points</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Compute time</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25.4 min runner time; 47.5 min summed Slurm elapsed</a:t>
                      </a:r>
                    </a:p>
                    <a:p>
                      <a:r>
                        <a:rPr sz="1800" b="0">
                          <a:solidFill>
                            <a:srgbClr val="172B3A"/>
                          </a:solidFill>
                          <a:latin typeface="Helvetica Neue"/>
                          <a:ea typeface="Helvetica Neue"/>
                          <a:cs typeface="Helvetica Neue"/>
                        </a:rPr>
                        <a:t>Reused work, bulk preparation and queue time are separate</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r h="617538">
                <a:tc>
                  <a:txBody>
                    <a:bodyPr lIns="0" tIns="0" rIns="0" bIns="0">
                      <a:noAutofit/>
                    </a:bodyPr>
                    <a:lstStyle/>
                    <a:p>
                      <a:r>
                        <a:rPr sz="1800" b="0">
                          <a:solidFill>
                            <a:srgbClr val="172B3A"/>
                          </a:solidFill>
                          <a:latin typeface="Helvetica Neue"/>
                          <a:ea typeface="Helvetica Neue"/>
                          <a:cs typeface="Helvetica Neue"/>
                        </a:rPr>
                        <a:t>Integrated delivery</a:t>
                      </a:r>
                    </a:p>
                  </a:txBody>
                  <a:tcPr marL="133350" marR="114300" marT="38100" marB="38100" anchor="ctr">
                    <a:lnL w="5715">
                      <a:solidFill>
                        <a:srgbClr val="D6DEDE"/>
                      </a:solidFill>
                      <a:prstDash val="solid"/>
                    </a:lnL>
                    <a:lnR w="5715">
                      <a:solidFill>
                        <a:srgbClr val="D6DEDE"/>
                      </a:solidFill>
                      <a:prstDash val="solid"/>
                    </a:lnR>
                    <a:lnB w="5715">
                      <a:solidFill>
                        <a:srgbClr val="D6DEDE"/>
                      </a:solidFill>
                      <a:prstDash val="solid"/>
                    </a:lnB>
                    <a:solidFill>
                      <a:srgbClr val="FAFAF7"/>
                    </a:solidFill>
                  </a:tcPr>
                </a:tc>
                <a:tc>
                  <a:txBody>
                    <a:bodyPr lIns="0" tIns="0" rIns="0" bIns="0">
                      <a:noAutofit/>
                    </a:bodyPr>
                    <a:lstStyle/>
                    <a:p>
                      <a:r>
                        <a:rPr sz="1800" b="0">
                          <a:solidFill>
                            <a:srgbClr val="172B3A"/>
                          </a:solidFill>
                          <a:latin typeface="Helvetica Neue"/>
                          <a:ea typeface="Helvetica Neue"/>
                          <a:cs typeface="Helvetica Neue"/>
                        </a:rPr>
                        <a:t>Reader fix, code integration and structure viewer completed</a:t>
                      </a:r>
                    </a:p>
                    <a:p>
                      <a:r>
                        <a:rPr sz="1800" b="0">
                          <a:solidFill>
                            <a:srgbClr val="172B3A"/>
                          </a:solidFill>
                          <a:latin typeface="Helvetica Neue"/>
                          <a:ea typeface="Helvetica Neue"/>
                          <a:cs typeface="Helvetica Neue"/>
                        </a:rPr>
                        <a:t>on the separate final-integration branch</a:t>
                      </a:r>
                    </a:p>
                  </a:txBody>
                  <a:tcPr marL="133350" marR="114300" marT="38100" marB="38100" anchor="ctr">
                    <a:lnR w="5715">
                      <a:solidFill>
                        <a:srgbClr val="D6DEDE"/>
                      </a:solidFill>
                      <a:prstDash val="solid"/>
                    </a:lnR>
                    <a:lnB w="5715">
                      <a:solidFill>
                        <a:srgbClr val="D6DEDE"/>
                      </a:solidFill>
                      <a:prstDash val="solid"/>
                    </a:lnB>
                    <a:solidFill>
                      <a:srgbClr val="FAFAF7"/>
                    </a:solidFill>
                  </a:tcPr>
                </a:tc>
              </a:tr>
            </a:tbl>
          </a:graphicData>
        </a:graphic>
      </p:graphicFrame>
      <p:sp>
        <p:nvSpPr>
          <p:cNvPr id="6" name="">
            <a:extLst xmlns:a="http://schemas.openxmlformats.org/drawingml/2006/main">
              <a:ext uri="{FF2B5EF4-FFF2-40B4-BE49-F238E27FC236}">
                <a16:creationId xmlns:a16="http://schemas.microsoft.com/office/drawing/2014/main" id="{D7AF82FC-CFFA-4A17-B3A4-758318F15595}"/>
              </a:ext>
            </a:extLst>
          </p:cNvPr>
          <p:cNvSpPr>
            <a:spLocks xmlns:a="http://schemas.openxmlformats.org/drawingml/2006/main" noGrp="1"/>
          </p:cNvSpPr>
          <p:nvPr/>
        </p:nvSpPr>
        <p:spPr>
          <a:xfrm xmlns:a="http://schemas.openxmlformats.org/drawingml/2006/main">
            <a:off x="533400" y="5972175"/>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Frozen decisions, later robustness, source hashes and limitations remain independently inspectable.</a:t>
            </a:r>
          </a:p>
        </p:txBody>
      </p:sp>
    </p:spTree>
    <p:extLst>
      <p:ext uri="{BB962C8B-B14F-4D97-AF65-F5344CB8AC3E}">
        <p14:creationId xmlns:p14="http://schemas.microsoft.com/office/powerpoint/2010/main" val="1017410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2026-10-22T11:52:27.6280000Z</dcterms:created>
  <dcterms:modified xsi:type="dcterms:W3CDTF">2026-10-22T11:52:27.6280000Z</dcterms:modified>
</coreProperties>
</file>