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3.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85724e5784d4eb2" /><Relationship Type="http://schemas.openxmlformats.org/officeDocument/2006/relationships/extended-properties" Target="/docProps/app.xml" Id="R2e7ff19a227d4ae9" /><Relationship Type="http://schemas.openxmlformats.org/officeDocument/2006/relationships/officeDocument" Target="/ppt/presentation.xml" Id="R7a83adcccbaf4a21" /></Relationships>
</file>

<file path=ppt/presentation.xml><?xml version="1.0" encoding="utf-8"?>
<p:presentation xmlns:p="http://schemas.openxmlformats.org/presentationml/2006/main">
  <p:sldMasterIdLst>
    <p:sldMasterId xmlns:r="http://schemas.openxmlformats.org/officeDocument/2006/relationships" id="2147483648" r:id="R2657f2ed50b84e38"/>
  </p:sldMasterIdLst>
  <p:notesMasterIdLst>
    <p:notesMasterId xmlns:r="http://schemas.openxmlformats.org/officeDocument/2006/relationships" r:id="R826a73d01d1641cf"/>
  </p:notesMasterIdLst>
  <p:sldIdLst>
    <p:sldId xmlns:r="http://schemas.openxmlformats.org/officeDocument/2006/relationships" id="256" r:id="R035d1c5159ff4ba2"/>
    <p:sldId xmlns:r="http://schemas.openxmlformats.org/officeDocument/2006/relationships" id="257" r:id="R1e876b18ed134e9d"/>
    <p:sldId xmlns:r="http://schemas.openxmlformats.org/officeDocument/2006/relationships" id="258" r:id="R4f3a19d4a6dd4c84"/>
    <p:sldId xmlns:r="http://schemas.openxmlformats.org/officeDocument/2006/relationships" id="259" r:id="R2475f5659aaf4f61"/>
    <p:sldId xmlns:r="http://schemas.openxmlformats.org/officeDocument/2006/relationships" id="260" r:id="Rfac6dc5c708546c2"/>
    <p:sldId xmlns:r="http://schemas.openxmlformats.org/officeDocument/2006/relationships" id="261" r:id="Re46a06e60de54a7b"/>
    <p:sldId xmlns:r="http://schemas.openxmlformats.org/officeDocument/2006/relationships" id="262" r:id="R815c54b0f50a44a3"/>
    <p:sldId xmlns:r="http://schemas.openxmlformats.org/officeDocument/2006/relationships" id="263" r:id="Ra5fcadc5d029422f"/>
    <p:sldId xmlns:r="http://schemas.openxmlformats.org/officeDocument/2006/relationships" id="264" r:id="R0a6dac14766f4465"/>
    <p:sldId xmlns:r="http://schemas.openxmlformats.org/officeDocument/2006/relationships" id="265" r:id="R126d58168e91437c"/>
    <p:sldId xmlns:r="http://schemas.openxmlformats.org/officeDocument/2006/relationships" id="266" r:id="R52224fc27c754832"/>
    <p:sldId xmlns:r="http://schemas.openxmlformats.org/officeDocument/2006/relationships" id="267" r:id="Re4b92f1c8e32417e"/>
    <p:sldId xmlns:r="http://schemas.openxmlformats.org/officeDocument/2006/relationships" id="268" r:id="R58e35a51756a4f16"/>
    <p:sldId xmlns:r="http://schemas.openxmlformats.org/officeDocument/2006/relationships" id="269" r:id="R98c2d4c0fc3649e1"/>
    <p:sldId xmlns:r="http://schemas.openxmlformats.org/officeDocument/2006/relationships" id="270" r:id="Rb359bc3b42cd4205"/>
    <p:sldId xmlns:r="http://schemas.openxmlformats.org/officeDocument/2006/relationships" id="271" r:id="Rf836600603aa482f"/>
    <p:sldId xmlns:r="http://schemas.openxmlformats.org/officeDocument/2006/relationships" id="272" r:id="R14bdfca1f56d49d3"/>
    <p:sldId xmlns:r="http://schemas.openxmlformats.org/officeDocument/2006/relationships" id="273" r:id="R419ca38adfb544e9"/>
    <p:sldId xmlns:r="http://schemas.openxmlformats.org/officeDocument/2006/relationships" id="274" r:id="R73f6436a10764fa2"/>
    <p:sldId xmlns:r="http://schemas.openxmlformats.org/officeDocument/2006/relationships" id="275" r:id="R92ea819fa27b473d"/>
    <p:sldId xmlns:r="http://schemas.openxmlformats.org/officeDocument/2006/relationships" id="276" r:id="Rca618bfb091445f4"/>
    <p:sldId xmlns:r="http://schemas.openxmlformats.org/officeDocument/2006/relationships" id="277" r:id="Rcde4da8c565b4a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e6f92b5505d4b5e" /><Relationship Type="http://schemas.openxmlformats.org/officeDocument/2006/relationships/slideMaster" Target="/ppt/slideMasters/slideMaster1.xml" Id="R2657f2ed50b84e38" /><Relationship Type="http://schemas.openxmlformats.org/officeDocument/2006/relationships/notesMaster" Target="/ppt/notesMasters/notesMaster1.xml" Id="R826a73d01d1641cf" /><Relationship Type="http://schemas.openxmlformats.org/officeDocument/2006/relationships/presProps" Target="/ppt/presProps.xml" Id="R4dab11db590b40c0" /><Relationship Type="http://schemas.openxmlformats.org/officeDocument/2006/relationships/tableStyles" Target="/ppt/tableStyles.xml" Id="R3858237cc9854611" /><Relationship Type="http://schemas.openxmlformats.org/officeDocument/2006/relationships/slide" Target="/ppt/slides/slide1.xml" Id="R035d1c5159ff4ba2" /><Relationship Type="http://schemas.openxmlformats.org/officeDocument/2006/relationships/slide" Target="/ppt/slides/slide2.xml" Id="R1e876b18ed134e9d" /><Relationship Type="http://schemas.openxmlformats.org/officeDocument/2006/relationships/slide" Target="/ppt/slides/slide3.xml" Id="R4f3a19d4a6dd4c84" /><Relationship Type="http://schemas.openxmlformats.org/officeDocument/2006/relationships/slide" Target="/ppt/slides/slide4.xml" Id="R2475f5659aaf4f61" /><Relationship Type="http://schemas.openxmlformats.org/officeDocument/2006/relationships/slide" Target="/ppt/slides/slide5.xml" Id="Rfac6dc5c708546c2" /><Relationship Type="http://schemas.openxmlformats.org/officeDocument/2006/relationships/slide" Target="/ppt/slides/slide6.xml" Id="Re46a06e60de54a7b" /><Relationship Type="http://schemas.openxmlformats.org/officeDocument/2006/relationships/slide" Target="/ppt/slides/slide7.xml" Id="R815c54b0f50a44a3" /><Relationship Type="http://schemas.openxmlformats.org/officeDocument/2006/relationships/slide" Target="/ppt/slides/slide8.xml" Id="Ra5fcadc5d029422f" /><Relationship Type="http://schemas.openxmlformats.org/officeDocument/2006/relationships/slide" Target="/ppt/slides/slide9.xml" Id="R0a6dac14766f4465" /><Relationship Type="http://schemas.openxmlformats.org/officeDocument/2006/relationships/slide" Target="/ppt/slides/slide10.xml" Id="R126d58168e91437c" /><Relationship Type="http://schemas.openxmlformats.org/officeDocument/2006/relationships/slide" Target="/ppt/slides/slide11.xml" Id="R52224fc27c754832" /><Relationship Type="http://schemas.openxmlformats.org/officeDocument/2006/relationships/slide" Target="/ppt/slides/slide12.xml" Id="Re4b92f1c8e32417e" /><Relationship Type="http://schemas.openxmlformats.org/officeDocument/2006/relationships/slide" Target="/ppt/slides/slide13.xml" Id="R58e35a51756a4f16" /><Relationship Type="http://schemas.openxmlformats.org/officeDocument/2006/relationships/slide" Target="/ppt/slides/slide14.xml" Id="R98c2d4c0fc3649e1" /><Relationship Type="http://schemas.openxmlformats.org/officeDocument/2006/relationships/slide" Target="/ppt/slides/slide15.xml" Id="Rb359bc3b42cd4205" /><Relationship Type="http://schemas.openxmlformats.org/officeDocument/2006/relationships/slide" Target="/ppt/slides/slide16.xml" Id="Rf836600603aa482f" /><Relationship Type="http://schemas.openxmlformats.org/officeDocument/2006/relationships/slide" Target="/ppt/slides/slide17.xml" Id="R14bdfca1f56d49d3" /><Relationship Type="http://schemas.openxmlformats.org/officeDocument/2006/relationships/slide" Target="/ppt/slides/slide18.xml" Id="R419ca38adfb544e9" /><Relationship Type="http://schemas.openxmlformats.org/officeDocument/2006/relationships/slide" Target="/ppt/slides/slide19.xml" Id="R73f6436a10764fa2" /><Relationship Type="http://schemas.openxmlformats.org/officeDocument/2006/relationships/slide" Target="/ppt/slides/slide20.xml" Id="R92ea819fa27b473d" /><Relationship Type="http://schemas.openxmlformats.org/officeDocument/2006/relationships/slide" Target="/ppt/slides/slide21.xml" Id="Rca618bfb091445f4" /><Relationship Type="http://schemas.openxmlformats.org/officeDocument/2006/relationships/slide" Target="/ppt/slides/slide22.xml" Id="Rcde4da8c565b4a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f2d4e5bc6d47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5b307af7c14b71" /><Relationship Type="http://schemas.openxmlformats.org/officeDocument/2006/relationships/notesMaster" Target="/ppt/notesMasters/notesMaster1.xml" Id="R4d85465b993040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569f7cf7164f16" /><Relationship Type="http://schemas.openxmlformats.org/officeDocument/2006/relationships/notesMaster" Target="/ppt/notesMasters/notesMaster1.xml" Id="Rfc566683eb1646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5863e921a4423c" /><Relationship Type="http://schemas.openxmlformats.org/officeDocument/2006/relationships/notesMaster" Target="/ppt/notesMasters/notesMaster1.xml" Id="Rf9456a1c090e472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c8d15a803946b9" /><Relationship Type="http://schemas.openxmlformats.org/officeDocument/2006/relationships/notesMaster" Target="/ppt/notesMasters/notesMaster1.xml" Id="Rd57675112a534f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652aeaabc94674" /><Relationship Type="http://schemas.openxmlformats.org/officeDocument/2006/relationships/notesMaster" Target="/ppt/notesMasters/notesMaster1.xml" Id="Rede1ad0432eb4b7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0bebebeb894cf4" /><Relationship Type="http://schemas.openxmlformats.org/officeDocument/2006/relationships/notesMaster" Target="/ppt/notesMasters/notesMaster1.xml" Id="R69185ad45ff946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c3d5ba2480d943d3" /><Relationship Type="http://schemas.openxmlformats.org/officeDocument/2006/relationships/notesMaster" Target="/ppt/notesMasters/notesMaster1.xml" Id="R6259b1d37bc24c6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8dd92cc07d4595" /><Relationship Type="http://schemas.openxmlformats.org/officeDocument/2006/relationships/notesMaster" Target="/ppt/notesMasters/notesMaster1.xml" Id="Rdb9681361702425a" /></Relationships>
</file>

<file path=ppt/notesSlides/_rels/notesSlide9.xml.rels>&#65279;<?xml version="1.0" encoding="utf-8"?><Relationships xmlns="http://schemas.openxmlformats.org/package/2006/relationships"><Relationship Type="http://schemas.openxmlformats.org/officeDocument/2006/relationships/slide" Target="/ppt/slides/slide9.xml" Id="R8f181db443cd4bc8" /><Relationship Type="http://schemas.openxmlformats.org/officeDocument/2006/relationships/notesMaster" Target="/ppt/notesMasters/notesMaster1.xml" Id="R330ade749e88446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96b76f386f0414a" /><Relationship Type="http://schemas.openxmlformats.org/officeDocument/2006/relationships/notesMaster" Target="/ppt/notesMasters/notesMaster1.xml" Id="R0dada74a1bb649a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8d9a0324ab34ace" /><Relationship Type="http://schemas.openxmlformats.org/officeDocument/2006/relationships/notesMaster" Target="/ppt/notesMasters/notesMaster1.xml" Id="Rd5372e3e135c478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339e86ffe5b4255" /><Relationship Type="http://schemas.openxmlformats.org/officeDocument/2006/relationships/notesMaster" Target="/ppt/notesMasters/notesMaster1.xml" Id="Rd14d9c56de62406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3e2257c980c4a33" /><Relationship Type="http://schemas.openxmlformats.org/officeDocument/2006/relationships/notesMaster" Target="/ppt/notesMasters/notesMaster1.xml" Id="R55d070b02e9448b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060319d41e84e9c" /><Relationship Type="http://schemas.openxmlformats.org/officeDocument/2006/relationships/notesMaster" Target="/ppt/notesMasters/notesMaster1.xml" Id="Rf52d66b3b16a405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09f59514acd4099" /><Relationship Type="http://schemas.openxmlformats.org/officeDocument/2006/relationships/notesMaster" Target="/ppt/notesMasters/notesMaster1.xml" Id="R3f5316315d1a465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354c8ad2aa94583" /><Relationship Type="http://schemas.openxmlformats.org/officeDocument/2006/relationships/notesMaster" Target="/ppt/notesMasters/notesMaster1.xml" Id="R38435da22e5d459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6ff90959db74b12" /><Relationship Type="http://schemas.openxmlformats.org/officeDocument/2006/relationships/notesMaster" Target="/ppt/notesMasters/notesMaster1.xml" Id="Rf6e7ba2aa484431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b6793be27d54bb8" /><Relationship Type="http://schemas.openxmlformats.org/officeDocument/2006/relationships/notesMaster" Target="/ppt/notesMasters/notesMaster1.xml" Id="R9c1ca732eacd42d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ec18242f6d2478c" /><Relationship Type="http://schemas.openxmlformats.org/officeDocument/2006/relationships/notesMaster" Target="/ppt/notesMasters/notesMaster1.xml" Id="Rafe9131d36f54a0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7330c933e484bbd" /><Relationship Type="http://schemas.openxmlformats.org/officeDocument/2006/relationships/notesMaster" Target="/ppt/notesMasters/notesMaster1.xml" Id="R27fc1eeb34a545b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874663ada6546f0" /><Relationship Type="http://schemas.openxmlformats.org/officeDocument/2006/relationships/notesMaster" Target="/ppt/notesMasters/notesMaster1.xml" Id="R04421388ca5b462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87247af30d24a0f" /><Relationship Type="http://schemas.openxmlformats.org/officeDocument/2006/relationships/notesMaster" Target="/ppt/notesMasters/notesMaster1.xml" Id="R9a0284e717c444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interphAIse asks whether an AI language model can take on one part of scientific work: deciding which material deserves the next calculation. We will explain the battery problem, the decision loop, and three stages of evidence. Main talk: slides 1–16, approximately 15 minutes. Slides 17–22 are technical backup. Authors: Davide Tisi and Adem R. N. Aouichaoui. The LLM is Haiku 5.5. All outcomes are from the completed archived studies through 22 October 2026.</a:t>
            </a:r>
          </a:p>
          <a:p xmlns:a="http://schemas.openxmlformats.org/drawingml/2006/main">
            <a:r>
              <a:t/>
            </a:r>
          </a:p>
          <a:p xmlns:a="http://schemas.openxmlformats.org/drawingml/2006/main">
            <a:r>
              <a:t>Sources:</a:t>
            </a:r>
          </a:p>
          <a:p xmlns:a="http://schemas.openxmlformats.org/drawingml/2006/main">
            <a:r>
              <a:t>/Users/davidetisi/Documents/Work/DTU/OSI_Hackathon/interphAIse/RESULTS_SYNTHESIS_2026-10-22.md</a:t>
            </a:r>
          </a:p>
          <a:p xmlns:a="http://schemas.openxmlformats.org/drawingml/2006/main">
            <a:r>
              <a:t>/Users/davidetisi/Documents/Work/DTU/OSI_Hackathon/interphAIse/presentations/source/results_synthesis_2026-10-22.json</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cathode is an electrode that stores lithium. The solid electrolyte carries lithium ions between electrodes. Where these materials touch, unwanted reactions and poor contact can be problems. The coating is a very thin protective layer between them, so it has two contacts to satisfy. The project tests chemical compatibility and simulated adhesion separately. The broad battery objective also requires lithium transport, synthesis and cycling, which were outside these tests. Image is an AI-generated conceptual illustration, not a simulation or an experimental image.</a:t>
            </a:r>
          </a:p>
          <a:p xmlns:a="http://schemas.openxmlformats.org/drawingml/2006/main">
            <a:r>
              <a:t/>
            </a:r>
          </a:p>
          <a:p xmlns:a="http://schemas.openxmlformats.org/drawingml/2006/main">
            <a:r>
              <a:t>Sources:</a:t>
            </a:r>
          </a:p>
          <a:p xmlns:a="http://schemas.openxmlformats.org/drawingml/2006/main">
            <a:r>
              <a:t>/Users/davidetisi/Documents/Work/DTU/OSI_Hackathon/interphAIse/RESULTS_SYNTHESIS_2026-10-22.md</a:t>
            </a:r>
          </a:p>
          <a:p xmlns:a="http://schemas.openxmlformats.org/drawingml/2006/main">
            <a:r>
              <a:t>/Users/davidetisi/Documents/Work/DTU/OSI_Hackathon/interphAIse/README.md</a:t>
            </a:r>
          </a:p>
          <a:p xmlns:a="http://schemas.openxmlformats.org/drawingml/2006/main">
            <a:r>
              <a:t>/Users/davidetisi/Documents/Work/DTU/OSI_Hackathon/interphAIse/presentations/source/nonexpert_assets/provenance.json</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motivation is that a calculator can score a specified material but does not itself decide which chemical idea is worth pursuing. The LLM supplies that selection judgment and can express a hypothesis in words. This is why it is central to the experiment. Humans still define the candidate menu, scoring rule, budget and scientific interpretation. Deterministic code validates the choices and reveals numerical results. We measure the quality of the decisions, not whether the model internally reasons like a human. The LLM selects existing structure IDs, rather than inventing new compositions.</a:t>
            </a:r>
          </a:p>
          <a:p xmlns:a="http://schemas.openxmlformats.org/drawingml/2006/main">
            <a:r>
              <a:t/>
            </a:r>
          </a:p>
          <a:p xmlns:a="http://schemas.openxmlformats.org/drawingml/2006/main">
            <a:r>
              <a:t>Sources:</a:t>
            </a:r>
          </a:p>
          <a:p xmlns:a="http://schemas.openxmlformats.org/drawingml/2006/main">
            <a:r>
              <a:t>/Users/davidetisi/Documents/Work/DTU/OSI_Hackathon/interphAIse/RESULTS_SYNTHESIS_2026-10-22.md</a:t>
            </a:r>
          </a:p>
          <a:p xmlns:a="http://schemas.openxmlformats.org/drawingml/2006/main">
            <a:r>
              <a:t>/Users/davidetisi/Documents/Work/DTU/OSI_Hackathon/interphAIse/DISCOVERY_REPORT.md</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these steps as a loop: the fourth step becomes the next first step. In the controlled search benchmark the numerical feedback is read from a precomputed thermodynamic table. The LLM cannot see the full answer table. In the later physical pilot, new interface calculations follow choices and numerical forecasts that have already been recorded. Keeping these two forms of testing distinct prevents a false claim that the cheap benchmark saved expensive compute.</a:t>
            </a:r>
          </a:p>
          <a:p xmlns:a="http://schemas.openxmlformats.org/drawingml/2006/main">
            <a:r>
              <a:t/>
            </a:r>
          </a:p>
          <a:p xmlns:a="http://schemas.openxmlformats.org/drawingml/2006/main">
            <a:r>
              <a:t>Sources:</a:t>
            </a:r>
          </a:p>
          <a:p xmlns:a="http://schemas.openxmlformats.org/drawingml/2006/main">
            <a:r>
              <a:t>/Users/davidetisi/Documents/Work/DTU/OSI_Hackathon/interphAIse/RESULTS_SYNTHESIS_2026-10-22.md</a:t>
            </a:r>
          </a:p>
          <a:p xmlns:a="http://schemas.openxmlformats.org/drawingml/2006/main">
            <a:r>
              <a:t>/Users/davidetisi/Documents/Work/DTU/OSI_Hackathon/interphAIse/ENVIRONMENT_PROTOCOL.md</a:t>
            </a:r>
          </a:p>
          <a:p xmlns:a="http://schemas.openxmlformats.org/drawingml/2006/main">
            <a:r>
              <a:t>/Users/davidetisi/Documents/Work/DTU/OSI_Hackathon/interphAIse/FINAL_PILOT_REVIEW.md</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menu contains 50 structure IDs representing 43 formulas. Two structures pass. Each strategy receives ten charged evaluations, repeated 30 times. Unknown, duplicate and failed queries still consume budget. The pass rule combines a thermodynamic reaction penalty no greater than 0.050 eV per non-Li atom with a band-gap proxy for electronic insulation of at least 2 eV. Lower reaction penalty is better. The rule was frozen before decisive runs. It is a screening criterion, not a demonstration of useful battery performance.</a:t>
            </a:r>
          </a:p>
          <a:p xmlns:a="http://schemas.openxmlformats.org/drawingml/2006/main">
            <a:r>
              <a:t/>
            </a:r>
          </a:p>
          <a:p xmlns:a="http://schemas.openxmlformats.org/drawingml/2006/main">
            <a:r>
              <a:t>Sources:</a:t>
            </a:r>
          </a:p>
          <a:p xmlns:a="http://schemas.openxmlformats.org/drawingml/2006/main">
            <a:r>
              <a:t>/Users/davidetisi/Documents/Work/DTU/OSI_Hackathon/interphAIse/INTEGRATED_DISCOVERY_RESULTS.md</a:t>
            </a:r>
          </a:p>
          <a:p xmlns:a="http://schemas.openxmlformats.org/drawingml/2006/main">
            <a:r>
              <a:t>/Users/davidetisi/Documents/Work/DTU/OSI_Hackathon/interphAIse/ENVIRONMENT_PROTOCOL.md</a:t>
            </a:r>
          </a:p>
          <a:p xmlns:a="http://schemas.openxmlformats.org/drawingml/2006/main">
            <a:r>
              <a:t>/Users/davidetisi/Documents/Work/DTU/OSI_Hackathon/interphAIse/presentations/source/results_synthesis_2026-10-22.json</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archived names are iterative, sequential, shuffled, upfront and random. The shorter labels used in the main talk explain what differs. No-results retains earlier choices and rationales. Mixed-up results tests whether correct attribution matters, although occasional correct assignments and contradictions with earlier rationales remain limitations. All LLM arms use Haiku 5.5, temperature 1.0. No single comparison proves an internal reasoning mechanism.</a:t>
            </a:r>
          </a:p>
          <a:p xmlns:a="http://schemas.openxmlformats.org/drawingml/2006/main">
            <a:r>
              <a:t/>
            </a:r>
          </a:p>
          <a:p xmlns:a="http://schemas.openxmlformats.org/drawingml/2006/main">
            <a:r>
              <a:t>Sources:</a:t>
            </a:r>
          </a:p>
          <a:p xmlns:a="http://schemas.openxmlformats.org/drawingml/2006/main">
            <a:r>
              <a:t>/Users/davidetisi/Documents/Work/DTU/OSI_Hackathon/interphAIse/ENVIRONMENT_PROTOCOL.md</a:t>
            </a:r>
          </a:p>
          <a:p xmlns:a="http://schemas.openxmlformats.org/drawingml/2006/main">
            <a:r>
              <a:t>/Users/davidetisi/Documents/Work/DTU/OSI_Hackathon/interphAIse/RESULTS_SYNTHESIS_2026-10-22.md</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combines 120 original runs with the matched 30-run shuffled follow-up. Counts are 19, 4, 6, 4 and 10. Do not add the earlier ten-run preview. Exact random expectation is 36.33%, compared with the observed random 10/30. Iterative versus shuffled paired exact McNemar p is about 0.0044, unadjusted. The evidence supports useful feedback in this task. A fluoride-first rule designed after seeing the table succeeds by query two, so this result does not establish superiority over every simpler policy. The original candidate pool overlaps the expanded pool.</a:t>
            </a:r>
          </a:p>
          <a:p xmlns:a="http://schemas.openxmlformats.org/drawingml/2006/main">
            <a:r>
              <a:t/>
            </a:r>
          </a:p>
          <a:p xmlns:a="http://schemas.openxmlformats.org/drawingml/2006/main">
            <a:r>
              <a:t>Sources:</a:t>
            </a:r>
          </a:p>
          <a:p xmlns:a="http://schemas.openxmlformats.org/drawingml/2006/main">
            <a:r>
              <a:t>/Users/davidetisi/Documents/Work/DTU/OSI_Hackathon/interphAIse/INTEGRATED_DISCOVERY_RESULTS.md</a:t>
            </a:r>
          </a:p>
          <a:p xmlns:a="http://schemas.openxmlformats.org/drawingml/2006/main">
            <a:r>
              <a:t>/Users/davidetisi/Documents/Work/DTU/OSI_Hackathon/interphAIse/RESULTS_SYNTHESIS_2026-10-22.md</a:t>
            </a:r>
          </a:p>
          <a:p xmlns:a="http://schemas.openxmlformats.org/drawingml/2006/main">
            <a:r>
              <a:t>/Users/davidetisi/Documents/Work/DTU/OSI_Hackathon/interphAIse/presentations/source/results_synthesis_2026-10-22.json</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electrolyte is the material carrying lithium ions. Changing it changes which coatings pass, even though the cathode remains LiCoO2 at 4 V. There are 4/141 passing structures in sulfide, 55/141 in chloride and 17/141 in LLZO. The chart shows three of the five strategies for clarity; all five counts and planned statistics are in backup slide 17. Sulfide counts are 20,2,6,0,8; chloride 30,30,30,30,29; LLZO 12,0,4,1,24, in iterative,sequential,shuffled,upfront,random order. Every run begins fresh: this is not learning transferred between environments. The expanded pool includes the original 50 structures. Do not pool those studies as independent replications.</a:t>
            </a:r>
          </a:p>
          <a:p xmlns:a="http://schemas.openxmlformats.org/drawingml/2006/main">
            <a:r>
              <a:t/>
            </a:r>
          </a:p>
          <a:p xmlns:a="http://schemas.openxmlformats.org/drawingml/2006/main">
            <a:r>
              <a:t>Sources:</a:t>
            </a:r>
          </a:p>
          <a:p xmlns:a="http://schemas.openxmlformats.org/drawingml/2006/main">
            <a:r>
              <a:t>/Users/davidetisi/Documents/Work/DTU/OSI_Hackathon/interphAIse/ENVIRONMENT_PROTOCOL.md</a:t>
            </a:r>
          </a:p>
          <a:p xmlns:a="http://schemas.openxmlformats.org/drawingml/2006/main">
            <a:r>
              <a:t>/Users/davidetisi/Documents/Work/DTU/OSI_Hackathon/interphAIse/RESULTS_SYNTHESIS_2026-10-22.md</a:t>
            </a:r>
          </a:p>
          <a:p xmlns:a="http://schemas.openxmlformats.org/drawingml/2006/main">
            <a:r>
              <a:t>/Users/davidetisi/Documents/Work/DTU/OSI_Hackathon/interphAIse/presentations/source/results_synthesis_2026-10-22.json</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sulfide seed 202. The trace was chosen in the earlier analysis using the lowest seed with a typical first-hit position, before reading the rationales. The model tried familiar oxides and LiF unsuccessfully, then explored mixed-cation fluorides. It interpreted the 0.057 result as a near miss and chose the Ca analogue. The values are recorded scores in eV per non-Li atom, rounded to three decimals. Its proposed chemical explanation is a hypothesis, not a verified reaction mechanism. The observed sequence makes the delegated judgment concrete without treating one attractive example as proof. Source archive: agent commit, data/experiments/environment_v1/lpscl/iterative_r202.json.</a:t>
            </a:r>
          </a:p>
          <a:p xmlns:a="http://schemas.openxmlformats.org/drawingml/2006/main">
            <a:r>
              <a:t/>
            </a:r>
          </a:p>
          <a:p xmlns:a="http://schemas.openxmlformats.org/drawingml/2006/main">
            <a:r>
              <a:t>Sources:</a:t>
            </a:r>
          </a:p>
          <a:p xmlns:a="http://schemas.openxmlformats.org/drawingml/2006/main">
            <a:r>
              <a:t>/Users/davidetisi/Documents/Work/DTU/OSI_Hackathon/interphAIse/RESULTS_SYNTHESIS_2026-10-22.md</a:t>
            </a:r>
          </a:p>
          <a:p xmlns:a="http://schemas.openxmlformats.org/drawingml/2006/main">
            <a:r>
              <a:t>/Users/davidetisi/Documents/Work/DTU/OSI_Hackathon/interphAIse/presentations/source/results_synthesis_2026-10-22.json</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Formula coverage is pooled across all 30 runs, ten picks per run, not a single search. Random has 24 successful runs and iterative 12. Iterative makes 29 acceptable picks, 28 in queries 6–10, with 26 picks from LiAlSiO4 polymorphs. Random makes 33 acceptable picks. These patterns describe late and concentrated selection, not the model’s private cognitive process. A later practical-chemistry audit flagged five of 17 acceptable structures; 18 of the 24 successful random runs also found an unflagged candidate. The main endpoint remains unchanged, and there is no evidence the LLM intentionally avoided flagged materials. Details are in backup slide 19.</a:t>
            </a:r>
          </a:p>
          <a:p xmlns:a="http://schemas.openxmlformats.org/drawingml/2006/main">
            <a:r>
              <a:t/>
            </a:r>
          </a:p>
          <a:p xmlns:a="http://schemas.openxmlformats.org/drawingml/2006/main">
            <a:r>
              <a:t>Sources:</a:t>
            </a:r>
          </a:p>
          <a:p xmlns:a="http://schemas.openxmlformats.org/drawingml/2006/main">
            <a:r>
              <a:t>/Users/davidetisi/Documents/Work/DTU/OSI_Hackathon/interphAIse/data/reviews/llzo_chemistry_audit_20261021.json</a:t>
            </a:r>
          </a:p>
          <a:p xmlns:a="http://schemas.openxmlformats.org/drawingml/2006/main">
            <a:r>
              <a:t>/Users/davidetisi/Documents/Work/DTU/OSI_Hackathon/interphAIse/RESULTS_SYNTHESIS_2026-10-22.md</a:t>
            </a:r>
          </a:p>
          <a:p xmlns:a="http://schemas.openxmlformats.org/drawingml/2006/main">
            <a:r>
              <a:t>/Users/davidetisi/Documents/Work/DTU/OSI_Hackathon/interphAIse/presentations/source/results_synthesis_2026-10-22.json</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PET-MAD is a machine-learned interatomic potential used to relax explicit atomic structures and compute energies. It is a separate model from the LLM. The physical pilot uses the sulfide stack. Reference LiNbF6 is evaluated first. Feasible alternatives are LiTaF6, LiCaAlF6 and LiF; LiF does not pass the frozen thermodynamic rule and was not physically evaluated. The known-material menu and construction rules constrain the choice. The adhesion quantity W_adh compares relaxed joined and separated surfaces under fixed protocol constraints, per interface area in J/m². It is not measured fracture toughness. Three registry positions per contact were tested for each new coating.</a:t>
            </a:r>
          </a:p>
          <a:p xmlns:a="http://schemas.openxmlformats.org/drawingml/2006/main">
            <a:r>
              <a:t/>
            </a:r>
          </a:p>
          <a:p xmlns:a="http://schemas.openxmlformats.org/drawingml/2006/main">
            <a:r>
              <a:t>Sources:</a:t>
            </a:r>
          </a:p>
          <a:p xmlns:a="http://schemas.openxmlformats.org/drawingml/2006/main">
            <a:r>
              <a:t>/Users/davidetisi/Documents/Work/DTU/OSI_Hackathon/interphAIse/FINAL_PILOT_REVIEW.md</a:t>
            </a:r>
          </a:p>
          <a:p xmlns:a="http://schemas.openxmlformats.org/drawingml/2006/main">
            <a:r>
              <a:t>/Users/davidetisi/Documents/Work/DTU/OSI_Hackathon/interphAIse/RESULTS_SYNTHESIS_2026-10-22.md</a:t>
            </a:r>
          </a:p>
          <a:p xmlns:a="http://schemas.openxmlformats.org/drawingml/2006/main">
            <a:r>
              <a:t>/Users/davidetisi/Documents/Work/DTU/OSI_Hackathon/interphAIse/presentations/source/results_synthesis_2026-10-22.json</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LLM chose LiTaF6 using an Nb/Ta chemical analogy. Exact selected-primary values are 3.338748412819128 and 1.5773585444472311 J/m². Both fall inside the archived prospective ranges. The electrolyte contact is weaker, as forecast. This is one successful material-level analogy, not a calibrated error model. Ranges were stated by the model and are not statistical confidence intervals. Registry selection minimizes relaxed joined-interface energy, rather than choosing the largest adhesion value.</a:t>
            </a:r>
          </a:p>
          <a:p xmlns:a="http://schemas.openxmlformats.org/drawingml/2006/main">
            <a:r>
              <a:t/>
            </a:r>
          </a:p>
          <a:p xmlns:a="http://schemas.openxmlformats.org/drawingml/2006/main">
            <a:r>
              <a:t>Sources:</a:t>
            </a:r>
          </a:p>
          <a:p xmlns:a="http://schemas.openxmlformats.org/drawingml/2006/main">
            <a:r>
              <a:t>/Users/davidetisi/Documents/Work/DTU/OSI_Hackathon/interphAIse/FINAL_PILOT_REVIEW.md</a:t>
            </a:r>
          </a:p>
          <a:p xmlns:a="http://schemas.openxmlformats.org/drawingml/2006/main">
            <a:r>
              <a:t>/Users/davidetisi/Documents/Work/DTU/OSI_Hackathon/interphAIse/RESULTS_SYNTHESIS_2026-10-22.md</a:t>
            </a:r>
          </a:p>
          <a:p xmlns:a="http://schemas.openxmlformats.org/drawingml/2006/main">
            <a:r>
              <a:t>/Users/davidetisi/Documents/Work/DTU/OSI_Hackathon/interphAIse/presentations/source/results_synthesis_2026-10-22.json</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selected-primary values are 1.426710445485596 and 0.7435735865694895 J/m². Both are below the previously recorded ranges. The model’s final assessment acknowledged the Ca–Al miss. Its choice order remained LiTaF6 then LiCaAlF6, the same as its initial shortlist; the second was the only remaining acceptable candidate in the feasible menu. The pilot therefore tests forecasts but cannot demonstrate adaptive-selection gain. The final summary also misread a weaker-contact field as a minimum over registries. The archived response is retained, with an explanatory correction in the review.</a:t>
            </a:r>
          </a:p>
          <a:p xmlns:a="http://schemas.openxmlformats.org/drawingml/2006/main">
            <a:r>
              <a:t/>
            </a:r>
          </a:p>
          <a:p xmlns:a="http://schemas.openxmlformats.org/drawingml/2006/main">
            <a:r>
              <a:t>Sources:</a:t>
            </a:r>
          </a:p>
          <a:p xmlns:a="http://schemas.openxmlformats.org/drawingml/2006/main">
            <a:r>
              <a:t>/Users/davidetisi/Documents/Work/DTU/OSI_Hackathon/interphAIse/FINAL_PILOT_REVIEW.md</a:t>
            </a:r>
          </a:p>
          <a:p xmlns:a="http://schemas.openxmlformats.org/drawingml/2006/main">
            <a:r>
              <a:t>/Users/davidetisi/Documents/Work/DTU/OSI_Hackathon/interphAIse/RESULTS_SYNTHESIS_2026-10-22.md</a:t>
            </a:r>
          </a:p>
          <a:p xmlns:a="http://schemas.openxmlformats.org/drawingml/2006/main">
            <a:r>
              <a:t>/Users/davidetisi/Documents/Work/DTU/OSI_Hackathon/interphAIse/presentations/source/results_synthesis_2026-10-22.json</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electrolyte is the weaker contact for all three coatings. The Nb–Ta gap on that side is about 0.056 J/m². Changing the electrolyte bulk reference shifts their values by about 0.121 and 0.114 J/m², larger than the gap. These are construction sensitivities, not statistical error bars. Ca–Al shows much lower primary adhesion, but its electrolyte thickness and bulk-reference sensitivities remain unquantified. All contact models are formally polar, so numerical convergence does not remove the electrostatic limitation. The final values supersede earlier pilot values obtained with different constructions. Full W_adh/W_sep values appear in backup slide 20.</a:t>
            </a:r>
          </a:p>
          <a:p xmlns:a="http://schemas.openxmlformats.org/drawingml/2006/main">
            <a:r>
              <a:t/>
            </a:r>
          </a:p>
          <a:p xmlns:a="http://schemas.openxmlformats.org/drawingml/2006/main">
            <a:r>
              <a:t>Sources:</a:t>
            </a:r>
          </a:p>
          <a:p xmlns:a="http://schemas.openxmlformats.org/drawingml/2006/main">
            <a:r>
              <a:t>/Users/davidetisi/Documents/Work/DTU/OSI_Hackathon/interphAIse/FINAL_PILOT_REVIEW.md</a:t>
            </a:r>
          </a:p>
          <a:p xmlns:a="http://schemas.openxmlformats.org/drawingml/2006/main">
            <a:r>
              <a:t>/Users/davidetisi/Documents/Work/DTU/OSI_Hackathon/interphAIse/RESULTS_SYNTHESIS_2026-10-22.md</a:t>
            </a:r>
          </a:p>
          <a:p xmlns:a="http://schemas.openxmlformats.org/drawingml/2006/main">
            <a:r>
              <a:t>/Users/davidetisi/Documents/Work/DTU/OSI_Hackathon/interphAIse/presentations/source/results_synthesis_2026-10-22.json</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central conclusion for a mixed audience. Feedback utility is conditional on the environment and the benchmark. Forecast checking is valuable because the calculation can contradict the model’s words. The physical pilot had two choices and no repeated expensive-search control, so it cannot prove general predictive reliability, compute savings or adaptive selection superiority. The model correctly identified the weaker contact twice but misunderstood the meaning of min_W_adh_J_m2 in the summary. Human interpretation and independent validation remain necessary.</a:t>
            </a:r>
          </a:p>
          <a:p xmlns:a="http://schemas.openxmlformats.org/drawingml/2006/main">
            <a:r>
              <a:t/>
            </a:r>
          </a:p>
          <a:p xmlns:a="http://schemas.openxmlformats.org/drawingml/2006/main">
            <a:r>
              <a:t>Sources:</a:t>
            </a:r>
          </a:p>
          <a:p xmlns:a="http://schemas.openxmlformats.org/drawingml/2006/main">
            <a:r>
              <a:t>/Users/davidetisi/Documents/Work/DTU/OSI_Hackathon/interphAIse/RESULTS_SYNTHESIS_2026-10-22.md</a:t>
            </a:r>
          </a:p>
          <a:p xmlns:a="http://schemas.openxmlformats.org/drawingml/2006/main">
            <a:r>
              <a:t>/Users/davidetisi/Documents/Work/DTU/OSI_Hackathon/interphAIse/FINAL_PILOT_REVIEW.md</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future research directions, not completed experiments. A new study should preregister an exploration mechanism and compare policies on independent expensive decisions. Physical models need additional validation, particularly polar-interface treatment and missing sensitivity checks. A functional coating also needs suitable transport, processability and cycling behavior. The current bounded pilot is complete and does not require new calculations to reproduce its existing outcomes. The integrated code and viewer have since been completed in the separate final-integration worktree; this deck does not merge branches.</a:t>
            </a:r>
          </a:p>
          <a:p xmlns:a="http://schemas.openxmlformats.org/drawingml/2006/main">
            <a:r>
              <a:t/>
            </a:r>
          </a:p>
          <a:p xmlns:a="http://schemas.openxmlformats.org/drawingml/2006/main">
            <a:r>
              <a:t>Sources:</a:t>
            </a:r>
          </a:p>
          <a:p xmlns:a="http://schemas.openxmlformats.org/drawingml/2006/main">
            <a:r>
              <a:t>/Users/davidetisi/Documents/Work/DTU/OSI_Hackathon/interphAIse/RESULTS_SYNTHESIS_2026-10-22.md</a:t>
            </a:r>
          </a:p>
          <a:p xmlns:a="http://schemas.openxmlformats.org/drawingml/2006/main">
            <a:r>
              <a:t>/Users/davidetisi/Documents/Work/DTU/OSI_Hackathon/interphAIse/FINAL_PILOT_REVIEW.md</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are the primary frozen endpoint from the 450-run environment study. Exact paired McNemar tests use display-order seeds 200–229 and Holm correction across all six planned comparisons. Three survive the 0.05 threshold. Random comparisons are descriptive relative to this preregistered family. Acceptable pool sizes are 4/141 sulfide, 55/141 chloride and 17/141 LLZO. The frozen objective uses P≤0.050 eV per non-Li atom, band gap≥2 eV and equilibrated contact endpoints. It does not predict finite-temperature behavior, ion transport, synthesis or battery cycling.</a:t>
            </a:r>
          </a:p>
          <a:p xmlns:a="http://schemas.openxmlformats.org/drawingml/2006/main">
            <a:r>
              <a:t/>
            </a:r>
          </a:p>
          <a:p xmlns:a="http://schemas.openxmlformats.org/drawingml/2006/main">
            <a:r>
              <a:t>Sources:</a:t>
            </a:r>
          </a:p>
          <a:p xmlns:a="http://schemas.openxmlformats.org/drawingml/2006/main">
            <a:r>
              <a:t>/Users/davidetisi/Documents/Work/DTU/OSI_Hackathon/interphAIse/ENVIRONMENT_PROTOCOL.md</a:t>
            </a:r>
          </a:p>
          <a:p xmlns:a="http://schemas.openxmlformats.org/drawingml/2006/main">
            <a:r>
              <a:t>/Users/davidetisi/Documents/Work/DTU/OSI_Hackathon/interphAIse/presentations/source/results_synthesis_2026-10-22.json</a:t>
            </a:r>
          </a:p>
          <a:p xmlns:a="http://schemas.openxmlformats.org/drawingml/2006/main">
            <a:r>
              <a:t>/Users/davidetisi/Documents/Work/DTU/OSI_Hackathon/interphAIse/RESULTS_SYNTHESIS_2026-10-22.md</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frozen objective and environment analysis. Two acceptable structures in 50; 4/141 sulfide,55/141 chloride,17/141 LLZO. P cutoff0.050 crosses bin2 underwidth0.020. Best-bin success is a separate endpoint. Expanded sulfide iterative6 random5; LLZO allLLM0 random2. Missing/invalid/ineligible candidates cannot pass. Threshold not changed after outcomes.</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data/reviews/llzo_chemistry_audit_20261021.json and SYNC_ADEM_10.md. LiIO3 and LiClO4 have supplier oxidizer classifications; Li5IO6 is a family-level review flag, not verified compound-specific GHS. Supplier links and original reference are preserved in the audit JSON. Evaluator does include O2 products, so do not claim it cannot form gas. No evidence that Haiku deliberately avoided these candidates. Frozen criterion unchanged.</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final index; Wadh = (relaxed constrained separated slab energies − relaxed joined interface energy)/area, same model and reference conventions. Wsep uses separated fragments frozen at the joined geometry. It is not an experimental fracture toughness. Large Wsep−Wadh indicates relaxation of freed surfaces within this protocol. Chosen registry minimizes joined energy, not max Wadh.</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image: data/petmad/niflheim_batch1/cathode_reg_third_third/inspection.png at davide750b382. Actual LiCoO2(001)|LiNbF6(001), 696 atoms, selected (1/3,1/3) registry. Force trace is maximum free-atom force; fixed atoms are excluded. Their residual force remains a limitation. Vacuum isolation reflects finite-range8Å model, not long-range polar convergence.</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Scientific accounting: environment study 450 runs and 2,800 API calls; physical pilot five HTTP attempts, 26 new jobs, 6,632 runner calls plus 52 rigid-fragment single points. Cost figures are recorded list-rate arithmetic, not current pricing or bills. Runner times and summed allocation times differ and exclude queue delay.</a:t>
            </a:r>
          </a:p>
          <a:p xmlns:a="http://schemas.openxmlformats.org/drawingml/2006/main">
            <a:r>
              <a:t/>
            </a:r>
          </a:p>
          <a:p xmlns:a="http://schemas.openxmlformats.org/drawingml/2006/main">
            <a:r>
              <a:t>Current engineering checkpoint: work/final-integration-20261022 at 91afca5 includes both collaborators, the final-index reader correction and the generated viewer launch fix. The integrated tree previously passed 227 tests; the viewer fix passed 13 viewer tests. These are recorded prior checks, not tests rerun to produce this deck. Main/davide remain separate.</a:t>
            </a:r>
          </a:p>
          <a:p xmlns:a="http://schemas.openxmlformats.org/drawingml/2006/main">
            <a:r>
              <a:t/>
            </a:r>
          </a:p>
          <a:p xmlns:a="http://schemas.openxmlformats.org/drawingml/2006/main">
            <a:r>
              <a:t>Sources:</a:t>
            </a:r>
          </a:p>
          <a:p xmlns:a="http://schemas.openxmlformats.org/drawingml/2006/main">
            <a:r>
              <a:t>/Users/davidetisi/Documents/Work/DTU/OSI_Hackathon/interphAIse/FINAL_PILOT_REVIEW.md</a:t>
            </a:r>
          </a:p>
          <a:p xmlns:a="http://schemas.openxmlformats.org/drawingml/2006/main">
            <a:r>
              <a:t>/Users/davidetisi/Documents/Work/DTU/OSI_Hackathon/interphAIse-integration/FINAL_INTEGRATION.md</a:t>
            </a:r>
          </a:p>
          <a:p xmlns:a="http://schemas.openxmlformats.org/drawingml/2006/main">
            <a:r>
              <a:t>/Users/davidetisi/Documents/Work/DTU/OSI_Hackathon/interphAIse-integration/REPORT.md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2514e9f13e9463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4396bd96ca5491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f82f3640426432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492ec0c5fc7427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1ad4dce19434bd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92895cf9086484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EC5DAB-9995-4D61-9E6B-B14C99645ED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B777E90-E3F1-4723-98E7-529EBE05AD5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6A11827-643C-4147-A4C5-8A44C4E2B6A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1D20C4-86B4-4A86-8E31-BFC12A8582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279A389-7F42-4B5D-A0C2-09D973F5B2C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3E71DF9-63C6-4671-A446-E6888E9504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089925F-FD08-433F-BA61-C71EF40695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D4DF3B0-4068-4904-804A-774C445D7AE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D318C1-58ED-4A92-9FD4-878669DDAA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36E71E-FF2A-487A-B4C3-54F3C22F12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48032e12cf4bd8" /><Relationship Type="http://schemas.openxmlformats.org/officeDocument/2006/relationships/slideLayout" Target="/ppt/slideLayouts/slideLayout1.xml" Id="R6aba440200b44934" /><Relationship Type="http://schemas.openxmlformats.org/officeDocument/2006/relationships/slideLayout" Target="/ppt/slideLayouts/slideLayout2.xml" Id="R4ed4e3e506a64d9b" /><Relationship Type="http://schemas.openxmlformats.org/officeDocument/2006/relationships/slideLayout" Target="/ppt/slideLayouts/slideLayout3.xml" Id="Re4ac35e62c1e4795" /><Relationship Type="http://schemas.openxmlformats.org/officeDocument/2006/relationships/slideLayout" Target="/ppt/slideLayouts/slideLayout4.xml" Id="Ra1ebbe1bd6ed4d71" /><Relationship Type="http://schemas.openxmlformats.org/officeDocument/2006/relationships/slideLayout" Target="/ppt/slideLayouts/slideLayout5.xml" Id="Rc5d1319bd686415c" /><Relationship Type="http://schemas.openxmlformats.org/officeDocument/2006/relationships/slideLayout" Target="/ppt/slideLayouts/slideLayout6.xml" Id="Rfd8a4d775fdc4f7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ba440200b44934"/>
    <p:sldLayoutId xmlns:r="http://schemas.openxmlformats.org/officeDocument/2006/relationships" id="2147483650" r:id="R4ed4e3e506a64d9b"/>
    <p:sldLayoutId xmlns:r="http://schemas.openxmlformats.org/officeDocument/2006/relationships" id="2147483651" r:id="Re4ac35e62c1e4795"/>
    <p:sldLayoutId xmlns:r="http://schemas.openxmlformats.org/officeDocument/2006/relationships" id="2147483652" r:id="Ra1ebbe1bd6ed4d71"/>
    <p:sldLayoutId xmlns:r="http://schemas.openxmlformats.org/officeDocument/2006/relationships" id="2147483653" r:id="Rc5d1319bd686415c"/>
    <p:sldLayoutId xmlns:r="http://schemas.openxmlformats.org/officeDocument/2006/relationships" id="2147483654" r:id="Rfd8a4d775fdc4f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b9192b40e554979" /><Relationship Type="http://schemas.openxmlformats.org/officeDocument/2006/relationships/notesSlide" Target="/ppt/notesSlides/notesSlide1.xml" Id="R0f248b8230f54d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893db9d424944cd" /><Relationship Type="http://schemas.openxmlformats.org/officeDocument/2006/relationships/image" Target="/ppt/media/image.png" Id="Rb2fd692cc3a4452a" /><Relationship Type="http://schemas.openxmlformats.org/officeDocument/2006/relationships/notesSlide" Target="/ppt/notesSlides/notesSlide2.xml" Id="Rebe6fff87b154b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ca2215e590f471a" /><Relationship Type="http://schemas.openxmlformats.org/officeDocument/2006/relationships/notesSlide" Target="/ppt/notesSlides/notesSlide3.xml" Id="R472f4bd03faf45f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1acf3c1d9194f4b" /><Relationship Type="http://schemas.openxmlformats.org/officeDocument/2006/relationships/notesSlide" Target="/ppt/notesSlides/notesSlide4.xml" Id="R00c966bb302c46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bcd7541197f4d62" /><Relationship Type="http://schemas.openxmlformats.org/officeDocument/2006/relationships/notesSlide" Target="/ppt/notesSlides/notesSlide5.xml" Id="Rd2403ceae6d4422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1b58ffd16064990" /><Relationship Type="http://schemas.openxmlformats.org/officeDocument/2006/relationships/notesSlide" Target="/ppt/notesSlides/notesSlide6.xml" Id="R7b79885baab848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417e7ee23ba4f76" /><Relationship Type="http://schemas.openxmlformats.org/officeDocument/2006/relationships/chart" Target="/ppt/slides/charts/chart1.xml" Id="R2588cbeed2854846" /><Relationship Type="http://schemas.openxmlformats.org/officeDocument/2006/relationships/notesSlide" Target="/ppt/notesSlides/notesSlide7.xml" Id="Re721429310a3412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c4efdf630f64c7e" /><Relationship Type="http://schemas.openxmlformats.org/officeDocument/2006/relationships/chart" Target="/ppt/slides/charts/chart2.xml" Id="Rcfb74ba19c7f431b" /><Relationship Type="http://schemas.openxmlformats.org/officeDocument/2006/relationships/notesSlide" Target="/ppt/notesSlides/notesSlide8.xml" Id="R5a5f7dc8b10343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247b20813e14b20" /><Relationship Type="http://schemas.openxmlformats.org/officeDocument/2006/relationships/notesSlide" Target="/ppt/notesSlides/notesSlide9.xml" Id="Ra12556a70ffe4a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51518ef2c34452e" /><Relationship Type="http://schemas.openxmlformats.org/officeDocument/2006/relationships/notesSlide" Target="/ppt/notesSlides/notesSlide10.xml" Id="Ra67202d22faa43c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367f1eee7cc4ea5" /><Relationship Type="http://schemas.openxmlformats.org/officeDocument/2006/relationships/notesSlide" Target="/ppt/notesSlides/notesSlide11.xml" Id="R424feec913434f2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ea801edd6074f95" /><Relationship Type="http://schemas.openxmlformats.org/officeDocument/2006/relationships/notesSlide" Target="/ppt/notesSlides/notesSlide12.xml" Id="R1792c052fa7c469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7de4c47a1cf447d" /><Relationship Type="http://schemas.openxmlformats.org/officeDocument/2006/relationships/notesSlide" Target="/ppt/notesSlides/notesSlide13.xml" Id="R8116313846a7459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f02f9ea48db4483" /><Relationship Type="http://schemas.openxmlformats.org/officeDocument/2006/relationships/chart" Target="/ppt/slides/charts/chart3.xml" Id="Re6a540704163448d" /><Relationship Type="http://schemas.openxmlformats.org/officeDocument/2006/relationships/notesSlide" Target="/ppt/notesSlides/notesSlide14.xml" Id="Rd887ef08cc36494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b20420e15634303" /><Relationship Type="http://schemas.openxmlformats.org/officeDocument/2006/relationships/notesSlide" Target="/ppt/notesSlides/notesSlide15.xml" Id="R038e35bf8caf492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2caaefb9e58496a" /><Relationship Type="http://schemas.openxmlformats.org/officeDocument/2006/relationships/notesSlide" Target="/ppt/notesSlides/notesSlide16.xml" Id="R835f1e5e2fec45e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5390710800b4157" /><Relationship Type="http://schemas.openxmlformats.org/officeDocument/2006/relationships/notesSlide" Target="/ppt/notesSlides/notesSlide17.xml" Id="Rc98a583898b447d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10f97f28cf34bd3" /><Relationship Type="http://schemas.openxmlformats.org/officeDocument/2006/relationships/notesSlide" Target="/ppt/notesSlides/notesSlide18.xml" Id="Rb28b29310f5a426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b7e19fa3b4f4342" /><Relationship Type="http://schemas.openxmlformats.org/officeDocument/2006/relationships/notesSlide" Target="/ppt/notesSlides/notesSlide19.xml" Id="Ra9b177947c34403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f7ada6529f84b5e" /><Relationship Type="http://schemas.openxmlformats.org/officeDocument/2006/relationships/notesSlide" Target="/ppt/notesSlides/notesSlide20.xml" Id="Rdb260b0fb533438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cb23e99bd1c4cce" /><Relationship Type="http://schemas.openxmlformats.org/officeDocument/2006/relationships/image" Target="/ppt/media/image2.png" Id="R9169aa4fc9ee4455" /><Relationship Type="http://schemas.openxmlformats.org/officeDocument/2006/relationships/notesSlide" Target="/ppt/notesSlides/notesSlide21.xml" Id="R7cd5ccac0e24494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c568f2a9d66448d" /><Relationship Type="http://schemas.openxmlformats.org/officeDocument/2006/relationships/notesSlide" Target="/ppt/notesSlides/notesSlide22.xml" Id="R8151c50f625a43b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Successful searches</c:v>
          </c:tx>
          <c:invertIfNegative val="0"/>
          <c:dPt>
            <c:idx val="0"/>
            <c:invertIfNegative val="0"/>
            <c:spPr>
              <a:solidFill xmlns:a="http://schemas.openxmlformats.org/drawingml/2006/main">
                <a:srgbClr val="007F7B"/>
              </a:solidFill>
            </c:spPr>
          </c:dPt>
          <c:dPt>
            <c:idx val="1"/>
            <c:invertIfNegative val="0"/>
            <c:spPr>
              <a:solidFill xmlns:a="http://schemas.openxmlformats.org/drawingml/2006/main">
                <a:srgbClr val="366AA8"/>
              </a:solidFill>
            </c:spPr>
          </c:dPt>
          <c:dPt>
            <c:idx val="2"/>
            <c:invertIfNegative val="0"/>
            <c:spPr>
              <a:solidFill xmlns:a="http://schemas.openxmlformats.org/drawingml/2006/main">
                <a:srgbClr val="CA713A"/>
              </a:solidFill>
            </c:spPr>
          </c:dPt>
          <c:dPt>
            <c:idx val="3"/>
            <c:invertIfNegative val="0"/>
            <c:spPr>
              <a:solidFill xmlns:a="http://schemas.openxmlformats.org/drawingml/2006/main">
                <a:srgbClr val="9076A9"/>
              </a:solidFill>
            </c:spPr>
          </c:dPt>
          <c:dPt>
            <c:idx val="4"/>
            <c:invertIfNegative val="0"/>
            <c:spPr>
              <a:solidFill xmlns:a="http://schemas.openxmlformats.org/drawingml/2006/main">
                <a:srgbClr val="8A949C"/>
              </a:solidFill>
            </c:spPr>
          </c:dPt>
          <c:cat>
            <c:strRef>
              <c:f>'Chart Data'!$A$2:$A$6</c:f>
              <c:strCache>
                <c:ptCount val="5"/>
                <c:pt idx="0">
                  <c:v>Uses results</c:v>
                </c:pt>
                <c:pt idx="1">
                  <c:v>No results</c:v>
                </c:pt>
                <c:pt idx="2">
                  <c:v>Mixed-up results</c:v>
                </c:pt>
                <c:pt idx="3">
                  <c:v>One list</c:v>
                </c:pt>
                <c:pt idx="4">
                  <c:v>Random</c:v>
                </c:pt>
              </c:strCache>
            </c:strRef>
          </c:cat>
          <c:val>
            <c:numRef>
              <c:f>'Chart Data'!$B$2:$B$6</c:f>
              <c:numCache>
                <c:formatCode>General</c:formatCode>
                <c:ptCount val="5"/>
                <c:pt idx="0">
                  <c:v>19</c:v>
                </c:pt>
                <c:pt idx="1">
                  <c:v>4</c:v>
                </c:pt>
                <c:pt idx="2">
                  <c:v>6</c:v>
                </c:pt>
                <c:pt idx="3">
                  <c:v>4</c:v>
                </c:pt>
                <c:pt idx="4">
                  <c:v>10</c:v>
                </c:pt>
              </c:numCache>
            </c:numRef>
          </c:val>
        </c:ser>
        <c:dLbls>
          <c:txPr>
            <a:bodyPr xmlns:a="http://schemas.openxmlformats.org/drawingml/2006/main" anchorCtr="1"/>
            <a:lstStyle xmlns:a="http://schemas.openxmlformats.org/drawingml/2006/main"/>
            <a:p xmlns:a="http://schemas.openxmlformats.org/drawingml/2006/main">
              <a:pPr>
                <a:defRPr sz="2175" b="1">
                  <a:solidFill>
                    <a:srgbClr val="172B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6DEDE"/>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Helvetica Neue"/>
                <a:ea typeface="Helvetica Neue"/>
                <a:cs typeface="Helvetica Neue"/>
              </a:defRPr>
            </a:pPr>
          </a:p>
        </c:txPr>
        <c:crossAx val="48672768"/>
      </c:catAx>
      <c:valAx>
        <c:axId val="48672768"/>
        <c:scaling>
          <c:orientation val="minMax"/>
          <c:max val="30"/>
          <c:min val="0"/>
        </c:scaling>
        <c:delete val="0"/>
        <c:axPos val="l"/>
        <c:majorGridlines>
          <c:spPr>
            <a:ln xmlns:a="http://schemas.openxmlformats.org/drawingml/2006/main" w="9525">
              <a:solidFill>
                <a:srgbClr val="D6DEDE"/>
              </a:solidFill>
            </a:ln>
          </c:spPr>
        </c:majorGridlines>
        <c:title>
          <c:tx>
            <c:rich>
              <a:bodyPr xmlns:a="http://schemas.openxmlformats.org/drawingml/2006/main"/>
              <a:lstStyle xmlns:a="http://schemas.openxmlformats.org/drawingml/2006/main"/>
              <a:p xmlns:a="http://schemas.openxmlformats.org/drawingml/2006/main">
                <a:r>
                  <a:rPr sz="1725">
                    <a:latin typeface="Helvetica Neue"/>
                    <a:ea typeface="Helvetica Neue"/>
                    <a:cs typeface="Helvetica Neue"/>
                  </a:rPr>
                  <a:t>Successful searches / 30</a:t>
                </a:r>
              </a:p>
            </c:rich>
          </c:tx>
          <c:overlay val="0"/>
          <c:txPr>
            <a:bodyPr xmlns:a="http://schemas.openxmlformats.org/drawingml/2006/main" anchorCtr="1"/>
            <a:lstStyle xmlns:a="http://schemas.openxmlformats.org/drawingml/2006/main"/>
            <a:p xmlns:a="http://schemas.openxmlformats.org/drawingml/2006/main">
              <a:pPr>
                <a:defRPr sz="1725">
                  <a:latin typeface="Helvetica Neue"/>
                  <a:ea typeface="Helvetica Neue"/>
                  <a:cs typeface="Helvetica Neue"/>
                </a:defRPr>
              </a:pPr>
            </a:p>
          </c:txPr>
        </c:title>
        <c:numFmt formatCode="General"/>
        <c:majorTickMark val="none"/>
        <c:minorTickMark val="none"/>
        <c:spPr>
          <a:ln xmlns:a="http://schemas.openxmlformats.org/drawingml/2006/main" w="9525">
            <a:solidFill>
              <a:srgbClr val="D6DEDE"/>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Helvetica Neue"/>
                <a:ea typeface="Helvetica Neue"/>
                <a:cs typeface="Helvetica Neue"/>
              </a:defRPr>
            </a:pPr>
          </a:p>
        </c:txPr>
        <c:crossAx val="48650112"/>
        <c:crossBetween val="between"/>
        <c:majorUnit val="10"/>
      </c:valAx>
      <c:spPr>
        <a:solidFill xmlns:a="http://schemas.openxmlformats.org/drawingml/2006/main">
          <a:srgbClr val="FAFAF7"/>
        </a:solidFill>
        <a:ln xmlns:a="http://schemas.openxmlformats.org/drawingml/2006/main" w="0">
          <a:noFill/>
        </a:ln>
      </c:spPr>
    </c:plotArea>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Uses results</c:v>
          </c:tx>
          <c:spPr>
            <a:solidFill xmlns:a="http://schemas.openxmlformats.org/drawingml/2006/main">
              <a:srgbClr val="007F7B"/>
            </a:solidFill>
          </c:spPr>
          <c:invertIfNegative val="0"/>
          <c:cat>
            <c:strRef>
              <c:f>'Chart Data'!$A$2:$A$4</c:f>
              <c:strCache>
                <c:ptCount val="3"/>
                <c:pt idx="0">
                  <c:v>Sulfide</c:v>
                </c:pt>
                <c:pt idx="1">
                  <c:v>Chloride</c:v>
                </c:pt>
                <c:pt idx="2">
                  <c:v>Oxide (LLZO)</c:v>
                </c:pt>
              </c:strCache>
            </c:strRef>
          </c:cat>
          <c:val>
            <c:numRef>
              <c:f>'Chart Data'!$B$2:$B$4</c:f>
              <c:numCache>
                <c:formatCode>General</c:formatCode>
                <c:ptCount val="3"/>
                <c:pt idx="0">
                  <c:v>20</c:v>
                </c:pt>
                <c:pt idx="1">
                  <c:v>30</c:v>
                </c:pt>
                <c:pt idx="2">
                  <c:v>12</c:v>
                </c:pt>
              </c:numCache>
            </c:numRef>
          </c:val>
        </c:ser>
        <c:ser>
          <c:idx val="1"/>
          <c:order val="1"/>
          <c:tx>
            <c:v>No results</c:v>
          </c:tx>
          <c:spPr>
            <a:solidFill xmlns:a="http://schemas.openxmlformats.org/drawingml/2006/main">
              <a:srgbClr val="366AA8"/>
            </a:solidFill>
          </c:spPr>
          <c:invertIfNegative val="0"/>
          <c:cat>
            <c:strRef>
              <c:f>'Chart Data'!$C$2:$C$4</c:f>
              <c:strCache>
                <c:ptCount val="3"/>
                <c:pt idx="0">
                  <c:v>Sulfide</c:v>
                </c:pt>
                <c:pt idx="1">
                  <c:v>Chloride</c:v>
                </c:pt>
                <c:pt idx="2">
                  <c:v>Oxide (LLZO)</c:v>
                </c:pt>
              </c:strCache>
            </c:strRef>
          </c:cat>
          <c:val>
            <c:numRef>
              <c:f>'Chart Data'!$D$2:$D$4</c:f>
              <c:numCache>
                <c:formatCode>General</c:formatCode>
                <c:ptCount val="3"/>
                <c:pt idx="0">
                  <c:v>2</c:v>
                </c:pt>
                <c:pt idx="1">
                  <c:v>30</c:v>
                </c:pt>
                <c:pt idx="2">
                  <c:v>0</c:v>
                </c:pt>
              </c:numCache>
            </c:numRef>
          </c:val>
        </c:ser>
        <c:ser>
          <c:idx val="2"/>
          <c:order val="2"/>
          <c:tx>
            <c:v>Random</c:v>
          </c:tx>
          <c:spPr>
            <a:solidFill xmlns:a="http://schemas.openxmlformats.org/drawingml/2006/main">
              <a:srgbClr val="8A949C"/>
            </a:solidFill>
          </c:spPr>
          <c:invertIfNegative val="0"/>
          <c:cat>
            <c:strRef>
              <c:f>'Chart Data'!$E$2:$E$4</c:f>
              <c:strCache>
                <c:ptCount val="3"/>
                <c:pt idx="0">
                  <c:v>Sulfide</c:v>
                </c:pt>
                <c:pt idx="1">
                  <c:v>Chloride</c:v>
                </c:pt>
                <c:pt idx="2">
                  <c:v>Oxide (LLZO)</c:v>
                </c:pt>
              </c:strCache>
            </c:strRef>
          </c:cat>
          <c:val>
            <c:numRef>
              <c:f>'Chart Data'!$F$2:$F$4</c:f>
              <c:numCache>
                <c:formatCode>General</c:formatCode>
                <c:ptCount val="3"/>
                <c:pt idx="0">
                  <c:v>8</c:v>
                </c:pt>
                <c:pt idx="1">
                  <c:v>29</c:v>
                </c:pt>
                <c:pt idx="2">
                  <c:v>24</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72B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6DEDE"/>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Helvetica Neue"/>
                <a:ea typeface="Helvetica Neue"/>
                <a:cs typeface="Helvetica Neue"/>
              </a:defRPr>
            </a:pPr>
          </a:p>
        </c:txPr>
        <c:crossAx val="48672768"/>
      </c:catAx>
      <c:valAx>
        <c:axId val="48672768"/>
        <c:scaling>
          <c:orientation val="minMax"/>
          <c:max val="30"/>
          <c:min val="0"/>
        </c:scaling>
        <c:delete val="0"/>
        <c:axPos val="l"/>
        <c:majorGridlines>
          <c:spPr>
            <a:ln xmlns:a="http://schemas.openxmlformats.org/drawingml/2006/main" w="9525">
              <a:solidFill>
                <a:srgbClr val="D6DEDE"/>
              </a:solidFill>
            </a:ln>
          </c:spPr>
        </c:majorGridlines>
        <c:title>
          <c:tx>
            <c:rich>
              <a:bodyPr xmlns:a="http://schemas.openxmlformats.org/drawingml/2006/main"/>
              <a:lstStyle xmlns:a="http://schemas.openxmlformats.org/drawingml/2006/main"/>
              <a:p xmlns:a="http://schemas.openxmlformats.org/drawingml/2006/main">
                <a:r>
                  <a:rPr sz="1725">
                    <a:latin typeface="Helvetica Neue"/>
                    <a:ea typeface="Helvetica Neue"/>
                    <a:cs typeface="Helvetica Neue"/>
                  </a:rPr>
                  <a:t>Successful searches / 30</a:t>
                </a:r>
              </a:p>
            </c:rich>
          </c:tx>
          <c:overlay val="0"/>
          <c:txPr>
            <a:bodyPr xmlns:a="http://schemas.openxmlformats.org/drawingml/2006/main" anchorCtr="1"/>
            <a:lstStyle xmlns:a="http://schemas.openxmlformats.org/drawingml/2006/main"/>
            <a:p xmlns:a="http://schemas.openxmlformats.org/drawingml/2006/main">
              <a:pPr>
                <a:defRPr sz="1725">
                  <a:latin typeface="Helvetica Neue"/>
                  <a:ea typeface="Helvetica Neue"/>
                  <a:cs typeface="Helvetica Neue"/>
                </a:defRPr>
              </a:pPr>
            </a:p>
          </c:txPr>
        </c:title>
        <c:numFmt formatCode="General"/>
        <c:majorTickMark val="none"/>
        <c:minorTickMark val="none"/>
        <c:spPr>
          <a:ln xmlns:a="http://schemas.openxmlformats.org/drawingml/2006/main" w="9525">
            <a:solidFill>
              <a:srgbClr val="D6DEDE"/>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Helvetica Neue"/>
                <a:ea typeface="Helvetica Neue"/>
                <a:cs typeface="Helvetica Neue"/>
              </a:defRPr>
            </a:pPr>
          </a:p>
        </c:txPr>
        <c:crossAx val="48650112"/>
        <c:crossBetween val="between"/>
        <c:majorUnit val="10"/>
      </c:valAx>
      <c:spPr>
        <a:solidFill xmlns:a="http://schemas.openxmlformats.org/drawingml/2006/main">
          <a:srgbClr val="FAFAF7"/>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Helvetica Neue"/>
              <a:ea typeface="Helvetica Neue"/>
              <a:cs typeface="Helvetica Neue"/>
            </a:defRPr>
          </a:pPr>
        </a:p>
      </c:txPr>
    </c:legend>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Cathode side</c:v>
          </c:tx>
          <c:spPr>
            <a:solidFill xmlns:a="http://schemas.openxmlformats.org/drawingml/2006/main">
              <a:srgbClr val="366AA8"/>
            </a:solidFill>
          </c:spPr>
          <c:invertIfNegative val="0"/>
          <c:cat>
            <c:strRef>
              <c:f>'Chart Data'!$A$2:$A$4</c:f>
              <c:strCache>
                <c:ptCount val="3"/>
                <c:pt idx="0">
                  <c:v>LiNbF₆ (reference)</c:v>
                </c:pt>
                <c:pt idx="1">
                  <c:v>LiTaF₆ (first choice)</c:v>
                </c:pt>
                <c:pt idx="2">
                  <c:v>LiCaAlF₆ (second choice)</c:v>
                </c:pt>
              </c:strCache>
            </c:strRef>
          </c:cat>
          <c:val>
            <c:numRef>
              <c:f>'Chart Data'!$B$2:$B$4</c:f>
              <c:numCache>
                <c:formatCode>General</c:formatCode>
                <c:ptCount val="3"/>
                <c:pt idx="0">
                  <c:v>3.617050862</c:v>
                </c:pt>
                <c:pt idx="1">
                  <c:v>3.338748413</c:v>
                </c:pt>
                <c:pt idx="2">
                  <c:v>1.426710445</c:v>
                </c:pt>
              </c:numCache>
            </c:numRef>
          </c:val>
        </c:ser>
        <c:ser>
          <c:idx val="1"/>
          <c:order val="1"/>
          <c:tx>
            <c:v>Electrolyte side</c:v>
          </c:tx>
          <c:spPr>
            <a:solidFill xmlns:a="http://schemas.openxmlformats.org/drawingml/2006/main">
              <a:srgbClr val="007F7B"/>
            </a:solidFill>
          </c:spPr>
          <c:invertIfNegative val="0"/>
          <c:cat>
            <c:strRef>
              <c:f>'Chart Data'!$C$2:$C$4</c:f>
              <c:strCache>
                <c:ptCount val="3"/>
                <c:pt idx="0">
                  <c:v>LiNbF₆ (reference)</c:v>
                </c:pt>
                <c:pt idx="1">
                  <c:v>LiTaF₆ (first choice)</c:v>
                </c:pt>
                <c:pt idx="2">
                  <c:v>LiCaAlF₆ (second choice)</c:v>
                </c:pt>
              </c:strCache>
            </c:strRef>
          </c:cat>
          <c:val>
            <c:numRef>
              <c:f>'Chart Data'!$D$2:$D$4</c:f>
              <c:numCache>
                <c:formatCode>General</c:formatCode>
                <c:ptCount val="3"/>
                <c:pt idx="0">
                  <c:v>1.633394081</c:v>
                </c:pt>
                <c:pt idx="1">
                  <c:v>1.577358544</c:v>
                </c:pt>
                <c:pt idx="2">
                  <c:v>0.7435735866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025" b="1">
                  <a:solidFill>
                    <a:srgbClr val="172B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6DEDE"/>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Helvetica Neue"/>
                <a:ea typeface="Helvetica Neue"/>
                <a:cs typeface="Helvetica Neue"/>
              </a:defRPr>
            </a:pPr>
          </a:p>
        </c:txPr>
        <c:crossAx val="48672768"/>
      </c:catAx>
      <c:valAx>
        <c:axId val="48672768"/>
        <c:scaling>
          <c:orientation val="minMax"/>
          <c:max val="4"/>
          <c:min val="0"/>
        </c:scaling>
        <c:delete val="0"/>
        <c:axPos val="l"/>
        <c:majorGridlines>
          <c:spPr>
            <a:ln xmlns:a="http://schemas.openxmlformats.org/drawingml/2006/main" w="9525">
              <a:solidFill>
                <a:srgbClr val="D6DEDE"/>
              </a:solidFill>
            </a:ln>
          </c:spPr>
        </c:majorGridlines>
        <c:title>
          <c:tx>
            <c:rich>
              <a:bodyPr xmlns:a="http://schemas.openxmlformats.org/drawingml/2006/main"/>
              <a:lstStyle xmlns:a="http://schemas.openxmlformats.org/drawingml/2006/main"/>
              <a:p xmlns:a="http://schemas.openxmlformats.org/drawingml/2006/main">
                <a:r>
                  <a:rPr sz="1725">
                    <a:latin typeface="Helvetica Neue"/>
                    <a:ea typeface="Helvetica Neue"/>
                    <a:cs typeface="Helvetica Neue"/>
                  </a:rPr>
                  <a:t>Adhesion (J/m²)</a:t>
                </a:r>
              </a:p>
            </c:rich>
          </c:tx>
          <c:overlay val="0"/>
          <c:txPr>
            <a:bodyPr xmlns:a="http://schemas.openxmlformats.org/drawingml/2006/main" anchorCtr="1"/>
            <a:lstStyle xmlns:a="http://schemas.openxmlformats.org/drawingml/2006/main"/>
            <a:p xmlns:a="http://schemas.openxmlformats.org/drawingml/2006/main">
              <a:pPr>
                <a:defRPr sz="1725">
                  <a:latin typeface="Helvetica Neue"/>
                  <a:ea typeface="Helvetica Neue"/>
                  <a:cs typeface="Helvetica Neue"/>
                </a:defRPr>
              </a:pPr>
            </a:p>
          </c:txPr>
        </c:title>
        <c:numFmt formatCode="General"/>
        <c:majorTickMark val="none"/>
        <c:minorTickMark val="none"/>
        <c:spPr>
          <a:ln xmlns:a="http://schemas.openxmlformats.org/drawingml/2006/main" w="9525">
            <a:solidFill>
              <a:srgbClr val="D6DEDE"/>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Helvetica Neue"/>
                <a:ea typeface="Helvetica Neue"/>
                <a:cs typeface="Helvetica Neue"/>
              </a:defRPr>
            </a:pPr>
          </a:p>
        </c:txPr>
        <c:crossAx val="48650112"/>
        <c:crossBetween val="between"/>
        <c:majorUnit val="1"/>
      </c:valAx>
      <c:spPr>
        <a:solidFill xmlns:a="http://schemas.openxmlformats.org/drawingml/2006/main">
          <a:srgbClr val="FAFAF7"/>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Helvetica Neue"/>
              <a:ea typeface="Helvetica Neue"/>
              <a:cs typeface="Helvetica Neue"/>
            </a:defRPr>
          </a:pPr>
        </a:p>
      </c:txPr>
    </c:legend>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A0B1C9-1508-4FFA-84E3-632BA6CA12B4}"/>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AI-GUIDED BATTERY COATINGS</a:t>
            </a:r>
          </a:p>
        </p:txBody>
      </p:sp>
      <p:sp>
        <p:nvSpPr>
          <p:cNvPr id="2" name="">
            <a:extLst xmlns:a="http://schemas.openxmlformats.org/drawingml/2006/main">
              <a:ext uri="{FF2B5EF4-FFF2-40B4-BE49-F238E27FC236}">
                <a16:creationId xmlns:a16="http://schemas.microsoft.com/office/drawing/2014/main" id="{EE287233-F298-45D2-8150-E4D75C8E7EB2}"/>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interphAIse</a:t>
            </a:r>
          </a:p>
        </p:txBody>
      </p:sp>
      <p:sp>
        <p:nvSpPr>
          <p:cNvPr id="3" name="">
            <a:extLst xmlns:a="http://schemas.openxmlformats.org/drawingml/2006/main">
              <a:ext uri="{FF2B5EF4-FFF2-40B4-BE49-F238E27FC236}">
                <a16:creationId xmlns:a16="http://schemas.microsoft.com/office/drawing/2014/main" id="{CE588C6F-012B-400D-8A82-E666B22BA6E0}"/>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BF0CF9C2-9C27-4553-8CCB-0FA55FE88C36}"/>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47C39E95-604D-4FE5-8237-286E671C102C}"/>
              </a:ext>
            </a:extLst>
          </p:cNvPr>
          <p:cNvSpPr>
            <a:spLocks xmlns:a="http://schemas.openxmlformats.org/drawingml/2006/main" noGrp="1"/>
          </p:cNvSpPr>
          <p:nvPr/>
        </p:nvSpPr>
        <p:spPr>
          <a:xfrm xmlns:a="http://schemas.openxmlformats.org/drawingml/2006/main">
            <a:off x="533400" y="2000250"/>
            <a:ext cx="109537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650" b="1">
                <a:solidFill>
                  <a:srgbClr val="172B3A"/>
                </a:solidFill>
                <a:latin typeface="Helvetica Neue"/>
                <a:ea typeface="Helvetica Neue"/>
                <a:cs typeface="Helvetica Neue"/>
              </a:defRPr>
            </a:defPPr>
            <a:lvl1pPr>
              <a:buNone/>
              <a:defRPr sz="4650" b="1">
                <a:solidFill>
                  <a:srgbClr val="172B3A"/>
                </a:solidFill>
                <a:latin typeface="Helvetica Neue"/>
                <a:ea typeface="Helvetica Neue"/>
                <a:cs typeface="Helvetica Neue"/>
              </a:defRPr>
            </a:lvl1pPr>
            <a:lvl2pPr>
              <a:buNone/>
              <a:defRPr sz="4650" b="1">
                <a:solidFill>
                  <a:srgbClr val="172B3A"/>
                </a:solidFill>
                <a:latin typeface="Helvetica Neue"/>
                <a:ea typeface="Helvetica Neue"/>
                <a:cs typeface="Helvetica Neue"/>
              </a:defRPr>
            </a:lvl2pPr>
            <a:lvl3pPr>
              <a:buNone/>
              <a:defRPr sz="4650" b="1">
                <a:solidFill>
                  <a:srgbClr val="172B3A"/>
                </a:solidFill>
                <a:latin typeface="Helvetica Neue"/>
                <a:ea typeface="Helvetica Neue"/>
                <a:cs typeface="Helvetica Neue"/>
              </a:defRPr>
            </a:lvl3pPr>
            <a:lvl4pPr>
              <a:buNone/>
              <a:defRPr sz="4650" b="1">
                <a:solidFill>
                  <a:srgbClr val="172B3A"/>
                </a:solidFill>
                <a:latin typeface="Helvetica Neue"/>
                <a:ea typeface="Helvetica Neue"/>
                <a:cs typeface="Helvetica Neue"/>
              </a:defRPr>
            </a:lvl4pPr>
            <a:lvl5pPr>
              <a:buNone/>
              <a:defRPr sz="4650" b="1">
                <a:solidFill>
                  <a:srgbClr val="172B3A"/>
                </a:solidFill>
                <a:latin typeface="Helvetica Neue"/>
                <a:ea typeface="Helvetica Neue"/>
                <a:cs typeface="Helvetica Neue"/>
              </a:defRPr>
            </a:lvl5pPr>
            <a:lvl6pPr>
              <a:buNone/>
              <a:defRPr sz="4650" b="1">
                <a:solidFill>
                  <a:srgbClr val="172B3A"/>
                </a:solidFill>
                <a:latin typeface="Helvetica Neue"/>
                <a:ea typeface="Helvetica Neue"/>
                <a:cs typeface="Helvetica Neue"/>
              </a:defRPr>
            </a:lvl6pPr>
            <a:lvl7pPr>
              <a:buNone/>
              <a:defRPr sz="4650" b="1">
                <a:solidFill>
                  <a:srgbClr val="172B3A"/>
                </a:solidFill>
                <a:latin typeface="Helvetica Neue"/>
                <a:ea typeface="Helvetica Neue"/>
                <a:cs typeface="Helvetica Neue"/>
              </a:defRPr>
            </a:lvl7pPr>
            <a:lvl8pPr>
              <a:buNone/>
              <a:defRPr sz="4650" b="1">
                <a:solidFill>
                  <a:srgbClr val="172B3A"/>
                </a:solidFill>
                <a:latin typeface="Helvetica Neue"/>
                <a:ea typeface="Helvetica Neue"/>
                <a:cs typeface="Helvetica Neue"/>
              </a:defRPr>
            </a:lvl8pPr>
            <a:lvl9pPr>
              <a:buNone/>
              <a:defRPr sz="4650" b="1">
                <a:solidFill>
                  <a:srgbClr val="172B3A"/>
                </a:solidFill>
                <a:latin typeface="Helvetica Neue"/>
                <a:ea typeface="Helvetica Neue"/>
                <a:cs typeface="Helvetica Neue"/>
              </a:defRPr>
            </a:lvl9pPr>
          </a:lstStyle>
          <a:p xmlns:a="http://schemas.openxmlformats.org/drawingml/2006/main">
            <a:pPr>
              <a:buNone/>
              <a:defRPr sz="4650" b="1">
                <a:solidFill>
                  <a:srgbClr val="172B3A"/>
                </a:solidFill>
                <a:latin typeface="Helvetica Neue"/>
                <a:ea typeface="Helvetica Neue"/>
                <a:cs typeface="Helvetica Neue"/>
              </a:defRPr>
            </a:pPr>
            <a:r>
              <a:rPr sz="4650" b="1">
                <a:solidFill>
                  <a:srgbClr val="172B3A"/>
                </a:solidFill>
                <a:latin typeface="Helvetica Neue"/>
                <a:ea typeface="Helvetica Neue"/>
                <a:cs typeface="Helvetica Neue"/>
              </a:rPr>
              <a:t>Can an LLM choose</a:t>
            </a:r>
          </a:p>
          <a:p xmlns:a="http://schemas.openxmlformats.org/drawingml/2006/main">
            <a:pPr>
              <a:buNone/>
              <a:defRPr sz="4650" b="1">
                <a:solidFill>
                  <a:srgbClr val="172B3A"/>
                </a:solidFill>
                <a:latin typeface="Helvetica Neue"/>
                <a:ea typeface="Helvetica Neue"/>
                <a:cs typeface="Helvetica Neue"/>
              </a:defRPr>
            </a:pPr>
            <a:r>
              <a:rPr sz="4650" b="1">
                <a:solidFill>
                  <a:srgbClr val="172B3A"/>
                </a:solidFill>
                <a:latin typeface="Helvetica Neue"/>
                <a:ea typeface="Helvetica Neue"/>
                <a:cs typeface="Helvetica Neue"/>
              </a:rPr>
              <a:t>the next battery</a:t>
            </a:r>
          </a:p>
          <a:p xmlns:a="http://schemas.openxmlformats.org/drawingml/2006/main">
            <a:pPr>
              <a:buNone/>
              <a:defRPr sz="4650" b="1">
                <a:solidFill>
                  <a:srgbClr val="172B3A"/>
                </a:solidFill>
                <a:latin typeface="Helvetica Neue"/>
                <a:ea typeface="Helvetica Neue"/>
                <a:cs typeface="Helvetica Neue"/>
              </a:defRPr>
            </a:pPr>
            <a:r>
              <a:rPr sz="4650" b="1">
                <a:solidFill>
                  <a:srgbClr val="172B3A"/>
                </a:solidFill>
                <a:latin typeface="Helvetica Neue"/>
                <a:ea typeface="Helvetica Neue"/>
                <a:cs typeface="Helvetica Neue"/>
              </a:rPr>
              <a:t>coating to test?</a:t>
            </a:r>
          </a:p>
        </p:txBody>
      </p:sp>
      <p:sp>
        <p:nvSpPr>
          <p:cNvPr id="6" name="">
            <a:extLst xmlns:a="http://schemas.openxmlformats.org/drawingml/2006/main">
              <a:ext uri="{FF2B5EF4-FFF2-40B4-BE49-F238E27FC236}">
                <a16:creationId xmlns:a16="http://schemas.microsoft.com/office/drawing/2014/main" id="{B3F44A90-A71C-44AF-B36B-E4731DB0AFA8}"/>
              </a:ext>
            </a:extLst>
          </p:cNvPr>
          <p:cNvSpPr>
            <a:spLocks xmlns:a="http://schemas.openxmlformats.org/drawingml/2006/main" noGrp="1"/>
          </p:cNvSpPr>
          <p:nvPr/>
        </p:nvSpPr>
        <p:spPr>
          <a:xfrm xmlns:a="http://schemas.openxmlformats.org/drawingml/2006/main">
            <a:off x="561975" y="48577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07F7B"/>
                </a:solidFill>
                <a:latin typeface="Helvetica Neue"/>
                <a:ea typeface="Helvetica Neue"/>
                <a:cs typeface="Helvetica Neue"/>
              </a:defRPr>
            </a:defPPr>
            <a:lvl1pPr>
              <a:buNone/>
              <a:defRPr sz="2325" b="0">
                <a:solidFill>
                  <a:srgbClr val="007F7B"/>
                </a:solidFill>
                <a:latin typeface="Helvetica Neue"/>
                <a:ea typeface="Helvetica Neue"/>
                <a:cs typeface="Helvetica Neue"/>
              </a:defRPr>
            </a:lvl1pPr>
            <a:lvl2pPr>
              <a:buNone/>
              <a:defRPr sz="2325" b="0">
                <a:solidFill>
                  <a:srgbClr val="007F7B"/>
                </a:solidFill>
                <a:latin typeface="Helvetica Neue"/>
                <a:ea typeface="Helvetica Neue"/>
                <a:cs typeface="Helvetica Neue"/>
              </a:defRPr>
            </a:lvl2pPr>
            <a:lvl3pPr>
              <a:buNone/>
              <a:defRPr sz="2325" b="0">
                <a:solidFill>
                  <a:srgbClr val="007F7B"/>
                </a:solidFill>
                <a:latin typeface="Helvetica Neue"/>
                <a:ea typeface="Helvetica Neue"/>
                <a:cs typeface="Helvetica Neue"/>
              </a:defRPr>
            </a:lvl3pPr>
            <a:lvl4pPr>
              <a:buNone/>
              <a:defRPr sz="2325" b="0">
                <a:solidFill>
                  <a:srgbClr val="007F7B"/>
                </a:solidFill>
                <a:latin typeface="Helvetica Neue"/>
                <a:ea typeface="Helvetica Neue"/>
                <a:cs typeface="Helvetica Neue"/>
              </a:defRPr>
            </a:lvl4pPr>
            <a:lvl5pPr>
              <a:buNone/>
              <a:defRPr sz="2325" b="0">
                <a:solidFill>
                  <a:srgbClr val="007F7B"/>
                </a:solidFill>
                <a:latin typeface="Helvetica Neue"/>
                <a:ea typeface="Helvetica Neue"/>
                <a:cs typeface="Helvetica Neue"/>
              </a:defRPr>
            </a:lvl5pPr>
            <a:lvl6pPr>
              <a:buNone/>
              <a:defRPr sz="2325" b="0">
                <a:solidFill>
                  <a:srgbClr val="007F7B"/>
                </a:solidFill>
                <a:latin typeface="Helvetica Neue"/>
                <a:ea typeface="Helvetica Neue"/>
                <a:cs typeface="Helvetica Neue"/>
              </a:defRPr>
            </a:lvl6pPr>
            <a:lvl7pPr>
              <a:buNone/>
              <a:defRPr sz="2325" b="0">
                <a:solidFill>
                  <a:srgbClr val="007F7B"/>
                </a:solidFill>
                <a:latin typeface="Helvetica Neue"/>
                <a:ea typeface="Helvetica Neue"/>
                <a:cs typeface="Helvetica Neue"/>
              </a:defRPr>
            </a:lvl7pPr>
            <a:lvl8pPr>
              <a:buNone/>
              <a:defRPr sz="2325" b="0">
                <a:solidFill>
                  <a:srgbClr val="007F7B"/>
                </a:solidFill>
                <a:latin typeface="Helvetica Neue"/>
                <a:ea typeface="Helvetica Neue"/>
                <a:cs typeface="Helvetica Neue"/>
              </a:defRPr>
            </a:lvl8pPr>
            <a:lvl9pPr>
              <a:buNone/>
              <a:defRPr sz="2325" b="0">
                <a:solidFill>
                  <a:srgbClr val="007F7B"/>
                </a:solidFill>
                <a:latin typeface="Helvetica Neue"/>
                <a:ea typeface="Helvetica Neue"/>
                <a:cs typeface="Helvetica Neue"/>
              </a:defRPr>
            </a:lvl9pPr>
          </a:lstStyle>
          <a:p xmlns:a="http://schemas.openxmlformats.org/drawingml/2006/main">
            <a:pPr>
              <a:buNone/>
              <a:defRPr sz="2325" b="0">
                <a:solidFill>
                  <a:srgbClr val="007F7B"/>
                </a:solidFill>
                <a:latin typeface="Helvetica Neue"/>
                <a:ea typeface="Helvetica Neue"/>
                <a:cs typeface="Helvetica Neue"/>
              </a:defRPr>
            </a:pPr>
            <a:r>
              <a:rPr sz="2325" b="0">
                <a:solidFill>
                  <a:srgbClr val="007F7B"/>
                </a:solidFill>
                <a:latin typeface="Helvetica Neue"/>
                <a:ea typeface="Helvetica Neue"/>
                <a:cs typeface="Helvetica Neue"/>
              </a:rPr>
              <a:t>Why the LLM matters</a:t>
            </a:r>
          </a:p>
          <a:p xmlns:a="http://schemas.openxmlformats.org/drawingml/2006/main">
            <a:pPr>
              <a:buNone/>
              <a:defRPr sz="2325" b="0">
                <a:solidFill>
                  <a:srgbClr val="007F7B"/>
                </a:solidFill>
                <a:latin typeface="Helvetica Neue"/>
                <a:ea typeface="Helvetica Neue"/>
                <a:cs typeface="Helvetica Neue"/>
              </a:defRPr>
            </a:pPr>
            <a:r>
              <a:rPr sz="2325" b="0">
                <a:solidFill>
                  <a:srgbClr val="007F7B"/>
                </a:solidFill>
                <a:latin typeface="Helvetica Neue"/>
                <a:ea typeface="Helvetica Neue"/>
                <a:cs typeface="Helvetica Neue"/>
              </a:rPr>
              <a:t>What it achieved, step by step</a:t>
            </a:r>
          </a:p>
        </p:txBody>
      </p:sp>
      <p:sp>
        <p:nvSpPr>
          <p:cNvPr id="7" name="">
            <a:extLst xmlns:a="http://schemas.openxmlformats.org/drawingml/2006/main">
              <a:ext uri="{FF2B5EF4-FFF2-40B4-BE49-F238E27FC236}">
                <a16:creationId xmlns:a16="http://schemas.microsoft.com/office/drawing/2014/main" id="{C5A5AC22-6F92-41F5-B2FA-BF7AACB45E82}"/>
              </a:ext>
            </a:extLst>
          </p:cNvPr>
          <p:cNvSpPr>
            <a:spLocks xmlns:a="http://schemas.openxmlformats.org/drawingml/2006/main" noGrp="1"/>
          </p:cNvSpPr>
          <p:nvPr/>
        </p:nvSpPr>
        <p:spPr>
          <a:xfrm xmlns:a="http://schemas.openxmlformats.org/drawingml/2006/main">
            <a:off x="561975" y="59436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472"/>
                </a:solidFill>
                <a:latin typeface="Helvetica Neue"/>
                <a:ea typeface="Helvetica Neue"/>
                <a:cs typeface="Helvetica Neue"/>
              </a:defRPr>
            </a:defPPr>
            <a:lvl1pPr>
              <a:buNone/>
              <a:defRPr sz="1800" b="0">
                <a:solidFill>
                  <a:srgbClr val="526472"/>
                </a:solidFill>
                <a:latin typeface="Helvetica Neue"/>
                <a:ea typeface="Helvetica Neue"/>
                <a:cs typeface="Helvetica Neue"/>
              </a:defRPr>
            </a:lvl1pPr>
            <a:lvl2pPr>
              <a:buNone/>
              <a:defRPr sz="1800" b="0">
                <a:solidFill>
                  <a:srgbClr val="526472"/>
                </a:solidFill>
                <a:latin typeface="Helvetica Neue"/>
                <a:ea typeface="Helvetica Neue"/>
                <a:cs typeface="Helvetica Neue"/>
              </a:defRPr>
            </a:lvl2pPr>
            <a:lvl3pPr>
              <a:buNone/>
              <a:defRPr sz="1800" b="0">
                <a:solidFill>
                  <a:srgbClr val="526472"/>
                </a:solidFill>
                <a:latin typeface="Helvetica Neue"/>
                <a:ea typeface="Helvetica Neue"/>
                <a:cs typeface="Helvetica Neue"/>
              </a:defRPr>
            </a:lvl3pPr>
            <a:lvl4pPr>
              <a:buNone/>
              <a:defRPr sz="1800" b="0">
                <a:solidFill>
                  <a:srgbClr val="526472"/>
                </a:solidFill>
                <a:latin typeface="Helvetica Neue"/>
                <a:ea typeface="Helvetica Neue"/>
                <a:cs typeface="Helvetica Neue"/>
              </a:defRPr>
            </a:lvl4pPr>
            <a:lvl5pPr>
              <a:buNone/>
              <a:defRPr sz="1800" b="0">
                <a:solidFill>
                  <a:srgbClr val="526472"/>
                </a:solidFill>
                <a:latin typeface="Helvetica Neue"/>
                <a:ea typeface="Helvetica Neue"/>
                <a:cs typeface="Helvetica Neue"/>
              </a:defRPr>
            </a:lvl5pPr>
            <a:lvl6pPr>
              <a:buNone/>
              <a:defRPr sz="1800" b="0">
                <a:solidFill>
                  <a:srgbClr val="526472"/>
                </a:solidFill>
                <a:latin typeface="Helvetica Neue"/>
                <a:ea typeface="Helvetica Neue"/>
                <a:cs typeface="Helvetica Neue"/>
              </a:defRPr>
            </a:lvl6pPr>
            <a:lvl7pPr>
              <a:buNone/>
              <a:defRPr sz="1800" b="0">
                <a:solidFill>
                  <a:srgbClr val="526472"/>
                </a:solidFill>
                <a:latin typeface="Helvetica Neue"/>
                <a:ea typeface="Helvetica Neue"/>
                <a:cs typeface="Helvetica Neue"/>
              </a:defRPr>
            </a:lvl7pPr>
            <a:lvl8pPr>
              <a:buNone/>
              <a:defRPr sz="1800" b="0">
                <a:solidFill>
                  <a:srgbClr val="526472"/>
                </a:solidFill>
                <a:latin typeface="Helvetica Neue"/>
                <a:ea typeface="Helvetica Neue"/>
                <a:cs typeface="Helvetica Neue"/>
              </a:defRPr>
            </a:lvl8pPr>
            <a:lvl9pPr>
              <a:buNone/>
              <a:defRPr sz="1800" b="0">
                <a:solidFill>
                  <a:srgbClr val="526472"/>
                </a:solidFill>
                <a:latin typeface="Helvetica Neue"/>
                <a:ea typeface="Helvetica Neue"/>
                <a:cs typeface="Helvetica Neue"/>
              </a:defRPr>
            </a:lvl9pPr>
          </a:lstStyle>
          <a:p xmlns:a="http://schemas.openxmlformats.org/drawingml/2006/main">
            <a:pPr>
              <a:buNone/>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Davide Tisi and Adem R. N. Aouichaoui</a:t>
            </a:r>
          </a:p>
        </p:txBody>
      </p:sp>
    </p:spTree>
    <p:extLst>
      <p:ext uri="{BB962C8B-B14F-4D97-AF65-F5344CB8AC3E}">
        <p14:creationId xmlns:p14="http://schemas.microsoft.com/office/powerpoint/2010/main" val="1043087851"/>
      </p:ext>
    </p:extLst>
  </p:cSld>
</p:sld>
</file>

<file path=ppt/slides/slide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BEF0EE0-1F5A-431D-8B70-69FEB987937E}"/>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THE IDEA</a:t>
            </a:r>
          </a:p>
        </p:txBody>
      </p:sp>
      <p:sp>
        <p:nvSpPr>
          <p:cNvPr id="2" name="">
            <a:extLst xmlns:a="http://schemas.openxmlformats.org/drawingml/2006/main">
              <a:ext uri="{FF2B5EF4-FFF2-40B4-BE49-F238E27FC236}">
                <a16:creationId xmlns:a16="http://schemas.microsoft.com/office/drawing/2014/main" id="{B6F2F3B5-E6C5-4420-B9F5-C5920774AAC9}"/>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The problem: a protective layer inside a battery</a:t>
            </a:r>
          </a:p>
        </p:txBody>
      </p:sp>
      <p:sp>
        <p:nvSpPr>
          <p:cNvPr id="3" name="">
            <a:extLst xmlns:a="http://schemas.openxmlformats.org/drawingml/2006/main">
              <a:ext uri="{FF2B5EF4-FFF2-40B4-BE49-F238E27FC236}">
                <a16:creationId xmlns:a16="http://schemas.microsoft.com/office/drawing/2014/main" id="{8EA27E87-AE7A-4A80-B12B-7CE9559CB85F}"/>
              </a:ext>
            </a:extLst>
          </p:cNvPr>
          <p:cNvSpPr>
            <a:spLocks xmlns:a="http://schemas.openxmlformats.org/drawingml/2006/main" noGrp="1"/>
          </p:cNvSpPr>
          <p:nvPr/>
        </p:nvSpPr>
        <p:spPr>
          <a:xfrm xmlns:a="http://schemas.openxmlformats.org/drawingml/2006/main">
            <a:off x="533400" y="147637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defRPr sz="2025" b="0">
                <a:solidFill>
                  <a:srgbClr val="526472"/>
                </a:solidFill>
                <a:latin typeface="Helvetica Neue"/>
                <a:ea typeface="Helvetica Neue"/>
                <a:cs typeface="Helvetica Neue"/>
              </a:defRPr>
            </a:lvl1pPr>
            <a:lvl2pPr>
              <a:defRPr sz="2025" b="0">
                <a:solidFill>
                  <a:srgbClr val="526472"/>
                </a:solidFill>
                <a:latin typeface="Helvetica Neue"/>
                <a:ea typeface="Helvetica Neue"/>
                <a:cs typeface="Helvetica Neue"/>
              </a:defRPr>
            </a:lvl2pPr>
            <a:lvl3pPr>
              <a:defRPr sz="2025" b="0">
                <a:solidFill>
                  <a:srgbClr val="526472"/>
                </a:solidFill>
                <a:latin typeface="Helvetica Neue"/>
                <a:ea typeface="Helvetica Neue"/>
                <a:cs typeface="Helvetica Neue"/>
              </a:defRPr>
            </a:lvl3pPr>
            <a:lvl4pPr>
              <a:defRPr sz="2025" b="0">
                <a:solidFill>
                  <a:srgbClr val="526472"/>
                </a:solidFill>
                <a:latin typeface="Helvetica Neue"/>
                <a:ea typeface="Helvetica Neue"/>
                <a:cs typeface="Helvetica Neue"/>
              </a:defRPr>
            </a:lvl4pPr>
            <a:lvl5pPr>
              <a:defRPr sz="2025" b="0">
                <a:solidFill>
                  <a:srgbClr val="526472"/>
                </a:solidFill>
                <a:latin typeface="Helvetica Neue"/>
                <a:ea typeface="Helvetica Neue"/>
                <a:cs typeface="Helvetica Neue"/>
              </a:defRPr>
            </a:lvl5pPr>
            <a:lvl6pPr>
              <a:defRPr sz="2025" b="0">
                <a:solidFill>
                  <a:srgbClr val="526472"/>
                </a:solidFill>
                <a:latin typeface="Helvetica Neue"/>
                <a:ea typeface="Helvetica Neue"/>
                <a:cs typeface="Helvetica Neue"/>
              </a:defRPr>
            </a:lvl6pPr>
            <a:lvl7pPr>
              <a:defRPr sz="2025" b="0">
                <a:solidFill>
                  <a:srgbClr val="526472"/>
                </a:solidFill>
                <a:latin typeface="Helvetica Neue"/>
                <a:ea typeface="Helvetica Neue"/>
                <a:cs typeface="Helvetica Neue"/>
              </a:defRPr>
            </a:lvl7pPr>
            <a:lvl8pPr>
              <a:defRPr sz="2025" b="0">
                <a:solidFill>
                  <a:srgbClr val="526472"/>
                </a:solidFill>
                <a:latin typeface="Helvetica Neue"/>
                <a:ea typeface="Helvetica Neue"/>
                <a:cs typeface="Helvetica Neue"/>
              </a:defRPr>
            </a:lvl8pPr>
            <a:lvl9pPr>
              <a:defRPr sz="2025" b="0">
                <a:solidFill>
                  <a:srgbClr val="526472"/>
                </a:solidFill>
                <a:latin typeface="Helvetica Neue"/>
                <a:ea typeface="Helvetica Neue"/>
                <a:cs typeface="Helvetica Neue"/>
              </a:defRPr>
            </a:lvl9pPr>
          </a:lstStyle>
          <a:p xmlns:a="http://schemas.openxmlformats.org/drawingml/2006/main">
            <a:pPr>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The cathode stores lithium. The electrolyte lets lithium ions move.</a:t>
            </a:r>
          </a:p>
        </p:txBody>
      </p:sp>
      <p:sp>
        <p:nvSpPr>
          <p:cNvPr id="4" name="">
            <a:extLst xmlns:a="http://schemas.openxmlformats.org/drawingml/2006/main">
              <a:ext uri="{FF2B5EF4-FFF2-40B4-BE49-F238E27FC236}">
                <a16:creationId xmlns:a16="http://schemas.microsoft.com/office/drawing/2014/main" id="{DD3CD31B-5126-4C6F-945C-F2F75247F23C}"/>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6DFBA920-DAB4-42D8-A4AF-71FA192E3BB4}"/>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02</a:t>
            </a:r>
          </a:p>
        </p:txBody>
      </p:sp>
      <p:pic>
        <p:nvPicPr>
          <p:cNvPr id="6" name="">
            <a:extLst xmlns:a="http://schemas.openxmlformats.org/drawingml/2006/main">
              <a:ext uri="{FF2B5EF4-FFF2-40B4-BE49-F238E27FC236}">
                <a16:creationId xmlns:a16="http://schemas.microsoft.com/office/drawing/2014/main" id="{E9663120-DDCD-4178-9676-971DA406AAFC}"/>
              </a:ext>
            </a:extLst>
          </p:cNvPr>
          <p:cNvPicPr>
            <a:picLocks xmlns:a="http://schemas.openxmlformats.org/drawingml/2006/main" noChangeAspect="1"/>
          </p:cNvPicPr>
          <p:nvPr/>
        </p:nvPicPr>
        <p:blipFill>
          <a:blip xmlns:r="http://schemas.openxmlformats.org/officeDocument/2006/relationships" xmlns:a="http://schemas.openxmlformats.org/drawingml/2006/main" r:embed="Rb2fd692cc3a4452a"/>
          <a:stretch xmlns:a="http://schemas.openxmlformats.org/drawingml/2006/main"/>
        </p:blipFill>
        <p:spPr>
          <a:xfrm xmlns:a="http://schemas.openxmlformats.org/drawingml/2006/main">
            <a:off x="640556" y="1952625"/>
            <a:ext cx="6500813" cy="43338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4906CFD-966A-40E4-941F-6C063C0EC037}"/>
              </a:ext>
            </a:extLst>
          </p:cNvPr>
          <p:cNvSpPr>
            <a:spLocks xmlns:a="http://schemas.openxmlformats.org/drawingml/2006/main" noGrp="1"/>
          </p:cNvSpPr>
          <p:nvPr/>
        </p:nvSpPr>
        <p:spPr>
          <a:xfrm xmlns:a="http://schemas.openxmlformats.org/drawingml/2006/main">
            <a:off x="7572375" y="2124075"/>
            <a:ext cx="4038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B3A"/>
                </a:solidFill>
                <a:latin typeface="Helvetica Neue"/>
                <a:ea typeface="Helvetica Neue"/>
                <a:cs typeface="Helvetica Neue"/>
              </a:defRPr>
            </a:defPPr>
            <a:lvl1pPr>
              <a:defRPr sz="2250" b="1">
                <a:solidFill>
                  <a:srgbClr val="172B3A"/>
                </a:solidFill>
                <a:latin typeface="Helvetica Neue"/>
                <a:ea typeface="Helvetica Neue"/>
                <a:cs typeface="Helvetica Neue"/>
              </a:defRPr>
            </a:lvl1pPr>
            <a:lvl2pPr>
              <a:defRPr sz="2250" b="1">
                <a:solidFill>
                  <a:srgbClr val="172B3A"/>
                </a:solidFill>
                <a:latin typeface="Helvetica Neue"/>
                <a:ea typeface="Helvetica Neue"/>
                <a:cs typeface="Helvetica Neue"/>
              </a:defRPr>
            </a:lvl2pPr>
            <a:lvl3pPr>
              <a:defRPr sz="2250" b="1">
                <a:solidFill>
                  <a:srgbClr val="172B3A"/>
                </a:solidFill>
                <a:latin typeface="Helvetica Neue"/>
                <a:ea typeface="Helvetica Neue"/>
                <a:cs typeface="Helvetica Neue"/>
              </a:defRPr>
            </a:lvl3pPr>
            <a:lvl4pPr>
              <a:defRPr sz="2250" b="1">
                <a:solidFill>
                  <a:srgbClr val="172B3A"/>
                </a:solidFill>
                <a:latin typeface="Helvetica Neue"/>
                <a:ea typeface="Helvetica Neue"/>
                <a:cs typeface="Helvetica Neue"/>
              </a:defRPr>
            </a:lvl4pPr>
            <a:lvl5pPr>
              <a:defRPr sz="2250" b="1">
                <a:solidFill>
                  <a:srgbClr val="172B3A"/>
                </a:solidFill>
                <a:latin typeface="Helvetica Neue"/>
                <a:ea typeface="Helvetica Neue"/>
                <a:cs typeface="Helvetica Neue"/>
              </a:defRPr>
            </a:lvl5pPr>
            <a:lvl6pPr>
              <a:defRPr sz="2250" b="1">
                <a:solidFill>
                  <a:srgbClr val="172B3A"/>
                </a:solidFill>
                <a:latin typeface="Helvetica Neue"/>
                <a:ea typeface="Helvetica Neue"/>
                <a:cs typeface="Helvetica Neue"/>
              </a:defRPr>
            </a:lvl6pPr>
            <a:lvl7pPr>
              <a:defRPr sz="2250" b="1">
                <a:solidFill>
                  <a:srgbClr val="172B3A"/>
                </a:solidFill>
                <a:latin typeface="Helvetica Neue"/>
                <a:ea typeface="Helvetica Neue"/>
                <a:cs typeface="Helvetica Neue"/>
              </a:defRPr>
            </a:lvl7pPr>
            <a:lvl8pPr>
              <a:defRPr sz="2250" b="1">
                <a:solidFill>
                  <a:srgbClr val="172B3A"/>
                </a:solidFill>
                <a:latin typeface="Helvetica Neue"/>
                <a:ea typeface="Helvetica Neue"/>
                <a:cs typeface="Helvetica Neue"/>
              </a:defRPr>
            </a:lvl8pPr>
            <a:lvl9pPr>
              <a:defRPr sz="2250" b="1">
                <a:solidFill>
                  <a:srgbClr val="172B3A"/>
                </a:solidFill>
                <a:latin typeface="Helvetica Neue"/>
                <a:ea typeface="Helvetica Neue"/>
                <a:cs typeface="Helvetica Neue"/>
              </a:defRPr>
            </a:lvl9pPr>
          </a:lstStyle>
          <a:p xmlns:a="http://schemas.openxmlformats.org/drawingml/2006/main">
            <a:pPr>
              <a:defRPr sz="2250" b="1">
                <a:solidFill>
                  <a:srgbClr val="172B3A"/>
                </a:solidFill>
                <a:latin typeface="Helvetica Neue"/>
                <a:ea typeface="Helvetica Neue"/>
                <a:cs typeface="Helvetica Neue"/>
              </a:defRPr>
            </a:pPr>
            <a:r>
              <a:rPr sz="2250" b="1">
                <a:solidFill>
                  <a:srgbClr val="172B3A"/>
                </a:solidFill>
                <a:latin typeface="Helvetica Neue"/>
                <a:ea typeface="Helvetica Neue"/>
                <a:cs typeface="Helvetica Neue"/>
              </a:rPr>
              <a:t>A useful coating must</a:t>
            </a:r>
          </a:p>
        </p:txBody>
      </p:sp>
      <p:sp>
        <p:nvSpPr>
          <p:cNvPr id="8" name="">
            <a:extLst xmlns:a="http://schemas.openxmlformats.org/drawingml/2006/main">
              <a:ext uri="{FF2B5EF4-FFF2-40B4-BE49-F238E27FC236}">
                <a16:creationId xmlns:a16="http://schemas.microsoft.com/office/drawing/2014/main" id="{6B75E8FE-ED37-49A0-822A-3D096A31176D}"/>
              </a:ext>
            </a:extLst>
          </p:cNvPr>
          <p:cNvSpPr>
            <a:spLocks xmlns:a="http://schemas.openxmlformats.org/drawingml/2006/main" noGrp="1"/>
          </p:cNvSpPr>
          <p:nvPr/>
        </p:nvSpPr>
        <p:spPr>
          <a:xfrm xmlns:a="http://schemas.openxmlformats.org/drawingml/2006/main">
            <a:off x="7572375" y="2876550"/>
            <a:ext cx="40386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7F7B"/>
                </a:solidFill>
                <a:latin typeface="Helvetica Neue"/>
                <a:ea typeface="Helvetica Neue"/>
                <a:cs typeface="Helvetica Neue"/>
              </a:defRPr>
            </a:defPPr>
            <a:lvl1pPr>
              <a:defRPr sz="2175" b="1">
                <a:solidFill>
                  <a:srgbClr val="007F7B"/>
                </a:solidFill>
                <a:latin typeface="Helvetica Neue"/>
                <a:ea typeface="Helvetica Neue"/>
                <a:cs typeface="Helvetica Neue"/>
              </a:defRPr>
            </a:lvl1pPr>
            <a:lvl2pPr>
              <a:defRPr sz="2175" b="1">
                <a:solidFill>
                  <a:srgbClr val="007F7B"/>
                </a:solidFill>
                <a:latin typeface="Helvetica Neue"/>
                <a:ea typeface="Helvetica Neue"/>
                <a:cs typeface="Helvetica Neue"/>
              </a:defRPr>
            </a:lvl2pPr>
            <a:lvl3pPr>
              <a:defRPr sz="2175" b="1">
                <a:solidFill>
                  <a:srgbClr val="007F7B"/>
                </a:solidFill>
                <a:latin typeface="Helvetica Neue"/>
                <a:ea typeface="Helvetica Neue"/>
                <a:cs typeface="Helvetica Neue"/>
              </a:defRPr>
            </a:lvl3pPr>
            <a:lvl4pPr>
              <a:defRPr sz="2175" b="1">
                <a:solidFill>
                  <a:srgbClr val="007F7B"/>
                </a:solidFill>
                <a:latin typeface="Helvetica Neue"/>
                <a:ea typeface="Helvetica Neue"/>
                <a:cs typeface="Helvetica Neue"/>
              </a:defRPr>
            </a:lvl4pPr>
            <a:lvl5pPr>
              <a:defRPr sz="2175" b="1">
                <a:solidFill>
                  <a:srgbClr val="007F7B"/>
                </a:solidFill>
                <a:latin typeface="Helvetica Neue"/>
                <a:ea typeface="Helvetica Neue"/>
                <a:cs typeface="Helvetica Neue"/>
              </a:defRPr>
            </a:lvl5pPr>
            <a:lvl6pPr>
              <a:defRPr sz="2175" b="1">
                <a:solidFill>
                  <a:srgbClr val="007F7B"/>
                </a:solidFill>
                <a:latin typeface="Helvetica Neue"/>
                <a:ea typeface="Helvetica Neue"/>
                <a:cs typeface="Helvetica Neue"/>
              </a:defRPr>
            </a:lvl6pPr>
            <a:lvl7pPr>
              <a:defRPr sz="2175" b="1">
                <a:solidFill>
                  <a:srgbClr val="007F7B"/>
                </a:solidFill>
                <a:latin typeface="Helvetica Neue"/>
                <a:ea typeface="Helvetica Neue"/>
                <a:cs typeface="Helvetica Neue"/>
              </a:defRPr>
            </a:lvl7pPr>
            <a:lvl8pPr>
              <a:defRPr sz="2175" b="1">
                <a:solidFill>
                  <a:srgbClr val="007F7B"/>
                </a:solidFill>
                <a:latin typeface="Helvetica Neue"/>
                <a:ea typeface="Helvetica Neue"/>
                <a:cs typeface="Helvetica Neue"/>
              </a:defRPr>
            </a:lvl8pPr>
            <a:lvl9pPr>
              <a:defRPr sz="2175" b="1">
                <a:solidFill>
                  <a:srgbClr val="007F7B"/>
                </a:solidFill>
                <a:latin typeface="Helvetica Neue"/>
                <a:ea typeface="Helvetica Neue"/>
                <a:cs typeface="Helvetica Neue"/>
              </a:defRPr>
            </a:lvl9pPr>
          </a:lstStyle>
          <a:p xmlns:a="http://schemas.openxmlformats.org/drawingml/2006/main">
            <a:pPr>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Limit unwanted reactions</a:t>
            </a:r>
          </a:p>
          <a:p xmlns:a="http://schemas.openxmlformats.org/drawingml/2006/main">
            <a:pPr>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at both contacts.</a:t>
            </a:r>
          </a:p>
        </p:txBody>
      </p:sp>
      <p:sp>
        <p:nvSpPr>
          <p:cNvPr id="9" name="">
            <a:extLst xmlns:a="http://schemas.openxmlformats.org/drawingml/2006/main">
              <a:ext uri="{FF2B5EF4-FFF2-40B4-BE49-F238E27FC236}">
                <a16:creationId xmlns:a16="http://schemas.microsoft.com/office/drawing/2014/main" id="{843CC145-3C11-4A26-BA16-701AD9C6EC3F}"/>
              </a:ext>
            </a:extLst>
          </p:cNvPr>
          <p:cNvSpPr>
            <a:spLocks xmlns:a="http://schemas.openxmlformats.org/drawingml/2006/main" noGrp="1"/>
          </p:cNvSpPr>
          <p:nvPr/>
        </p:nvSpPr>
        <p:spPr>
          <a:xfrm xmlns:a="http://schemas.openxmlformats.org/drawingml/2006/main">
            <a:off x="7572375" y="4000500"/>
            <a:ext cx="4038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66AA8"/>
                </a:solidFill>
                <a:latin typeface="Helvetica Neue"/>
                <a:ea typeface="Helvetica Neue"/>
                <a:cs typeface="Helvetica Neue"/>
              </a:defRPr>
            </a:defPPr>
            <a:lvl1pPr>
              <a:defRPr sz="2175" b="1">
                <a:solidFill>
                  <a:srgbClr val="366AA8"/>
                </a:solidFill>
                <a:latin typeface="Helvetica Neue"/>
                <a:ea typeface="Helvetica Neue"/>
                <a:cs typeface="Helvetica Neue"/>
              </a:defRPr>
            </a:lvl1pPr>
            <a:lvl2pPr>
              <a:defRPr sz="2175" b="1">
                <a:solidFill>
                  <a:srgbClr val="366AA8"/>
                </a:solidFill>
                <a:latin typeface="Helvetica Neue"/>
                <a:ea typeface="Helvetica Neue"/>
                <a:cs typeface="Helvetica Neue"/>
              </a:defRPr>
            </a:lvl2pPr>
            <a:lvl3pPr>
              <a:defRPr sz="2175" b="1">
                <a:solidFill>
                  <a:srgbClr val="366AA8"/>
                </a:solidFill>
                <a:latin typeface="Helvetica Neue"/>
                <a:ea typeface="Helvetica Neue"/>
                <a:cs typeface="Helvetica Neue"/>
              </a:defRPr>
            </a:lvl3pPr>
            <a:lvl4pPr>
              <a:defRPr sz="2175" b="1">
                <a:solidFill>
                  <a:srgbClr val="366AA8"/>
                </a:solidFill>
                <a:latin typeface="Helvetica Neue"/>
                <a:ea typeface="Helvetica Neue"/>
                <a:cs typeface="Helvetica Neue"/>
              </a:defRPr>
            </a:lvl4pPr>
            <a:lvl5pPr>
              <a:defRPr sz="2175" b="1">
                <a:solidFill>
                  <a:srgbClr val="366AA8"/>
                </a:solidFill>
                <a:latin typeface="Helvetica Neue"/>
                <a:ea typeface="Helvetica Neue"/>
                <a:cs typeface="Helvetica Neue"/>
              </a:defRPr>
            </a:lvl5pPr>
            <a:lvl6pPr>
              <a:defRPr sz="2175" b="1">
                <a:solidFill>
                  <a:srgbClr val="366AA8"/>
                </a:solidFill>
                <a:latin typeface="Helvetica Neue"/>
                <a:ea typeface="Helvetica Neue"/>
                <a:cs typeface="Helvetica Neue"/>
              </a:defRPr>
            </a:lvl6pPr>
            <a:lvl7pPr>
              <a:defRPr sz="2175" b="1">
                <a:solidFill>
                  <a:srgbClr val="366AA8"/>
                </a:solidFill>
                <a:latin typeface="Helvetica Neue"/>
                <a:ea typeface="Helvetica Neue"/>
                <a:cs typeface="Helvetica Neue"/>
              </a:defRPr>
            </a:lvl7pPr>
            <a:lvl8pPr>
              <a:defRPr sz="2175" b="1">
                <a:solidFill>
                  <a:srgbClr val="366AA8"/>
                </a:solidFill>
                <a:latin typeface="Helvetica Neue"/>
                <a:ea typeface="Helvetica Neue"/>
                <a:cs typeface="Helvetica Neue"/>
              </a:defRPr>
            </a:lvl8pPr>
            <a:lvl9pPr>
              <a:defRPr sz="2175" b="1">
                <a:solidFill>
                  <a:srgbClr val="366AA8"/>
                </a:solidFill>
                <a:latin typeface="Helvetica Neue"/>
                <a:ea typeface="Helvetica Neue"/>
                <a:cs typeface="Helvetica Neue"/>
              </a:defRPr>
            </a:lvl9pPr>
          </a:lstStyle>
          <a:p xmlns:a="http://schemas.openxmlformats.org/drawingml/2006/main">
            <a:pPr>
              <a:defRPr sz="2175" b="1">
                <a:solidFill>
                  <a:srgbClr val="366AA8"/>
                </a:solidFill>
                <a:latin typeface="Helvetica Neue"/>
                <a:ea typeface="Helvetica Neue"/>
                <a:cs typeface="Helvetica Neue"/>
              </a:defRPr>
            </a:pPr>
            <a:r>
              <a:rPr sz="2175" b="1">
                <a:solidFill>
                  <a:srgbClr val="366AA8"/>
                </a:solidFill>
                <a:latin typeface="Helvetica Neue"/>
                <a:ea typeface="Helvetica Neue"/>
                <a:cs typeface="Helvetica Neue"/>
              </a:rPr>
              <a:t>Stay attached to the</a:t>
            </a:r>
          </a:p>
          <a:p xmlns:a="http://schemas.openxmlformats.org/drawingml/2006/main">
            <a:pPr>
              <a:defRPr sz="2175" b="1">
                <a:solidFill>
                  <a:srgbClr val="366AA8"/>
                </a:solidFill>
                <a:latin typeface="Helvetica Neue"/>
                <a:ea typeface="Helvetica Neue"/>
                <a:cs typeface="Helvetica Neue"/>
              </a:defRPr>
            </a:pPr>
            <a:r>
              <a:rPr sz="2175" b="1">
                <a:solidFill>
                  <a:srgbClr val="366AA8"/>
                </a:solidFill>
                <a:latin typeface="Helvetica Neue"/>
                <a:ea typeface="Helvetica Neue"/>
                <a:cs typeface="Helvetica Neue"/>
              </a:rPr>
              <a:t>neighboring materials.</a:t>
            </a:r>
          </a:p>
        </p:txBody>
      </p:sp>
      <p:sp>
        <p:nvSpPr>
          <p:cNvPr id="10" name="">
            <a:extLst xmlns:a="http://schemas.openxmlformats.org/drawingml/2006/main">
              <a:ext uri="{FF2B5EF4-FFF2-40B4-BE49-F238E27FC236}">
                <a16:creationId xmlns:a16="http://schemas.microsoft.com/office/drawing/2014/main" id="{99726B17-4427-46C9-B3F8-AB08ADAC2FD1}"/>
              </a:ext>
            </a:extLst>
          </p:cNvPr>
          <p:cNvSpPr>
            <a:spLocks xmlns:a="http://schemas.openxmlformats.org/drawingml/2006/main" noGrp="1"/>
          </p:cNvSpPr>
          <p:nvPr/>
        </p:nvSpPr>
        <p:spPr>
          <a:xfrm xmlns:a="http://schemas.openxmlformats.org/drawingml/2006/main">
            <a:off x="7572375" y="5257800"/>
            <a:ext cx="4038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472"/>
                </a:solidFill>
                <a:latin typeface="Helvetica Neue"/>
                <a:ea typeface="Helvetica Neue"/>
                <a:cs typeface="Helvetica Neue"/>
              </a:defRPr>
            </a:defPPr>
            <a:lvl1pPr>
              <a:defRPr sz="1950" b="0">
                <a:solidFill>
                  <a:srgbClr val="526472"/>
                </a:solidFill>
                <a:latin typeface="Helvetica Neue"/>
                <a:ea typeface="Helvetica Neue"/>
                <a:cs typeface="Helvetica Neue"/>
              </a:defRPr>
            </a:lvl1pPr>
            <a:lvl2pPr>
              <a:defRPr sz="1950" b="0">
                <a:solidFill>
                  <a:srgbClr val="526472"/>
                </a:solidFill>
                <a:latin typeface="Helvetica Neue"/>
                <a:ea typeface="Helvetica Neue"/>
                <a:cs typeface="Helvetica Neue"/>
              </a:defRPr>
            </a:lvl2pPr>
            <a:lvl3pPr>
              <a:defRPr sz="1950" b="0">
                <a:solidFill>
                  <a:srgbClr val="526472"/>
                </a:solidFill>
                <a:latin typeface="Helvetica Neue"/>
                <a:ea typeface="Helvetica Neue"/>
                <a:cs typeface="Helvetica Neue"/>
              </a:defRPr>
            </a:lvl3pPr>
            <a:lvl4pPr>
              <a:defRPr sz="1950" b="0">
                <a:solidFill>
                  <a:srgbClr val="526472"/>
                </a:solidFill>
                <a:latin typeface="Helvetica Neue"/>
                <a:ea typeface="Helvetica Neue"/>
                <a:cs typeface="Helvetica Neue"/>
              </a:defRPr>
            </a:lvl4pPr>
            <a:lvl5pPr>
              <a:defRPr sz="1950" b="0">
                <a:solidFill>
                  <a:srgbClr val="526472"/>
                </a:solidFill>
                <a:latin typeface="Helvetica Neue"/>
                <a:ea typeface="Helvetica Neue"/>
                <a:cs typeface="Helvetica Neue"/>
              </a:defRPr>
            </a:lvl5pPr>
            <a:lvl6pPr>
              <a:defRPr sz="1950" b="0">
                <a:solidFill>
                  <a:srgbClr val="526472"/>
                </a:solidFill>
                <a:latin typeface="Helvetica Neue"/>
                <a:ea typeface="Helvetica Neue"/>
                <a:cs typeface="Helvetica Neue"/>
              </a:defRPr>
            </a:lvl6pPr>
            <a:lvl7pPr>
              <a:defRPr sz="1950" b="0">
                <a:solidFill>
                  <a:srgbClr val="526472"/>
                </a:solidFill>
                <a:latin typeface="Helvetica Neue"/>
                <a:ea typeface="Helvetica Neue"/>
                <a:cs typeface="Helvetica Neue"/>
              </a:defRPr>
            </a:lvl7pPr>
            <a:lvl8pPr>
              <a:defRPr sz="1950" b="0">
                <a:solidFill>
                  <a:srgbClr val="526472"/>
                </a:solidFill>
                <a:latin typeface="Helvetica Neue"/>
                <a:ea typeface="Helvetica Neue"/>
                <a:cs typeface="Helvetica Neue"/>
              </a:defRPr>
            </a:lvl8pPr>
            <a:lvl9pPr>
              <a:defRPr sz="1950" b="0">
                <a:solidFill>
                  <a:srgbClr val="526472"/>
                </a:solidFill>
                <a:latin typeface="Helvetica Neue"/>
                <a:ea typeface="Helvetica Neue"/>
                <a:cs typeface="Helvetica Neue"/>
              </a:defRPr>
            </a:lvl9pPr>
          </a:lstStyle>
          <a:p xmlns:a="http://schemas.openxmlformats.org/drawingml/2006/main">
            <a:pPr>
              <a:defRPr sz="1950" b="0">
                <a:solidFill>
                  <a:srgbClr val="526472"/>
                </a:solidFill>
                <a:latin typeface="Helvetica Neue"/>
                <a:ea typeface="Helvetica Neue"/>
                <a:cs typeface="Helvetica Neue"/>
              </a:defRPr>
            </a:pPr>
            <a:r>
              <a:rPr sz="1950" b="0">
                <a:solidFill>
                  <a:srgbClr val="526472"/>
                </a:solidFill>
                <a:latin typeface="Helvetica Neue"/>
                <a:ea typeface="Helvetica Neue"/>
                <a:cs typeface="Helvetica Neue"/>
              </a:rPr>
              <a:t>Lithium ions must also pass</a:t>
            </a:r>
          </a:p>
          <a:p xmlns:a="http://schemas.openxmlformats.org/drawingml/2006/main">
            <a:pPr>
              <a:defRPr sz="1950" b="0">
                <a:solidFill>
                  <a:srgbClr val="526472"/>
                </a:solidFill>
                <a:latin typeface="Helvetica Neue"/>
                <a:ea typeface="Helvetica Neue"/>
                <a:cs typeface="Helvetica Neue"/>
              </a:defRPr>
            </a:pPr>
            <a:r>
              <a:rPr sz="1950" b="0">
                <a:solidFill>
                  <a:srgbClr val="526472"/>
                </a:solidFill>
                <a:latin typeface="Helvetica Neue"/>
                <a:ea typeface="Helvetica Neue"/>
                <a:cs typeface="Helvetica Neue"/>
              </a:rPr>
              <a:t>through. That was not tested.</a:t>
            </a:r>
          </a:p>
        </p:txBody>
      </p:sp>
    </p:spTree>
    <p:extLst>
      <p:ext uri="{BB962C8B-B14F-4D97-AF65-F5344CB8AC3E}">
        <p14:creationId xmlns:p14="http://schemas.microsoft.com/office/powerpoint/2010/main" val="924646047"/>
      </p:ext>
    </p:extLst>
  </p:cSld>
</p:sld>
</file>

<file path=ppt/slides/slide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4F0925D-573E-4FAB-9836-CC3354C3A16A}"/>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THE DECISION BEING TESTED</a:t>
            </a:r>
          </a:p>
        </p:txBody>
      </p:sp>
      <p:sp>
        <p:nvSpPr>
          <p:cNvPr id="2" name="">
            <a:extLst xmlns:a="http://schemas.openxmlformats.org/drawingml/2006/main">
              <a:ext uri="{FF2B5EF4-FFF2-40B4-BE49-F238E27FC236}">
                <a16:creationId xmlns:a16="http://schemas.microsoft.com/office/drawing/2014/main" id="{31BDDF25-C620-4826-A3F4-8AB279260365}"/>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Why the LLM is central</a:t>
            </a:r>
          </a:p>
        </p:txBody>
      </p:sp>
      <p:sp>
        <p:nvSpPr>
          <p:cNvPr id="3" name="">
            <a:extLst xmlns:a="http://schemas.openxmlformats.org/drawingml/2006/main">
              <a:ext uri="{FF2B5EF4-FFF2-40B4-BE49-F238E27FC236}">
                <a16:creationId xmlns:a16="http://schemas.microsoft.com/office/drawing/2014/main" id="{342DF1AD-0FD9-4E3E-96C3-210AD1BDFE43}"/>
              </a:ext>
            </a:extLst>
          </p:cNvPr>
          <p:cNvSpPr>
            <a:spLocks xmlns:a="http://schemas.openxmlformats.org/drawingml/2006/main" noGrp="1"/>
          </p:cNvSpPr>
          <p:nvPr/>
        </p:nvSpPr>
        <p:spPr>
          <a:xfrm xmlns:a="http://schemas.openxmlformats.org/drawingml/2006/main">
            <a:off x="533400" y="147637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defRPr sz="2025" b="0">
                <a:solidFill>
                  <a:srgbClr val="526472"/>
                </a:solidFill>
                <a:latin typeface="Helvetica Neue"/>
                <a:ea typeface="Helvetica Neue"/>
                <a:cs typeface="Helvetica Neue"/>
              </a:defRPr>
            </a:lvl1pPr>
            <a:lvl2pPr>
              <a:defRPr sz="2025" b="0">
                <a:solidFill>
                  <a:srgbClr val="526472"/>
                </a:solidFill>
                <a:latin typeface="Helvetica Neue"/>
                <a:ea typeface="Helvetica Neue"/>
                <a:cs typeface="Helvetica Neue"/>
              </a:defRPr>
            </a:lvl2pPr>
            <a:lvl3pPr>
              <a:defRPr sz="2025" b="0">
                <a:solidFill>
                  <a:srgbClr val="526472"/>
                </a:solidFill>
                <a:latin typeface="Helvetica Neue"/>
                <a:ea typeface="Helvetica Neue"/>
                <a:cs typeface="Helvetica Neue"/>
              </a:defRPr>
            </a:lvl3pPr>
            <a:lvl4pPr>
              <a:defRPr sz="2025" b="0">
                <a:solidFill>
                  <a:srgbClr val="526472"/>
                </a:solidFill>
                <a:latin typeface="Helvetica Neue"/>
                <a:ea typeface="Helvetica Neue"/>
                <a:cs typeface="Helvetica Neue"/>
              </a:defRPr>
            </a:lvl4pPr>
            <a:lvl5pPr>
              <a:defRPr sz="2025" b="0">
                <a:solidFill>
                  <a:srgbClr val="526472"/>
                </a:solidFill>
                <a:latin typeface="Helvetica Neue"/>
                <a:ea typeface="Helvetica Neue"/>
                <a:cs typeface="Helvetica Neue"/>
              </a:defRPr>
            </a:lvl5pPr>
            <a:lvl6pPr>
              <a:defRPr sz="2025" b="0">
                <a:solidFill>
                  <a:srgbClr val="526472"/>
                </a:solidFill>
                <a:latin typeface="Helvetica Neue"/>
                <a:ea typeface="Helvetica Neue"/>
                <a:cs typeface="Helvetica Neue"/>
              </a:defRPr>
            </a:lvl6pPr>
            <a:lvl7pPr>
              <a:defRPr sz="2025" b="0">
                <a:solidFill>
                  <a:srgbClr val="526472"/>
                </a:solidFill>
                <a:latin typeface="Helvetica Neue"/>
                <a:ea typeface="Helvetica Neue"/>
                <a:cs typeface="Helvetica Neue"/>
              </a:defRPr>
            </a:lvl7pPr>
            <a:lvl8pPr>
              <a:defRPr sz="2025" b="0">
                <a:solidFill>
                  <a:srgbClr val="526472"/>
                </a:solidFill>
                <a:latin typeface="Helvetica Neue"/>
                <a:ea typeface="Helvetica Neue"/>
                <a:cs typeface="Helvetica Neue"/>
              </a:defRPr>
            </a:lvl8pPr>
            <a:lvl9pPr>
              <a:defRPr sz="2025" b="0">
                <a:solidFill>
                  <a:srgbClr val="526472"/>
                </a:solidFill>
                <a:latin typeface="Helvetica Neue"/>
                <a:ea typeface="Helvetica Neue"/>
                <a:cs typeface="Helvetica Neue"/>
              </a:defRPr>
            </a:lvl9pPr>
          </a:lstStyle>
          <a:p xmlns:a="http://schemas.openxmlformats.org/drawingml/2006/main">
            <a:pPr>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LLM = large language model. Here, it chooses what to calculate next.</a:t>
            </a:r>
          </a:p>
        </p:txBody>
      </p:sp>
      <p:sp>
        <p:nvSpPr>
          <p:cNvPr id="4" name="">
            <a:extLst xmlns:a="http://schemas.openxmlformats.org/drawingml/2006/main">
              <a:ext uri="{FF2B5EF4-FFF2-40B4-BE49-F238E27FC236}">
                <a16:creationId xmlns:a16="http://schemas.microsoft.com/office/drawing/2014/main" id="{D16824FE-D054-40B1-8C19-ADCC874DA72A}"/>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3F408964-DAA8-4EB9-AA36-59D58C4D2796}"/>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03</a:t>
            </a:r>
          </a:p>
        </p:txBody>
      </p:sp>
      <p:sp>
        <p:nvSpPr>
          <p:cNvPr id="6" name="">
            <a:extLst xmlns:a="http://schemas.openxmlformats.org/drawingml/2006/main">
              <a:ext uri="{FF2B5EF4-FFF2-40B4-BE49-F238E27FC236}">
                <a16:creationId xmlns:a16="http://schemas.microsoft.com/office/drawing/2014/main" id="{851EE952-8584-431D-BC95-2F7AA8951D23}"/>
              </a:ext>
            </a:extLst>
          </p:cNvPr>
          <p:cNvSpPr>
            <a:spLocks xmlns:a="http://schemas.openxmlformats.org/drawingml/2006/main" noGrp="1"/>
          </p:cNvSpPr>
          <p:nvPr/>
        </p:nvSpPr>
        <p:spPr>
          <a:xfrm xmlns:a="http://schemas.openxmlformats.org/drawingml/2006/main">
            <a:off x="533400" y="221932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7F7B"/>
                </a:solidFill>
                <a:latin typeface="Helvetica Neue"/>
                <a:ea typeface="Helvetica Neue"/>
                <a:cs typeface="Helvetica Neue"/>
              </a:defRPr>
            </a:defPPr>
            <a:lvl1pPr>
              <a:defRPr sz="3225" b="1">
                <a:solidFill>
                  <a:srgbClr val="007F7B"/>
                </a:solidFill>
                <a:latin typeface="Helvetica Neue"/>
                <a:ea typeface="Helvetica Neue"/>
                <a:cs typeface="Helvetica Neue"/>
              </a:defRPr>
            </a:lvl1pPr>
            <a:lvl2pPr>
              <a:defRPr sz="3225" b="1">
                <a:solidFill>
                  <a:srgbClr val="007F7B"/>
                </a:solidFill>
                <a:latin typeface="Helvetica Neue"/>
                <a:ea typeface="Helvetica Neue"/>
                <a:cs typeface="Helvetica Neue"/>
              </a:defRPr>
            </a:lvl2pPr>
            <a:lvl3pPr>
              <a:defRPr sz="3225" b="1">
                <a:solidFill>
                  <a:srgbClr val="007F7B"/>
                </a:solidFill>
                <a:latin typeface="Helvetica Neue"/>
                <a:ea typeface="Helvetica Neue"/>
                <a:cs typeface="Helvetica Neue"/>
              </a:defRPr>
            </a:lvl3pPr>
            <a:lvl4pPr>
              <a:defRPr sz="3225" b="1">
                <a:solidFill>
                  <a:srgbClr val="007F7B"/>
                </a:solidFill>
                <a:latin typeface="Helvetica Neue"/>
                <a:ea typeface="Helvetica Neue"/>
                <a:cs typeface="Helvetica Neue"/>
              </a:defRPr>
            </a:lvl4pPr>
            <a:lvl5pPr>
              <a:defRPr sz="3225" b="1">
                <a:solidFill>
                  <a:srgbClr val="007F7B"/>
                </a:solidFill>
                <a:latin typeface="Helvetica Neue"/>
                <a:ea typeface="Helvetica Neue"/>
                <a:cs typeface="Helvetica Neue"/>
              </a:defRPr>
            </a:lvl5pPr>
            <a:lvl6pPr>
              <a:defRPr sz="3225" b="1">
                <a:solidFill>
                  <a:srgbClr val="007F7B"/>
                </a:solidFill>
                <a:latin typeface="Helvetica Neue"/>
                <a:ea typeface="Helvetica Neue"/>
                <a:cs typeface="Helvetica Neue"/>
              </a:defRPr>
            </a:lvl6pPr>
            <a:lvl7pPr>
              <a:defRPr sz="3225" b="1">
                <a:solidFill>
                  <a:srgbClr val="007F7B"/>
                </a:solidFill>
                <a:latin typeface="Helvetica Neue"/>
                <a:ea typeface="Helvetica Neue"/>
                <a:cs typeface="Helvetica Neue"/>
              </a:defRPr>
            </a:lvl7pPr>
            <a:lvl8pPr>
              <a:defRPr sz="3225" b="1">
                <a:solidFill>
                  <a:srgbClr val="007F7B"/>
                </a:solidFill>
                <a:latin typeface="Helvetica Neue"/>
                <a:ea typeface="Helvetica Neue"/>
                <a:cs typeface="Helvetica Neue"/>
              </a:defRPr>
            </a:lvl8pPr>
            <a:lvl9pPr>
              <a:defRPr sz="3225" b="1">
                <a:solidFill>
                  <a:srgbClr val="007F7B"/>
                </a:solidFill>
                <a:latin typeface="Helvetica Neue"/>
                <a:ea typeface="Helvetica Neue"/>
                <a:cs typeface="Helvetica Neue"/>
              </a:defRPr>
            </a:lvl9pPr>
          </a:lstStyle>
          <a:p xmlns:a="http://schemas.openxmlformats.org/drawingml/2006/main">
            <a:pPr>
              <a:defRPr sz="3225" b="1">
                <a:solidFill>
                  <a:srgbClr val="007F7B"/>
                </a:solidFill>
                <a:latin typeface="Helvetica Neue"/>
                <a:ea typeface="Helvetica Neue"/>
                <a:cs typeface="Helvetica Neue"/>
              </a:defRPr>
            </a:pPr>
            <a:r>
              <a:rPr sz="3225" b="1">
                <a:solidFill>
                  <a:srgbClr val="007F7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959B01E0-8B65-47A9-9240-E1DA9085A632}"/>
              </a:ext>
            </a:extLst>
          </p:cNvPr>
          <p:cNvSpPr>
            <a:spLocks xmlns:a="http://schemas.openxmlformats.org/drawingml/2006/main" noGrp="1"/>
          </p:cNvSpPr>
          <p:nvPr/>
        </p:nvSpPr>
        <p:spPr>
          <a:xfrm xmlns:a="http://schemas.openxmlformats.org/drawingml/2006/main">
            <a:off x="1657350" y="2219325"/>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defRPr sz="2325" b="1">
                <a:solidFill>
                  <a:srgbClr val="172B3A"/>
                </a:solidFill>
                <a:latin typeface="Helvetica Neue"/>
                <a:ea typeface="Helvetica Neue"/>
                <a:cs typeface="Helvetica Neue"/>
              </a:defRPr>
            </a:lvl1pPr>
            <a:lvl2pPr>
              <a:defRPr sz="2325" b="1">
                <a:solidFill>
                  <a:srgbClr val="172B3A"/>
                </a:solidFill>
                <a:latin typeface="Helvetica Neue"/>
                <a:ea typeface="Helvetica Neue"/>
                <a:cs typeface="Helvetica Neue"/>
              </a:defRPr>
            </a:lvl2pPr>
            <a:lvl3pPr>
              <a:defRPr sz="2325" b="1">
                <a:solidFill>
                  <a:srgbClr val="172B3A"/>
                </a:solidFill>
                <a:latin typeface="Helvetica Neue"/>
                <a:ea typeface="Helvetica Neue"/>
                <a:cs typeface="Helvetica Neue"/>
              </a:defRPr>
            </a:lvl3pPr>
            <a:lvl4pPr>
              <a:defRPr sz="2325" b="1">
                <a:solidFill>
                  <a:srgbClr val="172B3A"/>
                </a:solidFill>
                <a:latin typeface="Helvetica Neue"/>
                <a:ea typeface="Helvetica Neue"/>
                <a:cs typeface="Helvetica Neue"/>
              </a:defRPr>
            </a:lvl4pPr>
            <a:lvl5pPr>
              <a:defRPr sz="2325" b="1">
                <a:solidFill>
                  <a:srgbClr val="172B3A"/>
                </a:solidFill>
                <a:latin typeface="Helvetica Neue"/>
                <a:ea typeface="Helvetica Neue"/>
                <a:cs typeface="Helvetica Neue"/>
              </a:defRPr>
            </a:lvl5pPr>
            <a:lvl6pPr>
              <a:defRPr sz="2325" b="1">
                <a:solidFill>
                  <a:srgbClr val="172B3A"/>
                </a:solidFill>
                <a:latin typeface="Helvetica Neue"/>
                <a:ea typeface="Helvetica Neue"/>
                <a:cs typeface="Helvetica Neue"/>
              </a:defRPr>
            </a:lvl6pPr>
            <a:lvl7pPr>
              <a:defRPr sz="2325" b="1">
                <a:solidFill>
                  <a:srgbClr val="172B3A"/>
                </a:solidFill>
                <a:latin typeface="Helvetica Neue"/>
                <a:ea typeface="Helvetica Neue"/>
                <a:cs typeface="Helvetica Neue"/>
              </a:defRPr>
            </a:lvl7pPr>
            <a:lvl8pPr>
              <a:defRPr sz="2325" b="1">
                <a:solidFill>
                  <a:srgbClr val="172B3A"/>
                </a:solidFill>
                <a:latin typeface="Helvetica Neue"/>
                <a:ea typeface="Helvetica Neue"/>
                <a:cs typeface="Helvetica Neue"/>
              </a:defRPr>
            </a:lvl8pPr>
            <a:lvl9pPr>
              <a:defRPr sz="2325" b="1">
                <a:solidFill>
                  <a:srgbClr val="172B3A"/>
                </a:solidFill>
                <a:latin typeface="Helvetica Neue"/>
                <a:ea typeface="Helvetica Neue"/>
                <a:cs typeface="Helvetica Neue"/>
              </a:defRPr>
            </a:lvl9pPr>
          </a:lstStyle>
          <a:p xmlns:a="http://schemas.openxmlformats.org/drawingml/2006/main">
            <a:pPr>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Connect chemistry to a candidate</a:t>
            </a:r>
          </a:p>
        </p:txBody>
      </p:sp>
      <p:sp>
        <p:nvSpPr>
          <p:cNvPr id="8" name="">
            <a:extLst xmlns:a="http://schemas.openxmlformats.org/drawingml/2006/main">
              <a:ext uri="{FF2B5EF4-FFF2-40B4-BE49-F238E27FC236}">
                <a16:creationId xmlns:a16="http://schemas.microsoft.com/office/drawing/2014/main" id="{AC88D9A3-094E-4046-B1AE-F0EC0518E630}"/>
              </a:ext>
            </a:extLst>
          </p:cNvPr>
          <p:cNvSpPr>
            <a:spLocks xmlns:a="http://schemas.openxmlformats.org/drawingml/2006/main" noGrp="1"/>
          </p:cNvSpPr>
          <p:nvPr/>
        </p:nvSpPr>
        <p:spPr>
          <a:xfrm xmlns:a="http://schemas.openxmlformats.org/drawingml/2006/main">
            <a:off x="1657350" y="2686050"/>
            <a:ext cx="985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defRPr sz="2100" b="0">
                <a:solidFill>
                  <a:srgbClr val="526472"/>
                </a:solidFill>
                <a:latin typeface="Helvetica Neue"/>
                <a:ea typeface="Helvetica Neue"/>
                <a:cs typeface="Helvetica Neue"/>
              </a:defRPr>
            </a:lvl1pPr>
            <a:lvl2pPr>
              <a:defRPr sz="2100" b="0">
                <a:solidFill>
                  <a:srgbClr val="526472"/>
                </a:solidFill>
                <a:latin typeface="Helvetica Neue"/>
                <a:ea typeface="Helvetica Neue"/>
                <a:cs typeface="Helvetica Neue"/>
              </a:defRPr>
            </a:lvl2pPr>
            <a:lvl3pPr>
              <a:defRPr sz="2100" b="0">
                <a:solidFill>
                  <a:srgbClr val="526472"/>
                </a:solidFill>
                <a:latin typeface="Helvetica Neue"/>
                <a:ea typeface="Helvetica Neue"/>
                <a:cs typeface="Helvetica Neue"/>
              </a:defRPr>
            </a:lvl3pPr>
            <a:lvl4pPr>
              <a:defRPr sz="2100" b="0">
                <a:solidFill>
                  <a:srgbClr val="526472"/>
                </a:solidFill>
                <a:latin typeface="Helvetica Neue"/>
                <a:ea typeface="Helvetica Neue"/>
                <a:cs typeface="Helvetica Neue"/>
              </a:defRPr>
            </a:lvl4pPr>
            <a:lvl5pPr>
              <a:defRPr sz="2100" b="0">
                <a:solidFill>
                  <a:srgbClr val="526472"/>
                </a:solidFill>
                <a:latin typeface="Helvetica Neue"/>
                <a:ea typeface="Helvetica Neue"/>
                <a:cs typeface="Helvetica Neue"/>
              </a:defRPr>
            </a:lvl5pPr>
            <a:lvl6pPr>
              <a:defRPr sz="2100" b="0">
                <a:solidFill>
                  <a:srgbClr val="526472"/>
                </a:solidFill>
                <a:latin typeface="Helvetica Neue"/>
                <a:ea typeface="Helvetica Neue"/>
                <a:cs typeface="Helvetica Neue"/>
              </a:defRPr>
            </a:lvl6pPr>
            <a:lvl7pPr>
              <a:defRPr sz="2100" b="0">
                <a:solidFill>
                  <a:srgbClr val="526472"/>
                </a:solidFill>
                <a:latin typeface="Helvetica Neue"/>
                <a:ea typeface="Helvetica Neue"/>
                <a:cs typeface="Helvetica Neue"/>
              </a:defRPr>
            </a:lvl7pPr>
            <a:lvl8pPr>
              <a:defRPr sz="2100" b="0">
                <a:solidFill>
                  <a:srgbClr val="526472"/>
                </a:solidFill>
                <a:latin typeface="Helvetica Neue"/>
                <a:ea typeface="Helvetica Neue"/>
                <a:cs typeface="Helvetica Neue"/>
              </a:defRPr>
            </a:lvl8pPr>
            <a:lvl9pPr>
              <a:defRPr sz="2100" b="0">
                <a:solidFill>
                  <a:srgbClr val="526472"/>
                </a:solidFill>
                <a:latin typeface="Helvetica Neue"/>
                <a:ea typeface="Helvetica Neue"/>
                <a:cs typeface="Helvetica Neue"/>
              </a:defRPr>
            </a:lvl9pPr>
          </a:lstStyle>
          <a:p xmlns:a="http://schemas.openxmlformats.org/drawingml/2006/main">
            <a:pPr>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Choose a known material and explain why it might work.</a:t>
            </a:r>
          </a:p>
        </p:txBody>
      </p:sp>
      <p:sp>
        <p:nvSpPr>
          <p:cNvPr id="9" name="">
            <a:extLst xmlns:a="http://schemas.openxmlformats.org/drawingml/2006/main">
              <a:ext uri="{FF2B5EF4-FFF2-40B4-BE49-F238E27FC236}">
                <a16:creationId xmlns:a16="http://schemas.microsoft.com/office/drawing/2014/main" id="{DAFF9726-C477-4DD7-876E-376DFA35026D}"/>
              </a:ext>
            </a:extLst>
          </p:cNvPr>
          <p:cNvSpPr>
            <a:spLocks xmlns:a="http://schemas.openxmlformats.org/drawingml/2006/main" noGrp="1"/>
          </p:cNvSpPr>
          <p:nvPr/>
        </p:nvSpPr>
        <p:spPr>
          <a:xfrm xmlns:a="http://schemas.openxmlformats.org/drawingml/2006/main">
            <a:off x="533400" y="340042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7F7B"/>
                </a:solidFill>
                <a:latin typeface="Helvetica Neue"/>
                <a:ea typeface="Helvetica Neue"/>
                <a:cs typeface="Helvetica Neue"/>
              </a:defRPr>
            </a:defPPr>
            <a:lvl1pPr>
              <a:defRPr sz="3225" b="1">
                <a:solidFill>
                  <a:srgbClr val="007F7B"/>
                </a:solidFill>
                <a:latin typeface="Helvetica Neue"/>
                <a:ea typeface="Helvetica Neue"/>
                <a:cs typeface="Helvetica Neue"/>
              </a:defRPr>
            </a:lvl1pPr>
            <a:lvl2pPr>
              <a:defRPr sz="3225" b="1">
                <a:solidFill>
                  <a:srgbClr val="007F7B"/>
                </a:solidFill>
                <a:latin typeface="Helvetica Neue"/>
                <a:ea typeface="Helvetica Neue"/>
                <a:cs typeface="Helvetica Neue"/>
              </a:defRPr>
            </a:lvl2pPr>
            <a:lvl3pPr>
              <a:defRPr sz="3225" b="1">
                <a:solidFill>
                  <a:srgbClr val="007F7B"/>
                </a:solidFill>
                <a:latin typeface="Helvetica Neue"/>
                <a:ea typeface="Helvetica Neue"/>
                <a:cs typeface="Helvetica Neue"/>
              </a:defRPr>
            </a:lvl3pPr>
            <a:lvl4pPr>
              <a:defRPr sz="3225" b="1">
                <a:solidFill>
                  <a:srgbClr val="007F7B"/>
                </a:solidFill>
                <a:latin typeface="Helvetica Neue"/>
                <a:ea typeface="Helvetica Neue"/>
                <a:cs typeface="Helvetica Neue"/>
              </a:defRPr>
            </a:lvl4pPr>
            <a:lvl5pPr>
              <a:defRPr sz="3225" b="1">
                <a:solidFill>
                  <a:srgbClr val="007F7B"/>
                </a:solidFill>
                <a:latin typeface="Helvetica Neue"/>
                <a:ea typeface="Helvetica Neue"/>
                <a:cs typeface="Helvetica Neue"/>
              </a:defRPr>
            </a:lvl5pPr>
            <a:lvl6pPr>
              <a:defRPr sz="3225" b="1">
                <a:solidFill>
                  <a:srgbClr val="007F7B"/>
                </a:solidFill>
                <a:latin typeface="Helvetica Neue"/>
                <a:ea typeface="Helvetica Neue"/>
                <a:cs typeface="Helvetica Neue"/>
              </a:defRPr>
            </a:lvl6pPr>
            <a:lvl7pPr>
              <a:defRPr sz="3225" b="1">
                <a:solidFill>
                  <a:srgbClr val="007F7B"/>
                </a:solidFill>
                <a:latin typeface="Helvetica Neue"/>
                <a:ea typeface="Helvetica Neue"/>
                <a:cs typeface="Helvetica Neue"/>
              </a:defRPr>
            </a:lvl7pPr>
            <a:lvl8pPr>
              <a:defRPr sz="3225" b="1">
                <a:solidFill>
                  <a:srgbClr val="007F7B"/>
                </a:solidFill>
                <a:latin typeface="Helvetica Neue"/>
                <a:ea typeface="Helvetica Neue"/>
                <a:cs typeface="Helvetica Neue"/>
              </a:defRPr>
            </a:lvl8pPr>
            <a:lvl9pPr>
              <a:defRPr sz="3225" b="1">
                <a:solidFill>
                  <a:srgbClr val="007F7B"/>
                </a:solidFill>
                <a:latin typeface="Helvetica Neue"/>
                <a:ea typeface="Helvetica Neue"/>
                <a:cs typeface="Helvetica Neue"/>
              </a:defRPr>
            </a:lvl9pPr>
          </a:lstStyle>
          <a:p xmlns:a="http://schemas.openxmlformats.org/drawingml/2006/main">
            <a:pPr>
              <a:defRPr sz="3225" b="1">
                <a:solidFill>
                  <a:srgbClr val="007F7B"/>
                </a:solidFill>
                <a:latin typeface="Helvetica Neue"/>
                <a:ea typeface="Helvetica Neue"/>
                <a:cs typeface="Helvetica Neue"/>
              </a:defRPr>
            </a:pPr>
            <a:r>
              <a:rPr sz="3225" b="1">
                <a:solidFill>
                  <a:srgbClr val="007F7B"/>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E89BA153-A036-468E-B0E3-4083997DEDCA}"/>
              </a:ext>
            </a:extLst>
          </p:cNvPr>
          <p:cNvSpPr>
            <a:spLocks xmlns:a="http://schemas.openxmlformats.org/drawingml/2006/main" noGrp="1"/>
          </p:cNvSpPr>
          <p:nvPr/>
        </p:nvSpPr>
        <p:spPr>
          <a:xfrm xmlns:a="http://schemas.openxmlformats.org/drawingml/2006/main">
            <a:off x="1657350" y="3400425"/>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defRPr sz="2325" b="1">
                <a:solidFill>
                  <a:srgbClr val="172B3A"/>
                </a:solidFill>
                <a:latin typeface="Helvetica Neue"/>
                <a:ea typeface="Helvetica Neue"/>
                <a:cs typeface="Helvetica Neue"/>
              </a:defRPr>
            </a:lvl1pPr>
            <a:lvl2pPr>
              <a:defRPr sz="2325" b="1">
                <a:solidFill>
                  <a:srgbClr val="172B3A"/>
                </a:solidFill>
                <a:latin typeface="Helvetica Neue"/>
                <a:ea typeface="Helvetica Neue"/>
                <a:cs typeface="Helvetica Neue"/>
              </a:defRPr>
            </a:lvl2pPr>
            <a:lvl3pPr>
              <a:defRPr sz="2325" b="1">
                <a:solidFill>
                  <a:srgbClr val="172B3A"/>
                </a:solidFill>
                <a:latin typeface="Helvetica Neue"/>
                <a:ea typeface="Helvetica Neue"/>
                <a:cs typeface="Helvetica Neue"/>
              </a:defRPr>
            </a:lvl3pPr>
            <a:lvl4pPr>
              <a:defRPr sz="2325" b="1">
                <a:solidFill>
                  <a:srgbClr val="172B3A"/>
                </a:solidFill>
                <a:latin typeface="Helvetica Neue"/>
                <a:ea typeface="Helvetica Neue"/>
                <a:cs typeface="Helvetica Neue"/>
              </a:defRPr>
            </a:lvl4pPr>
            <a:lvl5pPr>
              <a:defRPr sz="2325" b="1">
                <a:solidFill>
                  <a:srgbClr val="172B3A"/>
                </a:solidFill>
                <a:latin typeface="Helvetica Neue"/>
                <a:ea typeface="Helvetica Neue"/>
                <a:cs typeface="Helvetica Neue"/>
              </a:defRPr>
            </a:lvl5pPr>
            <a:lvl6pPr>
              <a:defRPr sz="2325" b="1">
                <a:solidFill>
                  <a:srgbClr val="172B3A"/>
                </a:solidFill>
                <a:latin typeface="Helvetica Neue"/>
                <a:ea typeface="Helvetica Neue"/>
                <a:cs typeface="Helvetica Neue"/>
              </a:defRPr>
            </a:lvl6pPr>
            <a:lvl7pPr>
              <a:defRPr sz="2325" b="1">
                <a:solidFill>
                  <a:srgbClr val="172B3A"/>
                </a:solidFill>
                <a:latin typeface="Helvetica Neue"/>
                <a:ea typeface="Helvetica Neue"/>
                <a:cs typeface="Helvetica Neue"/>
              </a:defRPr>
            </a:lvl7pPr>
            <a:lvl8pPr>
              <a:defRPr sz="2325" b="1">
                <a:solidFill>
                  <a:srgbClr val="172B3A"/>
                </a:solidFill>
                <a:latin typeface="Helvetica Neue"/>
                <a:ea typeface="Helvetica Neue"/>
                <a:cs typeface="Helvetica Neue"/>
              </a:defRPr>
            </a:lvl8pPr>
            <a:lvl9pPr>
              <a:defRPr sz="2325" b="1">
                <a:solidFill>
                  <a:srgbClr val="172B3A"/>
                </a:solidFill>
                <a:latin typeface="Helvetica Neue"/>
                <a:ea typeface="Helvetica Neue"/>
                <a:cs typeface="Helvetica Neue"/>
              </a:defRPr>
            </a:lvl9pPr>
          </a:lstStyle>
          <a:p xmlns:a="http://schemas.openxmlformats.org/drawingml/2006/main">
            <a:pPr>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Use the last result</a:t>
            </a:r>
          </a:p>
        </p:txBody>
      </p:sp>
      <p:sp>
        <p:nvSpPr>
          <p:cNvPr id="11" name="">
            <a:extLst xmlns:a="http://schemas.openxmlformats.org/drawingml/2006/main">
              <a:ext uri="{FF2B5EF4-FFF2-40B4-BE49-F238E27FC236}">
                <a16:creationId xmlns:a16="http://schemas.microsoft.com/office/drawing/2014/main" id="{491E705B-3641-421D-949D-495E4D39D968}"/>
              </a:ext>
            </a:extLst>
          </p:cNvPr>
          <p:cNvSpPr>
            <a:spLocks xmlns:a="http://schemas.openxmlformats.org/drawingml/2006/main" noGrp="1"/>
          </p:cNvSpPr>
          <p:nvPr/>
        </p:nvSpPr>
        <p:spPr>
          <a:xfrm xmlns:a="http://schemas.openxmlformats.org/drawingml/2006/main">
            <a:off x="1657350" y="3867150"/>
            <a:ext cx="985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defRPr sz="2100" b="0">
                <a:solidFill>
                  <a:srgbClr val="526472"/>
                </a:solidFill>
                <a:latin typeface="Helvetica Neue"/>
                <a:ea typeface="Helvetica Neue"/>
                <a:cs typeface="Helvetica Neue"/>
              </a:defRPr>
            </a:lvl1pPr>
            <a:lvl2pPr>
              <a:defRPr sz="2100" b="0">
                <a:solidFill>
                  <a:srgbClr val="526472"/>
                </a:solidFill>
                <a:latin typeface="Helvetica Neue"/>
                <a:ea typeface="Helvetica Neue"/>
                <a:cs typeface="Helvetica Neue"/>
              </a:defRPr>
            </a:lvl2pPr>
            <a:lvl3pPr>
              <a:defRPr sz="2100" b="0">
                <a:solidFill>
                  <a:srgbClr val="526472"/>
                </a:solidFill>
                <a:latin typeface="Helvetica Neue"/>
                <a:ea typeface="Helvetica Neue"/>
                <a:cs typeface="Helvetica Neue"/>
              </a:defRPr>
            </a:lvl3pPr>
            <a:lvl4pPr>
              <a:defRPr sz="2100" b="0">
                <a:solidFill>
                  <a:srgbClr val="526472"/>
                </a:solidFill>
                <a:latin typeface="Helvetica Neue"/>
                <a:ea typeface="Helvetica Neue"/>
                <a:cs typeface="Helvetica Neue"/>
              </a:defRPr>
            </a:lvl4pPr>
            <a:lvl5pPr>
              <a:defRPr sz="2100" b="0">
                <a:solidFill>
                  <a:srgbClr val="526472"/>
                </a:solidFill>
                <a:latin typeface="Helvetica Neue"/>
                <a:ea typeface="Helvetica Neue"/>
                <a:cs typeface="Helvetica Neue"/>
              </a:defRPr>
            </a:lvl5pPr>
            <a:lvl6pPr>
              <a:defRPr sz="2100" b="0">
                <a:solidFill>
                  <a:srgbClr val="526472"/>
                </a:solidFill>
                <a:latin typeface="Helvetica Neue"/>
                <a:ea typeface="Helvetica Neue"/>
                <a:cs typeface="Helvetica Neue"/>
              </a:defRPr>
            </a:lvl6pPr>
            <a:lvl7pPr>
              <a:defRPr sz="2100" b="0">
                <a:solidFill>
                  <a:srgbClr val="526472"/>
                </a:solidFill>
                <a:latin typeface="Helvetica Neue"/>
                <a:ea typeface="Helvetica Neue"/>
                <a:cs typeface="Helvetica Neue"/>
              </a:defRPr>
            </a:lvl7pPr>
            <a:lvl8pPr>
              <a:defRPr sz="2100" b="0">
                <a:solidFill>
                  <a:srgbClr val="526472"/>
                </a:solidFill>
                <a:latin typeface="Helvetica Neue"/>
                <a:ea typeface="Helvetica Neue"/>
                <a:cs typeface="Helvetica Neue"/>
              </a:defRPr>
            </a:lvl8pPr>
            <a:lvl9pPr>
              <a:defRPr sz="2100" b="0">
                <a:solidFill>
                  <a:srgbClr val="526472"/>
                </a:solidFill>
                <a:latin typeface="Helvetica Neue"/>
                <a:ea typeface="Helvetica Neue"/>
                <a:cs typeface="Helvetica Neue"/>
              </a:defRPr>
            </a:lvl9pPr>
          </a:lstStyle>
          <a:p xmlns:a="http://schemas.openxmlformats.org/drawingml/2006/main">
            <a:pPr>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Read what failed or nearly passed, then choose the next test.</a:t>
            </a:r>
          </a:p>
        </p:txBody>
      </p:sp>
      <p:sp>
        <p:nvSpPr>
          <p:cNvPr id="12" name="">
            <a:extLst xmlns:a="http://schemas.openxmlformats.org/drawingml/2006/main">
              <a:ext uri="{FF2B5EF4-FFF2-40B4-BE49-F238E27FC236}">
                <a16:creationId xmlns:a16="http://schemas.microsoft.com/office/drawing/2014/main" id="{F88B505A-B1D5-42BE-AC86-99B2D73C3BBC}"/>
              </a:ext>
            </a:extLst>
          </p:cNvPr>
          <p:cNvSpPr>
            <a:spLocks xmlns:a="http://schemas.openxmlformats.org/drawingml/2006/main" noGrp="1"/>
          </p:cNvSpPr>
          <p:nvPr/>
        </p:nvSpPr>
        <p:spPr>
          <a:xfrm xmlns:a="http://schemas.openxmlformats.org/drawingml/2006/main">
            <a:off x="533400" y="458152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7F7B"/>
                </a:solidFill>
                <a:latin typeface="Helvetica Neue"/>
                <a:ea typeface="Helvetica Neue"/>
                <a:cs typeface="Helvetica Neue"/>
              </a:defRPr>
            </a:defPPr>
            <a:lvl1pPr>
              <a:defRPr sz="3225" b="1">
                <a:solidFill>
                  <a:srgbClr val="007F7B"/>
                </a:solidFill>
                <a:latin typeface="Helvetica Neue"/>
                <a:ea typeface="Helvetica Neue"/>
                <a:cs typeface="Helvetica Neue"/>
              </a:defRPr>
            </a:lvl1pPr>
            <a:lvl2pPr>
              <a:defRPr sz="3225" b="1">
                <a:solidFill>
                  <a:srgbClr val="007F7B"/>
                </a:solidFill>
                <a:latin typeface="Helvetica Neue"/>
                <a:ea typeface="Helvetica Neue"/>
                <a:cs typeface="Helvetica Neue"/>
              </a:defRPr>
            </a:lvl2pPr>
            <a:lvl3pPr>
              <a:defRPr sz="3225" b="1">
                <a:solidFill>
                  <a:srgbClr val="007F7B"/>
                </a:solidFill>
                <a:latin typeface="Helvetica Neue"/>
                <a:ea typeface="Helvetica Neue"/>
                <a:cs typeface="Helvetica Neue"/>
              </a:defRPr>
            </a:lvl3pPr>
            <a:lvl4pPr>
              <a:defRPr sz="3225" b="1">
                <a:solidFill>
                  <a:srgbClr val="007F7B"/>
                </a:solidFill>
                <a:latin typeface="Helvetica Neue"/>
                <a:ea typeface="Helvetica Neue"/>
                <a:cs typeface="Helvetica Neue"/>
              </a:defRPr>
            </a:lvl4pPr>
            <a:lvl5pPr>
              <a:defRPr sz="3225" b="1">
                <a:solidFill>
                  <a:srgbClr val="007F7B"/>
                </a:solidFill>
                <a:latin typeface="Helvetica Neue"/>
                <a:ea typeface="Helvetica Neue"/>
                <a:cs typeface="Helvetica Neue"/>
              </a:defRPr>
            </a:lvl5pPr>
            <a:lvl6pPr>
              <a:defRPr sz="3225" b="1">
                <a:solidFill>
                  <a:srgbClr val="007F7B"/>
                </a:solidFill>
                <a:latin typeface="Helvetica Neue"/>
                <a:ea typeface="Helvetica Neue"/>
                <a:cs typeface="Helvetica Neue"/>
              </a:defRPr>
            </a:lvl6pPr>
            <a:lvl7pPr>
              <a:defRPr sz="3225" b="1">
                <a:solidFill>
                  <a:srgbClr val="007F7B"/>
                </a:solidFill>
                <a:latin typeface="Helvetica Neue"/>
                <a:ea typeface="Helvetica Neue"/>
                <a:cs typeface="Helvetica Neue"/>
              </a:defRPr>
            </a:lvl7pPr>
            <a:lvl8pPr>
              <a:defRPr sz="3225" b="1">
                <a:solidFill>
                  <a:srgbClr val="007F7B"/>
                </a:solidFill>
                <a:latin typeface="Helvetica Neue"/>
                <a:ea typeface="Helvetica Neue"/>
                <a:cs typeface="Helvetica Neue"/>
              </a:defRPr>
            </a:lvl8pPr>
            <a:lvl9pPr>
              <a:defRPr sz="3225" b="1">
                <a:solidFill>
                  <a:srgbClr val="007F7B"/>
                </a:solidFill>
                <a:latin typeface="Helvetica Neue"/>
                <a:ea typeface="Helvetica Neue"/>
                <a:cs typeface="Helvetica Neue"/>
              </a:defRPr>
            </a:lvl9pPr>
          </a:lstStyle>
          <a:p xmlns:a="http://schemas.openxmlformats.org/drawingml/2006/main">
            <a:pPr>
              <a:defRPr sz="3225" b="1">
                <a:solidFill>
                  <a:srgbClr val="007F7B"/>
                </a:solidFill>
                <a:latin typeface="Helvetica Neue"/>
                <a:ea typeface="Helvetica Neue"/>
                <a:cs typeface="Helvetica Neue"/>
              </a:defRPr>
            </a:pPr>
            <a:r>
              <a:rPr sz="3225" b="1">
                <a:solidFill>
                  <a:srgbClr val="007F7B"/>
                </a:solidFill>
                <a:latin typeface="Helvetica Neue"/>
                <a:ea typeface="Helvetica Neue"/>
                <a:cs typeface="Helvetica Neue"/>
              </a:rPr>
              <a:t>03</a:t>
            </a:r>
          </a:p>
        </p:txBody>
      </p:sp>
      <p:sp>
        <p:nvSpPr>
          <p:cNvPr id="13" name="">
            <a:extLst xmlns:a="http://schemas.openxmlformats.org/drawingml/2006/main">
              <a:ext uri="{FF2B5EF4-FFF2-40B4-BE49-F238E27FC236}">
                <a16:creationId xmlns:a16="http://schemas.microsoft.com/office/drawing/2014/main" id="{A3740C32-8D4E-4238-A422-30FFCE83DCB2}"/>
              </a:ext>
            </a:extLst>
          </p:cNvPr>
          <p:cNvSpPr>
            <a:spLocks xmlns:a="http://schemas.openxmlformats.org/drawingml/2006/main" noGrp="1"/>
          </p:cNvSpPr>
          <p:nvPr/>
        </p:nvSpPr>
        <p:spPr>
          <a:xfrm xmlns:a="http://schemas.openxmlformats.org/drawingml/2006/main">
            <a:off x="1657350" y="4581525"/>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defRPr sz="2325" b="1">
                <a:solidFill>
                  <a:srgbClr val="172B3A"/>
                </a:solidFill>
                <a:latin typeface="Helvetica Neue"/>
                <a:ea typeface="Helvetica Neue"/>
                <a:cs typeface="Helvetica Neue"/>
              </a:defRPr>
            </a:lvl1pPr>
            <a:lvl2pPr>
              <a:defRPr sz="2325" b="1">
                <a:solidFill>
                  <a:srgbClr val="172B3A"/>
                </a:solidFill>
                <a:latin typeface="Helvetica Neue"/>
                <a:ea typeface="Helvetica Neue"/>
                <a:cs typeface="Helvetica Neue"/>
              </a:defRPr>
            </a:lvl2pPr>
            <a:lvl3pPr>
              <a:defRPr sz="2325" b="1">
                <a:solidFill>
                  <a:srgbClr val="172B3A"/>
                </a:solidFill>
                <a:latin typeface="Helvetica Neue"/>
                <a:ea typeface="Helvetica Neue"/>
                <a:cs typeface="Helvetica Neue"/>
              </a:defRPr>
            </a:lvl3pPr>
            <a:lvl4pPr>
              <a:defRPr sz="2325" b="1">
                <a:solidFill>
                  <a:srgbClr val="172B3A"/>
                </a:solidFill>
                <a:latin typeface="Helvetica Neue"/>
                <a:ea typeface="Helvetica Neue"/>
                <a:cs typeface="Helvetica Neue"/>
              </a:defRPr>
            </a:lvl4pPr>
            <a:lvl5pPr>
              <a:defRPr sz="2325" b="1">
                <a:solidFill>
                  <a:srgbClr val="172B3A"/>
                </a:solidFill>
                <a:latin typeface="Helvetica Neue"/>
                <a:ea typeface="Helvetica Neue"/>
                <a:cs typeface="Helvetica Neue"/>
              </a:defRPr>
            </a:lvl5pPr>
            <a:lvl6pPr>
              <a:defRPr sz="2325" b="1">
                <a:solidFill>
                  <a:srgbClr val="172B3A"/>
                </a:solidFill>
                <a:latin typeface="Helvetica Neue"/>
                <a:ea typeface="Helvetica Neue"/>
                <a:cs typeface="Helvetica Neue"/>
              </a:defRPr>
            </a:lvl6pPr>
            <a:lvl7pPr>
              <a:defRPr sz="2325" b="1">
                <a:solidFill>
                  <a:srgbClr val="172B3A"/>
                </a:solidFill>
                <a:latin typeface="Helvetica Neue"/>
                <a:ea typeface="Helvetica Neue"/>
                <a:cs typeface="Helvetica Neue"/>
              </a:defRPr>
            </a:lvl7pPr>
            <a:lvl8pPr>
              <a:defRPr sz="2325" b="1">
                <a:solidFill>
                  <a:srgbClr val="172B3A"/>
                </a:solidFill>
                <a:latin typeface="Helvetica Neue"/>
                <a:ea typeface="Helvetica Neue"/>
                <a:cs typeface="Helvetica Neue"/>
              </a:defRPr>
            </a:lvl8pPr>
            <a:lvl9pPr>
              <a:defRPr sz="2325" b="1">
                <a:solidFill>
                  <a:srgbClr val="172B3A"/>
                </a:solidFill>
                <a:latin typeface="Helvetica Neue"/>
                <a:ea typeface="Helvetica Neue"/>
                <a:cs typeface="Helvetica Neue"/>
              </a:defRPr>
            </a:lvl9pPr>
          </a:lstStyle>
          <a:p xmlns:a="http://schemas.openxmlformats.org/drawingml/2006/main">
            <a:pPr>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Make a prediction that can fail</a:t>
            </a:r>
          </a:p>
        </p:txBody>
      </p:sp>
      <p:sp>
        <p:nvSpPr>
          <p:cNvPr id="14" name="">
            <a:extLst xmlns:a="http://schemas.openxmlformats.org/drawingml/2006/main">
              <a:ext uri="{FF2B5EF4-FFF2-40B4-BE49-F238E27FC236}">
                <a16:creationId xmlns:a16="http://schemas.microsoft.com/office/drawing/2014/main" id="{16A13934-834C-4A75-8104-38ACD01F68EC}"/>
              </a:ext>
            </a:extLst>
          </p:cNvPr>
          <p:cNvSpPr>
            <a:spLocks xmlns:a="http://schemas.openxmlformats.org/drawingml/2006/main" noGrp="1"/>
          </p:cNvSpPr>
          <p:nvPr/>
        </p:nvSpPr>
        <p:spPr>
          <a:xfrm xmlns:a="http://schemas.openxmlformats.org/drawingml/2006/main">
            <a:off x="1657350" y="5048250"/>
            <a:ext cx="985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defRPr sz="2100" b="0">
                <a:solidFill>
                  <a:srgbClr val="526472"/>
                </a:solidFill>
                <a:latin typeface="Helvetica Neue"/>
                <a:ea typeface="Helvetica Neue"/>
                <a:cs typeface="Helvetica Neue"/>
              </a:defRPr>
            </a:lvl1pPr>
            <a:lvl2pPr>
              <a:defRPr sz="2100" b="0">
                <a:solidFill>
                  <a:srgbClr val="526472"/>
                </a:solidFill>
                <a:latin typeface="Helvetica Neue"/>
                <a:ea typeface="Helvetica Neue"/>
                <a:cs typeface="Helvetica Neue"/>
              </a:defRPr>
            </a:lvl2pPr>
            <a:lvl3pPr>
              <a:defRPr sz="2100" b="0">
                <a:solidFill>
                  <a:srgbClr val="526472"/>
                </a:solidFill>
                <a:latin typeface="Helvetica Neue"/>
                <a:ea typeface="Helvetica Neue"/>
                <a:cs typeface="Helvetica Neue"/>
              </a:defRPr>
            </a:lvl3pPr>
            <a:lvl4pPr>
              <a:defRPr sz="2100" b="0">
                <a:solidFill>
                  <a:srgbClr val="526472"/>
                </a:solidFill>
                <a:latin typeface="Helvetica Neue"/>
                <a:ea typeface="Helvetica Neue"/>
                <a:cs typeface="Helvetica Neue"/>
              </a:defRPr>
            </a:lvl4pPr>
            <a:lvl5pPr>
              <a:defRPr sz="2100" b="0">
                <a:solidFill>
                  <a:srgbClr val="526472"/>
                </a:solidFill>
                <a:latin typeface="Helvetica Neue"/>
                <a:ea typeface="Helvetica Neue"/>
                <a:cs typeface="Helvetica Neue"/>
              </a:defRPr>
            </a:lvl5pPr>
            <a:lvl6pPr>
              <a:defRPr sz="2100" b="0">
                <a:solidFill>
                  <a:srgbClr val="526472"/>
                </a:solidFill>
                <a:latin typeface="Helvetica Neue"/>
                <a:ea typeface="Helvetica Neue"/>
                <a:cs typeface="Helvetica Neue"/>
              </a:defRPr>
            </a:lvl6pPr>
            <a:lvl7pPr>
              <a:defRPr sz="2100" b="0">
                <a:solidFill>
                  <a:srgbClr val="526472"/>
                </a:solidFill>
                <a:latin typeface="Helvetica Neue"/>
                <a:ea typeface="Helvetica Neue"/>
                <a:cs typeface="Helvetica Neue"/>
              </a:defRPr>
            </a:lvl7pPr>
            <a:lvl8pPr>
              <a:defRPr sz="2100" b="0">
                <a:solidFill>
                  <a:srgbClr val="526472"/>
                </a:solidFill>
                <a:latin typeface="Helvetica Neue"/>
                <a:ea typeface="Helvetica Neue"/>
                <a:cs typeface="Helvetica Neue"/>
              </a:defRPr>
            </a:lvl8pPr>
            <a:lvl9pPr>
              <a:defRPr sz="2100" b="0">
                <a:solidFill>
                  <a:srgbClr val="526472"/>
                </a:solidFill>
                <a:latin typeface="Helvetica Neue"/>
                <a:ea typeface="Helvetica Neue"/>
                <a:cs typeface="Helvetica Neue"/>
              </a:defRPr>
            </a:lvl9pPr>
          </a:lstStyle>
          <a:p xmlns:a="http://schemas.openxmlformats.org/drawingml/2006/main">
            <a:pPr>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State an expected result before the physical calculation.</a:t>
            </a:r>
          </a:p>
        </p:txBody>
      </p:sp>
      <p:sp>
        <p:nvSpPr>
          <p:cNvPr id="15" name="">
            <a:extLst xmlns:a="http://schemas.openxmlformats.org/drawingml/2006/main">
              <a:ext uri="{FF2B5EF4-FFF2-40B4-BE49-F238E27FC236}">
                <a16:creationId xmlns:a16="http://schemas.microsoft.com/office/drawing/2014/main" id="{597D0F43-7209-482F-95B5-B3435DC73306}"/>
              </a:ext>
            </a:extLst>
          </p:cNvPr>
          <p:cNvSpPr>
            <a:spLocks xmlns:a="http://schemas.openxmlformats.org/drawingml/2006/main" noGrp="1"/>
          </p:cNvSpPr>
          <p:nvPr/>
        </p:nvSpPr>
        <p:spPr>
          <a:xfrm xmlns:a="http://schemas.openxmlformats.org/drawingml/2006/main">
            <a:off x="533400" y="5991225"/>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007F7B"/>
                </a:solidFill>
                <a:latin typeface="Helvetica Neue"/>
                <a:ea typeface="Helvetica Neue"/>
                <a:cs typeface="Helvetica Neue"/>
              </a:defRPr>
            </a:defPPr>
            <a:lvl1pPr>
              <a:defRPr sz="1800" b="0">
                <a:solidFill>
                  <a:srgbClr val="007F7B"/>
                </a:solidFill>
                <a:latin typeface="Helvetica Neue"/>
                <a:ea typeface="Helvetica Neue"/>
                <a:cs typeface="Helvetica Neue"/>
              </a:defRPr>
            </a:lvl1pPr>
            <a:lvl2pPr>
              <a:defRPr sz="1800" b="0">
                <a:solidFill>
                  <a:srgbClr val="007F7B"/>
                </a:solidFill>
                <a:latin typeface="Helvetica Neue"/>
                <a:ea typeface="Helvetica Neue"/>
                <a:cs typeface="Helvetica Neue"/>
              </a:defRPr>
            </a:lvl2pPr>
            <a:lvl3pPr>
              <a:defRPr sz="1800" b="0">
                <a:solidFill>
                  <a:srgbClr val="007F7B"/>
                </a:solidFill>
                <a:latin typeface="Helvetica Neue"/>
                <a:ea typeface="Helvetica Neue"/>
                <a:cs typeface="Helvetica Neue"/>
              </a:defRPr>
            </a:lvl3pPr>
            <a:lvl4pPr>
              <a:defRPr sz="1800" b="0">
                <a:solidFill>
                  <a:srgbClr val="007F7B"/>
                </a:solidFill>
                <a:latin typeface="Helvetica Neue"/>
                <a:ea typeface="Helvetica Neue"/>
                <a:cs typeface="Helvetica Neue"/>
              </a:defRPr>
            </a:lvl4pPr>
            <a:lvl5pPr>
              <a:defRPr sz="1800" b="0">
                <a:solidFill>
                  <a:srgbClr val="007F7B"/>
                </a:solidFill>
                <a:latin typeface="Helvetica Neue"/>
                <a:ea typeface="Helvetica Neue"/>
                <a:cs typeface="Helvetica Neue"/>
              </a:defRPr>
            </a:lvl5pPr>
            <a:lvl6pPr>
              <a:defRPr sz="1800" b="0">
                <a:solidFill>
                  <a:srgbClr val="007F7B"/>
                </a:solidFill>
                <a:latin typeface="Helvetica Neue"/>
                <a:ea typeface="Helvetica Neue"/>
                <a:cs typeface="Helvetica Neue"/>
              </a:defRPr>
            </a:lvl6pPr>
            <a:lvl7pPr>
              <a:defRPr sz="1800" b="0">
                <a:solidFill>
                  <a:srgbClr val="007F7B"/>
                </a:solidFill>
                <a:latin typeface="Helvetica Neue"/>
                <a:ea typeface="Helvetica Neue"/>
                <a:cs typeface="Helvetica Neue"/>
              </a:defRPr>
            </a:lvl7pPr>
            <a:lvl8pPr>
              <a:defRPr sz="1800" b="0">
                <a:solidFill>
                  <a:srgbClr val="007F7B"/>
                </a:solidFill>
                <a:latin typeface="Helvetica Neue"/>
                <a:ea typeface="Helvetica Neue"/>
                <a:cs typeface="Helvetica Neue"/>
              </a:defRPr>
            </a:lvl8pPr>
            <a:lvl9pPr>
              <a:defRPr sz="1800" b="0">
                <a:solidFill>
                  <a:srgbClr val="007F7B"/>
                </a:solidFill>
                <a:latin typeface="Helvetica Neue"/>
                <a:ea typeface="Helvetica Neue"/>
                <a:cs typeface="Helvetica Neue"/>
              </a:defRPr>
            </a:lvl9pPr>
          </a:lstStyle>
          <a:p xmlns:a="http://schemas.openxmlformats.org/drawingml/2006/main">
            <a:pPr>
              <a:defRPr sz="1800" b="0">
                <a:solidFill>
                  <a:srgbClr val="007F7B"/>
                </a:solidFill>
                <a:latin typeface="Helvetica Neue"/>
                <a:ea typeface="Helvetica Neue"/>
                <a:cs typeface="Helvetica Neue"/>
              </a:defRPr>
            </a:pPr>
            <a:r>
              <a:rPr sz="1800" b="0">
                <a:solidFill>
                  <a:srgbClr val="007F7B"/>
                </a:solidFill>
                <a:latin typeface="Helvetica Neue"/>
                <a:ea typeface="Helvetica Neue"/>
                <a:cs typeface="Helvetica Neue"/>
              </a:rPr>
              <a:t>Researchers define the task. The LLM makes choices. The physics tools calculate the results.</a:t>
            </a:r>
          </a:p>
        </p:txBody>
      </p:sp>
    </p:spTree>
    <p:extLst>
      <p:ext uri="{BB962C8B-B14F-4D97-AF65-F5344CB8AC3E}">
        <p14:creationId xmlns:p14="http://schemas.microsoft.com/office/powerpoint/2010/main" val="2072573433"/>
      </p:ext>
    </p:extLst>
  </p:cSld>
</p:sld>
</file>

<file path=ppt/slides/slide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6357D63-98F1-4C66-9820-7FA58A15D928}"/>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HOW IT WORKS</a:t>
            </a:r>
          </a:p>
        </p:txBody>
      </p:sp>
      <p:sp>
        <p:nvSpPr>
          <p:cNvPr id="2" name="">
            <a:extLst xmlns:a="http://schemas.openxmlformats.org/drawingml/2006/main">
              <a:ext uri="{FF2B5EF4-FFF2-40B4-BE49-F238E27FC236}">
                <a16:creationId xmlns:a16="http://schemas.microsoft.com/office/drawing/2014/main" id="{D229018F-1793-4615-9F5E-600867800262}"/>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One decision loop, repeated after each result</a:t>
            </a:r>
          </a:p>
        </p:txBody>
      </p:sp>
      <p:sp>
        <p:nvSpPr>
          <p:cNvPr id="3" name="">
            <a:extLst xmlns:a="http://schemas.openxmlformats.org/drawingml/2006/main">
              <a:ext uri="{FF2B5EF4-FFF2-40B4-BE49-F238E27FC236}">
                <a16:creationId xmlns:a16="http://schemas.microsoft.com/office/drawing/2014/main" id="{DBDFA1AE-D0DC-4F11-B56B-DE5BE039B1F5}"/>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59197B51-B64B-4110-AF6E-ABEE4D525C37}"/>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CF4367B3-615E-499F-AE3A-5F0942B24E08}"/>
              </a:ext>
            </a:extLst>
          </p:cNvPr>
          <p:cNvSpPr>
            <a:spLocks xmlns:a="http://schemas.openxmlformats.org/drawingml/2006/main" noGrp="1"/>
          </p:cNvSpPr>
          <p:nvPr/>
        </p:nvSpPr>
        <p:spPr>
          <a:xfrm xmlns:a="http://schemas.openxmlformats.org/drawingml/2006/main">
            <a:off x="533400" y="1809750"/>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7F7B"/>
                </a:solidFill>
                <a:latin typeface="Helvetica Neue"/>
                <a:ea typeface="Helvetica Neue"/>
                <a:cs typeface="Helvetica Neue"/>
              </a:defRPr>
            </a:defPPr>
            <a:lvl1pPr>
              <a:defRPr sz="3225" b="1">
                <a:solidFill>
                  <a:srgbClr val="007F7B"/>
                </a:solidFill>
                <a:latin typeface="Helvetica Neue"/>
                <a:ea typeface="Helvetica Neue"/>
                <a:cs typeface="Helvetica Neue"/>
              </a:defRPr>
            </a:lvl1pPr>
            <a:lvl2pPr>
              <a:defRPr sz="3225" b="1">
                <a:solidFill>
                  <a:srgbClr val="007F7B"/>
                </a:solidFill>
                <a:latin typeface="Helvetica Neue"/>
                <a:ea typeface="Helvetica Neue"/>
                <a:cs typeface="Helvetica Neue"/>
              </a:defRPr>
            </a:lvl2pPr>
            <a:lvl3pPr>
              <a:defRPr sz="3225" b="1">
                <a:solidFill>
                  <a:srgbClr val="007F7B"/>
                </a:solidFill>
                <a:latin typeface="Helvetica Neue"/>
                <a:ea typeface="Helvetica Neue"/>
                <a:cs typeface="Helvetica Neue"/>
              </a:defRPr>
            </a:lvl3pPr>
            <a:lvl4pPr>
              <a:defRPr sz="3225" b="1">
                <a:solidFill>
                  <a:srgbClr val="007F7B"/>
                </a:solidFill>
                <a:latin typeface="Helvetica Neue"/>
                <a:ea typeface="Helvetica Neue"/>
                <a:cs typeface="Helvetica Neue"/>
              </a:defRPr>
            </a:lvl4pPr>
            <a:lvl5pPr>
              <a:defRPr sz="3225" b="1">
                <a:solidFill>
                  <a:srgbClr val="007F7B"/>
                </a:solidFill>
                <a:latin typeface="Helvetica Neue"/>
                <a:ea typeface="Helvetica Neue"/>
                <a:cs typeface="Helvetica Neue"/>
              </a:defRPr>
            </a:lvl5pPr>
            <a:lvl6pPr>
              <a:defRPr sz="3225" b="1">
                <a:solidFill>
                  <a:srgbClr val="007F7B"/>
                </a:solidFill>
                <a:latin typeface="Helvetica Neue"/>
                <a:ea typeface="Helvetica Neue"/>
                <a:cs typeface="Helvetica Neue"/>
              </a:defRPr>
            </a:lvl6pPr>
            <a:lvl7pPr>
              <a:defRPr sz="3225" b="1">
                <a:solidFill>
                  <a:srgbClr val="007F7B"/>
                </a:solidFill>
                <a:latin typeface="Helvetica Neue"/>
                <a:ea typeface="Helvetica Neue"/>
                <a:cs typeface="Helvetica Neue"/>
              </a:defRPr>
            </a:lvl7pPr>
            <a:lvl8pPr>
              <a:defRPr sz="3225" b="1">
                <a:solidFill>
                  <a:srgbClr val="007F7B"/>
                </a:solidFill>
                <a:latin typeface="Helvetica Neue"/>
                <a:ea typeface="Helvetica Neue"/>
                <a:cs typeface="Helvetica Neue"/>
              </a:defRPr>
            </a:lvl8pPr>
            <a:lvl9pPr>
              <a:defRPr sz="3225" b="1">
                <a:solidFill>
                  <a:srgbClr val="007F7B"/>
                </a:solidFill>
                <a:latin typeface="Helvetica Neue"/>
                <a:ea typeface="Helvetica Neue"/>
                <a:cs typeface="Helvetica Neue"/>
              </a:defRPr>
            </a:lvl9pPr>
          </a:lstStyle>
          <a:p xmlns:a="http://schemas.openxmlformats.org/drawingml/2006/main">
            <a:pPr>
              <a:defRPr sz="3225" b="1">
                <a:solidFill>
                  <a:srgbClr val="007F7B"/>
                </a:solidFill>
                <a:latin typeface="Helvetica Neue"/>
                <a:ea typeface="Helvetica Neue"/>
                <a:cs typeface="Helvetica Neue"/>
              </a:defRPr>
            </a:pPr>
            <a:r>
              <a:rPr sz="3225" b="1">
                <a:solidFill>
                  <a:srgbClr val="007F7B"/>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5FA0628F-FE94-417B-B3F6-A872CB719D6D}"/>
              </a:ext>
            </a:extLst>
          </p:cNvPr>
          <p:cNvSpPr>
            <a:spLocks xmlns:a="http://schemas.openxmlformats.org/drawingml/2006/main" noGrp="1"/>
          </p:cNvSpPr>
          <p:nvPr/>
        </p:nvSpPr>
        <p:spPr>
          <a:xfrm xmlns:a="http://schemas.openxmlformats.org/drawingml/2006/main">
            <a:off x="1657350" y="1809750"/>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defRPr sz="2325" b="1">
                <a:solidFill>
                  <a:srgbClr val="172B3A"/>
                </a:solidFill>
                <a:latin typeface="Helvetica Neue"/>
                <a:ea typeface="Helvetica Neue"/>
                <a:cs typeface="Helvetica Neue"/>
              </a:defRPr>
            </a:lvl1pPr>
            <a:lvl2pPr>
              <a:defRPr sz="2325" b="1">
                <a:solidFill>
                  <a:srgbClr val="172B3A"/>
                </a:solidFill>
                <a:latin typeface="Helvetica Neue"/>
                <a:ea typeface="Helvetica Neue"/>
                <a:cs typeface="Helvetica Neue"/>
              </a:defRPr>
            </a:lvl2pPr>
            <a:lvl3pPr>
              <a:defRPr sz="2325" b="1">
                <a:solidFill>
                  <a:srgbClr val="172B3A"/>
                </a:solidFill>
                <a:latin typeface="Helvetica Neue"/>
                <a:ea typeface="Helvetica Neue"/>
                <a:cs typeface="Helvetica Neue"/>
              </a:defRPr>
            </a:lvl3pPr>
            <a:lvl4pPr>
              <a:defRPr sz="2325" b="1">
                <a:solidFill>
                  <a:srgbClr val="172B3A"/>
                </a:solidFill>
                <a:latin typeface="Helvetica Neue"/>
                <a:ea typeface="Helvetica Neue"/>
                <a:cs typeface="Helvetica Neue"/>
              </a:defRPr>
            </a:lvl4pPr>
            <a:lvl5pPr>
              <a:defRPr sz="2325" b="1">
                <a:solidFill>
                  <a:srgbClr val="172B3A"/>
                </a:solidFill>
                <a:latin typeface="Helvetica Neue"/>
                <a:ea typeface="Helvetica Neue"/>
                <a:cs typeface="Helvetica Neue"/>
              </a:defRPr>
            </a:lvl5pPr>
            <a:lvl6pPr>
              <a:defRPr sz="2325" b="1">
                <a:solidFill>
                  <a:srgbClr val="172B3A"/>
                </a:solidFill>
                <a:latin typeface="Helvetica Neue"/>
                <a:ea typeface="Helvetica Neue"/>
                <a:cs typeface="Helvetica Neue"/>
              </a:defRPr>
            </a:lvl6pPr>
            <a:lvl7pPr>
              <a:defRPr sz="2325" b="1">
                <a:solidFill>
                  <a:srgbClr val="172B3A"/>
                </a:solidFill>
                <a:latin typeface="Helvetica Neue"/>
                <a:ea typeface="Helvetica Neue"/>
                <a:cs typeface="Helvetica Neue"/>
              </a:defRPr>
            </a:lvl7pPr>
            <a:lvl8pPr>
              <a:defRPr sz="2325" b="1">
                <a:solidFill>
                  <a:srgbClr val="172B3A"/>
                </a:solidFill>
                <a:latin typeface="Helvetica Neue"/>
                <a:ea typeface="Helvetica Neue"/>
                <a:cs typeface="Helvetica Neue"/>
              </a:defRPr>
            </a:lvl8pPr>
            <a:lvl9pPr>
              <a:defRPr sz="2325" b="1">
                <a:solidFill>
                  <a:srgbClr val="172B3A"/>
                </a:solidFill>
                <a:latin typeface="Helvetica Neue"/>
                <a:ea typeface="Helvetica Neue"/>
                <a:cs typeface="Helvetica Neue"/>
              </a:defRPr>
            </a:lvl9pPr>
          </a:lstStyle>
          <a:p xmlns:a="http://schemas.openxmlformats.org/drawingml/2006/main">
            <a:pPr>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LLM: choose a material</a:t>
            </a:r>
          </a:p>
        </p:txBody>
      </p:sp>
      <p:sp>
        <p:nvSpPr>
          <p:cNvPr id="7" name="">
            <a:extLst xmlns:a="http://schemas.openxmlformats.org/drawingml/2006/main">
              <a:ext uri="{FF2B5EF4-FFF2-40B4-BE49-F238E27FC236}">
                <a16:creationId xmlns:a16="http://schemas.microsoft.com/office/drawing/2014/main" id="{51076641-6623-49A1-8458-15FD21B23392}"/>
              </a:ext>
            </a:extLst>
          </p:cNvPr>
          <p:cNvSpPr>
            <a:spLocks xmlns:a="http://schemas.openxmlformats.org/drawingml/2006/main" noGrp="1"/>
          </p:cNvSpPr>
          <p:nvPr/>
        </p:nvSpPr>
        <p:spPr>
          <a:xfrm xmlns:a="http://schemas.openxmlformats.org/drawingml/2006/main">
            <a:off x="1657350" y="2276475"/>
            <a:ext cx="985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defRPr sz="2100" b="0">
                <a:solidFill>
                  <a:srgbClr val="526472"/>
                </a:solidFill>
                <a:latin typeface="Helvetica Neue"/>
                <a:ea typeface="Helvetica Neue"/>
                <a:cs typeface="Helvetica Neue"/>
              </a:defRPr>
            </a:lvl1pPr>
            <a:lvl2pPr>
              <a:defRPr sz="2100" b="0">
                <a:solidFill>
                  <a:srgbClr val="526472"/>
                </a:solidFill>
                <a:latin typeface="Helvetica Neue"/>
                <a:ea typeface="Helvetica Neue"/>
                <a:cs typeface="Helvetica Neue"/>
              </a:defRPr>
            </a:lvl2pPr>
            <a:lvl3pPr>
              <a:defRPr sz="2100" b="0">
                <a:solidFill>
                  <a:srgbClr val="526472"/>
                </a:solidFill>
                <a:latin typeface="Helvetica Neue"/>
                <a:ea typeface="Helvetica Neue"/>
                <a:cs typeface="Helvetica Neue"/>
              </a:defRPr>
            </a:lvl3pPr>
            <a:lvl4pPr>
              <a:defRPr sz="2100" b="0">
                <a:solidFill>
                  <a:srgbClr val="526472"/>
                </a:solidFill>
                <a:latin typeface="Helvetica Neue"/>
                <a:ea typeface="Helvetica Neue"/>
                <a:cs typeface="Helvetica Neue"/>
              </a:defRPr>
            </a:lvl4pPr>
            <a:lvl5pPr>
              <a:defRPr sz="2100" b="0">
                <a:solidFill>
                  <a:srgbClr val="526472"/>
                </a:solidFill>
                <a:latin typeface="Helvetica Neue"/>
                <a:ea typeface="Helvetica Neue"/>
                <a:cs typeface="Helvetica Neue"/>
              </a:defRPr>
            </a:lvl5pPr>
            <a:lvl6pPr>
              <a:defRPr sz="2100" b="0">
                <a:solidFill>
                  <a:srgbClr val="526472"/>
                </a:solidFill>
                <a:latin typeface="Helvetica Neue"/>
                <a:ea typeface="Helvetica Neue"/>
                <a:cs typeface="Helvetica Neue"/>
              </a:defRPr>
            </a:lvl6pPr>
            <a:lvl7pPr>
              <a:defRPr sz="2100" b="0">
                <a:solidFill>
                  <a:srgbClr val="526472"/>
                </a:solidFill>
                <a:latin typeface="Helvetica Neue"/>
                <a:ea typeface="Helvetica Neue"/>
                <a:cs typeface="Helvetica Neue"/>
              </a:defRPr>
            </a:lvl7pPr>
            <a:lvl8pPr>
              <a:defRPr sz="2100" b="0">
                <a:solidFill>
                  <a:srgbClr val="526472"/>
                </a:solidFill>
                <a:latin typeface="Helvetica Neue"/>
                <a:ea typeface="Helvetica Neue"/>
                <a:cs typeface="Helvetica Neue"/>
              </a:defRPr>
            </a:lvl8pPr>
            <a:lvl9pPr>
              <a:defRPr sz="2100" b="0">
                <a:solidFill>
                  <a:srgbClr val="526472"/>
                </a:solidFill>
                <a:latin typeface="Helvetica Neue"/>
                <a:ea typeface="Helvetica Neue"/>
                <a:cs typeface="Helvetica Neue"/>
              </a:defRPr>
            </a:lvl9pPr>
          </a:lstStyle>
          <a:p xmlns:a="http://schemas.openxmlformats.org/drawingml/2006/main">
            <a:pPr>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Record the proposed coating and its chemical rationale.</a:t>
            </a:r>
          </a:p>
        </p:txBody>
      </p:sp>
      <p:sp>
        <p:nvSpPr>
          <p:cNvPr id="8" name="">
            <a:extLst xmlns:a="http://schemas.openxmlformats.org/drawingml/2006/main">
              <a:ext uri="{FF2B5EF4-FFF2-40B4-BE49-F238E27FC236}">
                <a16:creationId xmlns:a16="http://schemas.microsoft.com/office/drawing/2014/main" id="{346059D0-03EA-4AE5-A91D-053B98A43B99}"/>
              </a:ext>
            </a:extLst>
          </p:cNvPr>
          <p:cNvSpPr>
            <a:spLocks xmlns:a="http://schemas.openxmlformats.org/drawingml/2006/main" noGrp="1"/>
          </p:cNvSpPr>
          <p:nvPr/>
        </p:nvSpPr>
        <p:spPr>
          <a:xfrm xmlns:a="http://schemas.openxmlformats.org/drawingml/2006/main">
            <a:off x="533400" y="2876550"/>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7F7B"/>
                </a:solidFill>
                <a:latin typeface="Helvetica Neue"/>
                <a:ea typeface="Helvetica Neue"/>
                <a:cs typeface="Helvetica Neue"/>
              </a:defRPr>
            </a:defPPr>
            <a:lvl1pPr>
              <a:defRPr sz="3225" b="1">
                <a:solidFill>
                  <a:srgbClr val="007F7B"/>
                </a:solidFill>
                <a:latin typeface="Helvetica Neue"/>
                <a:ea typeface="Helvetica Neue"/>
                <a:cs typeface="Helvetica Neue"/>
              </a:defRPr>
            </a:lvl1pPr>
            <a:lvl2pPr>
              <a:defRPr sz="3225" b="1">
                <a:solidFill>
                  <a:srgbClr val="007F7B"/>
                </a:solidFill>
                <a:latin typeface="Helvetica Neue"/>
                <a:ea typeface="Helvetica Neue"/>
                <a:cs typeface="Helvetica Neue"/>
              </a:defRPr>
            </a:lvl2pPr>
            <a:lvl3pPr>
              <a:defRPr sz="3225" b="1">
                <a:solidFill>
                  <a:srgbClr val="007F7B"/>
                </a:solidFill>
                <a:latin typeface="Helvetica Neue"/>
                <a:ea typeface="Helvetica Neue"/>
                <a:cs typeface="Helvetica Neue"/>
              </a:defRPr>
            </a:lvl3pPr>
            <a:lvl4pPr>
              <a:defRPr sz="3225" b="1">
                <a:solidFill>
                  <a:srgbClr val="007F7B"/>
                </a:solidFill>
                <a:latin typeface="Helvetica Neue"/>
                <a:ea typeface="Helvetica Neue"/>
                <a:cs typeface="Helvetica Neue"/>
              </a:defRPr>
            </a:lvl4pPr>
            <a:lvl5pPr>
              <a:defRPr sz="3225" b="1">
                <a:solidFill>
                  <a:srgbClr val="007F7B"/>
                </a:solidFill>
                <a:latin typeface="Helvetica Neue"/>
                <a:ea typeface="Helvetica Neue"/>
                <a:cs typeface="Helvetica Neue"/>
              </a:defRPr>
            </a:lvl5pPr>
            <a:lvl6pPr>
              <a:defRPr sz="3225" b="1">
                <a:solidFill>
                  <a:srgbClr val="007F7B"/>
                </a:solidFill>
                <a:latin typeface="Helvetica Neue"/>
                <a:ea typeface="Helvetica Neue"/>
                <a:cs typeface="Helvetica Neue"/>
              </a:defRPr>
            </a:lvl6pPr>
            <a:lvl7pPr>
              <a:defRPr sz="3225" b="1">
                <a:solidFill>
                  <a:srgbClr val="007F7B"/>
                </a:solidFill>
                <a:latin typeface="Helvetica Neue"/>
                <a:ea typeface="Helvetica Neue"/>
                <a:cs typeface="Helvetica Neue"/>
              </a:defRPr>
            </a:lvl7pPr>
            <a:lvl8pPr>
              <a:defRPr sz="3225" b="1">
                <a:solidFill>
                  <a:srgbClr val="007F7B"/>
                </a:solidFill>
                <a:latin typeface="Helvetica Neue"/>
                <a:ea typeface="Helvetica Neue"/>
                <a:cs typeface="Helvetica Neue"/>
              </a:defRPr>
            </a:lvl8pPr>
            <a:lvl9pPr>
              <a:defRPr sz="3225" b="1">
                <a:solidFill>
                  <a:srgbClr val="007F7B"/>
                </a:solidFill>
                <a:latin typeface="Helvetica Neue"/>
                <a:ea typeface="Helvetica Neue"/>
                <a:cs typeface="Helvetica Neue"/>
              </a:defRPr>
            </a:lvl9pPr>
          </a:lstStyle>
          <a:p xmlns:a="http://schemas.openxmlformats.org/drawingml/2006/main">
            <a:pPr>
              <a:defRPr sz="3225" b="1">
                <a:solidFill>
                  <a:srgbClr val="007F7B"/>
                </a:solidFill>
                <a:latin typeface="Helvetica Neue"/>
                <a:ea typeface="Helvetica Neue"/>
                <a:cs typeface="Helvetica Neue"/>
              </a:defRPr>
            </a:pPr>
            <a:r>
              <a:rPr sz="3225" b="1">
                <a:solidFill>
                  <a:srgbClr val="007F7B"/>
                </a:solidFill>
                <a:latin typeface="Helvetica Neue"/>
                <a:ea typeface="Helvetica Neue"/>
                <a:cs typeface="Helvetica Neue"/>
              </a:rPr>
              <a:t>2</a:t>
            </a:r>
          </a:p>
        </p:txBody>
      </p:sp>
      <p:sp>
        <p:nvSpPr>
          <p:cNvPr id="9" name="">
            <a:extLst xmlns:a="http://schemas.openxmlformats.org/drawingml/2006/main">
              <a:ext uri="{FF2B5EF4-FFF2-40B4-BE49-F238E27FC236}">
                <a16:creationId xmlns:a16="http://schemas.microsoft.com/office/drawing/2014/main" id="{F5D531CC-1903-4FBF-982B-C1E53F6DAEB9}"/>
              </a:ext>
            </a:extLst>
          </p:cNvPr>
          <p:cNvSpPr>
            <a:spLocks xmlns:a="http://schemas.openxmlformats.org/drawingml/2006/main" noGrp="1"/>
          </p:cNvSpPr>
          <p:nvPr/>
        </p:nvSpPr>
        <p:spPr>
          <a:xfrm xmlns:a="http://schemas.openxmlformats.org/drawingml/2006/main">
            <a:off x="1657350" y="2876550"/>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defRPr sz="2325" b="1">
                <a:solidFill>
                  <a:srgbClr val="172B3A"/>
                </a:solidFill>
                <a:latin typeface="Helvetica Neue"/>
                <a:ea typeface="Helvetica Neue"/>
                <a:cs typeface="Helvetica Neue"/>
              </a:defRPr>
            </a:lvl1pPr>
            <a:lvl2pPr>
              <a:defRPr sz="2325" b="1">
                <a:solidFill>
                  <a:srgbClr val="172B3A"/>
                </a:solidFill>
                <a:latin typeface="Helvetica Neue"/>
                <a:ea typeface="Helvetica Neue"/>
                <a:cs typeface="Helvetica Neue"/>
              </a:defRPr>
            </a:lvl2pPr>
            <a:lvl3pPr>
              <a:defRPr sz="2325" b="1">
                <a:solidFill>
                  <a:srgbClr val="172B3A"/>
                </a:solidFill>
                <a:latin typeface="Helvetica Neue"/>
                <a:ea typeface="Helvetica Neue"/>
                <a:cs typeface="Helvetica Neue"/>
              </a:defRPr>
            </a:lvl3pPr>
            <a:lvl4pPr>
              <a:defRPr sz="2325" b="1">
                <a:solidFill>
                  <a:srgbClr val="172B3A"/>
                </a:solidFill>
                <a:latin typeface="Helvetica Neue"/>
                <a:ea typeface="Helvetica Neue"/>
                <a:cs typeface="Helvetica Neue"/>
              </a:defRPr>
            </a:lvl4pPr>
            <a:lvl5pPr>
              <a:defRPr sz="2325" b="1">
                <a:solidFill>
                  <a:srgbClr val="172B3A"/>
                </a:solidFill>
                <a:latin typeface="Helvetica Neue"/>
                <a:ea typeface="Helvetica Neue"/>
                <a:cs typeface="Helvetica Neue"/>
              </a:defRPr>
            </a:lvl5pPr>
            <a:lvl6pPr>
              <a:defRPr sz="2325" b="1">
                <a:solidFill>
                  <a:srgbClr val="172B3A"/>
                </a:solidFill>
                <a:latin typeface="Helvetica Neue"/>
                <a:ea typeface="Helvetica Neue"/>
                <a:cs typeface="Helvetica Neue"/>
              </a:defRPr>
            </a:lvl6pPr>
            <a:lvl7pPr>
              <a:defRPr sz="2325" b="1">
                <a:solidFill>
                  <a:srgbClr val="172B3A"/>
                </a:solidFill>
                <a:latin typeface="Helvetica Neue"/>
                <a:ea typeface="Helvetica Neue"/>
                <a:cs typeface="Helvetica Neue"/>
              </a:defRPr>
            </a:lvl7pPr>
            <a:lvl8pPr>
              <a:defRPr sz="2325" b="1">
                <a:solidFill>
                  <a:srgbClr val="172B3A"/>
                </a:solidFill>
                <a:latin typeface="Helvetica Neue"/>
                <a:ea typeface="Helvetica Neue"/>
                <a:cs typeface="Helvetica Neue"/>
              </a:defRPr>
            </a:lvl8pPr>
            <a:lvl9pPr>
              <a:defRPr sz="2325" b="1">
                <a:solidFill>
                  <a:srgbClr val="172B3A"/>
                </a:solidFill>
                <a:latin typeface="Helvetica Neue"/>
                <a:ea typeface="Helvetica Neue"/>
                <a:cs typeface="Helvetica Neue"/>
              </a:defRPr>
            </a:lvl9pPr>
          </a:lstStyle>
          <a:p xmlns:a="http://schemas.openxmlformats.org/drawingml/2006/main">
            <a:pPr>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Tool: test the material</a:t>
            </a:r>
          </a:p>
        </p:txBody>
      </p:sp>
      <p:sp>
        <p:nvSpPr>
          <p:cNvPr id="10" name="">
            <a:extLst xmlns:a="http://schemas.openxmlformats.org/drawingml/2006/main">
              <a:ext uri="{FF2B5EF4-FFF2-40B4-BE49-F238E27FC236}">
                <a16:creationId xmlns:a16="http://schemas.microsoft.com/office/drawing/2014/main" id="{493C856A-B0E2-4FD0-B2FF-F9A675CEFB7A}"/>
              </a:ext>
            </a:extLst>
          </p:cNvPr>
          <p:cNvSpPr>
            <a:spLocks xmlns:a="http://schemas.openxmlformats.org/drawingml/2006/main" noGrp="1"/>
          </p:cNvSpPr>
          <p:nvPr/>
        </p:nvSpPr>
        <p:spPr>
          <a:xfrm xmlns:a="http://schemas.openxmlformats.org/drawingml/2006/main">
            <a:off x="1657350" y="3343275"/>
            <a:ext cx="985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defRPr sz="2100" b="0">
                <a:solidFill>
                  <a:srgbClr val="526472"/>
                </a:solidFill>
                <a:latin typeface="Helvetica Neue"/>
                <a:ea typeface="Helvetica Neue"/>
                <a:cs typeface="Helvetica Neue"/>
              </a:defRPr>
            </a:lvl1pPr>
            <a:lvl2pPr>
              <a:defRPr sz="2100" b="0">
                <a:solidFill>
                  <a:srgbClr val="526472"/>
                </a:solidFill>
                <a:latin typeface="Helvetica Neue"/>
                <a:ea typeface="Helvetica Neue"/>
                <a:cs typeface="Helvetica Neue"/>
              </a:defRPr>
            </a:lvl2pPr>
            <a:lvl3pPr>
              <a:defRPr sz="2100" b="0">
                <a:solidFill>
                  <a:srgbClr val="526472"/>
                </a:solidFill>
                <a:latin typeface="Helvetica Neue"/>
                <a:ea typeface="Helvetica Neue"/>
                <a:cs typeface="Helvetica Neue"/>
              </a:defRPr>
            </a:lvl3pPr>
            <a:lvl4pPr>
              <a:defRPr sz="2100" b="0">
                <a:solidFill>
                  <a:srgbClr val="526472"/>
                </a:solidFill>
                <a:latin typeface="Helvetica Neue"/>
                <a:ea typeface="Helvetica Neue"/>
                <a:cs typeface="Helvetica Neue"/>
              </a:defRPr>
            </a:lvl4pPr>
            <a:lvl5pPr>
              <a:defRPr sz="2100" b="0">
                <a:solidFill>
                  <a:srgbClr val="526472"/>
                </a:solidFill>
                <a:latin typeface="Helvetica Neue"/>
                <a:ea typeface="Helvetica Neue"/>
                <a:cs typeface="Helvetica Neue"/>
              </a:defRPr>
            </a:lvl5pPr>
            <a:lvl6pPr>
              <a:defRPr sz="2100" b="0">
                <a:solidFill>
                  <a:srgbClr val="526472"/>
                </a:solidFill>
                <a:latin typeface="Helvetica Neue"/>
                <a:ea typeface="Helvetica Neue"/>
                <a:cs typeface="Helvetica Neue"/>
              </a:defRPr>
            </a:lvl6pPr>
            <a:lvl7pPr>
              <a:defRPr sz="2100" b="0">
                <a:solidFill>
                  <a:srgbClr val="526472"/>
                </a:solidFill>
                <a:latin typeface="Helvetica Neue"/>
                <a:ea typeface="Helvetica Neue"/>
                <a:cs typeface="Helvetica Neue"/>
              </a:defRPr>
            </a:lvl7pPr>
            <a:lvl8pPr>
              <a:defRPr sz="2100" b="0">
                <a:solidFill>
                  <a:srgbClr val="526472"/>
                </a:solidFill>
                <a:latin typeface="Helvetica Neue"/>
                <a:ea typeface="Helvetica Neue"/>
                <a:cs typeface="Helvetica Neue"/>
              </a:defRPr>
            </a:lvl8pPr>
            <a:lvl9pPr>
              <a:defRPr sz="2100" b="0">
                <a:solidFill>
                  <a:srgbClr val="526472"/>
                </a:solidFill>
                <a:latin typeface="Helvetica Neue"/>
                <a:ea typeface="Helvetica Neue"/>
                <a:cs typeface="Helvetica Neue"/>
              </a:defRPr>
            </a:lvl9pPr>
          </a:lstStyle>
          <a:p xmlns:a="http://schemas.openxmlformats.org/drawingml/2006/main">
            <a:pPr>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Return a numerical result from the defined calculation.</a:t>
            </a:r>
          </a:p>
        </p:txBody>
      </p:sp>
      <p:sp>
        <p:nvSpPr>
          <p:cNvPr id="11" name="">
            <a:extLst xmlns:a="http://schemas.openxmlformats.org/drawingml/2006/main">
              <a:ext uri="{FF2B5EF4-FFF2-40B4-BE49-F238E27FC236}">
                <a16:creationId xmlns:a16="http://schemas.microsoft.com/office/drawing/2014/main" id="{1ED08D7F-735C-48C1-8A64-C49C23B5C0B2}"/>
              </a:ext>
            </a:extLst>
          </p:cNvPr>
          <p:cNvSpPr>
            <a:spLocks xmlns:a="http://schemas.openxmlformats.org/drawingml/2006/main" noGrp="1"/>
          </p:cNvSpPr>
          <p:nvPr/>
        </p:nvSpPr>
        <p:spPr>
          <a:xfrm xmlns:a="http://schemas.openxmlformats.org/drawingml/2006/main">
            <a:off x="533400" y="3943350"/>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7F7B"/>
                </a:solidFill>
                <a:latin typeface="Helvetica Neue"/>
                <a:ea typeface="Helvetica Neue"/>
                <a:cs typeface="Helvetica Neue"/>
              </a:defRPr>
            </a:defPPr>
            <a:lvl1pPr>
              <a:defRPr sz="3225" b="1">
                <a:solidFill>
                  <a:srgbClr val="007F7B"/>
                </a:solidFill>
                <a:latin typeface="Helvetica Neue"/>
                <a:ea typeface="Helvetica Neue"/>
                <a:cs typeface="Helvetica Neue"/>
              </a:defRPr>
            </a:lvl1pPr>
            <a:lvl2pPr>
              <a:defRPr sz="3225" b="1">
                <a:solidFill>
                  <a:srgbClr val="007F7B"/>
                </a:solidFill>
                <a:latin typeface="Helvetica Neue"/>
                <a:ea typeface="Helvetica Neue"/>
                <a:cs typeface="Helvetica Neue"/>
              </a:defRPr>
            </a:lvl2pPr>
            <a:lvl3pPr>
              <a:defRPr sz="3225" b="1">
                <a:solidFill>
                  <a:srgbClr val="007F7B"/>
                </a:solidFill>
                <a:latin typeface="Helvetica Neue"/>
                <a:ea typeface="Helvetica Neue"/>
                <a:cs typeface="Helvetica Neue"/>
              </a:defRPr>
            </a:lvl3pPr>
            <a:lvl4pPr>
              <a:defRPr sz="3225" b="1">
                <a:solidFill>
                  <a:srgbClr val="007F7B"/>
                </a:solidFill>
                <a:latin typeface="Helvetica Neue"/>
                <a:ea typeface="Helvetica Neue"/>
                <a:cs typeface="Helvetica Neue"/>
              </a:defRPr>
            </a:lvl4pPr>
            <a:lvl5pPr>
              <a:defRPr sz="3225" b="1">
                <a:solidFill>
                  <a:srgbClr val="007F7B"/>
                </a:solidFill>
                <a:latin typeface="Helvetica Neue"/>
                <a:ea typeface="Helvetica Neue"/>
                <a:cs typeface="Helvetica Neue"/>
              </a:defRPr>
            </a:lvl5pPr>
            <a:lvl6pPr>
              <a:defRPr sz="3225" b="1">
                <a:solidFill>
                  <a:srgbClr val="007F7B"/>
                </a:solidFill>
                <a:latin typeface="Helvetica Neue"/>
                <a:ea typeface="Helvetica Neue"/>
                <a:cs typeface="Helvetica Neue"/>
              </a:defRPr>
            </a:lvl6pPr>
            <a:lvl7pPr>
              <a:defRPr sz="3225" b="1">
                <a:solidFill>
                  <a:srgbClr val="007F7B"/>
                </a:solidFill>
                <a:latin typeface="Helvetica Neue"/>
                <a:ea typeface="Helvetica Neue"/>
                <a:cs typeface="Helvetica Neue"/>
              </a:defRPr>
            </a:lvl7pPr>
            <a:lvl8pPr>
              <a:defRPr sz="3225" b="1">
                <a:solidFill>
                  <a:srgbClr val="007F7B"/>
                </a:solidFill>
                <a:latin typeface="Helvetica Neue"/>
                <a:ea typeface="Helvetica Neue"/>
                <a:cs typeface="Helvetica Neue"/>
              </a:defRPr>
            </a:lvl8pPr>
            <a:lvl9pPr>
              <a:defRPr sz="3225" b="1">
                <a:solidFill>
                  <a:srgbClr val="007F7B"/>
                </a:solidFill>
                <a:latin typeface="Helvetica Neue"/>
                <a:ea typeface="Helvetica Neue"/>
                <a:cs typeface="Helvetica Neue"/>
              </a:defRPr>
            </a:lvl9pPr>
          </a:lstStyle>
          <a:p xmlns:a="http://schemas.openxmlformats.org/drawingml/2006/main">
            <a:pPr>
              <a:defRPr sz="3225" b="1">
                <a:solidFill>
                  <a:srgbClr val="007F7B"/>
                </a:solidFill>
                <a:latin typeface="Helvetica Neue"/>
                <a:ea typeface="Helvetica Neue"/>
                <a:cs typeface="Helvetica Neue"/>
              </a:defRPr>
            </a:pPr>
            <a:r>
              <a:rPr sz="3225" b="1">
                <a:solidFill>
                  <a:srgbClr val="007F7B"/>
                </a:solidFill>
                <a:latin typeface="Helvetica Neue"/>
                <a:ea typeface="Helvetica Neue"/>
                <a:cs typeface="Helvetica Neue"/>
              </a:rPr>
              <a:t>3</a:t>
            </a:r>
          </a:p>
        </p:txBody>
      </p:sp>
      <p:sp>
        <p:nvSpPr>
          <p:cNvPr id="12" name="">
            <a:extLst xmlns:a="http://schemas.openxmlformats.org/drawingml/2006/main">
              <a:ext uri="{FF2B5EF4-FFF2-40B4-BE49-F238E27FC236}">
                <a16:creationId xmlns:a16="http://schemas.microsoft.com/office/drawing/2014/main" id="{2B8E238F-9EBE-426A-BCEB-93B017B16E6C}"/>
              </a:ext>
            </a:extLst>
          </p:cNvPr>
          <p:cNvSpPr>
            <a:spLocks xmlns:a="http://schemas.openxmlformats.org/drawingml/2006/main" noGrp="1"/>
          </p:cNvSpPr>
          <p:nvPr/>
        </p:nvSpPr>
        <p:spPr>
          <a:xfrm xmlns:a="http://schemas.openxmlformats.org/drawingml/2006/main">
            <a:off x="1657350" y="3943350"/>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defRPr sz="2325" b="1">
                <a:solidFill>
                  <a:srgbClr val="172B3A"/>
                </a:solidFill>
                <a:latin typeface="Helvetica Neue"/>
                <a:ea typeface="Helvetica Neue"/>
                <a:cs typeface="Helvetica Neue"/>
              </a:defRPr>
            </a:lvl1pPr>
            <a:lvl2pPr>
              <a:defRPr sz="2325" b="1">
                <a:solidFill>
                  <a:srgbClr val="172B3A"/>
                </a:solidFill>
                <a:latin typeface="Helvetica Neue"/>
                <a:ea typeface="Helvetica Neue"/>
                <a:cs typeface="Helvetica Neue"/>
              </a:defRPr>
            </a:lvl2pPr>
            <a:lvl3pPr>
              <a:defRPr sz="2325" b="1">
                <a:solidFill>
                  <a:srgbClr val="172B3A"/>
                </a:solidFill>
                <a:latin typeface="Helvetica Neue"/>
                <a:ea typeface="Helvetica Neue"/>
                <a:cs typeface="Helvetica Neue"/>
              </a:defRPr>
            </a:lvl3pPr>
            <a:lvl4pPr>
              <a:defRPr sz="2325" b="1">
                <a:solidFill>
                  <a:srgbClr val="172B3A"/>
                </a:solidFill>
                <a:latin typeface="Helvetica Neue"/>
                <a:ea typeface="Helvetica Neue"/>
                <a:cs typeface="Helvetica Neue"/>
              </a:defRPr>
            </a:lvl4pPr>
            <a:lvl5pPr>
              <a:defRPr sz="2325" b="1">
                <a:solidFill>
                  <a:srgbClr val="172B3A"/>
                </a:solidFill>
                <a:latin typeface="Helvetica Neue"/>
                <a:ea typeface="Helvetica Neue"/>
                <a:cs typeface="Helvetica Neue"/>
              </a:defRPr>
            </a:lvl5pPr>
            <a:lvl6pPr>
              <a:defRPr sz="2325" b="1">
                <a:solidFill>
                  <a:srgbClr val="172B3A"/>
                </a:solidFill>
                <a:latin typeface="Helvetica Neue"/>
                <a:ea typeface="Helvetica Neue"/>
                <a:cs typeface="Helvetica Neue"/>
              </a:defRPr>
            </a:lvl6pPr>
            <a:lvl7pPr>
              <a:defRPr sz="2325" b="1">
                <a:solidFill>
                  <a:srgbClr val="172B3A"/>
                </a:solidFill>
                <a:latin typeface="Helvetica Neue"/>
                <a:ea typeface="Helvetica Neue"/>
                <a:cs typeface="Helvetica Neue"/>
              </a:defRPr>
            </a:lvl7pPr>
            <a:lvl8pPr>
              <a:defRPr sz="2325" b="1">
                <a:solidFill>
                  <a:srgbClr val="172B3A"/>
                </a:solidFill>
                <a:latin typeface="Helvetica Neue"/>
                <a:ea typeface="Helvetica Neue"/>
                <a:cs typeface="Helvetica Neue"/>
              </a:defRPr>
            </a:lvl8pPr>
            <a:lvl9pPr>
              <a:defRPr sz="2325" b="1">
                <a:solidFill>
                  <a:srgbClr val="172B3A"/>
                </a:solidFill>
                <a:latin typeface="Helvetica Neue"/>
                <a:ea typeface="Helvetica Neue"/>
                <a:cs typeface="Helvetica Neue"/>
              </a:defRPr>
            </a:lvl9pPr>
          </a:lstStyle>
          <a:p xmlns:a="http://schemas.openxmlformats.org/drawingml/2006/main">
            <a:pPr>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LLM: interpret the feedback</a:t>
            </a:r>
          </a:p>
        </p:txBody>
      </p:sp>
      <p:sp>
        <p:nvSpPr>
          <p:cNvPr id="13" name="">
            <a:extLst xmlns:a="http://schemas.openxmlformats.org/drawingml/2006/main">
              <a:ext uri="{FF2B5EF4-FFF2-40B4-BE49-F238E27FC236}">
                <a16:creationId xmlns:a16="http://schemas.microsoft.com/office/drawing/2014/main" id="{691BAAE6-CBDC-4DF5-AC5A-721C887061F3}"/>
              </a:ext>
            </a:extLst>
          </p:cNvPr>
          <p:cNvSpPr>
            <a:spLocks xmlns:a="http://schemas.openxmlformats.org/drawingml/2006/main" noGrp="1"/>
          </p:cNvSpPr>
          <p:nvPr/>
        </p:nvSpPr>
        <p:spPr>
          <a:xfrm xmlns:a="http://schemas.openxmlformats.org/drawingml/2006/main">
            <a:off x="1657350" y="4410075"/>
            <a:ext cx="985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defRPr sz="2100" b="0">
                <a:solidFill>
                  <a:srgbClr val="526472"/>
                </a:solidFill>
                <a:latin typeface="Helvetica Neue"/>
                <a:ea typeface="Helvetica Neue"/>
                <a:cs typeface="Helvetica Neue"/>
              </a:defRPr>
            </a:lvl1pPr>
            <a:lvl2pPr>
              <a:defRPr sz="2100" b="0">
                <a:solidFill>
                  <a:srgbClr val="526472"/>
                </a:solidFill>
                <a:latin typeface="Helvetica Neue"/>
                <a:ea typeface="Helvetica Neue"/>
                <a:cs typeface="Helvetica Neue"/>
              </a:defRPr>
            </a:lvl2pPr>
            <a:lvl3pPr>
              <a:defRPr sz="2100" b="0">
                <a:solidFill>
                  <a:srgbClr val="526472"/>
                </a:solidFill>
                <a:latin typeface="Helvetica Neue"/>
                <a:ea typeface="Helvetica Neue"/>
                <a:cs typeface="Helvetica Neue"/>
              </a:defRPr>
            </a:lvl3pPr>
            <a:lvl4pPr>
              <a:defRPr sz="2100" b="0">
                <a:solidFill>
                  <a:srgbClr val="526472"/>
                </a:solidFill>
                <a:latin typeface="Helvetica Neue"/>
                <a:ea typeface="Helvetica Neue"/>
                <a:cs typeface="Helvetica Neue"/>
              </a:defRPr>
            </a:lvl4pPr>
            <a:lvl5pPr>
              <a:defRPr sz="2100" b="0">
                <a:solidFill>
                  <a:srgbClr val="526472"/>
                </a:solidFill>
                <a:latin typeface="Helvetica Neue"/>
                <a:ea typeface="Helvetica Neue"/>
                <a:cs typeface="Helvetica Neue"/>
              </a:defRPr>
            </a:lvl5pPr>
            <a:lvl6pPr>
              <a:defRPr sz="2100" b="0">
                <a:solidFill>
                  <a:srgbClr val="526472"/>
                </a:solidFill>
                <a:latin typeface="Helvetica Neue"/>
                <a:ea typeface="Helvetica Neue"/>
                <a:cs typeface="Helvetica Neue"/>
              </a:defRPr>
            </a:lvl6pPr>
            <a:lvl7pPr>
              <a:defRPr sz="2100" b="0">
                <a:solidFill>
                  <a:srgbClr val="526472"/>
                </a:solidFill>
                <a:latin typeface="Helvetica Neue"/>
                <a:ea typeface="Helvetica Neue"/>
                <a:cs typeface="Helvetica Neue"/>
              </a:defRPr>
            </a:lvl7pPr>
            <a:lvl8pPr>
              <a:defRPr sz="2100" b="0">
                <a:solidFill>
                  <a:srgbClr val="526472"/>
                </a:solidFill>
                <a:latin typeface="Helvetica Neue"/>
                <a:ea typeface="Helvetica Neue"/>
                <a:cs typeface="Helvetica Neue"/>
              </a:defRPr>
            </a:lvl8pPr>
            <a:lvl9pPr>
              <a:defRPr sz="2100" b="0">
                <a:solidFill>
                  <a:srgbClr val="526472"/>
                </a:solidFill>
                <a:latin typeface="Helvetica Neue"/>
                <a:ea typeface="Helvetica Neue"/>
                <a:cs typeface="Helvetica Neue"/>
              </a:defRPr>
            </a:lvl9pPr>
          </a:lstStyle>
          <a:p xmlns:a="http://schemas.openxmlformats.org/drawingml/2006/main">
            <a:pPr>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Compare the result with the earlier expectation.</a:t>
            </a:r>
          </a:p>
        </p:txBody>
      </p:sp>
      <p:sp>
        <p:nvSpPr>
          <p:cNvPr id="14" name="">
            <a:extLst xmlns:a="http://schemas.openxmlformats.org/drawingml/2006/main">
              <a:ext uri="{FF2B5EF4-FFF2-40B4-BE49-F238E27FC236}">
                <a16:creationId xmlns:a16="http://schemas.microsoft.com/office/drawing/2014/main" id="{7F99358F-5A0C-4568-8D7B-CCA20C0B713A}"/>
              </a:ext>
            </a:extLst>
          </p:cNvPr>
          <p:cNvSpPr>
            <a:spLocks xmlns:a="http://schemas.openxmlformats.org/drawingml/2006/main" noGrp="1"/>
          </p:cNvSpPr>
          <p:nvPr/>
        </p:nvSpPr>
        <p:spPr>
          <a:xfrm xmlns:a="http://schemas.openxmlformats.org/drawingml/2006/main">
            <a:off x="533400" y="5010150"/>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7F7B"/>
                </a:solidFill>
                <a:latin typeface="Helvetica Neue"/>
                <a:ea typeface="Helvetica Neue"/>
                <a:cs typeface="Helvetica Neue"/>
              </a:defRPr>
            </a:defPPr>
            <a:lvl1pPr>
              <a:defRPr sz="3225" b="1">
                <a:solidFill>
                  <a:srgbClr val="007F7B"/>
                </a:solidFill>
                <a:latin typeface="Helvetica Neue"/>
                <a:ea typeface="Helvetica Neue"/>
                <a:cs typeface="Helvetica Neue"/>
              </a:defRPr>
            </a:lvl1pPr>
            <a:lvl2pPr>
              <a:defRPr sz="3225" b="1">
                <a:solidFill>
                  <a:srgbClr val="007F7B"/>
                </a:solidFill>
                <a:latin typeface="Helvetica Neue"/>
                <a:ea typeface="Helvetica Neue"/>
                <a:cs typeface="Helvetica Neue"/>
              </a:defRPr>
            </a:lvl2pPr>
            <a:lvl3pPr>
              <a:defRPr sz="3225" b="1">
                <a:solidFill>
                  <a:srgbClr val="007F7B"/>
                </a:solidFill>
                <a:latin typeface="Helvetica Neue"/>
                <a:ea typeface="Helvetica Neue"/>
                <a:cs typeface="Helvetica Neue"/>
              </a:defRPr>
            </a:lvl3pPr>
            <a:lvl4pPr>
              <a:defRPr sz="3225" b="1">
                <a:solidFill>
                  <a:srgbClr val="007F7B"/>
                </a:solidFill>
                <a:latin typeface="Helvetica Neue"/>
                <a:ea typeface="Helvetica Neue"/>
                <a:cs typeface="Helvetica Neue"/>
              </a:defRPr>
            </a:lvl4pPr>
            <a:lvl5pPr>
              <a:defRPr sz="3225" b="1">
                <a:solidFill>
                  <a:srgbClr val="007F7B"/>
                </a:solidFill>
                <a:latin typeface="Helvetica Neue"/>
                <a:ea typeface="Helvetica Neue"/>
                <a:cs typeface="Helvetica Neue"/>
              </a:defRPr>
            </a:lvl5pPr>
            <a:lvl6pPr>
              <a:defRPr sz="3225" b="1">
                <a:solidFill>
                  <a:srgbClr val="007F7B"/>
                </a:solidFill>
                <a:latin typeface="Helvetica Neue"/>
                <a:ea typeface="Helvetica Neue"/>
                <a:cs typeface="Helvetica Neue"/>
              </a:defRPr>
            </a:lvl6pPr>
            <a:lvl7pPr>
              <a:defRPr sz="3225" b="1">
                <a:solidFill>
                  <a:srgbClr val="007F7B"/>
                </a:solidFill>
                <a:latin typeface="Helvetica Neue"/>
                <a:ea typeface="Helvetica Neue"/>
                <a:cs typeface="Helvetica Neue"/>
              </a:defRPr>
            </a:lvl7pPr>
            <a:lvl8pPr>
              <a:defRPr sz="3225" b="1">
                <a:solidFill>
                  <a:srgbClr val="007F7B"/>
                </a:solidFill>
                <a:latin typeface="Helvetica Neue"/>
                <a:ea typeface="Helvetica Neue"/>
                <a:cs typeface="Helvetica Neue"/>
              </a:defRPr>
            </a:lvl8pPr>
            <a:lvl9pPr>
              <a:defRPr sz="3225" b="1">
                <a:solidFill>
                  <a:srgbClr val="007F7B"/>
                </a:solidFill>
                <a:latin typeface="Helvetica Neue"/>
                <a:ea typeface="Helvetica Neue"/>
                <a:cs typeface="Helvetica Neue"/>
              </a:defRPr>
            </a:lvl9pPr>
          </a:lstStyle>
          <a:p xmlns:a="http://schemas.openxmlformats.org/drawingml/2006/main">
            <a:pPr>
              <a:defRPr sz="3225" b="1">
                <a:solidFill>
                  <a:srgbClr val="007F7B"/>
                </a:solidFill>
                <a:latin typeface="Helvetica Neue"/>
                <a:ea typeface="Helvetica Neue"/>
                <a:cs typeface="Helvetica Neue"/>
              </a:defRPr>
            </a:pPr>
            <a:r>
              <a:rPr sz="3225" b="1">
                <a:solidFill>
                  <a:srgbClr val="007F7B"/>
                </a:solidFill>
                <a:latin typeface="Helvetica Neue"/>
                <a:ea typeface="Helvetica Neue"/>
                <a:cs typeface="Helvetica Neue"/>
              </a:rPr>
              <a:t>4</a:t>
            </a:r>
          </a:p>
        </p:txBody>
      </p:sp>
      <p:sp>
        <p:nvSpPr>
          <p:cNvPr id="15" name="">
            <a:extLst xmlns:a="http://schemas.openxmlformats.org/drawingml/2006/main">
              <a:ext uri="{FF2B5EF4-FFF2-40B4-BE49-F238E27FC236}">
                <a16:creationId xmlns:a16="http://schemas.microsoft.com/office/drawing/2014/main" id="{87B87748-F0BB-424D-8BF8-2EE8DC071708}"/>
              </a:ext>
            </a:extLst>
          </p:cNvPr>
          <p:cNvSpPr>
            <a:spLocks xmlns:a="http://schemas.openxmlformats.org/drawingml/2006/main" noGrp="1"/>
          </p:cNvSpPr>
          <p:nvPr/>
        </p:nvSpPr>
        <p:spPr>
          <a:xfrm xmlns:a="http://schemas.openxmlformats.org/drawingml/2006/main">
            <a:off x="1657350" y="5010150"/>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defRPr sz="2325" b="1">
                <a:solidFill>
                  <a:srgbClr val="172B3A"/>
                </a:solidFill>
                <a:latin typeface="Helvetica Neue"/>
                <a:ea typeface="Helvetica Neue"/>
                <a:cs typeface="Helvetica Neue"/>
              </a:defRPr>
            </a:lvl1pPr>
            <a:lvl2pPr>
              <a:defRPr sz="2325" b="1">
                <a:solidFill>
                  <a:srgbClr val="172B3A"/>
                </a:solidFill>
                <a:latin typeface="Helvetica Neue"/>
                <a:ea typeface="Helvetica Neue"/>
                <a:cs typeface="Helvetica Neue"/>
              </a:defRPr>
            </a:lvl2pPr>
            <a:lvl3pPr>
              <a:defRPr sz="2325" b="1">
                <a:solidFill>
                  <a:srgbClr val="172B3A"/>
                </a:solidFill>
                <a:latin typeface="Helvetica Neue"/>
                <a:ea typeface="Helvetica Neue"/>
                <a:cs typeface="Helvetica Neue"/>
              </a:defRPr>
            </a:lvl3pPr>
            <a:lvl4pPr>
              <a:defRPr sz="2325" b="1">
                <a:solidFill>
                  <a:srgbClr val="172B3A"/>
                </a:solidFill>
                <a:latin typeface="Helvetica Neue"/>
                <a:ea typeface="Helvetica Neue"/>
                <a:cs typeface="Helvetica Neue"/>
              </a:defRPr>
            </a:lvl4pPr>
            <a:lvl5pPr>
              <a:defRPr sz="2325" b="1">
                <a:solidFill>
                  <a:srgbClr val="172B3A"/>
                </a:solidFill>
                <a:latin typeface="Helvetica Neue"/>
                <a:ea typeface="Helvetica Neue"/>
                <a:cs typeface="Helvetica Neue"/>
              </a:defRPr>
            </a:lvl5pPr>
            <a:lvl6pPr>
              <a:defRPr sz="2325" b="1">
                <a:solidFill>
                  <a:srgbClr val="172B3A"/>
                </a:solidFill>
                <a:latin typeface="Helvetica Neue"/>
                <a:ea typeface="Helvetica Neue"/>
                <a:cs typeface="Helvetica Neue"/>
              </a:defRPr>
            </a:lvl6pPr>
            <a:lvl7pPr>
              <a:defRPr sz="2325" b="1">
                <a:solidFill>
                  <a:srgbClr val="172B3A"/>
                </a:solidFill>
                <a:latin typeface="Helvetica Neue"/>
                <a:ea typeface="Helvetica Neue"/>
                <a:cs typeface="Helvetica Neue"/>
              </a:defRPr>
            </a:lvl7pPr>
            <a:lvl8pPr>
              <a:defRPr sz="2325" b="1">
                <a:solidFill>
                  <a:srgbClr val="172B3A"/>
                </a:solidFill>
                <a:latin typeface="Helvetica Neue"/>
                <a:ea typeface="Helvetica Neue"/>
                <a:cs typeface="Helvetica Neue"/>
              </a:defRPr>
            </a:lvl8pPr>
            <a:lvl9pPr>
              <a:defRPr sz="2325" b="1">
                <a:solidFill>
                  <a:srgbClr val="172B3A"/>
                </a:solidFill>
                <a:latin typeface="Helvetica Neue"/>
                <a:ea typeface="Helvetica Neue"/>
                <a:cs typeface="Helvetica Neue"/>
              </a:defRPr>
            </a:lvl9pPr>
          </a:lstStyle>
          <a:p xmlns:a="http://schemas.openxmlformats.org/drawingml/2006/main">
            <a:pPr>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LLM: choose the next test</a:t>
            </a:r>
          </a:p>
        </p:txBody>
      </p:sp>
      <p:sp>
        <p:nvSpPr>
          <p:cNvPr id="16" name="">
            <a:extLst xmlns:a="http://schemas.openxmlformats.org/drawingml/2006/main">
              <a:ext uri="{FF2B5EF4-FFF2-40B4-BE49-F238E27FC236}">
                <a16:creationId xmlns:a16="http://schemas.microsoft.com/office/drawing/2014/main" id="{6D4BF07A-2FB7-4B42-8831-5BF20906E707}"/>
              </a:ext>
            </a:extLst>
          </p:cNvPr>
          <p:cNvSpPr>
            <a:spLocks xmlns:a="http://schemas.openxmlformats.org/drawingml/2006/main" noGrp="1"/>
          </p:cNvSpPr>
          <p:nvPr/>
        </p:nvSpPr>
        <p:spPr>
          <a:xfrm xmlns:a="http://schemas.openxmlformats.org/drawingml/2006/main">
            <a:off x="1657350" y="5476875"/>
            <a:ext cx="985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defRPr sz="2100" b="0">
                <a:solidFill>
                  <a:srgbClr val="526472"/>
                </a:solidFill>
                <a:latin typeface="Helvetica Neue"/>
                <a:ea typeface="Helvetica Neue"/>
                <a:cs typeface="Helvetica Neue"/>
              </a:defRPr>
            </a:lvl1pPr>
            <a:lvl2pPr>
              <a:defRPr sz="2100" b="0">
                <a:solidFill>
                  <a:srgbClr val="526472"/>
                </a:solidFill>
                <a:latin typeface="Helvetica Neue"/>
                <a:ea typeface="Helvetica Neue"/>
                <a:cs typeface="Helvetica Neue"/>
              </a:defRPr>
            </a:lvl2pPr>
            <a:lvl3pPr>
              <a:defRPr sz="2100" b="0">
                <a:solidFill>
                  <a:srgbClr val="526472"/>
                </a:solidFill>
                <a:latin typeface="Helvetica Neue"/>
                <a:ea typeface="Helvetica Neue"/>
                <a:cs typeface="Helvetica Neue"/>
              </a:defRPr>
            </a:lvl3pPr>
            <a:lvl4pPr>
              <a:defRPr sz="2100" b="0">
                <a:solidFill>
                  <a:srgbClr val="526472"/>
                </a:solidFill>
                <a:latin typeface="Helvetica Neue"/>
                <a:ea typeface="Helvetica Neue"/>
                <a:cs typeface="Helvetica Neue"/>
              </a:defRPr>
            </a:lvl4pPr>
            <a:lvl5pPr>
              <a:defRPr sz="2100" b="0">
                <a:solidFill>
                  <a:srgbClr val="526472"/>
                </a:solidFill>
                <a:latin typeface="Helvetica Neue"/>
                <a:ea typeface="Helvetica Neue"/>
                <a:cs typeface="Helvetica Neue"/>
              </a:defRPr>
            </a:lvl5pPr>
            <a:lvl6pPr>
              <a:defRPr sz="2100" b="0">
                <a:solidFill>
                  <a:srgbClr val="526472"/>
                </a:solidFill>
                <a:latin typeface="Helvetica Neue"/>
                <a:ea typeface="Helvetica Neue"/>
                <a:cs typeface="Helvetica Neue"/>
              </a:defRPr>
            </a:lvl6pPr>
            <a:lvl7pPr>
              <a:defRPr sz="2100" b="0">
                <a:solidFill>
                  <a:srgbClr val="526472"/>
                </a:solidFill>
                <a:latin typeface="Helvetica Neue"/>
                <a:ea typeface="Helvetica Neue"/>
                <a:cs typeface="Helvetica Neue"/>
              </a:defRPr>
            </a:lvl7pPr>
            <a:lvl8pPr>
              <a:defRPr sz="2100" b="0">
                <a:solidFill>
                  <a:srgbClr val="526472"/>
                </a:solidFill>
                <a:latin typeface="Helvetica Neue"/>
                <a:ea typeface="Helvetica Neue"/>
                <a:cs typeface="Helvetica Neue"/>
              </a:defRPr>
            </a:lvl8pPr>
            <a:lvl9pPr>
              <a:defRPr sz="2100" b="0">
                <a:solidFill>
                  <a:srgbClr val="526472"/>
                </a:solidFill>
                <a:latin typeface="Helvetica Neue"/>
                <a:ea typeface="Helvetica Neue"/>
                <a:cs typeface="Helvetica Neue"/>
              </a:defRPr>
            </a:lvl9pPr>
          </a:lstStyle>
          <a:p xmlns:a="http://schemas.openxmlformats.org/drawingml/2006/main">
            <a:pPr>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Continue until the evaluation budget is used.</a:t>
            </a:r>
          </a:p>
        </p:txBody>
      </p:sp>
    </p:spTree>
    <p:extLst>
      <p:ext uri="{BB962C8B-B14F-4D97-AF65-F5344CB8AC3E}">
        <p14:creationId xmlns:p14="http://schemas.microsoft.com/office/powerpoint/2010/main" val="1005807854"/>
      </p:ext>
    </p:extLst>
  </p:cSld>
</p:sld>
</file>

<file path=ppt/slides/slide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4F6096B-6CF1-4F23-AFAE-B517D8B6A0E9}"/>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STEP 1 / CONTROLLED SELECTION</a:t>
            </a:r>
          </a:p>
        </p:txBody>
      </p:sp>
      <p:sp>
        <p:nvSpPr>
          <p:cNvPr id="2" name="">
            <a:extLst xmlns:a="http://schemas.openxmlformats.org/drawingml/2006/main">
              <a:ext uri="{FF2B5EF4-FFF2-40B4-BE49-F238E27FC236}">
                <a16:creationId xmlns:a16="http://schemas.microsoft.com/office/drawing/2014/main" id="{A9A1AAE3-15DB-4DCC-AC96-C79234FCDA24}"/>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First test: can it find a coating that passes?</a:t>
            </a:r>
          </a:p>
        </p:txBody>
      </p:sp>
      <p:sp>
        <p:nvSpPr>
          <p:cNvPr id="3" name="">
            <a:extLst xmlns:a="http://schemas.openxmlformats.org/drawingml/2006/main">
              <a:ext uri="{FF2B5EF4-FFF2-40B4-BE49-F238E27FC236}">
                <a16:creationId xmlns:a16="http://schemas.microsoft.com/office/drawing/2014/main" id="{74AB3BAB-F97E-40AF-96CB-A535A4403486}"/>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406D8989-3D69-4CC9-9AB3-41696E4B93AB}"/>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4078758C-26C7-45E3-8522-6F01878C068D}"/>
              </a:ext>
            </a:extLst>
          </p:cNvPr>
          <p:cNvSpPr>
            <a:spLocks xmlns:a="http://schemas.openxmlformats.org/drawingml/2006/main" noGrp="1"/>
          </p:cNvSpPr>
          <p:nvPr/>
        </p:nvSpPr>
        <p:spPr>
          <a:xfrm xmlns:a="http://schemas.openxmlformats.org/drawingml/2006/main">
            <a:off x="533400" y="2028825"/>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72B3A"/>
                </a:solidFill>
                <a:latin typeface="Helvetica Neue"/>
                <a:ea typeface="Helvetica Neue"/>
                <a:cs typeface="Helvetica Neue"/>
              </a:defRPr>
            </a:defPPr>
            <a:lvl1pPr>
              <a:defRPr sz="2550" b="1">
                <a:solidFill>
                  <a:srgbClr val="172B3A"/>
                </a:solidFill>
                <a:latin typeface="Helvetica Neue"/>
                <a:ea typeface="Helvetica Neue"/>
                <a:cs typeface="Helvetica Neue"/>
              </a:defRPr>
            </a:lvl1pPr>
            <a:lvl2pPr>
              <a:defRPr sz="2550" b="1">
                <a:solidFill>
                  <a:srgbClr val="172B3A"/>
                </a:solidFill>
                <a:latin typeface="Helvetica Neue"/>
                <a:ea typeface="Helvetica Neue"/>
                <a:cs typeface="Helvetica Neue"/>
              </a:defRPr>
            </a:lvl2pPr>
            <a:lvl3pPr>
              <a:defRPr sz="2550" b="1">
                <a:solidFill>
                  <a:srgbClr val="172B3A"/>
                </a:solidFill>
                <a:latin typeface="Helvetica Neue"/>
                <a:ea typeface="Helvetica Neue"/>
                <a:cs typeface="Helvetica Neue"/>
              </a:defRPr>
            </a:lvl3pPr>
            <a:lvl4pPr>
              <a:defRPr sz="2550" b="1">
                <a:solidFill>
                  <a:srgbClr val="172B3A"/>
                </a:solidFill>
                <a:latin typeface="Helvetica Neue"/>
                <a:ea typeface="Helvetica Neue"/>
                <a:cs typeface="Helvetica Neue"/>
              </a:defRPr>
            </a:lvl4pPr>
            <a:lvl5pPr>
              <a:defRPr sz="2550" b="1">
                <a:solidFill>
                  <a:srgbClr val="172B3A"/>
                </a:solidFill>
                <a:latin typeface="Helvetica Neue"/>
                <a:ea typeface="Helvetica Neue"/>
                <a:cs typeface="Helvetica Neue"/>
              </a:defRPr>
            </a:lvl5pPr>
            <a:lvl6pPr>
              <a:defRPr sz="2550" b="1">
                <a:solidFill>
                  <a:srgbClr val="172B3A"/>
                </a:solidFill>
                <a:latin typeface="Helvetica Neue"/>
                <a:ea typeface="Helvetica Neue"/>
                <a:cs typeface="Helvetica Neue"/>
              </a:defRPr>
            </a:lvl6pPr>
            <a:lvl7pPr>
              <a:defRPr sz="2550" b="1">
                <a:solidFill>
                  <a:srgbClr val="172B3A"/>
                </a:solidFill>
                <a:latin typeface="Helvetica Neue"/>
                <a:ea typeface="Helvetica Neue"/>
                <a:cs typeface="Helvetica Neue"/>
              </a:defRPr>
            </a:lvl7pPr>
            <a:lvl8pPr>
              <a:defRPr sz="2550" b="1">
                <a:solidFill>
                  <a:srgbClr val="172B3A"/>
                </a:solidFill>
                <a:latin typeface="Helvetica Neue"/>
                <a:ea typeface="Helvetica Neue"/>
                <a:cs typeface="Helvetica Neue"/>
              </a:defRPr>
            </a:lvl8pPr>
            <a:lvl9pPr>
              <a:defRPr sz="2550" b="1">
                <a:solidFill>
                  <a:srgbClr val="172B3A"/>
                </a:solidFill>
                <a:latin typeface="Helvetica Neue"/>
                <a:ea typeface="Helvetica Neue"/>
                <a:cs typeface="Helvetica Neue"/>
              </a:defRPr>
            </a:lvl9pPr>
          </a:lstStyle>
          <a:p xmlns:a="http://schemas.openxmlformats.org/drawingml/2006/main">
            <a:pPr>
              <a:defRPr sz="2550" b="1">
                <a:solidFill>
                  <a:srgbClr val="172B3A"/>
                </a:solidFill>
                <a:latin typeface="Helvetica Neue"/>
                <a:ea typeface="Helvetica Neue"/>
                <a:cs typeface="Helvetica Neue"/>
              </a:defRPr>
            </a:pPr>
            <a:r>
              <a:rPr sz="2550" b="1">
                <a:solidFill>
                  <a:srgbClr val="172B3A"/>
                </a:solidFill>
                <a:latin typeface="Helvetica Neue"/>
                <a:ea typeface="Helvetica Neue"/>
                <a:cs typeface="Helvetica Neue"/>
              </a:rPr>
              <a:t>Choose from a fixed menu of known materials.</a:t>
            </a:r>
          </a:p>
        </p:txBody>
      </p:sp>
      <p:sp>
        <p:nvSpPr>
          <p:cNvPr id="6" name="">
            <a:extLst xmlns:a="http://schemas.openxmlformats.org/drawingml/2006/main">
              <a:ext uri="{FF2B5EF4-FFF2-40B4-BE49-F238E27FC236}">
                <a16:creationId xmlns:a16="http://schemas.microsoft.com/office/drawing/2014/main" id="{193D98EB-3F22-42CF-AB0A-983BA49A72D8}"/>
              </a:ext>
            </a:extLst>
          </p:cNvPr>
          <p:cNvSpPr>
            <a:spLocks xmlns:a="http://schemas.openxmlformats.org/drawingml/2006/main" noGrp="1"/>
          </p:cNvSpPr>
          <p:nvPr/>
        </p:nvSpPr>
        <p:spPr>
          <a:xfrm xmlns:a="http://schemas.openxmlformats.org/drawingml/2006/main">
            <a:off x="533400" y="2886075"/>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526472"/>
                </a:solidFill>
                <a:latin typeface="Helvetica Neue"/>
                <a:ea typeface="Helvetica Neue"/>
                <a:cs typeface="Helvetica Neue"/>
              </a:defRPr>
            </a:defPPr>
            <a:lvl1pPr>
              <a:defRPr sz="2400" b="0">
                <a:solidFill>
                  <a:srgbClr val="526472"/>
                </a:solidFill>
                <a:latin typeface="Helvetica Neue"/>
                <a:ea typeface="Helvetica Neue"/>
                <a:cs typeface="Helvetica Neue"/>
              </a:defRPr>
            </a:lvl1pPr>
            <a:lvl2pPr>
              <a:defRPr sz="2400" b="0">
                <a:solidFill>
                  <a:srgbClr val="526472"/>
                </a:solidFill>
                <a:latin typeface="Helvetica Neue"/>
                <a:ea typeface="Helvetica Neue"/>
                <a:cs typeface="Helvetica Neue"/>
              </a:defRPr>
            </a:lvl2pPr>
            <a:lvl3pPr>
              <a:defRPr sz="2400" b="0">
                <a:solidFill>
                  <a:srgbClr val="526472"/>
                </a:solidFill>
                <a:latin typeface="Helvetica Neue"/>
                <a:ea typeface="Helvetica Neue"/>
                <a:cs typeface="Helvetica Neue"/>
              </a:defRPr>
            </a:lvl3pPr>
            <a:lvl4pPr>
              <a:defRPr sz="2400" b="0">
                <a:solidFill>
                  <a:srgbClr val="526472"/>
                </a:solidFill>
                <a:latin typeface="Helvetica Neue"/>
                <a:ea typeface="Helvetica Neue"/>
                <a:cs typeface="Helvetica Neue"/>
              </a:defRPr>
            </a:lvl4pPr>
            <a:lvl5pPr>
              <a:defRPr sz="2400" b="0">
                <a:solidFill>
                  <a:srgbClr val="526472"/>
                </a:solidFill>
                <a:latin typeface="Helvetica Neue"/>
                <a:ea typeface="Helvetica Neue"/>
                <a:cs typeface="Helvetica Neue"/>
              </a:defRPr>
            </a:lvl5pPr>
            <a:lvl6pPr>
              <a:defRPr sz="2400" b="0">
                <a:solidFill>
                  <a:srgbClr val="526472"/>
                </a:solidFill>
                <a:latin typeface="Helvetica Neue"/>
                <a:ea typeface="Helvetica Neue"/>
                <a:cs typeface="Helvetica Neue"/>
              </a:defRPr>
            </a:lvl6pPr>
            <a:lvl7pPr>
              <a:defRPr sz="2400" b="0">
                <a:solidFill>
                  <a:srgbClr val="526472"/>
                </a:solidFill>
                <a:latin typeface="Helvetica Neue"/>
                <a:ea typeface="Helvetica Neue"/>
                <a:cs typeface="Helvetica Neue"/>
              </a:defRPr>
            </a:lvl7pPr>
            <a:lvl8pPr>
              <a:defRPr sz="2400" b="0">
                <a:solidFill>
                  <a:srgbClr val="526472"/>
                </a:solidFill>
                <a:latin typeface="Helvetica Neue"/>
                <a:ea typeface="Helvetica Neue"/>
                <a:cs typeface="Helvetica Neue"/>
              </a:defRPr>
            </a:lvl8pPr>
            <a:lvl9pPr>
              <a:defRPr sz="2400" b="0">
                <a:solidFill>
                  <a:srgbClr val="526472"/>
                </a:solidFill>
                <a:latin typeface="Helvetica Neue"/>
                <a:ea typeface="Helvetica Neue"/>
                <a:cs typeface="Helvetica Neue"/>
              </a:defRPr>
            </a:lvl9pPr>
          </a:lstStyle>
          <a:p xmlns:a="http://schemas.openxmlformats.org/drawingml/2006/main">
            <a:pPr>
              <a:defRPr sz="2400" b="0">
                <a:solidFill>
                  <a:srgbClr val="526472"/>
                </a:solidFill>
                <a:latin typeface="Helvetica Neue"/>
                <a:ea typeface="Helvetica Neue"/>
                <a:cs typeface="Helvetica Neue"/>
              </a:defRPr>
            </a:pPr>
            <a:r>
              <a:rPr sz="2400" b="0">
                <a:solidFill>
                  <a:srgbClr val="526472"/>
                </a:solidFill>
                <a:latin typeface="Helvetica Neue"/>
                <a:ea typeface="Helvetica Neue"/>
                <a:cs typeface="Helvetica Neue"/>
              </a:rPr>
              <a:t>A calculation scores unwanted chemical reactions.</a:t>
            </a:r>
          </a:p>
          <a:p xmlns:a="http://schemas.openxmlformats.org/drawingml/2006/main">
            <a:pPr>
              <a:defRPr sz="2400" b="0">
                <a:solidFill>
                  <a:srgbClr val="526472"/>
                </a:solidFill>
                <a:latin typeface="Helvetica Neue"/>
                <a:ea typeface="Helvetica Neue"/>
                <a:cs typeface="Helvetica Neue"/>
              </a:defRPr>
            </a:pPr>
            <a:r>
              <a:rPr sz="2400" b="0">
                <a:solidFill>
                  <a:srgbClr val="526472"/>
                </a:solidFill>
                <a:latin typeface="Helvetica Neue"/>
                <a:ea typeface="Helvetica Neue"/>
                <a:cs typeface="Helvetica Neue"/>
              </a:rPr>
              <a:t>A material passes only if it meets the preset limits.</a:t>
            </a:r>
          </a:p>
        </p:txBody>
      </p:sp>
      <p:sp>
        <p:nvSpPr>
          <p:cNvPr id="7" name="">
            <a:extLst xmlns:a="http://schemas.openxmlformats.org/drawingml/2006/main">
              <a:ext uri="{FF2B5EF4-FFF2-40B4-BE49-F238E27FC236}">
                <a16:creationId xmlns:a16="http://schemas.microsoft.com/office/drawing/2014/main" id="{9E9DEE59-A30B-4BD6-9627-78114A8EA403}"/>
              </a:ext>
            </a:extLst>
          </p:cNvPr>
          <p:cNvSpPr>
            <a:spLocks xmlns:a="http://schemas.openxmlformats.org/drawingml/2006/main" noGrp="1"/>
          </p:cNvSpPr>
          <p:nvPr/>
        </p:nvSpPr>
        <p:spPr>
          <a:xfrm xmlns:a="http://schemas.openxmlformats.org/drawingml/2006/main">
            <a:off x="533400" y="441007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007F7B"/>
                </a:solidFill>
                <a:latin typeface="Helvetica Neue"/>
                <a:ea typeface="Helvetica Neue"/>
                <a:cs typeface="Helvetica Neue"/>
              </a:defRPr>
            </a:defPPr>
            <a:lvl1pPr>
              <a:defRPr sz="4350" b="1">
                <a:solidFill>
                  <a:srgbClr val="007F7B"/>
                </a:solidFill>
                <a:latin typeface="Helvetica Neue"/>
                <a:ea typeface="Helvetica Neue"/>
                <a:cs typeface="Helvetica Neue"/>
              </a:defRPr>
            </a:lvl1pPr>
            <a:lvl2pPr>
              <a:defRPr sz="4350" b="1">
                <a:solidFill>
                  <a:srgbClr val="007F7B"/>
                </a:solidFill>
                <a:latin typeface="Helvetica Neue"/>
                <a:ea typeface="Helvetica Neue"/>
                <a:cs typeface="Helvetica Neue"/>
              </a:defRPr>
            </a:lvl2pPr>
            <a:lvl3pPr>
              <a:defRPr sz="4350" b="1">
                <a:solidFill>
                  <a:srgbClr val="007F7B"/>
                </a:solidFill>
                <a:latin typeface="Helvetica Neue"/>
                <a:ea typeface="Helvetica Neue"/>
                <a:cs typeface="Helvetica Neue"/>
              </a:defRPr>
            </a:lvl3pPr>
            <a:lvl4pPr>
              <a:defRPr sz="4350" b="1">
                <a:solidFill>
                  <a:srgbClr val="007F7B"/>
                </a:solidFill>
                <a:latin typeface="Helvetica Neue"/>
                <a:ea typeface="Helvetica Neue"/>
                <a:cs typeface="Helvetica Neue"/>
              </a:defRPr>
            </a:lvl4pPr>
            <a:lvl5pPr>
              <a:defRPr sz="4350" b="1">
                <a:solidFill>
                  <a:srgbClr val="007F7B"/>
                </a:solidFill>
                <a:latin typeface="Helvetica Neue"/>
                <a:ea typeface="Helvetica Neue"/>
                <a:cs typeface="Helvetica Neue"/>
              </a:defRPr>
            </a:lvl5pPr>
            <a:lvl6pPr>
              <a:defRPr sz="4350" b="1">
                <a:solidFill>
                  <a:srgbClr val="007F7B"/>
                </a:solidFill>
                <a:latin typeface="Helvetica Neue"/>
                <a:ea typeface="Helvetica Neue"/>
                <a:cs typeface="Helvetica Neue"/>
              </a:defRPr>
            </a:lvl6pPr>
            <a:lvl7pPr>
              <a:defRPr sz="4350" b="1">
                <a:solidFill>
                  <a:srgbClr val="007F7B"/>
                </a:solidFill>
                <a:latin typeface="Helvetica Neue"/>
                <a:ea typeface="Helvetica Neue"/>
                <a:cs typeface="Helvetica Neue"/>
              </a:defRPr>
            </a:lvl7pPr>
            <a:lvl8pPr>
              <a:defRPr sz="4350" b="1">
                <a:solidFill>
                  <a:srgbClr val="007F7B"/>
                </a:solidFill>
                <a:latin typeface="Helvetica Neue"/>
                <a:ea typeface="Helvetica Neue"/>
                <a:cs typeface="Helvetica Neue"/>
              </a:defRPr>
            </a:lvl8pPr>
            <a:lvl9pPr>
              <a:defRPr sz="4350" b="1">
                <a:solidFill>
                  <a:srgbClr val="007F7B"/>
                </a:solidFill>
                <a:latin typeface="Helvetica Neue"/>
                <a:ea typeface="Helvetica Neue"/>
                <a:cs typeface="Helvetica Neue"/>
              </a:defRPr>
            </a:lvl9pPr>
          </a:lstStyle>
          <a:p xmlns:a="http://schemas.openxmlformats.org/drawingml/2006/main">
            <a:pPr>
              <a:defRPr sz="4350" b="1">
                <a:solidFill>
                  <a:srgbClr val="007F7B"/>
                </a:solidFill>
                <a:latin typeface="Helvetica Neue"/>
                <a:ea typeface="Helvetica Neue"/>
                <a:cs typeface="Helvetica Neue"/>
              </a:defRPr>
            </a:pPr>
            <a:r>
              <a:rPr sz="4350" b="1">
                <a:solidFill>
                  <a:srgbClr val="007F7B"/>
                </a:solidFill>
                <a:latin typeface="Helvetica Neue"/>
                <a:ea typeface="Helvetica Neue"/>
                <a:cs typeface="Helvetica Neue"/>
              </a:rPr>
              <a:t>10 tries</a:t>
            </a:r>
          </a:p>
        </p:txBody>
      </p:sp>
      <p:sp>
        <p:nvSpPr>
          <p:cNvPr id="8" name="">
            <a:extLst xmlns:a="http://schemas.openxmlformats.org/drawingml/2006/main">
              <a:ext uri="{FF2B5EF4-FFF2-40B4-BE49-F238E27FC236}">
                <a16:creationId xmlns:a16="http://schemas.microsoft.com/office/drawing/2014/main" id="{48854E0E-DEC6-4828-BAC2-ADA558408551}"/>
              </a:ext>
            </a:extLst>
          </p:cNvPr>
          <p:cNvSpPr>
            <a:spLocks xmlns:a="http://schemas.openxmlformats.org/drawingml/2006/main" noGrp="1"/>
          </p:cNvSpPr>
          <p:nvPr/>
        </p:nvSpPr>
        <p:spPr>
          <a:xfrm xmlns:a="http://schemas.openxmlformats.org/drawingml/2006/main">
            <a:off x="533400" y="524827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B3A"/>
                </a:solidFill>
                <a:latin typeface="Helvetica Neue"/>
                <a:ea typeface="Helvetica Neue"/>
                <a:cs typeface="Helvetica Neue"/>
              </a:defRPr>
            </a:defPPr>
            <a:lvl1pPr>
              <a:defRPr sz="2250" b="0">
                <a:solidFill>
                  <a:srgbClr val="172B3A"/>
                </a:solidFill>
                <a:latin typeface="Helvetica Neue"/>
                <a:ea typeface="Helvetica Neue"/>
                <a:cs typeface="Helvetica Neue"/>
              </a:defRPr>
            </a:lvl1pPr>
            <a:lvl2pPr>
              <a:defRPr sz="2250" b="0">
                <a:solidFill>
                  <a:srgbClr val="172B3A"/>
                </a:solidFill>
                <a:latin typeface="Helvetica Neue"/>
                <a:ea typeface="Helvetica Neue"/>
                <a:cs typeface="Helvetica Neue"/>
              </a:defRPr>
            </a:lvl2pPr>
            <a:lvl3pPr>
              <a:defRPr sz="2250" b="0">
                <a:solidFill>
                  <a:srgbClr val="172B3A"/>
                </a:solidFill>
                <a:latin typeface="Helvetica Neue"/>
                <a:ea typeface="Helvetica Neue"/>
                <a:cs typeface="Helvetica Neue"/>
              </a:defRPr>
            </a:lvl3pPr>
            <a:lvl4pPr>
              <a:defRPr sz="2250" b="0">
                <a:solidFill>
                  <a:srgbClr val="172B3A"/>
                </a:solidFill>
                <a:latin typeface="Helvetica Neue"/>
                <a:ea typeface="Helvetica Neue"/>
                <a:cs typeface="Helvetica Neue"/>
              </a:defRPr>
            </a:lvl4pPr>
            <a:lvl5pPr>
              <a:defRPr sz="2250" b="0">
                <a:solidFill>
                  <a:srgbClr val="172B3A"/>
                </a:solidFill>
                <a:latin typeface="Helvetica Neue"/>
                <a:ea typeface="Helvetica Neue"/>
                <a:cs typeface="Helvetica Neue"/>
              </a:defRPr>
            </a:lvl5pPr>
            <a:lvl6pPr>
              <a:defRPr sz="2250" b="0">
                <a:solidFill>
                  <a:srgbClr val="172B3A"/>
                </a:solidFill>
                <a:latin typeface="Helvetica Neue"/>
                <a:ea typeface="Helvetica Neue"/>
                <a:cs typeface="Helvetica Neue"/>
              </a:defRPr>
            </a:lvl6pPr>
            <a:lvl7pPr>
              <a:defRPr sz="2250" b="0">
                <a:solidFill>
                  <a:srgbClr val="172B3A"/>
                </a:solidFill>
                <a:latin typeface="Helvetica Neue"/>
                <a:ea typeface="Helvetica Neue"/>
                <a:cs typeface="Helvetica Neue"/>
              </a:defRPr>
            </a:lvl7pPr>
            <a:lvl8pPr>
              <a:defRPr sz="2250" b="0">
                <a:solidFill>
                  <a:srgbClr val="172B3A"/>
                </a:solidFill>
                <a:latin typeface="Helvetica Neue"/>
                <a:ea typeface="Helvetica Neue"/>
                <a:cs typeface="Helvetica Neue"/>
              </a:defRPr>
            </a:lvl8pPr>
            <a:lvl9pPr>
              <a:defRPr sz="2250" b="0">
                <a:solidFill>
                  <a:srgbClr val="172B3A"/>
                </a:solidFill>
                <a:latin typeface="Helvetica Neue"/>
                <a:ea typeface="Helvetica Neue"/>
                <a:cs typeface="Helvetica Neue"/>
              </a:defRPr>
            </a:lvl9pPr>
          </a:lstStyle>
          <a:p xmlns:a="http://schemas.openxmlformats.org/drawingml/2006/main">
            <a:pPr>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per search</a:t>
            </a:r>
          </a:p>
        </p:txBody>
      </p:sp>
      <p:sp>
        <p:nvSpPr>
          <p:cNvPr id="9" name="">
            <a:extLst xmlns:a="http://schemas.openxmlformats.org/drawingml/2006/main">
              <a:ext uri="{FF2B5EF4-FFF2-40B4-BE49-F238E27FC236}">
                <a16:creationId xmlns:a16="http://schemas.microsoft.com/office/drawing/2014/main" id="{AAB6E787-D6C6-4E19-BE28-A314F5A2C600}"/>
              </a:ext>
            </a:extLst>
          </p:cNvPr>
          <p:cNvSpPr>
            <a:spLocks xmlns:a="http://schemas.openxmlformats.org/drawingml/2006/main" noGrp="1"/>
          </p:cNvSpPr>
          <p:nvPr/>
        </p:nvSpPr>
        <p:spPr>
          <a:xfrm xmlns:a="http://schemas.openxmlformats.org/drawingml/2006/main">
            <a:off x="4857750" y="4410075"/>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007F7B"/>
                </a:solidFill>
                <a:latin typeface="Helvetica Neue"/>
                <a:ea typeface="Helvetica Neue"/>
                <a:cs typeface="Helvetica Neue"/>
              </a:defRPr>
            </a:defPPr>
            <a:lvl1pPr>
              <a:defRPr sz="4350" b="1">
                <a:solidFill>
                  <a:srgbClr val="007F7B"/>
                </a:solidFill>
                <a:latin typeface="Helvetica Neue"/>
                <a:ea typeface="Helvetica Neue"/>
                <a:cs typeface="Helvetica Neue"/>
              </a:defRPr>
            </a:lvl1pPr>
            <a:lvl2pPr>
              <a:defRPr sz="4350" b="1">
                <a:solidFill>
                  <a:srgbClr val="007F7B"/>
                </a:solidFill>
                <a:latin typeface="Helvetica Neue"/>
                <a:ea typeface="Helvetica Neue"/>
                <a:cs typeface="Helvetica Neue"/>
              </a:defRPr>
            </a:lvl2pPr>
            <a:lvl3pPr>
              <a:defRPr sz="4350" b="1">
                <a:solidFill>
                  <a:srgbClr val="007F7B"/>
                </a:solidFill>
                <a:latin typeface="Helvetica Neue"/>
                <a:ea typeface="Helvetica Neue"/>
                <a:cs typeface="Helvetica Neue"/>
              </a:defRPr>
            </a:lvl3pPr>
            <a:lvl4pPr>
              <a:defRPr sz="4350" b="1">
                <a:solidFill>
                  <a:srgbClr val="007F7B"/>
                </a:solidFill>
                <a:latin typeface="Helvetica Neue"/>
                <a:ea typeface="Helvetica Neue"/>
                <a:cs typeface="Helvetica Neue"/>
              </a:defRPr>
            </a:lvl4pPr>
            <a:lvl5pPr>
              <a:defRPr sz="4350" b="1">
                <a:solidFill>
                  <a:srgbClr val="007F7B"/>
                </a:solidFill>
                <a:latin typeface="Helvetica Neue"/>
                <a:ea typeface="Helvetica Neue"/>
                <a:cs typeface="Helvetica Neue"/>
              </a:defRPr>
            </a:lvl5pPr>
            <a:lvl6pPr>
              <a:defRPr sz="4350" b="1">
                <a:solidFill>
                  <a:srgbClr val="007F7B"/>
                </a:solidFill>
                <a:latin typeface="Helvetica Neue"/>
                <a:ea typeface="Helvetica Neue"/>
                <a:cs typeface="Helvetica Neue"/>
              </a:defRPr>
            </a:lvl6pPr>
            <a:lvl7pPr>
              <a:defRPr sz="4350" b="1">
                <a:solidFill>
                  <a:srgbClr val="007F7B"/>
                </a:solidFill>
                <a:latin typeface="Helvetica Neue"/>
                <a:ea typeface="Helvetica Neue"/>
                <a:cs typeface="Helvetica Neue"/>
              </a:defRPr>
            </a:lvl7pPr>
            <a:lvl8pPr>
              <a:defRPr sz="4350" b="1">
                <a:solidFill>
                  <a:srgbClr val="007F7B"/>
                </a:solidFill>
                <a:latin typeface="Helvetica Neue"/>
                <a:ea typeface="Helvetica Neue"/>
                <a:cs typeface="Helvetica Neue"/>
              </a:defRPr>
            </a:lvl8pPr>
            <a:lvl9pPr>
              <a:defRPr sz="4350" b="1">
                <a:solidFill>
                  <a:srgbClr val="007F7B"/>
                </a:solidFill>
                <a:latin typeface="Helvetica Neue"/>
                <a:ea typeface="Helvetica Neue"/>
                <a:cs typeface="Helvetica Neue"/>
              </a:defRPr>
            </a:lvl9pPr>
          </a:lstStyle>
          <a:p xmlns:a="http://schemas.openxmlformats.org/drawingml/2006/main">
            <a:pPr>
              <a:defRPr sz="4350" b="1">
                <a:solidFill>
                  <a:srgbClr val="007F7B"/>
                </a:solidFill>
                <a:latin typeface="Helvetica Neue"/>
                <a:ea typeface="Helvetica Neue"/>
                <a:cs typeface="Helvetica Neue"/>
              </a:defRPr>
            </a:pPr>
            <a:r>
              <a:rPr sz="4350" b="1">
                <a:solidFill>
                  <a:srgbClr val="007F7B"/>
                </a:solidFill>
                <a:latin typeface="Helvetica Neue"/>
                <a:ea typeface="Helvetica Neue"/>
                <a:cs typeface="Helvetica Neue"/>
              </a:rPr>
              <a:t>30 searches</a:t>
            </a:r>
          </a:p>
        </p:txBody>
      </p:sp>
      <p:sp>
        <p:nvSpPr>
          <p:cNvPr id="10" name="">
            <a:extLst xmlns:a="http://schemas.openxmlformats.org/drawingml/2006/main">
              <a:ext uri="{FF2B5EF4-FFF2-40B4-BE49-F238E27FC236}">
                <a16:creationId xmlns:a16="http://schemas.microsoft.com/office/drawing/2014/main" id="{EA18A0FA-1655-41CC-AE0B-A37F414A2D66}"/>
              </a:ext>
            </a:extLst>
          </p:cNvPr>
          <p:cNvSpPr>
            <a:spLocks xmlns:a="http://schemas.openxmlformats.org/drawingml/2006/main" noGrp="1"/>
          </p:cNvSpPr>
          <p:nvPr/>
        </p:nvSpPr>
        <p:spPr>
          <a:xfrm xmlns:a="http://schemas.openxmlformats.org/drawingml/2006/main">
            <a:off x="4857750" y="5248275"/>
            <a:ext cx="647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B3A"/>
                </a:solidFill>
                <a:latin typeface="Helvetica Neue"/>
                <a:ea typeface="Helvetica Neue"/>
                <a:cs typeface="Helvetica Neue"/>
              </a:defRPr>
            </a:defPPr>
            <a:lvl1pPr>
              <a:defRPr sz="2250" b="0">
                <a:solidFill>
                  <a:srgbClr val="172B3A"/>
                </a:solidFill>
                <a:latin typeface="Helvetica Neue"/>
                <a:ea typeface="Helvetica Neue"/>
                <a:cs typeface="Helvetica Neue"/>
              </a:defRPr>
            </a:lvl1pPr>
            <a:lvl2pPr>
              <a:defRPr sz="2250" b="0">
                <a:solidFill>
                  <a:srgbClr val="172B3A"/>
                </a:solidFill>
                <a:latin typeface="Helvetica Neue"/>
                <a:ea typeface="Helvetica Neue"/>
                <a:cs typeface="Helvetica Neue"/>
              </a:defRPr>
            </a:lvl2pPr>
            <a:lvl3pPr>
              <a:defRPr sz="2250" b="0">
                <a:solidFill>
                  <a:srgbClr val="172B3A"/>
                </a:solidFill>
                <a:latin typeface="Helvetica Neue"/>
                <a:ea typeface="Helvetica Neue"/>
                <a:cs typeface="Helvetica Neue"/>
              </a:defRPr>
            </a:lvl3pPr>
            <a:lvl4pPr>
              <a:defRPr sz="2250" b="0">
                <a:solidFill>
                  <a:srgbClr val="172B3A"/>
                </a:solidFill>
                <a:latin typeface="Helvetica Neue"/>
                <a:ea typeface="Helvetica Neue"/>
                <a:cs typeface="Helvetica Neue"/>
              </a:defRPr>
            </a:lvl4pPr>
            <a:lvl5pPr>
              <a:defRPr sz="2250" b="0">
                <a:solidFill>
                  <a:srgbClr val="172B3A"/>
                </a:solidFill>
                <a:latin typeface="Helvetica Neue"/>
                <a:ea typeface="Helvetica Neue"/>
                <a:cs typeface="Helvetica Neue"/>
              </a:defRPr>
            </a:lvl5pPr>
            <a:lvl6pPr>
              <a:defRPr sz="2250" b="0">
                <a:solidFill>
                  <a:srgbClr val="172B3A"/>
                </a:solidFill>
                <a:latin typeface="Helvetica Neue"/>
                <a:ea typeface="Helvetica Neue"/>
                <a:cs typeface="Helvetica Neue"/>
              </a:defRPr>
            </a:lvl6pPr>
            <a:lvl7pPr>
              <a:defRPr sz="2250" b="0">
                <a:solidFill>
                  <a:srgbClr val="172B3A"/>
                </a:solidFill>
                <a:latin typeface="Helvetica Neue"/>
                <a:ea typeface="Helvetica Neue"/>
                <a:cs typeface="Helvetica Neue"/>
              </a:defRPr>
            </a:lvl7pPr>
            <a:lvl8pPr>
              <a:defRPr sz="2250" b="0">
                <a:solidFill>
                  <a:srgbClr val="172B3A"/>
                </a:solidFill>
                <a:latin typeface="Helvetica Neue"/>
                <a:ea typeface="Helvetica Neue"/>
                <a:cs typeface="Helvetica Neue"/>
              </a:defRPr>
            </a:lvl8pPr>
            <a:lvl9pPr>
              <a:defRPr sz="2250" b="0">
                <a:solidFill>
                  <a:srgbClr val="172B3A"/>
                </a:solidFill>
                <a:latin typeface="Helvetica Neue"/>
                <a:ea typeface="Helvetica Neue"/>
                <a:cs typeface="Helvetica Neue"/>
              </a:defRPr>
            </a:lvl9pPr>
          </a:lstStyle>
          <a:p xmlns:a="http://schemas.openxmlformats.org/drawingml/2006/main">
            <a:pPr>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per strategy, with varied candidate order</a:t>
            </a:r>
          </a:p>
        </p:txBody>
      </p:sp>
      <p:sp>
        <p:nvSpPr>
          <p:cNvPr id="11" name="">
            <a:extLst xmlns:a="http://schemas.openxmlformats.org/drawingml/2006/main">
              <a:ext uri="{FF2B5EF4-FFF2-40B4-BE49-F238E27FC236}">
                <a16:creationId xmlns:a16="http://schemas.microsoft.com/office/drawing/2014/main" id="{9023C2DD-B382-410A-99D4-1D2C3C22835F}"/>
              </a:ext>
            </a:extLst>
          </p:cNvPr>
          <p:cNvSpPr>
            <a:spLocks xmlns:a="http://schemas.openxmlformats.org/drawingml/2006/main" noGrp="1"/>
          </p:cNvSpPr>
          <p:nvPr/>
        </p:nvSpPr>
        <p:spPr>
          <a:xfrm xmlns:a="http://schemas.openxmlformats.org/drawingml/2006/main">
            <a:off x="533400" y="5962650"/>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A44838"/>
                </a:solidFill>
                <a:latin typeface="Helvetica Neue"/>
                <a:ea typeface="Helvetica Neue"/>
                <a:cs typeface="Helvetica Neue"/>
              </a:defRPr>
            </a:defPPr>
            <a:lvl1pPr>
              <a:defRPr sz="1800" b="0">
                <a:solidFill>
                  <a:srgbClr val="A44838"/>
                </a:solidFill>
                <a:latin typeface="Helvetica Neue"/>
                <a:ea typeface="Helvetica Neue"/>
                <a:cs typeface="Helvetica Neue"/>
              </a:defRPr>
            </a:lvl1pPr>
            <a:lvl2pPr>
              <a:defRPr sz="1800" b="0">
                <a:solidFill>
                  <a:srgbClr val="A44838"/>
                </a:solidFill>
                <a:latin typeface="Helvetica Neue"/>
                <a:ea typeface="Helvetica Neue"/>
                <a:cs typeface="Helvetica Neue"/>
              </a:defRPr>
            </a:lvl2pPr>
            <a:lvl3pPr>
              <a:defRPr sz="1800" b="0">
                <a:solidFill>
                  <a:srgbClr val="A44838"/>
                </a:solidFill>
                <a:latin typeface="Helvetica Neue"/>
                <a:ea typeface="Helvetica Neue"/>
                <a:cs typeface="Helvetica Neue"/>
              </a:defRPr>
            </a:lvl3pPr>
            <a:lvl4pPr>
              <a:defRPr sz="1800" b="0">
                <a:solidFill>
                  <a:srgbClr val="A44838"/>
                </a:solidFill>
                <a:latin typeface="Helvetica Neue"/>
                <a:ea typeface="Helvetica Neue"/>
                <a:cs typeface="Helvetica Neue"/>
              </a:defRPr>
            </a:lvl4pPr>
            <a:lvl5pPr>
              <a:defRPr sz="1800" b="0">
                <a:solidFill>
                  <a:srgbClr val="A44838"/>
                </a:solidFill>
                <a:latin typeface="Helvetica Neue"/>
                <a:ea typeface="Helvetica Neue"/>
                <a:cs typeface="Helvetica Neue"/>
              </a:defRPr>
            </a:lvl5pPr>
            <a:lvl6pPr>
              <a:defRPr sz="1800" b="0">
                <a:solidFill>
                  <a:srgbClr val="A44838"/>
                </a:solidFill>
                <a:latin typeface="Helvetica Neue"/>
                <a:ea typeface="Helvetica Neue"/>
                <a:cs typeface="Helvetica Neue"/>
              </a:defRPr>
            </a:lvl6pPr>
            <a:lvl7pPr>
              <a:defRPr sz="1800" b="0">
                <a:solidFill>
                  <a:srgbClr val="A44838"/>
                </a:solidFill>
                <a:latin typeface="Helvetica Neue"/>
                <a:ea typeface="Helvetica Neue"/>
                <a:cs typeface="Helvetica Neue"/>
              </a:defRPr>
            </a:lvl7pPr>
            <a:lvl8pPr>
              <a:defRPr sz="1800" b="0">
                <a:solidFill>
                  <a:srgbClr val="A44838"/>
                </a:solidFill>
                <a:latin typeface="Helvetica Neue"/>
                <a:ea typeface="Helvetica Neue"/>
                <a:cs typeface="Helvetica Neue"/>
              </a:defRPr>
            </a:lvl8pPr>
            <a:lvl9pPr>
              <a:defRPr sz="1800" b="0">
                <a:solidFill>
                  <a:srgbClr val="A44838"/>
                </a:solidFill>
                <a:latin typeface="Helvetica Neue"/>
                <a:ea typeface="Helvetica Neue"/>
                <a:cs typeface="Helvetica Neue"/>
              </a:defRPr>
            </a:lvl9pPr>
          </a:lstStyle>
          <a:p xmlns:a="http://schemas.openxmlformats.org/drawingml/2006/main">
            <a:pPr>
              <a:defRPr sz="1800" b="0">
                <a:solidFill>
                  <a:srgbClr val="A44838"/>
                </a:solidFill>
                <a:latin typeface="Helvetica Neue"/>
                <a:ea typeface="Helvetica Neue"/>
                <a:cs typeface="Helvetica Neue"/>
              </a:defRPr>
            </a:pPr>
            <a:r>
              <a:rPr sz="1800" b="0">
                <a:solidFill>
                  <a:srgbClr val="A44838"/>
                </a:solidFill>
                <a:latin typeface="Helvetica Neue"/>
                <a:ea typeface="Helvetica Neue"/>
                <a:cs typeface="Helvetica Neue"/>
              </a:rPr>
              <a:t>“Success” means finding at least one passing material. It does not mean a working battery.</a:t>
            </a:r>
          </a:p>
        </p:txBody>
      </p:sp>
    </p:spTree>
    <p:extLst>
      <p:ext uri="{BB962C8B-B14F-4D97-AF65-F5344CB8AC3E}">
        <p14:creationId xmlns:p14="http://schemas.microsoft.com/office/powerpoint/2010/main" val="352594858"/>
      </p:ext>
    </p:extLst>
  </p:cSld>
</p:sld>
</file>

<file path=ppt/slides/slide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ED929DC-919B-4BA5-AA5E-1CCA29ED07D5}"/>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STEP 1 / COMPARISON</a:t>
            </a:r>
          </a:p>
        </p:txBody>
      </p:sp>
      <p:sp>
        <p:nvSpPr>
          <p:cNvPr id="2" name="">
            <a:extLst xmlns:a="http://schemas.openxmlformats.org/drawingml/2006/main">
              <a:ext uri="{FF2B5EF4-FFF2-40B4-BE49-F238E27FC236}">
                <a16:creationId xmlns:a16="http://schemas.microsoft.com/office/drawing/2014/main" id="{730A8723-F0F8-4BBA-B6B9-A2FC669741EA}"/>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Five strategies make the comparison fair</a:t>
            </a:r>
          </a:p>
        </p:txBody>
      </p:sp>
      <p:sp>
        <p:nvSpPr>
          <p:cNvPr id="3" name="">
            <a:extLst xmlns:a="http://schemas.openxmlformats.org/drawingml/2006/main">
              <a:ext uri="{FF2B5EF4-FFF2-40B4-BE49-F238E27FC236}">
                <a16:creationId xmlns:a16="http://schemas.microsoft.com/office/drawing/2014/main" id="{21834753-DED8-436E-90C4-E6C09E9AC10F}"/>
              </a:ext>
            </a:extLst>
          </p:cNvPr>
          <p:cNvSpPr>
            <a:spLocks xmlns:a="http://schemas.openxmlformats.org/drawingml/2006/main" noGrp="1"/>
          </p:cNvSpPr>
          <p:nvPr/>
        </p:nvSpPr>
        <p:spPr>
          <a:xfrm xmlns:a="http://schemas.openxmlformats.org/drawingml/2006/main">
            <a:off x="533400" y="147637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defRPr sz="2025" b="0">
                <a:solidFill>
                  <a:srgbClr val="526472"/>
                </a:solidFill>
                <a:latin typeface="Helvetica Neue"/>
                <a:ea typeface="Helvetica Neue"/>
                <a:cs typeface="Helvetica Neue"/>
              </a:defRPr>
            </a:lvl1pPr>
            <a:lvl2pPr>
              <a:defRPr sz="2025" b="0">
                <a:solidFill>
                  <a:srgbClr val="526472"/>
                </a:solidFill>
                <a:latin typeface="Helvetica Neue"/>
                <a:ea typeface="Helvetica Neue"/>
                <a:cs typeface="Helvetica Neue"/>
              </a:defRPr>
            </a:lvl2pPr>
            <a:lvl3pPr>
              <a:defRPr sz="2025" b="0">
                <a:solidFill>
                  <a:srgbClr val="526472"/>
                </a:solidFill>
                <a:latin typeface="Helvetica Neue"/>
                <a:ea typeface="Helvetica Neue"/>
                <a:cs typeface="Helvetica Neue"/>
              </a:defRPr>
            </a:lvl3pPr>
            <a:lvl4pPr>
              <a:defRPr sz="2025" b="0">
                <a:solidFill>
                  <a:srgbClr val="526472"/>
                </a:solidFill>
                <a:latin typeface="Helvetica Neue"/>
                <a:ea typeface="Helvetica Neue"/>
                <a:cs typeface="Helvetica Neue"/>
              </a:defRPr>
            </a:lvl4pPr>
            <a:lvl5pPr>
              <a:defRPr sz="2025" b="0">
                <a:solidFill>
                  <a:srgbClr val="526472"/>
                </a:solidFill>
                <a:latin typeface="Helvetica Neue"/>
                <a:ea typeface="Helvetica Neue"/>
                <a:cs typeface="Helvetica Neue"/>
              </a:defRPr>
            </a:lvl5pPr>
            <a:lvl6pPr>
              <a:defRPr sz="2025" b="0">
                <a:solidFill>
                  <a:srgbClr val="526472"/>
                </a:solidFill>
                <a:latin typeface="Helvetica Neue"/>
                <a:ea typeface="Helvetica Neue"/>
                <a:cs typeface="Helvetica Neue"/>
              </a:defRPr>
            </a:lvl6pPr>
            <a:lvl7pPr>
              <a:defRPr sz="2025" b="0">
                <a:solidFill>
                  <a:srgbClr val="526472"/>
                </a:solidFill>
                <a:latin typeface="Helvetica Neue"/>
                <a:ea typeface="Helvetica Neue"/>
                <a:cs typeface="Helvetica Neue"/>
              </a:defRPr>
            </a:lvl7pPr>
            <a:lvl8pPr>
              <a:defRPr sz="2025" b="0">
                <a:solidFill>
                  <a:srgbClr val="526472"/>
                </a:solidFill>
                <a:latin typeface="Helvetica Neue"/>
                <a:ea typeface="Helvetica Neue"/>
                <a:cs typeface="Helvetica Neue"/>
              </a:defRPr>
            </a:lvl8pPr>
            <a:lvl9pPr>
              <a:defRPr sz="2025" b="0">
                <a:solidFill>
                  <a:srgbClr val="526472"/>
                </a:solidFill>
                <a:latin typeface="Helvetica Neue"/>
                <a:ea typeface="Helvetica Neue"/>
                <a:cs typeface="Helvetica Neue"/>
              </a:defRPr>
            </a:lvl9pPr>
          </a:lstStyle>
          <a:p xmlns:a="http://schemas.openxmlformats.org/drawingml/2006/main">
            <a:pPr>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The same menu, the same ten tries, and the same definition of success.</a:t>
            </a:r>
          </a:p>
        </p:txBody>
      </p:sp>
      <p:sp>
        <p:nvSpPr>
          <p:cNvPr id="4" name="">
            <a:extLst xmlns:a="http://schemas.openxmlformats.org/drawingml/2006/main">
              <a:ext uri="{FF2B5EF4-FFF2-40B4-BE49-F238E27FC236}">
                <a16:creationId xmlns:a16="http://schemas.microsoft.com/office/drawing/2014/main" id="{E93C247D-0540-4A08-B762-57CCF607B3B0}"/>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19653C7B-D993-48A5-9AB8-FCC34CF93C57}"/>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06</a:t>
            </a:r>
          </a:p>
        </p:txBody>
      </p:sp>
      <p:graphicFrame>
        <p:nvGraphicFramePr>
          <p:cNvPr id="6" name="">
            <a:extLst xmlns:a="http://schemas.openxmlformats.org/drawingml/2006/main">
              <a:ext uri="{FF2B5EF4-FFF2-40B4-BE49-F238E27FC236}">
                <a16:creationId xmlns:a16="http://schemas.microsoft.com/office/drawing/2014/main" id="{3F0B9EB1-FA15-49CB-8294-FD1FF55A90D7}"/>
              </a:ext>
            </a:extLst>
          </p:cNvPr>
          <p:cNvGraphicFramePr/>
          <p:nvPr/>
        </p:nvGraphicFramePr>
        <p:xfrm>
          <a:off xmlns:a="http://schemas.openxmlformats.org/drawingml/2006/main" x="533400" y="2143125"/>
          <a:ext xmlns:a="http://schemas.openxmlformats.org/drawingml/2006/main" cx="11125200" cy="3533775"/>
        </p:xfrm>
        <a:graphic xmlns:a="http://schemas.openxmlformats.org/drawingml/2006/main">
          <a:graphicData uri="http://schemas.openxmlformats.org/drawingml/2006/table">
            <a:tbl>
              <a:tblPr firstRow="0" bandRow="0"/>
              <a:tblGrid>
                <a:gridCol w="3619500"/>
                <a:gridCol w="7505700"/>
              </a:tblGrid>
              <a:tr h="588963">
                <a:tc>
                  <a:txBody>
                    <a:bodyPr lIns="0" tIns="0" rIns="0" bIns="0">
                      <a:noAutofit/>
                    </a:bodyPr>
                    <a:lstStyle/>
                    <a:p>
                      <a:r>
                        <a:rPr sz="1875" b="1">
                          <a:solidFill>
                            <a:srgbClr val="FFFFFF"/>
                          </a:solidFill>
                          <a:latin typeface="Helvetica Neue"/>
                          <a:ea typeface="Helvetica Neue"/>
                          <a:cs typeface="Helvetica Neue"/>
                        </a:rPr>
                        <a:t>Strategy used in the charts</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75" b="1">
                          <a:solidFill>
                            <a:srgbClr val="FFFFFF"/>
                          </a:solidFill>
                          <a:latin typeface="Helvetica Neue"/>
                          <a:ea typeface="Helvetica Neue"/>
                          <a:cs typeface="Helvetica Neue"/>
                        </a:rPr>
                        <a:t>How the next choice is made</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588963">
                <a:tc>
                  <a:txBody>
                    <a:bodyPr lIns="0" tIns="0" rIns="0" bIns="0">
                      <a:noAutofit/>
                    </a:bodyPr>
                    <a:lstStyle/>
                    <a:p>
                      <a:r>
                        <a:rPr sz="2025" b="0">
                          <a:solidFill>
                            <a:srgbClr val="172B3A"/>
                          </a:solidFill>
                          <a:latin typeface="Helvetica Neue"/>
                          <a:ea typeface="Helvetica Neue"/>
                          <a:cs typeface="Helvetica Neue"/>
                        </a:rPr>
                        <a:t>Uses results</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LLM sees the outcomes of its earlier choices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88963">
                <a:tc>
                  <a:txBody>
                    <a:bodyPr lIns="0" tIns="0" rIns="0" bIns="0">
                      <a:noAutofit/>
                    </a:bodyPr>
                    <a:lstStyle/>
                    <a:p>
                      <a:r>
                        <a:rPr sz="2025" b="0">
                          <a:solidFill>
                            <a:srgbClr val="172B3A"/>
                          </a:solidFill>
                          <a:latin typeface="Helvetica Neue"/>
                          <a:ea typeface="Helvetica Neue"/>
                          <a:cs typeface="Helvetica Neue"/>
                        </a:rPr>
                        <a:t>No results</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LLM sees its choices, but not their outcomes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88963">
                <a:tc>
                  <a:txBody>
                    <a:bodyPr lIns="0" tIns="0" rIns="0" bIns="0">
                      <a:noAutofit/>
                    </a:bodyPr>
                    <a:lstStyle/>
                    <a:p>
                      <a:r>
                        <a:rPr sz="2025" b="0">
                          <a:solidFill>
                            <a:srgbClr val="172B3A"/>
                          </a:solidFill>
                          <a:latin typeface="Helvetica Neue"/>
                          <a:ea typeface="Helvetica Neue"/>
                          <a:cs typeface="Helvetica Neue"/>
                        </a:rPr>
                        <a:t>Mixed-up results</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LLM sees outcomes reassigned between materials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88963">
                <a:tc>
                  <a:txBody>
                    <a:bodyPr lIns="0" tIns="0" rIns="0" bIns="0">
                      <a:noAutofit/>
                    </a:bodyPr>
                    <a:lstStyle/>
                    <a:p>
                      <a:r>
                        <a:rPr sz="2025" b="0">
                          <a:solidFill>
                            <a:srgbClr val="172B3A"/>
                          </a:solidFill>
                          <a:latin typeface="Helvetica Neue"/>
                          <a:ea typeface="Helvetica Neue"/>
                          <a:cs typeface="Helvetica Neue"/>
                        </a:rPr>
                        <a:t>One list</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LLM chooses all ten materials before any result</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88963">
                <a:tc>
                  <a:txBody>
                    <a:bodyPr lIns="0" tIns="0" rIns="0" bIns="0">
                      <a:noAutofit/>
                    </a:bodyPr>
                    <a:lstStyle/>
                    <a:p>
                      <a:r>
                        <a:rPr sz="2025" b="0">
                          <a:solidFill>
                            <a:srgbClr val="172B3A"/>
                          </a:solidFill>
                          <a:latin typeface="Helvetica Neue"/>
                          <a:ea typeface="Helvetica Neue"/>
                          <a:cs typeface="Helvetica Neue"/>
                        </a:rPr>
                        <a:t>Random</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Software picks materials at random, without repeats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3F60A33F-9278-46FC-9449-BF669F25E143}"/>
              </a:ext>
            </a:extLst>
          </p:cNvPr>
          <p:cNvSpPr>
            <a:spLocks xmlns:a="http://schemas.openxmlformats.org/drawingml/2006/main" noGrp="1"/>
          </p:cNvSpPr>
          <p:nvPr/>
        </p:nvSpPr>
        <p:spPr>
          <a:xfrm xmlns:a="http://schemas.openxmlformats.org/drawingml/2006/main">
            <a:off x="533400" y="5943600"/>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472"/>
                </a:solidFill>
                <a:latin typeface="Helvetica Neue"/>
                <a:ea typeface="Helvetica Neue"/>
                <a:cs typeface="Helvetica Neue"/>
              </a:defRPr>
            </a:defPPr>
            <a:lvl1pPr>
              <a:defRPr sz="1800" b="0">
                <a:solidFill>
                  <a:srgbClr val="526472"/>
                </a:solidFill>
                <a:latin typeface="Helvetica Neue"/>
                <a:ea typeface="Helvetica Neue"/>
                <a:cs typeface="Helvetica Neue"/>
              </a:defRPr>
            </a:lvl1pPr>
            <a:lvl2pPr>
              <a:defRPr sz="1800" b="0">
                <a:solidFill>
                  <a:srgbClr val="526472"/>
                </a:solidFill>
                <a:latin typeface="Helvetica Neue"/>
                <a:ea typeface="Helvetica Neue"/>
                <a:cs typeface="Helvetica Neue"/>
              </a:defRPr>
            </a:lvl2pPr>
            <a:lvl3pPr>
              <a:defRPr sz="1800" b="0">
                <a:solidFill>
                  <a:srgbClr val="526472"/>
                </a:solidFill>
                <a:latin typeface="Helvetica Neue"/>
                <a:ea typeface="Helvetica Neue"/>
                <a:cs typeface="Helvetica Neue"/>
              </a:defRPr>
            </a:lvl3pPr>
            <a:lvl4pPr>
              <a:defRPr sz="1800" b="0">
                <a:solidFill>
                  <a:srgbClr val="526472"/>
                </a:solidFill>
                <a:latin typeface="Helvetica Neue"/>
                <a:ea typeface="Helvetica Neue"/>
                <a:cs typeface="Helvetica Neue"/>
              </a:defRPr>
            </a:lvl4pPr>
            <a:lvl5pPr>
              <a:defRPr sz="1800" b="0">
                <a:solidFill>
                  <a:srgbClr val="526472"/>
                </a:solidFill>
                <a:latin typeface="Helvetica Neue"/>
                <a:ea typeface="Helvetica Neue"/>
                <a:cs typeface="Helvetica Neue"/>
              </a:defRPr>
            </a:lvl5pPr>
            <a:lvl6pPr>
              <a:defRPr sz="1800" b="0">
                <a:solidFill>
                  <a:srgbClr val="526472"/>
                </a:solidFill>
                <a:latin typeface="Helvetica Neue"/>
                <a:ea typeface="Helvetica Neue"/>
                <a:cs typeface="Helvetica Neue"/>
              </a:defRPr>
            </a:lvl6pPr>
            <a:lvl7pPr>
              <a:defRPr sz="1800" b="0">
                <a:solidFill>
                  <a:srgbClr val="526472"/>
                </a:solidFill>
                <a:latin typeface="Helvetica Neue"/>
                <a:ea typeface="Helvetica Neue"/>
                <a:cs typeface="Helvetica Neue"/>
              </a:defRPr>
            </a:lvl7pPr>
            <a:lvl8pPr>
              <a:defRPr sz="1800" b="0">
                <a:solidFill>
                  <a:srgbClr val="526472"/>
                </a:solidFill>
                <a:latin typeface="Helvetica Neue"/>
                <a:ea typeface="Helvetica Neue"/>
                <a:cs typeface="Helvetica Neue"/>
              </a:defRPr>
            </a:lvl8pPr>
            <a:lvl9pPr>
              <a:defRPr sz="1800" b="0">
                <a:solidFill>
                  <a:srgbClr val="526472"/>
                </a:solidFill>
                <a:latin typeface="Helvetica Neue"/>
                <a:ea typeface="Helvetica Neue"/>
                <a:cs typeface="Helvetica Neue"/>
              </a:defRPr>
            </a:lvl9pPr>
          </a:lstStyle>
          <a:p xmlns:a="http://schemas.openxmlformats.org/drawingml/2006/main">
            <a:pPr>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The first four use the same LLM. Random search provides a simple comparison.</a:t>
            </a:r>
          </a:p>
        </p:txBody>
      </p:sp>
    </p:spTree>
    <p:extLst>
      <p:ext uri="{BB962C8B-B14F-4D97-AF65-F5344CB8AC3E}">
        <p14:creationId xmlns:p14="http://schemas.microsoft.com/office/powerpoint/2010/main" val="2065156266"/>
      </p:ext>
    </p:extLst>
  </p:cSld>
</p:sld>
</file>

<file path=ppt/slides/slide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8937243-8709-4C73-AA96-A306CEA6BC5F}"/>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STEP 1 / RESULT</a:t>
            </a:r>
          </a:p>
        </p:txBody>
      </p:sp>
      <p:sp>
        <p:nvSpPr>
          <p:cNvPr id="2" name="">
            <a:extLst xmlns:a="http://schemas.openxmlformats.org/drawingml/2006/main">
              <a:ext uri="{FF2B5EF4-FFF2-40B4-BE49-F238E27FC236}">
                <a16:creationId xmlns:a16="http://schemas.microsoft.com/office/drawing/2014/main" id="{726206BC-092D-4B36-9A73-8129C29433C0}"/>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Using results improved the first search test</a:t>
            </a:r>
          </a:p>
        </p:txBody>
      </p:sp>
      <p:sp>
        <p:nvSpPr>
          <p:cNvPr id="3" name="">
            <a:extLst xmlns:a="http://schemas.openxmlformats.org/drawingml/2006/main">
              <a:ext uri="{FF2B5EF4-FFF2-40B4-BE49-F238E27FC236}">
                <a16:creationId xmlns:a16="http://schemas.microsoft.com/office/drawing/2014/main" id="{6CB7D728-94F8-4727-AA71-635EC35BB145}"/>
              </a:ext>
            </a:extLst>
          </p:cNvPr>
          <p:cNvSpPr>
            <a:spLocks xmlns:a="http://schemas.openxmlformats.org/drawingml/2006/main" noGrp="1"/>
          </p:cNvSpPr>
          <p:nvPr/>
        </p:nvSpPr>
        <p:spPr>
          <a:xfrm xmlns:a="http://schemas.openxmlformats.org/drawingml/2006/main">
            <a:off x="533400" y="147637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defRPr sz="2025" b="0">
                <a:solidFill>
                  <a:srgbClr val="526472"/>
                </a:solidFill>
                <a:latin typeface="Helvetica Neue"/>
                <a:ea typeface="Helvetica Neue"/>
                <a:cs typeface="Helvetica Neue"/>
              </a:defRPr>
            </a:lvl1pPr>
            <a:lvl2pPr>
              <a:defRPr sz="2025" b="0">
                <a:solidFill>
                  <a:srgbClr val="526472"/>
                </a:solidFill>
                <a:latin typeface="Helvetica Neue"/>
                <a:ea typeface="Helvetica Neue"/>
                <a:cs typeface="Helvetica Neue"/>
              </a:defRPr>
            </a:lvl2pPr>
            <a:lvl3pPr>
              <a:defRPr sz="2025" b="0">
                <a:solidFill>
                  <a:srgbClr val="526472"/>
                </a:solidFill>
                <a:latin typeface="Helvetica Neue"/>
                <a:ea typeface="Helvetica Neue"/>
                <a:cs typeface="Helvetica Neue"/>
              </a:defRPr>
            </a:lvl3pPr>
            <a:lvl4pPr>
              <a:defRPr sz="2025" b="0">
                <a:solidFill>
                  <a:srgbClr val="526472"/>
                </a:solidFill>
                <a:latin typeface="Helvetica Neue"/>
                <a:ea typeface="Helvetica Neue"/>
                <a:cs typeface="Helvetica Neue"/>
              </a:defRPr>
            </a:lvl4pPr>
            <a:lvl5pPr>
              <a:defRPr sz="2025" b="0">
                <a:solidFill>
                  <a:srgbClr val="526472"/>
                </a:solidFill>
                <a:latin typeface="Helvetica Neue"/>
                <a:ea typeface="Helvetica Neue"/>
                <a:cs typeface="Helvetica Neue"/>
              </a:defRPr>
            </a:lvl5pPr>
            <a:lvl6pPr>
              <a:defRPr sz="2025" b="0">
                <a:solidFill>
                  <a:srgbClr val="526472"/>
                </a:solidFill>
                <a:latin typeface="Helvetica Neue"/>
                <a:ea typeface="Helvetica Neue"/>
                <a:cs typeface="Helvetica Neue"/>
              </a:defRPr>
            </a:lvl6pPr>
            <a:lvl7pPr>
              <a:defRPr sz="2025" b="0">
                <a:solidFill>
                  <a:srgbClr val="526472"/>
                </a:solidFill>
                <a:latin typeface="Helvetica Neue"/>
                <a:ea typeface="Helvetica Neue"/>
                <a:cs typeface="Helvetica Neue"/>
              </a:defRPr>
            </a:lvl7pPr>
            <a:lvl8pPr>
              <a:defRPr sz="2025" b="0">
                <a:solidFill>
                  <a:srgbClr val="526472"/>
                </a:solidFill>
                <a:latin typeface="Helvetica Neue"/>
                <a:ea typeface="Helvetica Neue"/>
                <a:cs typeface="Helvetica Neue"/>
              </a:defRPr>
            </a:lvl8pPr>
            <a:lvl9pPr>
              <a:defRPr sz="2025" b="0">
                <a:solidFill>
                  <a:srgbClr val="526472"/>
                </a:solidFill>
                <a:latin typeface="Helvetica Neue"/>
                <a:ea typeface="Helvetica Neue"/>
                <a:cs typeface="Helvetica Neue"/>
              </a:defRPr>
            </a:lvl9pPr>
          </a:lstStyle>
          <a:p xmlns:a="http://schemas.openxmlformats.org/drawingml/2006/main">
            <a:pPr>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Successful searches out of 30, using the original 50-structure menu.</a:t>
            </a:r>
          </a:p>
        </p:txBody>
      </p:sp>
      <p:sp>
        <p:nvSpPr>
          <p:cNvPr id="4" name="">
            <a:extLst xmlns:a="http://schemas.openxmlformats.org/drawingml/2006/main">
              <a:ext uri="{FF2B5EF4-FFF2-40B4-BE49-F238E27FC236}">
                <a16:creationId xmlns:a16="http://schemas.microsoft.com/office/drawing/2014/main" id="{3D734DDE-5BFE-4D43-A661-3AEFA115E872}"/>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CAC3C2A5-C023-47DE-BCB7-7CBE85C50474}"/>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07</a:t>
            </a:r>
          </a:p>
        </p:txBody>
      </p:sp>
      <p:graphicFrame>
        <p:nvGraphicFramePr>
          <p:cNvPr id="6" name="Chart">
            <a:extLst xmlns:a="http://schemas.openxmlformats.org/drawingml/2006/main">
              <a:ext uri="{FF2B5EF4-FFF2-40B4-BE49-F238E27FC236}">
                <a16:creationId xmlns:a16="http://schemas.microsoft.com/office/drawing/2014/main" id="{F2DD5D72-99B1-481E-A235-99A0CF6A9543}"/>
              </a:ext>
            </a:extLst>
          </p:cNvPr>
          <p:cNvGraphicFramePr/>
          <p:nvPr/>
        </p:nvGraphicFramePr>
        <p:xfrm>
          <a:off xmlns:a="http://schemas.openxmlformats.org/drawingml/2006/main" x="533400" y="2095500"/>
          <a:ext xmlns:a="http://schemas.openxmlformats.org/drawingml/2006/main" cx="11125200" cy="3476625"/>
        </p:xfrm>
        <a:graphic xmlns:a="http://schemas.openxmlformats.org/drawingml/2006/main">
          <a:graphicData uri="http://schemas.openxmlformats.org/drawingml/2006/chart">
            <c:chart xmlns:r="http://schemas.openxmlformats.org/officeDocument/2006/relationships" xmlns:c="http://schemas.openxmlformats.org/drawingml/2006/chart" r:id="R2588cbeed2854846"/>
          </a:graphicData>
        </a:graphic>
      </p:graphicFrame>
      <p:sp>
        <p:nvSpPr>
          <p:cNvPr id="7" name="">
            <a:extLst xmlns:a="http://schemas.openxmlformats.org/drawingml/2006/main">
              <a:ext uri="{FF2B5EF4-FFF2-40B4-BE49-F238E27FC236}">
                <a16:creationId xmlns:a16="http://schemas.microsoft.com/office/drawing/2014/main" id="{B8869E07-D671-497F-92A0-90EF83FC7BB4}"/>
              </a:ext>
            </a:extLst>
          </p:cNvPr>
          <p:cNvSpPr>
            <a:spLocks xmlns:a="http://schemas.openxmlformats.org/drawingml/2006/main" noGrp="1"/>
          </p:cNvSpPr>
          <p:nvPr/>
        </p:nvSpPr>
        <p:spPr>
          <a:xfrm xmlns:a="http://schemas.openxmlformats.org/drawingml/2006/main">
            <a:off x="533400" y="5753100"/>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007F7B"/>
                </a:solidFill>
                <a:latin typeface="Helvetica Neue"/>
                <a:ea typeface="Helvetica Neue"/>
                <a:cs typeface="Helvetica Neue"/>
              </a:defRPr>
            </a:defPPr>
            <a:lvl1pPr>
              <a:defRPr sz="1800" b="0">
                <a:solidFill>
                  <a:srgbClr val="007F7B"/>
                </a:solidFill>
                <a:latin typeface="Helvetica Neue"/>
                <a:ea typeface="Helvetica Neue"/>
                <a:cs typeface="Helvetica Neue"/>
              </a:defRPr>
            </a:lvl1pPr>
            <a:lvl2pPr>
              <a:defRPr sz="1800" b="0">
                <a:solidFill>
                  <a:srgbClr val="007F7B"/>
                </a:solidFill>
                <a:latin typeface="Helvetica Neue"/>
                <a:ea typeface="Helvetica Neue"/>
                <a:cs typeface="Helvetica Neue"/>
              </a:defRPr>
            </a:lvl2pPr>
            <a:lvl3pPr>
              <a:defRPr sz="1800" b="0">
                <a:solidFill>
                  <a:srgbClr val="007F7B"/>
                </a:solidFill>
                <a:latin typeface="Helvetica Neue"/>
                <a:ea typeface="Helvetica Neue"/>
                <a:cs typeface="Helvetica Neue"/>
              </a:defRPr>
            </a:lvl3pPr>
            <a:lvl4pPr>
              <a:defRPr sz="1800" b="0">
                <a:solidFill>
                  <a:srgbClr val="007F7B"/>
                </a:solidFill>
                <a:latin typeface="Helvetica Neue"/>
                <a:ea typeface="Helvetica Neue"/>
                <a:cs typeface="Helvetica Neue"/>
              </a:defRPr>
            </a:lvl4pPr>
            <a:lvl5pPr>
              <a:defRPr sz="1800" b="0">
                <a:solidFill>
                  <a:srgbClr val="007F7B"/>
                </a:solidFill>
                <a:latin typeface="Helvetica Neue"/>
                <a:ea typeface="Helvetica Neue"/>
                <a:cs typeface="Helvetica Neue"/>
              </a:defRPr>
            </a:lvl5pPr>
            <a:lvl6pPr>
              <a:defRPr sz="1800" b="0">
                <a:solidFill>
                  <a:srgbClr val="007F7B"/>
                </a:solidFill>
                <a:latin typeface="Helvetica Neue"/>
                <a:ea typeface="Helvetica Neue"/>
                <a:cs typeface="Helvetica Neue"/>
              </a:defRPr>
            </a:lvl6pPr>
            <a:lvl7pPr>
              <a:defRPr sz="1800" b="0">
                <a:solidFill>
                  <a:srgbClr val="007F7B"/>
                </a:solidFill>
                <a:latin typeface="Helvetica Neue"/>
                <a:ea typeface="Helvetica Neue"/>
                <a:cs typeface="Helvetica Neue"/>
              </a:defRPr>
            </a:lvl7pPr>
            <a:lvl8pPr>
              <a:defRPr sz="1800" b="0">
                <a:solidFill>
                  <a:srgbClr val="007F7B"/>
                </a:solidFill>
                <a:latin typeface="Helvetica Neue"/>
                <a:ea typeface="Helvetica Neue"/>
                <a:cs typeface="Helvetica Neue"/>
              </a:defRPr>
            </a:lvl8pPr>
            <a:lvl9pPr>
              <a:defRPr sz="1800" b="0">
                <a:solidFill>
                  <a:srgbClr val="007F7B"/>
                </a:solidFill>
                <a:latin typeface="Helvetica Neue"/>
                <a:ea typeface="Helvetica Neue"/>
                <a:cs typeface="Helvetica Neue"/>
              </a:defRPr>
            </a:lvl9pPr>
          </a:lstStyle>
          <a:p xmlns:a="http://schemas.openxmlformats.org/drawingml/2006/main">
            <a:pPr>
              <a:defRPr sz="1800" b="0">
                <a:solidFill>
                  <a:srgbClr val="007F7B"/>
                </a:solidFill>
                <a:latin typeface="Helvetica Neue"/>
                <a:ea typeface="Helvetica Neue"/>
                <a:cs typeface="Helvetica Neue"/>
              </a:defRPr>
            </a:pPr>
            <a:r>
              <a:rPr sz="1800" b="0">
                <a:solidFill>
                  <a:srgbClr val="007F7B"/>
                </a:solidFill>
                <a:latin typeface="Helvetica Neue"/>
                <a:ea typeface="Helvetica Neue"/>
                <a:cs typeface="Helvetica Neue"/>
              </a:rPr>
              <a:t>Correct feedback helped: 19 successes, versus 4 without results and 6 with mixed-up results.</a:t>
            </a:r>
          </a:p>
        </p:txBody>
      </p:sp>
    </p:spTree>
    <p:extLst>
      <p:ext uri="{BB962C8B-B14F-4D97-AF65-F5344CB8AC3E}">
        <p14:creationId xmlns:p14="http://schemas.microsoft.com/office/powerpoint/2010/main" val="601391771"/>
      </p:ext>
    </p:extLst>
  </p:cSld>
</p:sld>
</file>

<file path=ppt/slides/slide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CE76E58-AB75-4694-BA07-6CA2E3284DF7}"/>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STEP 2 / A LARGER TEST</a:t>
            </a:r>
          </a:p>
        </p:txBody>
      </p:sp>
      <p:sp>
        <p:nvSpPr>
          <p:cNvPr id="2" name="">
            <a:extLst xmlns:a="http://schemas.openxmlformats.org/drawingml/2006/main">
              <a:ext uri="{FF2B5EF4-FFF2-40B4-BE49-F238E27FC236}">
                <a16:creationId xmlns:a16="http://schemas.microsoft.com/office/drawing/2014/main" id="{218341E6-D23C-4B7D-B5E2-DD61599972CB}"/>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The benefit changed with the battery materials</a:t>
            </a:r>
          </a:p>
        </p:txBody>
      </p:sp>
      <p:sp>
        <p:nvSpPr>
          <p:cNvPr id="3" name="">
            <a:extLst xmlns:a="http://schemas.openxmlformats.org/drawingml/2006/main">
              <a:ext uri="{FF2B5EF4-FFF2-40B4-BE49-F238E27FC236}">
                <a16:creationId xmlns:a16="http://schemas.microsoft.com/office/drawing/2014/main" id="{A8DCC6DE-2316-4A8D-AA27-CF16C590AF97}"/>
              </a:ext>
            </a:extLst>
          </p:cNvPr>
          <p:cNvSpPr>
            <a:spLocks xmlns:a="http://schemas.openxmlformats.org/drawingml/2006/main" noGrp="1"/>
          </p:cNvSpPr>
          <p:nvPr/>
        </p:nvSpPr>
        <p:spPr>
          <a:xfrm xmlns:a="http://schemas.openxmlformats.org/drawingml/2006/main">
            <a:off x="533400" y="147637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defRPr sz="2025" b="0">
                <a:solidFill>
                  <a:srgbClr val="526472"/>
                </a:solidFill>
                <a:latin typeface="Helvetica Neue"/>
                <a:ea typeface="Helvetica Neue"/>
                <a:cs typeface="Helvetica Neue"/>
              </a:defRPr>
            </a:lvl1pPr>
            <a:lvl2pPr>
              <a:defRPr sz="2025" b="0">
                <a:solidFill>
                  <a:srgbClr val="526472"/>
                </a:solidFill>
                <a:latin typeface="Helvetica Neue"/>
                <a:ea typeface="Helvetica Neue"/>
                <a:cs typeface="Helvetica Neue"/>
              </a:defRPr>
            </a:lvl2pPr>
            <a:lvl3pPr>
              <a:defRPr sz="2025" b="0">
                <a:solidFill>
                  <a:srgbClr val="526472"/>
                </a:solidFill>
                <a:latin typeface="Helvetica Neue"/>
                <a:ea typeface="Helvetica Neue"/>
                <a:cs typeface="Helvetica Neue"/>
              </a:defRPr>
            </a:lvl3pPr>
            <a:lvl4pPr>
              <a:defRPr sz="2025" b="0">
                <a:solidFill>
                  <a:srgbClr val="526472"/>
                </a:solidFill>
                <a:latin typeface="Helvetica Neue"/>
                <a:ea typeface="Helvetica Neue"/>
                <a:cs typeface="Helvetica Neue"/>
              </a:defRPr>
            </a:lvl4pPr>
            <a:lvl5pPr>
              <a:defRPr sz="2025" b="0">
                <a:solidFill>
                  <a:srgbClr val="526472"/>
                </a:solidFill>
                <a:latin typeface="Helvetica Neue"/>
                <a:ea typeface="Helvetica Neue"/>
                <a:cs typeface="Helvetica Neue"/>
              </a:defRPr>
            </a:lvl5pPr>
            <a:lvl6pPr>
              <a:defRPr sz="2025" b="0">
                <a:solidFill>
                  <a:srgbClr val="526472"/>
                </a:solidFill>
                <a:latin typeface="Helvetica Neue"/>
                <a:ea typeface="Helvetica Neue"/>
                <a:cs typeface="Helvetica Neue"/>
              </a:defRPr>
            </a:lvl6pPr>
            <a:lvl7pPr>
              <a:defRPr sz="2025" b="0">
                <a:solidFill>
                  <a:srgbClr val="526472"/>
                </a:solidFill>
                <a:latin typeface="Helvetica Neue"/>
                <a:ea typeface="Helvetica Neue"/>
                <a:cs typeface="Helvetica Neue"/>
              </a:defRPr>
            </a:lvl7pPr>
            <a:lvl8pPr>
              <a:defRPr sz="2025" b="0">
                <a:solidFill>
                  <a:srgbClr val="526472"/>
                </a:solidFill>
                <a:latin typeface="Helvetica Neue"/>
                <a:ea typeface="Helvetica Neue"/>
                <a:cs typeface="Helvetica Neue"/>
              </a:defRPr>
            </a:lvl8pPr>
            <a:lvl9pPr>
              <a:defRPr sz="2025" b="0">
                <a:solidFill>
                  <a:srgbClr val="526472"/>
                </a:solidFill>
                <a:latin typeface="Helvetica Neue"/>
                <a:ea typeface="Helvetica Neue"/>
                <a:cs typeface="Helvetica Neue"/>
              </a:defRPr>
            </a:lvl9pPr>
          </a:lstStyle>
          <a:p xmlns:a="http://schemas.openxmlformats.org/drawingml/2006/main">
            <a:pPr>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141 structures, three electrolytes, 450 searches across all five strategies.</a:t>
            </a:r>
          </a:p>
        </p:txBody>
      </p:sp>
      <p:sp>
        <p:nvSpPr>
          <p:cNvPr id="4" name="">
            <a:extLst xmlns:a="http://schemas.openxmlformats.org/drawingml/2006/main">
              <a:ext uri="{FF2B5EF4-FFF2-40B4-BE49-F238E27FC236}">
                <a16:creationId xmlns:a16="http://schemas.microsoft.com/office/drawing/2014/main" id="{828916FF-8831-47D6-8995-FDFB70CBB964}"/>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8BDF39ED-9D26-4A3B-9FC7-3C44FF67623C}"/>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08</a:t>
            </a:r>
          </a:p>
        </p:txBody>
      </p:sp>
      <p:graphicFrame>
        <p:nvGraphicFramePr>
          <p:cNvPr id="6" name="Chart">
            <a:extLst xmlns:a="http://schemas.openxmlformats.org/drawingml/2006/main">
              <a:ext uri="{FF2B5EF4-FFF2-40B4-BE49-F238E27FC236}">
                <a16:creationId xmlns:a16="http://schemas.microsoft.com/office/drawing/2014/main" id="{C80CA961-7EE2-4601-8730-C77A77FB61DB}"/>
              </a:ext>
            </a:extLst>
          </p:cNvPr>
          <p:cNvGraphicFramePr/>
          <p:nvPr/>
        </p:nvGraphicFramePr>
        <p:xfrm>
          <a:off xmlns:a="http://schemas.openxmlformats.org/drawingml/2006/main" x="533400" y="2095500"/>
          <a:ext xmlns:a="http://schemas.openxmlformats.org/drawingml/2006/main" cx="11125200" cy="3476625"/>
        </p:xfrm>
        <a:graphic xmlns:a="http://schemas.openxmlformats.org/drawingml/2006/main">
          <a:graphicData uri="http://schemas.openxmlformats.org/drawingml/2006/chart">
            <c:chart xmlns:r="http://schemas.openxmlformats.org/officeDocument/2006/relationships" xmlns:c="http://schemas.openxmlformats.org/drawingml/2006/chart" r:id="Rcfb74ba19c7f431b"/>
          </a:graphicData>
        </a:graphic>
      </p:graphicFrame>
      <p:sp>
        <p:nvSpPr>
          <p:cNvPr id="7" name="">
            <a:extLst xmlns:a="http://schemas.openxmlformats.org/drawingml/2006/main">
              <a:ext uri="{FF2B5EF4-FFF2-40B4-BE49-F238E27FC236}">
                <a16:creationId xmlns:a16="http://schemas.microsoft.com/office/drawing/2014/main" id="{6B8D16AD-9AB7-465E-B3F5-2BB02AA690CC}"/>
              </a:ext>
            </a:extLst>
          </p:cNvPr>
          <p:cNvSpPr>
            <a:spLocks xmlns:a="http://schemas.openxmlformats.org/drawingml/2006/main" noGrp="1"/>
          </p:cNvSpPr>
          <p:nvPr/>
        </p:nvSpPr>
        <p:spPr>
          <a:xfrm xmlns:a="http://schemas.openxmlformats.org/drawingml/2006/main">
            <a:off x="1009650" y="5743575"/>
            <a:ext cx="327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7F7B"/>
                </a:solidFill>
                <a:latin typeface="Helvetica Neue"/>
                <a:ea typeface="Helvetica Neue"/>
                <a:cs typeface="Helvetica Neue"/>
              </a:defRPr>
            </a:defPPr>
            <a:lvl1pPr>
              <a:defRPr sz="2175" b="1">
                <a:solidFill>
                  <a:srgbClr val="007F7B"/>
                </a:solidFill>
                <a:latin typeface="Helvetica Neue"/>
                <a:ea typeface="Helvetica Neue"/>
                <a:cs typeface="Helvetica Neue"/>
              </a:defRPr>
            </a:lvl1pPr>
            <a:lvl2pPr>
              <a:defRPr sz="2175" b="1">
                <a:solidFill>
                  <a:srgbClr val="007F7B"/>
                </a:solidFill>
                <a:latin typeface="Helvetica Neue"/>
                <a:ea typeface="Helvetica Neue"/>
                <a:cs typeface="Helvetica Neue"/>
              </a:defRPr>
            </a:lvl2pPr>
            <a:lvl3pPr>
              <a:defRPr sz="2175" b="1">
                <a:solidFill>
                  <a:srgbClr val="007F7B"/>
                </a:solidFill>
                <a:latin typeface="Helvetica Neue"/>
                <a:ea typeface="Helvetica Neue"/>
                <a:cs typeface="Helvetica Neue"/>
              </a:defRPr>
            </a:lvl3pPr>
            <a:lvl4pPr>
              <a:defRPr sz="2175" b="1">
                <a:solidFill>
                  <a:srgbClr val="007F7B"/>
                </a:solidFill>
                <a:latin typeface="Helvetica Neue"/>
                <a:ea typeface="Helvetica Neue"/>
                <a:cs typeface="Helvetica Neue"/>
              </a:defRPr>
            </a:lvl4pPr>
            <a:lvl5pPr>
              <a:defRPr sz="2175" b="1">
                <a:solidFill>
                  <a:srgbClr val="007F7B"/>
                </a:solidFill>
                <a:latin typeface="Helvetica Neue"/>
                <a:ea typeface="Helvetica Neue"/>
                <a:cs typeface="Helvetica Neue"/>
              </a:defRPr>
            </a:lvl5pPr>
            <a:lvl6pPr>
              <a:defRPr sz="2175" b="1">
                <a:solidFill>
                  <a:srgbClr val="007F7B"/>
                </a:solidFill>
                <a:latin typeface="Helvetica Neue"/>
                <a:ea typeface="Helvetica Neue"/>
                <a:cs typeface="Helvetica Neue"/>
              </a:defRPr>
            </a:lvl6pPr>
            <a:lvl7pPr>
              <a:defRPr sz="2175" b="1">
                <a:solidFill>
                  <a:srgbClr val="007F7B"/>
                </a:solidFill>
                <a:latin typeface="Helvetica Neue"/>
                <a:ea typeface="Helvetica Neue"/>
                <a:cs typeface="Helvetica Neue"/>
              </a:defRPr>
            </a:lvl7pPr>
            <a:lvl8pPr>
              <a:defRPr sz="2175" b="1">
                <a:solidFill>
                  <a:srgbClr val="007F7B"/>
                </a:solidFill>
                <a:latin typeface="Helvetica Neue"/>
                <a:ea typeface="Helvetica Neue"/>
                <a:cs typeface="Helvetica Neue"/>
              </a:defRPr>
            </a:lvl8pPr>
            <a:lvl9pPr>
              <a:defRPr sz="2175" b="1">
                <a:solidFill>
                  <a:srgbClr val="007F7B"/>
                </a:solidFill>
                <a:latin typeface="Helvetica Neue"/>
                <a:ea typeface="Helvetica Neue"/>
                <a:cs typeface="Helvetica Neue"/>
              </a:defRPr>
            </a:lvl9pPr>
          </a:lstStyle>
          <a:p xmlns:a="http://schemas.openxmlformats.org/drawingml/2006/main">
            <a:pPr>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Feedback helped</a:t>
            </a:r>
          </a:p>
        </p:txBody>
      </p:sp>
      <p:sp>
        <p:nvSpPr>
          <p:cNvPr id="8" name="">
            <a:extLst xmlns:a="http://schemas.openxmlformats.org/drawingml/2006/main">
              <a:ext uri="{FF2B5EF4-FFF2-40B4-BE49-F238E27FC236}">
                <a16:creationId xmlns:a16="http://schemas.microsoft.com/office/drawing/2014/main" id="{E4A3DC68-27C3-4ED8-8DF2-0E338388BC34}"/>
              </a:ext>
            </a:extLst>
          </p:cNvPr>
          <p:cNvSpPr>
            <a:spLocks xmlns:a="http://schemas.openxmlformats.org/drawingml/2006/main" noGrp="1"/>
          </p:cNvSpPr>
          <p:nvPr/>
        </p:nvSpPr>
        <p:spPr>
          <a:xfrm xmlns:a="http://schemas.openxmlformats.org/drawingml/2006/main">
            <a:off x="4295775" y="5743575"/>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72B3A"/>
                </a:solidFill>
                <a:latin typeface="Helvetica Neue"/>
                <a:ea typeface="Helvetica Neue"/>
                <a:cs typeface="Helvetica Neue"/>
              </a:defRPr>
            </a:defPPr>
            <a:lvl1pPr>
              <a:defRPr sz="2175" b="1">
                <a:solidFill>
                  <a:srgbClr val="172B3A"/>
                </a:solidFill>
                <a:latin typeface="Helvetica Neue"/>
                <a:ea typeface="Helvetica Neue"/>
                <a:cs typeface="Helvetica Neue"/>
              </a:defRPr>
            </a:lvl1pPr>
            <a:lvl2pPr>
              <a:defRPr sz="2175" b="1">
                <a:solidFill>
                  <a:srgbClr val="172B3A"/>
                </a:solidFill>
                <a:latin typeface="Helvetica Neue"/>
                <a:ea typeface="Helvetica Neue"/>
                <a:cs typeface="Helvetica Neue"/>
              </a:defRPr>
            </a:lvl2pPr>
            <a:lvl3pPr>
              <a:defRPr sz="2175" b="1">
                <a:solidFill>
                  <a:srgbClr val="172B3A"/>
                </a:solidFill>
                <a:latin typeface="Helvetica Neue"/>
                <a:ea typeface="Helvetica Neue"/>
                <a:cs typeface="Helvetica Neue"/>
              </a:defRPr>
            </a:lvl3pPr>
            <a:lvl4pPr>
              <a:defRPr sz="2175" b="1">
                <a:solidFill>
                  <a:srgbClr val="172B3A"/>
                </a:solidFill>
                <a:latin typeface="Helvetica Neue"/>
                <a:ea typeface="Helvetica Neue"/>
                <a:cs typeface="Helvetica Neue"/>
              </a:defRPr>
            </a:lvl4pPr>
            <a:lvl5pPr>
              <a:defRPr sz="2175" b="1">
                <a:solidFill>
                  <a:srgbClr val="172B3A"/>
                </a:solidFill>
                <a:latin typeface="Helvetica Neue"/>
                <a:ea typeface="Helvetica Neue"/>
                <a:cs typeface="Helvetica Neue"/>
              </a:defRPr>
            </a:lvl5pPr>
            <a:lvl6pPr>
              <a:defRPr sz="2175" b="1">
                <a:solidFill>
                  <a:srgbClr val="172B3A"/>
                </a:solidFill>
                <a:latin typeface="Helvetica Neue"/>
                <a:ea typeface="Helvetica Neue"/>
                <a:cs typeface="Helvetica Neue"/>
              </a:defRPr>
            </a:lvl6pPr>
            <a:lvl7pPr>
              <a:defRPr sz="2175" b="1">
                <a:solidFill>
                  <a:srgbClr val="172B3A"/>
                </a:solidFill>
                <a:latin typeface="Helvetica Neue"/>
                <a:ea typeface="Helvetica Neue"/>
                <a:cs typeface="Helvetica Neue"/>
              </a:defRPr>
            </a:lvl7pPr>
            <a:lvl8pPr>
              <a:defRPr sz="2175" b="1">
                <a:solidFill>
                  <a:srgbClr val="172B3A"/>
                </a:solidFill>
                <a:latin typeface="Helvetica Neue"/>
                <a:ea typeface="Helvetica Neue"/>
                <a:cs typeface="Helvetica Neue"/>
              </a:defRPr>
            </a:lvl8pPr>
            <a:lvl9pPr>
              <a:defRPr sz="2175" b="1">
                <a:solidFill>
                  <a:srgbClr val="172B3A"/>
                </a:solidFill>
                <a:latin typeface="Helvetica Neue"/>
                <a:ea typeface="Helvetica Neue"/>
                <a:cs typeface="Helvetica Neue"/>
              </a:defRPr>
            </a:lvl9pPr>
          </a:lstStyle>
          <a:p xmlns:a="http://schemas.openxmlformats.org/drawingml/2006/main">
            <a:pPr>
              <a:defRPr sz="2175" b="1">
                <a:solidFill>
                  <a:srgbClr val="172B3A"/>
                </a:solidFill>
                <a:latin typeface="Helvetica Neue"/>
                <a:ea typeface="Helvetica Neue"/>
                <a:cs typeface="Helvetica Neue"/>
              </a:defRPr>
            </a:pPr>
            <a:r>
              <a:rPr sz="2175" b="1">
                <a:solidFill>
                  <a:srgbClr val="172B3A"/>
                </a:solidFill>
                <a:latin typeface="Helvetica Neue"/>
                <a:ea typeface="Helvetica Neue"/>
                <a:cs typeface="Helvetica Neue"/>
              </a:rPr>
              <a:t>Almost all succeeded</a:t>
            </a:r>
          </a:p>
        </p:txBody>
      </p:sp>
      <p:sp>
        <p:nvSpPr>
          <p:cNvPr id="9" name="">
            <a:extLst xmlns:a="http://schemas.openxmlformats.org/drawingml/2006/main">
              <a:ext uri="{FF2B5EF4-FFF2-40B4-BE49-F238E27FC236}">
                <a16:creationId xmlns:a16="http://schemas.microsoft.com/office/drawing/2014/main" id="{AB71B6AC-CBD8-40AC-A4A0-9C8945BE2419}"/>
              </a:ext>
            </a:extLst>
          </p:cNvPr>
          <p:cNvSpPr>
            <a:spLocks xmlns:a="http://schemas.openxmlformats.org/drawingml/2006/main" noGrp="1"/>
          </p:cNvSpPr>
          <p:nvPr/>
        </p:nvSpPr>
        <p:spPr>
          <a:xfrm xmlns:a="http://schemas.openxmlformats.org/drawingml/2006/main">
            <a:off x="8372475" y="5743575"/>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A713A"/>
                </a:solidFill>
                <a:latin typeface="Helvetica Neue"/>
                <a:ea typeface="Helvetica Neue"/>
                <a:cs typeface="Helvetica Neue"/>
              </a:defRPr>
            </a:defPPr>
            <a:lvl1pPr>
              <a:defRPr sz="2175" b="1">
                <a:solidFill>
                  <a:srgbClr val="CA713A"/>
                </a:solidFill>
                <a:latin typeface="Helvetica Neue"/>
                <a:ea typeface="Helvetica Neue"/>
                <a:cs typeface="Helvetica Neue"/>
              </a:defRPr>
            </a:lvl1pPr>
            <a:lvl2pPr>
              <a:defRPr sz="2175" b="1">
                <a:solidFill>
                  <a:srgbClr val="CA713A"/>
                </a:solidFill>
                <a:latin typeface="Helvetica Neue"/>
                <a:ea typeface="Helvetica Neue"/>
                <a:cs typeface="Helvetica Neue"/>
              </a:defRPr>
            </a:lvl2pPr>
            <a:lvl3pPr>
              <a:defRPr sz="2175" b="1">
                <a:solidFill>
                  <a:srgbClr val="CA713A"/>
                </a:solidFill>
                <a:latin typeface="Helvetica Neue"/>
                <a:ea typeface="Helvetica Neue"/>
                <a:cs typeface="Helvetica Neue"/>
              </a:defRPr>
            </a:lvl3pPr>
            <a:lvl4pPr>
              <a:defRPr sz="2175" b="1">
                <a:solidFill>
                  <a:srgbClr val="CA713A"/>
                </a:solidFill>
                <a:latin typeface="Helvetica Neue"/>
                <a:ea typeface="Helvetica Neue"/>
                <a:cs typeface="Helvetica Neue"/>
              </a:defRPr>
            </a:lvl4pPr>
            <a:lvl5pPr>
              <a:defRPr sz="2175" b="1">
                <a:solidFill>
                  <a:srgbClr val="CA713A"/>
                </a:solidFill>
                <a:latin typeface="Helvetica Neue"/>
                <a:ea typeface="Helvetica Neue"/>
                <a:cs typeface="Helvetica Neue"/>
              </a:defRPr>
            </a:lvl5pPr>
            <a:lvl6pPr>
              <a:defRPr sz="2175" b="1">
                <a:solidFill>
                  <a:srgbClr val="CA713A"/>
                </a:solidFill>
                <a:latin typeface="Helvetica Neue"/>
                <a:ea typeface="Helvetica Neue"/>
                <a:cs typeface="Helvetica Neue"/>
              </a:defRPr>
            </a:lvl6pPr>
            <a:lvl7pPr>
              <a:defRPr sz="2175" b="1">
                <a:solidFill>
                  <a:srgbClr val="CA713A"/>
                </a:solidFill>
                <a:latin typeface="Helvetica Neue"/>
                <a:ea typeface="Helvetica Neue"/>
                <a:cs typeface="Helvetica Neue"/>
              </a:defRPr>
            </a:lvl7pPr>
            <a:lvl8pPr>
              <a:defRPr sz="2175" b="1">
                <a:solidFill>
                  <a:srgbClr val="CA713A"/>
                </a:solidFill>
                <a:latin typeface="Helvetica Neue"/>
                <a:ea typeface="Helvetica Neue"/>
                <a:cs typeface="Helvetica Neue"/>
              </a:defRPr>
            </a:lvl8pPr>
            <a:lvl9pPr>
              <a:defRPr sz="2175" b="1">
                <a:solidFill>
                  <a:srgbClr val="CA713A"/>
                </a:solidFill>
                <a:latin typeface="Helvetica Neue"/>
                <a:ea typeface="Helvetica Neue"/>
                <a:cs typeface="Helvetica Neue"/>
              </a:defRPr>
            </a:lvl9pPr>
          </a:lstStyle>
          <a:p xmlns:a="http://schemas.openxmlformats.org/drawingml/2006/main">
            <a:pPr>
              <a:defRPr sz="2175" b="1">
                <a:solidFill>
                  <a:srgbClr val="CA713A"/>
                </a:solidFill>
                <a:latin typeface="Helvetica Neue"/>
                <a:ea typeface="Helvetica Neue"/>
                <a:cs typeface="Helvetica Neue"/>
              </a:defRPr>
            </a:pPr>
            <a:r>
              <a:rPr sz="2175" b="1">
                <a:solidFill>
                  <a:srgbClr val="CA713A"/>
                </a:solidFill>
                <a:latin typeface="Helvetica Neue"/>
                <a:ea typeface="Helvetica Neue"/>
                <a:cs typeface="Helvetica Neue"/>
              </a:rPr>
              <a:t>Random did better</a:t>
            </a:r>
          </a:p>
        </p:txBody>
      </p:sp>
    </p:spTree>
    <p:extLst>
      <p:ext uri="{BB962C8B-B14F-4D97-AF65-F5344CB8AC3E}">
        <p14:creationId xmlns:p14="http://schemas.microsoft.com/office/powerpoint/2010/main" val="853691347"/>
      </p:ext>
    </p:extLst>
  </p:cSld>
</p:sld>
</file>

<file path=ppt/slides/slide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95089A-B89C-4D78-8EA2-A36C3ABA16B7}"/>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STEP 2 / WHAT THE LLM DID</a:t>
            </a:r>
          </a:p>
        </p:txBody>
      </p:sp>
      <p:sp>
        <p:nvSpPr>
          <p:cNvPr id="2" name="">
            <a:extLst xmlns:a="http://schemas.openxmlformats.org/drawingml/2006/main">
              <a:ext uri="{FF2B5EF4-FFF2-40B4-BE49-F238E27FC236}">
                <a16:creationId xmlns:a16="http://schemas.microsoft.com/office/drawing/2014/main" id="{FF3B6BFA-EF9A-4143-85C0-AC4DC82922E6}"/>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A real example: refining a near miss</a:t>
            </a:r>
          </a:p>
        </p:txBody>
      </p:sp>
      <p:sp>
        <p:nvSpPr>
          <p:cNvPr id="3" name="">
            <a:extLst xmlns:a="http://schemas.openxmlformats.org/drawingml/2006/main">
              <a:ext uri="{FF2B5EF4-FFF2-40B4-BE49-F238E27FC236}">
                <a16:creationId xmlns:a16="http://schemas.microsoft.com/office/drawing/2014/main" id="{54D37F7A-4C59-4A0E-937C-A9EFB445D0BE}"/>
              </a:ext>
            </a:extLst>
          </p:cNvPr>
          <p:cNvSpPr>
            <a:spLocks xmlns:a="http://schemas.openxmlformats.org/drawingml/2006/main" noGrp="1"/>
          </p:cNvSpPr>
          <p:nvPr/>
        </p:nvSpPr>
        <p:spPr>
          <a:xfrm xmlns:a="http://schemas.openxmlformats.org/drawingml/2006/main">
            <a:off x="533400" y="147637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defRPr sz="2025" b="0">
                <a:solidFill>
                  <a:srgbClr val="526472"/>
                </a:solidFill>
                <a:latin typeface="Helvetica Neue"/>
                <a:ea typeface="Helvetica Neue"/>
                <a:cs typeface="Helvetica Neue"/>
              </a:defRPr>
            </a:lvl1pPr>
            <a:lvl2pPr>
              <a:defRPr sz="2025" b="0">
                <a:solidFill>
                  <a:srgbClr val="526472"/>
                </a:solidFill>
                <a:latin typeface="Helvetica Neue"/>
                <a:ea typeface="Helvetica Neue"/>
                <a:cs typeface="Helvetica Neue"/>
              </a:defRPr>
            </a:lvl2pPr>
            <a:lvl3pPr>
              <a:defRPr sz="2025" b="0">
                <a:solidFill>
                  <a:srgbClr val="526472"/>
                </a:solidFill>
                <a:latin typeface="Helvetica Neue"/>
                <a:ea typeface="Helvetica Neue"/>
                <a:cs typeface="Helvetica Neue"/>
              </a:defRPr>
            </a:lvl3pPr>
            <a:lvl4pPr>
              <a:defRPr sz="2025" b="0">
                <a:solidFill>
                  <a:srgbClr val="526472"/>
                </a:solidFill>
                <a:latin typeface="Helvetica Neue"/>
                <a:ea typeface="Helvetica Neue"/>
                <a:cs typeface="Helvetica Neue"/>
              </a:defRPr>
            </a:lvl4pPr>
            <a:lvl5pPr>
              <a:defRPr sz="2025" b="0">
                <a:solidFill>
                  <a:srgbClr val="526472"/>
                </a:solidFill>
                <a:latin typeface="Helvetica Neue"/>
                <a:ea typeface="Helvetica Neue"/>
                <a:cs typeface="Helvetica Neue"/>
              </a:defRPr>
            </a:lvl5pPr>
            <a:lvl6pPr>
              <a:defRPr sz="2025" b="0">
                <a:solidFill>
                  <a:srgbClr val="526472"/>
                </a:solidFill>
                <a:latin typeface="Helvetica Neue"/>
                <a:ea typeface="Helvetica Neue"/>
                <a:cs typeface="Helvetica Neue"/>
              </a:defRPr>
            </a:lvl6pPr>
            <a:lvl7pPr>
              <a:defRPr sz="2025" b="0">
                <a:solidFill>
                  <a:srgbClr val="526472"/>
                </a:solidFill>
                <a:latin typeface="Helvetica Neue"/>
                <a:ea typeface="Helvetica Neue"/>
                <a:cs typeface="Helvetica Neue"/>
              </a:defRPr>
            </a:lvl7pPr>
            <a:lvl8pPr>
              <a:defRPr sz="2025" b="0">
                <a:solidFill>
                  <a:srgbClr val="526472"/>
                </a:solidFill>
                <a:latin typeface="Helvetica Neue"/>
                <a:ea typeface="Helvetica Neue"/>
                <a:cs typeface="Helvetica Neue"/>
              </a:defRPr>
            </a:lvl8pPr>
            <a:lvl9pPr>
              <a:defRPr sz="2025" b="0">
                <a:solidFill>
                  <a:srgbClr val="526472"/>
                </a:solidFill>
                <a:latin typeface="Helvetica Neue"/>
                <a:ea typeface="Helvetica Neue"/>
                <a:cs typeface="Helvetica Neue"/>
              </a:defRPr>
            </a:lvl9pPr>
          </a:lstStyle>
          <a:p xmlns:a="http://schemas.openxmlformats.org/drawingml/2006/main">
            <a:pPr>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Three consecutive choices in one sulfide search. Lower reaction score is better.</a:t>
            </a:r>
          </a:p>
        </p:txBody>
      </p:sp>
      <p:sp>
        <p:nvSpPr>
          <p:cNvPr id="4" name="">
            <a:extLst xmlns:a="http://schemas.openxmlformats.org/drawingml/2006/main">
              <a:ext uri="{FF2B5EF4-FFF2-40B4-BE49-F238E27FC236}">
                <a16:creationId xmlns:a16="http://schemas.microsoft.com/office/drawing/2014/main" id="{DB7D880A-1875-4D3E-8B0A-382D75493D07}"/>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34D3EC88-8159-4966-AED2-A9D209C5DE46}"/>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09</a:t>
            </a:r>
          </a:p>
        </p:txBody>
      </p:sp>
      <p:graphicFrame>
        <p:nvGraphicFramePr>
          <p:cNvPr id="6" name="">
            <a:extLst xmlns:a="http://schemas.openxmlformats.org/drawingml/2006/main">
              <a:ext uri="{FF2B5EF4-FFF2-40B4-BE49-F238E27FC236}">
                <a16:creationId xmlns:a16="http://schemas.microsoft.com/office/drawing/2014/main" id="{ED6B4DAC-E152-4701-9EA6-E387F9761515}"/>
              </a:ext>
            </a:extLst>
          </p:cNvPr>
          <p:cNvGraphicFramePr/>
          <p:nvPr/>
        </p:nvGraphicFramePr>
        <p:xfrm>
          <a:off xmlns:a="http://schemas.openxmlformats.org/drawingml/2006/main" x="533400" y="2143125"/>
          <a:ext xmlns:a="http://schemas.openxmlformats.org/drawingml/2006/main" cx="11125200" cy="2743200"/>
        </p:xfrm>
        <a:graphic xmlns:a="http://schemas.openxmlformats.org/drawingml/2006/main">
          <a:graphicData uri="http://schemas.openxmlformats.org/drawingml/2006/table">
            <a:tbl>
              <a:tblPr firstRow="0" bandRow="0"/>
              <a:tblGrid>
                <a:gridCol w="1143000"/>
                <a:gridCol w="2667000"/>
                <a:gridCol w="2524125"/>
                <a:gridCol w="4791075"/>
              </a:tblGrid>
              <a:tr h="685800">
                <a:tc>
                  <a:txBody>
                    <a:bodyPr lIns="0" tIns="0" rIns="0" bIns="0">
                      <a:noAutofit/>
                    </a:bodyPr>
                    <a:lstStyle/>
                    <a:p>
                      <a:r>
                        <a:rPr sz="1875" b="1">
                          <a:solidFill>
                            <a:srgbClr val="FFFFFF"/>
                          </a:solidFill>
                          <a:latin typeface="Helvetica Neue"/>
                          <a:ea typeface="Helvetica Neue"/>
                          <a:cs typeface="Helvetica Neue"/>
                        </a:rPr>
                        <a:t>Try</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75" b="1">
                          <a:solidFill>
                            <a:srgbClr val="FFFFFF"/>
                          </a:solidFill>
                          <a:latin typeface="Helvetica Neue"/>
                          <a:ea typeface="Helvetica Neue"/>
                          <a:cs typeface="Helvetica Neue"/>
                        </a:rPr>
                        <a:t>Material chosen</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75" b="1">
                          <a:solidFill>
                            <a:srgbClr val="FFFFFF"/>
                          </a:solidFill>
                          <a:latin typeface="Helvetica Neue"/>
                          <a:ea typeface="Helvetica Neue"/>
                          <a:cs typeface="Helvetica Neue"/>
                        </a:rPr>
                        <a:t>Reaction score</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75" b="1">
                          <a:solidFill>
                            <a:srgbClr val="FFFFFF"/>
                          </a:solidFill>
                          <a:latin typeface="Helvetica Neue"/>
                          <a:ea typeface="Helvetica Neue"/>
                          <a:cs typeface="Helvetica Neue"/>
                        </a:rPr>
                        <a:t>What the test said</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85800">
                <a:tc>
                  <a:txBody>
                    <a:bodyPr lIns="0" tIns="0" rIns="0" bIns="0">
                      <a:noAutofit/>
                    </a:bodyPr>
                    <a:lstStyle/>
                    <a:p>
                      <a:r>
                        <a:rPr sz="2175" b="0">
                          <a:solidFill>
                            <a:srgbClr val="172B3A"/>
                          </a:solidFill>
                          <a:latin typeface="Helvetica Neue"/>
                          <a:ea typeface="Helvetica Neue"/>
                          <a:cs typeface="Helvetica Neue"/>
                        </a:rPr>
                        <a:t>6</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Li₃AlF₆</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0.160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Does not pass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85800">
                <a:tc>
                  <a:txBody>
                    <a:bodyPr lIns="0" tIns="0" rIns="0" bIns="0">
                      <a:noAutofit/>
                    </a:bodyPr>
                    <a:lstStyle/>
                    <a:p>
                      <a:r>
                        <a:rPr sz="2175" b="0">
                          <a:solidFill>
                            <a:srgbClr val="172B3A"/>
                          </a:solidFill>
                          <a:latin typeface="Helvetica Neue"/>
                          <a:ea typeface="Helvetica Neue"/>
                          <a:cs typeface="Helvetica Neue"/>
                        </a:rPr>
                        <a:t>7</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LiMgAlF₆</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0.057</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Close, but still above the limit</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85800">
                <a:tc>
                  <a:txBody>
                    <a:bodyPr lIns="0" tIns="0" rIns="0" bIns="0">
                      <a:noAutofit/>
                    </a:bodyPr>
                    <a:lstStyle/>
                    <a:p>
                      <a:r>
                        <a:rPr sz="2175" b="0">
                          <a:solidFill>
                            <a:srgbClr val="172B3A"/>
                          </a:solidFill>
                          <a:latin typeface="Helvetica Neue"/>
                          <a:ea typeface="Helvetica Neue"/>
                          <a:cs typeface="Helvetica Neue"/>
                        </a:rPr>
                        <a:t>8</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LiCaAlF₆</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0.048</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Passes the 0.050 limit</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60CBFF44-24A5-4A2F-9B3B-29073FCA26EA}"/>
              </a:ext>
            </a:extLst>
          </p:cNvPr>
          <p:cNvSpPr>
            <a:spLocks xmlns:a="http://schemas.openxmlformats.org/drawingml/2006/main" noGrp="1"/>
          </p:cNvSpPr>
          <p:nvPr/>
        </p:nvSpPr>
        <p:spPr>
          <a:xfrm xmlns:a="http://schemas.openxmlformats.org/drawingml/2006/main">
            <a:off x="533400" y="5238750"/>
            <a:ext cx="1112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007F7B"/>
                </a:solidFill>
                <a:latin typeface="Helvetica Neue"/>
                <a:ea typeface="Helvetica Neue"/>
                <a:cs typeface="Helvetica Neue"/>
              </a:defRPr>
            </a:defPPr>
            <a:lvl1pPr>
              <a:defRPr sz="2475" b="1">
                <a:solidFill>
                  <a:srgbClr val="007F7B"/>
                </a:solidFill>
                <a:latin typeface="Helvetica Neue"/>
                <a:ea typeface="Helvetica Neue"/>
                <a:cs typeface="Helvetica Neue"/>
              </a:defRPr>
            </a:lvl1pPr>
            <a:lvl2pPr>
              <a:defRPr sz="2475" b="1">
                <a:solidFill>
                  <a:srgbClr val="007F7B"/>
                </a:solidFill>
                <a:latin typeface="Helvetica Neue"/>
                <a:ea typeface="Helvetica Neue"/>
                <a:cs typeface="Helvetica Neue"/>
              </a:defRPr>
            </a:lvl2pPr>
            <a:lvl3pPr>
              <a:defRPr sz="2475" b="1">
                <a:solidFill>
                  <a:srgbClr val="007F7B"/>
                </a:solidFill>
                <a:latin typeface="Helvetica Neue"/>
                <a:ea typeface="Helvetica Neue"/>
                <a:cs typeface="Helvetica Neue"/>
              </a:defRPr>
            </a:lvl3pPr>
            <a:lvl4pPr>
              <a:defRPr sz="2475" b="1">
                <a:solidFill>
                  <a:srgbClr val="007F7B"/>
                </a:solidFill>
                <a:latin typeface="Helvetica Neue"/>
                <a:ea typeface="Helvetica Neue"/>
                <a:cs typeface="Helvetica Neue"/>
              </a:defRPr>
            </a:lvl4pPr>
            <a:lvl5pPr>
              <a:defRPr sz="2475" b="1">
                <a:solidFill>
                  <a:srgbClr val="007F7B"/>
                </a:solidFill>
                <a:latin typeface="Helvetica Neue"/>
                <a:ea typeface="Helvetica Neue"/>
                <a:cs typeface="Helvetica Neue"/>
              </a:defRPr>
            </a:lvl5pPr>
            <a:lvl6pPr>
              <a:defRPr sz="2475" b="1">
                <a:solidFill>
                  <a:srgbClr val="007F7B"/>
                </a:solidFill>
                <a:latin typeface="Helvetica Neue"/>
                <a:ea typeface="Helvetica Neue"/>
                <a:cs typeface="Helvetica Neue"/>
              </a:defRPr>
            </a:lvl6pPr>
            <a:lvl7pPr>
              <a:defRPr sz="2475" b="1">
                <a:solidFill>
                  <a:srgbClr val="007F7B"/>
                </a:solidFill>
                <a:latin typeface="Helvetica Neue"/>
                <a:ea typeface="Helvetica Neue"/>
                <a:cs typeface="Helvetica Neue"/>
              </a:defRPr>
            </a:lvl7pPr>
            <a:lvl8pPr>
              <a:defRPr sz="2475" b="1">
                <a:solidFill>
                  <a:srgbClr val="007F7B"/>
                </a:solidFill>
                <a:latin typeface="Helvetica Neue"/>
                <a:ea typeface="Helvetica Neue"/>
                <a:cs typeface="Helvetica Neue"/>
              </a:defRPr>
            </a:lvl8pPr>
            <a:lvl9pPr>
              <a:defRPr sz="2475" b="1">
                <a:solidFill>
                  <a:srgbClr val="007F7B"/>
                </a:solidFill>
                <a:latin typeface="Helvetica Neue"/>
                <a:ea typeface="Helvetica Neue"/>
                <a:cs typeface="Helvetica Neue"/>
              </a:defRPr>
            </a:lvl9pPr>
          </a:lstStyle>
          <a:p xmlns:a="http://schemas.openxmlformats.org/drawingml/2006/main">
            <a:pPr>
              <a:defRPr sz="2475" b="1">
                <a:solidFill>
                  <a:srgbClr val="007F7B"/>
                </a:solidFill>
                <a:latin typeface="Helvetica Neue"/>
                <a:ea typeface="Helvetica Neue"/>
                <a:cs typeface="Helvetica Neue"/>
              </a:defRPr>
            </a:pPr>
            <a:r>
              <a:rPr sz="2475" b="1">
                <a:solidFill>
                  <a:srgbClr val="007F7B"/>
                </a:solidFill>
                <a:latin typeface="Helvetica Neue"/>
                <a:ea typeface="Helvetica Neue"/>
                <a:cs typeface="Helvetica Neue"/>
              </a:rPr>
              <a:t>The LLM kept testing related chemistry after a promising near miss.</a:t>
            </a:r>
          </a:p>
        </p:txBody>
      </p:sp>
      <p:sp>
        <p:nvSpPr>
          <p:cNvPr id="8" name="">
            <a:extLst xmlns:a="http://schemas.openxmlformats.org/drawingml/2006/main">
              <a:ext uri="{FF2B5EF4-FFF2-40B4-BE49-F238E27FC236}">
                <a16:creationId xmlns:a16="http://schemas.microsoft.com/office/drawing/2014/main" id="{BF21CB1F-A42D-4393-8D46-52BA5A3766A8}"/>
              </a:ext>
            </a:extLst>
          </p:cNvPr>
          <p:cNvSpPr>
            <a:spLocks xmlns:a="http://schemas.openxmlformats.org/drawingml/2006/main" noGrp="1"/>
          </p:cNvSpPr>
          <p:nvPr/>
        </p:nvSpPr>
        <p:spPr>
          <a:xfrm xmlns:a="http://schemas.openxmlformats.org/drawingml/2006/main">
            <a:off x="533400" y="6067425"/>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472"/>
                </a:solidFill>
                <a:latin typeface="Helvetica Neue"/>
                <a:ea typeface="Helvetica Neue"/>
                <a:cs typeface="Helvetica Neue"/>
              </a:defRPr>
            </a:defPPr>
            <a:lvl1pPr>
              <a:defRPr sz="1800" b="0">
                <a:solidFill>
                  <a:srgbClr val="526472"/>
                </a:solidFill>
                <a:latin typeface="Helvetica Neue"/>
                <a:ea typeface="Helvetica Neue"/>
                <a:cs typeface="Helvetica Neue"/>
              </a:defRPr>
            </a:lvl1pPr>
            <a:lvl2pPr>
              <a:defRPr sz="1800" b="0">
                <a:solidFill>
                  <a:srgbClr val="526472"/>
                </a:solidFill>
                <a:latin typeface="Helvetica Neue"/>
                <a:ea typeface="Helvetica Neue"/>
                <a:cs typeface="Helvetica Neue"/>
              </a:defRPr>
            </a:lvl2pPr>
            <a:lvl3pPr>
              <a:defRPr sz="1800" b="0">
                <a:solidFill>
                  <a:srgbClr val="526472"/>
                </a:solidFill>
                <a:latin typeface="Helvetica Neue"/>
                <a:ea typeface="Helvetica Neue"/>
                <a:cs typeface="Helvetica Neue"/>
              </a:defRPr>
            </a:lvl3pPr>
            <a:lvl4pPr>
              <a:defRPr sz="1800" b="0">
                <a:solidFill>
                  <a:srgbClr val="526472"/>
                </a:solidFill>
                <a:latin typeface="Helvetica Neue"/>
                <a:ea typeface="Helvetica Neue"/>
                <a:cs typeface="Helvetica Neue"/>
              </a:defRPr>
            </a:lvl4pPr>
            <a:lvl5pPr>
              <a:defRPr sz="1800" b="0">
                <a:solidFill>
                  <a:srgbClr val="526472"/>
                </a:solidFill>
                <a:latin typeface="Helvetica Neue"/>
                <a:ea typeface="Helvetica Neue"/>
                <a:cs typeface="Helvetica Neue"/>
              </a:defRPr>
            </a:lvl5pPr>
            <a:lvl6pPr>
              <a:defRPr sz="1800" b="0">
                <a:solidFill>
                  <a:srgbClr val="526472"/>
                </a:solidFill>
                <a:latin typeface="Helvetica Neue"/>
                <a:ea typeface="Helvetica Neue"/>
                <a:cs typeface="Helvetica Neue"/>
              </a:defRPr>
            </a:lvl6pPr>
            <a:lvl7pPr>
              <a:defRPr sz="1800" b="0">
                <a:solidFill>
                  <a:srgbClr val="526472"/>
                </a:solidFill>
                <a:latin typeface="Helvetica Neue"/>
                <a:ea typeface="Helvetica Neue"/>
                <a:cs typeface="Helvetica Neue"/>
              </a:defRPr>
            </a:lvl7pPr>
            <a:lvl8pPr>
              <a:defRPr sz="1800" b="0">
                <a:solidFill>
                  <a:srgbClr val="526472"/>
                </a:solidFill>
                <a:latin typeface="Helvetica Neue"/>
                <a:ea typeface="Helvetica Neue"/>
                <a:cs typeface="Helvetica Neue"/>
              </a:defRPr>
            </a:lvl8pPr>
            <a:lvl9pPr>
              <a:defRPr sz="1800" b="0">
                <a:solidFill>
                  <a:srgbClr val="526472"/>
                </a:solidFill>
                <a:latin typeface="Helvetica Neue"/>
                <a:ea typeface="Helvetica Neue"/>
                <a:cs typeface="Helvetica Neue"/>
              </a:defRPr>
            </a:lvl9pPr>
          </a:lstStyle>
          <a:p xmlns:a="http://schemas.openxmlformats.org/drawingml/2006/main">
            <a:pPr>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One illustrative search. Reaction scores are in eV per non-lithium atom.</a:t>
            </a:r>
          </a:p>
        </p:txBody>
      </p:sp>
    </p:spTree>
    <p:extLst>
      <p:ext uri="{BB962C8B-B14F-4D97-AF65-F5344CB8AC3E}">
        <p14:creationId xmlns:p14="http://schemas.microsoft.com/office/powerpoint/2010/main" val="42173479"/>
      </p:ext>
    </p:extLst>
  </p:cSld>
</p:sld>
</file>

<file path=ppt/slides/slide1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5723B5A-7859-423D-A63A-1A0CC8B68F62}"/>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STEP 2 / WHERE IT STRUGGLED</a:t>
            </a:r>
          </a:p>
        </p:txBody>
      </p:sp>
      <p:sp>
        <p:nvSpPr>
          <p:cNvPr id="2" name="">
            <a:extLst xmlns:a="http://schemas.openxmlformats.org/drawingml/2006/main">
              <a:ext uri="{FF2B5EF4-FFF2-40B4-BE49-F238E27FC236}">
                <a16:creationId xmlns:a16="http://schemas.microsoft.com/office/drawing/2014/main" id="{55974B85-7FDC-4C85-B0B1-B441A142F8CC}"/>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On the oxide, the LLM tried fewer chemical options</a:t>
            </a:r>
          </a:p>
        </p:txBody>
      </p:sp>
      <p:sp>
        <p:nvSpPr>
          <p:cNvPr id="3" name="">
            <a:extLst xmlns:a="http://schemas.openxmlformats.org/drawingml/2006/main">
              <a:ext uri="{FF2B5EF4-FFF2-40B4-BE49-F238E27FC236}">
                <a16:creationId xmlns:a16="http://schemas.microsoft.com/office/drawing/2014/main" id="{DDD0AD50-827B-444E-8767-3B01F3ED8DD4}"/>
              </a:ext>
            </a:extLst>
          </p:cNvPr>
          <p:cNvSpPr>
            <a:spLocks xmlns:a="http://schemas.openxmlformats.org/drawingml/2006/main" noGrp="1"/>
          </p:cNvSpPr>
          <p:nvPr/>
        </p:nvSpPr>
        <p:spPr>
          <a:xfrm xmlns:a="http://schemas.openxmlformats.org/drawingml/2006/main">
            <a:off x="533400" y="147637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defRPr sz="2025" b="0">
                <a:solidFill>
                  <a:srgbClr val="526472"/>
                </a:solidFill>
                <a:latin typeface="Helvetica Neue"/>
                <a:ea typeface="Helvetica Neue"/>
                <a:cs typeface="Helvetica Neue"/>
              </a:defRPr>
            </a:lvl1pPr>
            <a:lvl2pPr>
              <a:defRPr sz="2025" b="0">
                <a:solidFill>
                  <a:srgbClr val="526472"/>
                </a:solidFill>
                <a:latin typeface="Helvetica Neue"/>
                <a:ea typeface="Helvetica Neue"/>
                <a:cs typeface="Helvetica Neue"/>
              </a:defRPr>
            </a:lvl2pPr>
            <a:lvl3pPr>
              <a:defRPr sz="2025" b="0">
                <a:solidFill>
                  <a:srgbClr val="526472"/>
                </a:solidFill>
                <a:latin typeface="Helvetica Neue"/>
                <a:ea typeface="Helvetica Neue"/>
                <a:cs typeface="Helvetica Neue"/>
              </a:defRPr>
            </a:lvl3pPr>
            <a:lvl4pPr>
              <a:defRPr sz="2025" b="0">
                <a:solidFill>
                  <a:srgbClr val="526472"/>
                </a:solidFill>
                <a:latin typeface="Helvetica Neue"/>
                <a:ea typeface="Helvetica Neue"/>
                <a:cs typeface="Helvetica Neue"/>
              </a:defRPr>
            </a:lvl4pPr>
            <a:lvl5pPr>
              <a:defRPr sz="2025" b="0">
                <a:solidFill>
                  <a:srgbClr val="526472"/>
                </a:solidFill>
                <a:latin typeface="Helvetica Neue"/>
                <a:ea typeface="Helvetica Neue"/>
                <a:cs typeface="Helvetica Neue"/>
              </a:defRPr>
            </a:lvl5pPr>
            <a:lvl6pPr>
              <a:defRPr sz="2025" b="0">
                <a:solidFill>
                  <a:srgbClr val="526472"/>
                </a:solidFill>
                <a:latin typeface="Helvetica Neue"/>
                <a:ea typeface="Helvetica Neue"/>
                <a:cs typeface="Helvetica Neue"/>
              </a:defRPr>
            </a:lvl6pPr>
            <a:lvl7pPr>
              <a:defRPr sz="2025" b="0">
                <a:solidFill>
                  <a:srgbClr val="526472"/>
                </a:solidFill>
                <a:latin typeface="Helvetica Neue"/>
                <a:ea typeface="Helvetica Neue"/>
                <a:cs typeface="Helvetica Neue"/>
              </a:defRPr>
            </a:lvl7pPr>
            <a:lvl8pPr>
              <a:defRPr sz="2025" b="0">
                <a:solidFill>
                  <a:srgbClr val="526472"/>
                </a:solidFill>
                <a:latin typeface="Helvetica Neue"/>
                <a:ea typeface="Helvetica Neue"/>
                <a:cs typeface="Helvetica Neue"/>
              </a:defRPr>
            </a:lvl8pPr>
            <a:lvl9pPr>
              <a:defRPr sz="2025" b="0">
                <a:solidFill>
                  <a:srgbClr val="526472"/>
                </a:solidFill>
                <a:latin typeface="Helvetica Neue"/>
                <a:ea typeface="Helvetica Neue"/>
                <a:cs typeface="Helvetica Neue"/>
              </a:defRPr>
            </a:lvl9pPr>
          </a:lstStyle>
          <a:p xmlns:a="http://schemas.openxmlformats.org/drawingml/2006/main">
            <a:pPr>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LLZO is the oxide electrolyte in the previous chart.</a:t>
            </a:r>
          </a:p>
        </p:txBody>
      </p:sp>
      <p:sp>
        <p:nvSpPr>
          <p:cNvPr id="4" name="">
            <a:extLst xmlns:a="http://schemas.openxmlformats.org/drawingml/2006/main">
              <a:ext uri="{FF2B5EF4-FFF2-40B4-BE49-F238E27FC236}">
                <a16:creationId xmlns:a16="http://schemas.microsoft.com/office/drawing/2014/main" id="{397358CC-8E5C-448D-9571-8FF12B333AA8}"/>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0D298052-A7B7-493F-8219-67210F2F78D4}"/>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10</a:t>
            </a:r>
          </a:p>
        </p:txBody>
      </p:sp>
      <p:sp>
        <p:nvSpPr>
          <p:cNvPr id="6" name="">
            <a:extLst xmlns:a="http://schemas.openxmlformats.org/drawingml/2006/main">
              <a:ext uri="{FF2B5EF4-FFF2-40B4-BE49-F238E27FC236}">
                <a16:creationId xmlns:a16="http://schemas.microsoft.com/office/drawing/2014/main" id="{AD0073F6-7F50-4AFD-8D30-589103648403}"/>
              </a:ext>
            </a:extLst>
          </p:cNvPr>
          <p:cNvSpPr>
            <a:spLocks xmlns:a="http://schemas.openxmlformats.org/drawingml/2006/main" noGrp="1"/>
          </p:cNvSpPr>
          <p:nvPr/>
        </p:nvSpPr>
        <p:spPr>
          <a:xfrm xmlns:a="http://schemas.openxmlformats.org/drawingml/2006/main">
            <a:off x="533400" y="2295525"/>
            <a:ext cx="400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1">
                <a:solidFill>
                  <a:srgbClr val="007F7B"/>
                </a:solidFill>
                <a:latin typeface="Helvetica Neue"/>
                <a:ea typeface="Helvetica Neue"/>
                <a:cs typeface="Helvetica Neue"/>
              </a:defRPr>
            </a:defPPr>
            <a:lvl1pPr>
              <a:defRPr sz="5400" b="1">
                <a:solidFill>
                  <a:srgbClr val="007F7B"/>
                </a:solidFill>
                <a:latin typeface="Helvetica Neue"/>
                <a:ea typeface="Helvetica Neue"/>
                <a:cs typeface="Helvetica Neue"/>
              </a:defRPr>
            </a:lvl1pPr>
            <a:lvl2pPr>
              <a:defRPr sz="5400" b="1">
                <a:solidFill>
                  <a:srgbClr val="007F7B"/>
                </a:solidFill>
                <a:latin typeface="Helvetica Neue"/>
                <a:ea typeface="Helvetica Neue"/>
                <a:cs typeface="Helvetica Neue"/>
              </a:defRPr>
            </a:lvl2pPr>
            <a:lvl3pPr>
              <a:defRPr sz="5400" b="1">
                <a:solidFill>
                  <a:srgbClr val="007F7B"/>
                </a:solidFill>
                <a:latin typeface="Helvetica Neue"/>
                <a:ea typeface="Helvetica Neue"/>
                <a:cs typeface="Helvetica Neue"/>
              </a:defRPr>
            </a:lvl3pPr>
            <a:lvl4pPr>
              <a:defRPr sz="5400" b="1">
                <a:solidFill>
                  <a:srgbClr val="007F7B"/>
                </a:solidFill>
                <a:latin typeface="Helvetica Neue"/>
                <a:ea typeface="Helvetica Neue"/>
                <a:cs typeface="Helvetica Neue"/>
              </a:defRPr>
            </a:lvl4pPr>
            <a:lvl5pPr>
              <a:defRPr sz="5400" b="1">
                <a:solidFill>
                  <a:srgbClr val="007F7B"/>
                </a:solidFill>
                <a:latin typeface="Helvetica Neue"/>
                <a:ea typeface="Helvetica Neue"/>
                <a:cs typeface="Helvetica Neue"/>
              </a:defRPr>
            </a:lvl5pPr>
            <a:lvl6pPr>
              <a:defRPr sz="5400" b="1">
                <a:solidFill>
                  <a:srgbClr val="007F7B"/>
                </a:solidFill>
                <a:latin typeface="Helvetica Neue"/>
                <a:ea typeface="Helvetica Neue"/>
                <a:cs typeface="Helvetica Neue"/>
              </a:defRPr>
            </a:lvl6pPr>
            <a:lvl7pPr>
              <a:defRPr sz="5400" b="1">
                <a:solidFill>
                  <a:srgbClr val="007F7B"/>
                </a:solidFill>
                <a:latin typeface="Helvetica Neue"/>
                <a:ea typeface="Helvetica Neue"/>
                <a:cs typeface="Helvetica Neue"/>
              </a:defRPr>
            </a:lvl7pPr>
            <a:lvl8pPr>
              <a:defRPr sz="5400" b="1">
                <a:solidFill>
                  <a:srgbClr val="007F7B"/>
                </a:solidFill>
                <a:latin typeface="Helvetica Neue"/>
                <a:ea typeface="Helvetica Neue"/>
                <a:cs typeface="Helvetica Neue"/>
              </a:defRPr>
            </a:lvl8pPr>
            <a:lvl9pPr>
              <a:defRPr sz="5400" b="1">
                <a:solidFill>
                  <a:srgbClr val="007F7B"/>
                </a:solidFill>
                <a:latin typeface="Helvetica Neue"/>
                <a:ea typeface="Helvetica Neue"/>
                <a:cs typeface="Helvetica Neue"/>
              </a:defRPr>
            </a:lvl9pPr>
          </a:lstStyle>
          <a:p xmlns:a="http://schemas.openxmlformats.org/drawingml/2006/main">
            <a:pPr>
              <a:defRPr sz="5400" b="1">
                <a:solidFill>
                  <a:srgbClr val="007F7B"/>
                </a:solidFill>
                <a:latin typeface="Helvetica Neue"/>
                <a:ea typeface="Helvetica Neue"/>
                <a:cs typeface="Helvetica Neue"/>
              </a:defRPr>
            </a:pPr>
            <a:r>
              <a:rPr sz="5400" b="1">
                <a:solidFill>
                  <a:srgbClr val="007F7B"/>
                </a:solidFill>
                <a:latin typeface="Helvetica Neue"/>
                <a:ea typeface="Helvetica Neue"/>
                <a:cs typeface="Helvetica Neue"/>
              </a:rPr>
              <a:t>33</a:t>
            </a:r>
          </a:p>
        </p:txBody>
      </p:sp>
      <p:sp>
        <p:nvSpPr>
          <p:cNvPr id="7" name="">
            <a:extLst xmlns:a="http://schemas.openxmlformats.org/drawingml/2006/main">
              <a:ext uri="{FF2B5EF4-FFF2-40B4-BE49-F238E27FC236}">
                <a16:creationId xmlns:a16="http://schemas.microsoft.com/office/drawing/2014/main" id="{2C0800E5-9B3E-4038-882F-15FCA5783554}"/>
              </a:ext>
            </a:extLst>
          </p:cNvPr>
          <p:cNvSpPr>
            <a:spLocks xmlns:a="http://schemas.openxmlformats.org/drawingml/2006/main" noGrp="1"/>
          </p:cNvSpPr>
          <p:nvPr/>
        </p:nvSpPr>
        <p:spPr>
          <a:xfrm xmlns:a="http://schemas.openxmlformats.org/drawingml/2006/main">
            <a:off x="533400" y="3257550"/>
            <a:ext cx="4762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B3A"/>
                </a:solidFill>
                <a:latin typeface="Helvetica Neue"/>
                <a:ea typeface="Helvetica Neue"/>
                <a:cs typeface="Helvetica Neue"/>
              </a:defRPr>
            </a:defPPr>
            <a:lvl1pPr>
              <a:defRPr sz="2325" b="0">
                <a:solidFill>
                  <a:srgbClr val="172B3A"/>
                </a:solidFill>
                <a:latin typeface="Helvetica Neue"/>
                <a:ea typeface="Helvetica Neue"/>
                <a:cs typeface="Helvetica Neue"/>
              </a:defRPr>
            </a:lvl1pPr>
            <a:lvl2pPr>
              <a:defRPr sz="2325" b="0">
                <a:solidFill>
                  <a:srgbClr val="172B3A"/>
                </a:solidFill>
                <a:latin typeface="Helvetica Neue"/>
                <a:ea typeface="Helvetica Neue"/>
                <a:cs typeface="Helvetica Neue"/>
              </a:defRPr>
            </a:lvl2pPr>
            <a:lvl3pPr>
              <a:defRPr sz="2325" b="0">
                <a:solidFill>
                  <a:srgbClr val="172B3A"/>
                </a:solidFill>
                <a:latin typeface="Helvetica Neue"/>
                <a:ea typeface="Helvetica Neue"/>
                <a:cs typeface="Helvetica Neue"/>
              </a:defRPr>
            </a:lvl3pPr>
            <a:lvl4pPr>
              <a:defRPr sz="2325" b="0">
                <a:solidFill>
                  <a:srgbClr val="172B3A"/>
                </a:solidFill>
                <a:latin typeface="Helvetica Neue"/>
                <a:ea typeface="Helvetica Neue"/>
                <a:cs typeface="Helvetica Neue"/>
              </a:defRPr>
            </a:lvl4pPr>
            <a:lvl5pPr>
              <a:defRPr sz="2325" b="0">
                <a:solidFill>
                  <a:srgbClr val="172B3A"/>
                </a:solidFill>
                <a:latin typeface="Helvetica Neue"/>
                <a:ea typeface="Helvetica Neue"/>
                <a:cs typeface="Helvetica Neue"/>
              </a:defRPr>
            </a:lvl5pPr>
            <a:lvl6pPr>
              <a:defRPr sz="2325" b="0">
                <a:solidFill>
                  <a:srgbClr val="172B3A"/>
                </a:solidFill>
                <a:latin typeface="Helvetica Neue"/>
                <a:ea typeface="Helvetica Neue"/>
                <a:cs typeface="Helvetica Neue"/>
              </a:defRPr>
            </a:lvl6pPr>
            <a:lvl7pPr>
              <a:defRPr sz="2325" b="0">
                <a:solidFill>
                  <a:srgbClr val="172B3A"/>
                </a:solidFill>
                <a:latin typeface="Helvetica Neue"/>
                <a:ea typeface="Helvetica Neue"/>
                <a:cs typeface="Helvetica Neue"/>
              </a:defRPr>
            </a:lvl7pPr>
            <a:lvl8pPr>
              <a:defRPr sz="2325" b="0">
                <a:solidFill>
                  <a:srgbClr val="172B3A"/>
                </a:solidFill>
                <a:latin typeface="Helvetica Neue"/>
                <a:ea typeface="Helvetica Neue"/>
                <a:cs typeface="Helvetica Neue"/>
              </a:defRPr>
            </a:lvl8pPr>
            <a:lvl9pPr>
              <a:defRPr sz="2325" b="0">
                <a:solidFill>
                  <a:srgbClr val="172B3A"/>
                </a:solidFill>
                <a:latin typeface="Helvetica Neue"/>
                <a:ea typeface="Helvetica Neue"/>
                <a:cs typeface="Helvetica Neue"/>
              </a:defRPr>
            </a:lvl9pPr>
          </a:lstStyle>
          <a:p xmlns:a="http://schemas.openxmlformats.org/drawingml/2006/main">
            <a:pPr>
              <a:defRPr sz="2325" b="0">
                <a:solidFill>
                  <a:srgbClr val="172B3A"/>
                </a:solidFill>
                <a:latin typeface="Helvetica Neue"/>
                <a:ea typeface="Helvetica Neue"/>
                <a:cs typeface="Helvetica Neue"/>
              </a:defRPr>
            </a:pPr>
            <a:r>
              <a:rPr sz="2325" b="0">
                <a:solidFill>
                  <a:srgbClr val="172B3A"/>
                </a:solidFill>
                <a:latin typeface="Helvetica Neue"/>
                <a:ea typeface="Helvetica Neue"/>
                <a:cs typeface="Helvetica Neue"/>
              </a:rPr>
              <a:t>different chemical formulas</a:t>
            </a:r>
          </a:p>
          <a:p xmlns:a="http://schemas.openxmlformats.org/drawingml/2006/main">
            <a:pPr>
              <a:defRPr sz="2325" b="0">
                <a:solidFill>
                  <a:srgbClr val="172B3A"/>
                </a:solidFill>
                <a:latin typeface="Helvetica Neue"/>
                <a:ea typeface="Helvetica Neue"/>
                <a:cs typeface="Helvetica Neue"/>
              </a:defRPr>
            </a:pPr>
            <a:r>
              <a:rPr sz="2325" b="0">
                <a:solidFill>
                  <a:srgbClr val="172B3A"/>
                </a:solidFill>
                <a:latin typeface="Helvetica Neue"/>
                <a:ea typeface="Helvetica Neue"/>
                <a:cs typeface="Helvetica Neue"/>
              </a:rPr>
              <a:t>tried by the LLM using results</a:t>
            </a:r>
          </a:p>
        </p:txBody>
      </p:sp>
      <p:sp>
        <p:nvSpPr>
          <p:cNvPr id="8" name="">
            <a:extLst xmlns:a="http://schemas.openxmlformats.org/drawingml/2006/main">
              <a:ext uri="{FF2B5EF4-FFF2-40B4-BE49-F238E27FC236}">
                <a16:creationId xmlns:a16="http://schemas.microsoft.com/office/drawing/2014/main" id="{335B8BB7-0016-4BFF-93D4-127C075FA8E4}"/>
              </a:ext>
            </a:extLst>
          </p:cNvPr>
          <p:cNvSpPr>
            <a:spLocks xmlns:a="http://schemas.openxmlformats.org/drawingml/2006/main" noGrp="1"/>
          </p:cNvSpPr>
          <p:nvPr/>
        </p:nvSpPr>
        <p:spPr>
          <a:xfrm xmlns:a="http://schemas.openxmlformats.org/drawingml/2006/main">
            <a:off x="6562725" y="2295525"/>
            <a:ext cx="428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1">
                <a:solidFill>
                  <a:srgbClr val="8A949C"/>
                </a:solidFill>
                <a:latin typeface="Helvetica Neue"/>
                <a:ea typeface="Helvetica Neue"/>
                <a:cs typeface="Helvetica Neue"/>
              </a:defRPr>
            </a:defPPr>
            <a:lvl1pPr>
              <a:defRPr sz="5400" b="1">
                <a:solidFill>
                  <a:srgbClr val="8A949C"/>
                </a:solidFill>
                <a:latin typeface="Helvetica Neue"/>
                <a:ea typeface="Helvetica Neue"/>
                <a:cs typeface="Helvetica Neue"/>
              </a:defRPr>
            </a:lvl1pPr>
            <a:lvl2pPr>
              <a:defRPr sz="5400" b="1">
                <a:solidFill>
                  <a:srgbClr val="8A949C"/>
                </a:solidFill>
                <a:latin typeface="Helvetica Neue"/>
                <a:ea typeface="Helvetica Neue"/>
                <a:cs typeface="Helvetica Neue"/>
              </a:defRPr>
            </a:lvl2pPr>
            <a:lvl3pPr>
              <a:defRPr sz="5400" b="1">
                <a:solidFill>
                  <a:srgbClr val="8A949C"/>
                </a:solidFill>
                <a:latin typeface="Helvetica Neue"/>
                <a:ea typeface="Helvetica Neue"/>
                <a:cs typeface="Helvetica Neue"/>
              </a:defRPr>
            </a:lvl3pPr>
            <a:lvl4pPr>
              <a:defRPr sz="5400" b="1">
                <a:solidFill>
                  <a:srgbClr val="8A949C"/>
                </a:solidFill>
                <a:latin typeface="Helvetica Neue"/>
                <a:ea typeface="Helvetica Neue"/>
                <a:cs typeface="Helvetica Neue"/>
              </a:defRPr>
            </a:lvl4pPr>
            <a:lvl5pPr>
              <a:defRPr sz="5400" b="1">
                <a:solidFill>
                  <a:srgbClr val="8A949C"/>
                </a:solidFill>
                <a:latin typeface="Helvetica Neue"/>
                <a:ea typeface="Helvetica Neue"/>
                <a:cs typeface="Helvetica Neue"/>
              </a:defRPr>
            </a:lvl5pPr>
            <a:lvl6pPr>
              <a:defRPr sz="5400" b="1">
                <a:solidFill>
                  <a:srgbClr val="8A949C"/>
                </a:solidFill>
                <a:latin typeface="Helvetica Neue"/>
                <a:ea typeface="Helvetica Neue"/>
                <a:cs typeface="Helvetica Neue"/>
              </a:defRPr>
            </a:lvl6pPr>
            <a:lvl7pPr>
              <a:defRPr sz="5400" b="1">
                <a:solidFill>
                  <a:srgbClr val="8A949C"/>
                </a:solidFill>
                <a:latin typeface="Helvetica Neue"/>
                <a:ea typeface="Helvetica Neue"/>
                <a:cs typeface="Helvetica Neue"/>
              </a:defRPr>
            </a:lvl7pPr>
            <a:lvl8pPr>
              <a:defRPr sz="5400" b="1">
                <a:solidFill>
                  <a:srgbClr val="8A949C"/>
                </a:solidFill>
                <a:latin typeface="Helvetica Neue"/>
                <a:ea typeface="Helvetica Neue"/>
                <a:cs typeface="Helvetica Neue"/>
              </a:defRPr>
            </a:lvl8pPr>
            <a:lvl9pPr>
              <a:defRPr sz="5400" b="1">
                <a:solidFill>
                  <a:srgbClr val="8A949C"/>
                </a:solidFill>
                <a:latin typeface="Helvetica Neue"/>
                <a:ea typeface="Helvetica Neue"/>
                <a:cs typeface="Helvetica Neue"/>
              </a:defRPr>
            </a:lvl9pPr>
          </a:lstStyle>
          <a:p xmlns:a="http://schemas.openxmlformats.org/drawingml/2006/main">
            <a:pPr>
              <a:defRPr sz="5400" b="1">
                <a:solidFill>
                  <a:srgbClr val="8A949C"/>
                </a:solidFill>
                <a:latin typeface="Helvetica Neue"/>
                <a:ea typeface="Helvetica Neue"/>
                <a:cs typeface="Helvetica Neue"/>
              </a:defRPr>
            </a:pPr>
            <a:r>
              <a:rPr sz="5400" b="1">
                <a:solidFill>
                  <a:srgbClr val="8A949C"/>
                </a:solidFill>
                <a:latin typeface="Helvetica Neue"/>
                <a:ea typeface="Helvetica Neue"/>
                <a:cs typeface="Helvetica Neue"/>
              </a:rPr>
              <a:t>95</a:t>
            </a:r>
          </a:p>
        </p:txBody>
      </p:sp>
      <p:sp>
        <p:nvSpPr>
          <p:cNvPr id="9" name="">
            <a:extLst xmlns:a="http://schemas.openxmlformats.org/drawingml/2006/main">
              <a:ext uri="{FF2B5EF4-FFF2-40B4-BE49-F238E27FC236}">
                <a16:creationId xmlns:a16="http://schemas.microsoft.com/office/drawing/2014/main" id="{C125B8AB-F8FA-4CE8-802D-6CA4DD52848B}"/>
              </a:ext>
            </a:extLst>
          </p:cNvPr>
          <p:cNvSpPr>
            <a:spLocks xmlns:a="http://schemas.openxmlformats.org/drawingml/2006/main" noGrp="1"/>
          </p:cNvSpPr>
          <p:nvPr/>
        </p:nvSpPr>
        <p:spPr>
          <a:xfrm xmlns:a="http://schemas.openxmlformats.org/drawingml/2006/main">
            <a:off x="6562725" y="3257550"/>
            <a:ext cx="5048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B3A"/>
                </a:solidFill>
                <a:latin typeface="Helvetica Neue"/>
                <a:ea typeface="Helvetica Neue"/>
                <a:cs typeface="Helvetica Neue"/>
              </a:defRPr>
            </a:defPPr>
            <a:lvl1pPr>
              <a:defRPr sz="2325" b="0">
                <a:solidFill>
                  <a:srgbClr val="172B3A"/>
                </a:solidFill>
                <a:latin typeface="Helvetica Neue"/>
                <a:ea typeface="Helvetica Neue"/>
                <a:cs typeface="Helvetica Neue"/>
              </a:defRPr>
            </a:lvl1pPr>
            <a:lvl2pPr>
              <a:defRPr sz="2325" b="0">
                <a:solidFill>
                  <a:srgbClr val="172B3A"/>
                </a:solidFill>
                <a:latin typeface="Helvetica Neue"/>
                <a:ea typeface="Helvetica Neue"/>
                <a:cs typeface="Helvetica Neue"/>
              </a:defRPr>
            </a:lvl2pPr>
            <a:lvl3pPr>
              <a:defRPr sz="2325" b="0">
                <a:solidFill>
                  <a:srgbClr val="172B3A"/>
                </a:solidFill>
                <a:latin typeface="Helvetica Neue"/>
                <a:ea typeface="Helvetica Neue"/>
                <a:cs typeface="Helvetica Neue"/>
              </a:defRPr>
            </a:lvl3pPr>
            <a:lvl4pPr>
              <a:defRPr sz="2325" b="0">
                <a:solidFill>
                  <a:srgbClr val="172B3A"/>
                </a:solidFill>
                <a:latin typeface="Helvetica Neue"/>
                <a:ea typeface="Helvetica Neue"/>
                <a:cs typeface="Helvetica Neue"/>
              </a:defRPr>
            </a:lvl4pPr>
            <a:lvl5pPr>
              <a:defRPr sz="2325" b="0">
                <a:solidFill>
                  <a:srgbClr val="172B3A"/>
                </a:solidFill>
                <a:latin typeface="Helvetica Neue"/>
                <a:ea typeface="Helvetica Neue"/>
                <a:cs typeface="Helvetica Neue"/>
              </a:defRPr>
            </a:lvl5pPr>
            <a:lvl6pPr>
              <a:defRPr sz="2325" b="0">
                <a:solidFill>
                  <a:srgbClr val="172B3A"/>
                </a:solidFill>
                <a:latin typeface="Helvetica Neue"/>
                <a:ea typeface="Helvetica Neue"/>
                <a:cs typeface="Helvetica Neue"/>
              </a:defRPr>
            </a:lvl6pPr>
            <a:lvl7pPr>
              <a:defRPr sz="2325" b="0">
                <a:solidFill>
                  <a:srgbClr val="172B3A"/>
                </a:solidFill>
                <a:latin typeface="Helvetica Neue"/>
                <a:ea typeface="Helvetica Neue"/>
                <a:cs typeface="Helvetica Neue"/>
              </a:defRPr>
            </a:lvl7pPr>
            <a:lvl8pPr>
              <a:defRPr sz="2325" b="0">
                <a:solidFill>
                  <a:srgbClr val="172B3A"/>
                </a:solidFill>
                <a:latin typeface="Helvetica Neue"/>
                <a:ea typeface="Helvetica Neue"/>
                <a:cs typeface="Helvetica Neue"/>
              </a:defRPr>
            </a:lvl8pPr>
            <a:lvl9pPr>
              <a:defRPr sz="2325" b="0">
                <a:solidFill>
                  <a:srgbClr val="172B3A"/>
                </a:solidFill>
                <a:latin typeface="Helvetica Neue"/>
                <a:ea typeface="Helvetica Neue"/>
                <a:cs typeface="Helvetica Neue"/>
              </a:defRPr>
            </a:lvl9pPr>
          </a:lstStyle>
          <a:p xmlns:a="http://schemas.openxmlformats.org/drawingml/2006/main">
            <a:pPr>
              <a:defRPr sz="2325" b="0">
                <a:solidFill>
                  <a:srgbClr val="172B3A"/>
                </a:solidFill>
                <a:latin typeface="Helvetica Neue"/>
                <a:ea typeface="Helvetica Neue"/>
                <a:cs typeface="Helvetica Neue"/>
              </a:defRPr>
            </a:pPr>
            <a:r>
              <a:rPr sz="2325" b="0">
                <a:solidFill>
                  <a:srgbClr val="172B3A"/>
                </a:solidFill>
                <a:latin typeface="Helvetica Neue"/>
                <a:ea typeface="Helvetica Neue"/>
                <a:cs typeface="Helvetica Neue"/>
              </a:rPr>
              <a:t>different chemical formulas</a:t>
            </a:r>
          </a:p>
          <a:p xmlns:a="http://schemas.openxmlformats.org/drawingml/2006/main">
            <a:pPr>
              <a:defRPr sz="2325" b="0">
                <a:solidFill>
                  <a:srgbClr val="172B3A"/>
                </a:solidFill>
                <a:latin typeface="Helvetica Neue"/>
                <a:ea typeface="Helvetica Neue"/>
                <a:cs typeface="Helvetica Neue"/>
              </a:defRPr>
            </a:pPr>
            <a:r>
              <a:rPr sz="2325" b="0">
                <a:solidFill>
                  <a:srgbClr val="172B3A"/>
                </a:solidFill>
                <a:latin typeface="Helvetica Neue"/>
                <a:ea typeface="Helvetica Neue"/>
                <a:cs typeface="Helvetica Neue"/>
              </a:rPr>
              <a:t>tried by random search</a:t>
            </a:r>
          </a:p>
        </p:txBody>
      </p:sp>
      <p:sp>
        <p:nvSpPr>
          <p:cNvPr id="10" name="">
            <a:extLst xmlns:a="http://schemas.openxmlformats.org/drawingml/2006/main">
              <a:ext uri="{FF2B5EF4-FFF2-40B4-BE49-F238E27FC236}">
                <a16:creationId xmlns:a16="http://schemas.microsoft.com/office/drawing/2014/main" id="{EE33D6AB-49CA-43F6-A877-4B093021FD53}"/>
              </a:ext>
            </a:extLst>
          </p:cNvPr>
          <p:cNvSpPr>
            <a:spLocks xmlns:a="http://schemas.openxmlformats.org/drawingml/2006/main" noGrp="1"/>
          </p:cNvSpPr>
          <p:nvPr/>
        </p:nvSpPr>
        <p:spPr>
          <a:xfrm xmlns:a="http://schemas.openxmlformats.org/drawingml/2006/main">
            <a:off x="533400" y="4695825"/>
            <a:ext cx="1112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CA713A"/>
                </a:solidFill>
                <a:latin typeface="Helvetica Neue"/>
                <a:ea typeface="Helvetica Neue"/>
                <a:cs typeface="Helvetica Neue"/>
              </a:defRPr>
            </a:defPPr>
            <a:lvl1pPr>
              <a:defRPr sz="2550" b="1">
                <a:solidFill>
                  <a:srgbClr val="CA713A"/>
                </a:solidFill>
                <a:latin typeface="Helvetica Neue"/>
                <a:ea typeface="Helvetica Neue"/>
                <a:cs typeface="Helvetica Neue"/>
              </a:defRPr>
            </a:lvl1pPr>
            <a:lvl2pPr>
              <a:defRPr sz="2550" b="1">
                <a:solidFill>
                  <a:srgbClr val="CA713A"/>
                </a:solidFill>
                <a:latin typeface="Helvetica Neue"/>
                <a:ea typeface="Helvetica Neue"/>
                <a:cs typeface="Helvetica Neue"/>
              </a:defRPr>
            </a:lvl2pPr>
            <a:lvl3pPr>
              <a:defRPr sz="2550" b="1">
                <a:solidFill>
                  <a:srgbClr val="CA713A"/>
                </a:solidFill>
                <a:latin typeface="Helvetica Neue"/>
                <a:ea typeface="Helvetica Neue"/>
                <a:cs typeface="Helvetica Neue"/>
              </a:defRPr>
            </a:lvl3pPr>
            <a:lvl4pPr>
              <a:defRPr sz="2550" b="1">
                <a:solidFill>
                  <a:srgbClr val="CA713A"/>
                </a:solidFill>
                <a:latin typeface="Helvetica Neue"/>
                <a:ea typeface="Helvetica Neue"/>
                <a:cs typeface="Helvetica Neue"/>
              </a:defRPr>
            </a:lvl4pPr>
            <a:lvl5pPr>
              <a:defRPr sz="2550" b="1">
                <a:solidFill>
                  <a:srgbClr val="CA713A"/>
                </a:solidFill>
                <a:latin typeface="Helvetica Neue"/>
                <a:ea typeface="Helvetica Neue"/>
                <a:cs typeface="Helvetica Neue"/>
              </a:defRPr>
            </a:lvl5pPr>
            <a:lvl6pPr>
              <a:defRPr sz="2550" b="1">
                <a:solidFill>
                  <a:srgbClr val="CA713A"/>
                </a:solidFill>
                <a:latin typeface="Helvetica Neue"/>
                <a:ea typeface="Helvetica Neue"/>
                <a:cs typeface="Helvetica Neue"/>
              </a:defRPr>
            </a:lvl6pPr>
            <a:lvl7pPr>
              <a:defRPr sz="2550" b="1">
                <a:solidFill>
                  <a:srgbClr val="CA713A"/>
                </a:solidFill>
                <a:latin typeface="Helvetica Neue"/>
                <a:ea typeface="Helvetica Neue"/>
                <a:cs typeface="Helvetica Neue"/>
              </a:defRPr>
            </a:lvl7pPr>
            <a:lvl8pPr>
              <a:defRPr sz="2550" b="1">
                <a:solidFill>
                  <a:srgbClr val="CA713A"/>
                </a:solidFill>
                <a:latin typeface="Helvetica Neue"/>
                <a:ea typeface="Helvetica Neue"/>
                <a:cs typeface="Helvetica Neue"/>
              </a:defRPr>
            </a:lvl8pPr>
            <a:lvl9pPr>
              <a:defRPr sz="2550" b="1">
                <a:solidFill>
                  <a:srgbClr val="CA713A"/>
                </a:solidFill>
                <a:latin typeface="Helvetica Neue"/>
                <a:ea typeface="Helvetica Neue"/>
                <a:cs typeface="Helvetica Neue"/>
              </a:defRPr>
            </a:lvl9pPr>
          </a:lstStyle>
          <a:p xmlns:a="http://schemas.openxmlformats.org/drawingml/2006/main">
            <a:pPr>
              <a:defRPr sz="2550" b="1">
                <a:solidFill>
                  <a:srgbClr val="CA713A"/>
                </a:solidFill>
                <a:latin typeface="Helvetica Neue"/>
                <a:ea typeface="Helvetica Neue"/>
                <a:cs typeface="Helvetica Neue"/>
              </a:defRPr>
            </a:pPr>
            <a:r>
              <a:rPr sz="2550" b="1">
                <a:solidFill>
                  <a:srgbClr val="CA713A"/>
                </a:solidFill>
                <a:latin typeface="Helvetica Neue"/>
                <a:ea typeface="Helvetica Neue"/>
                <a:cs typeface="Helvetica Neue"/>
              </a:rPr>
              <a:t>10 of its 12 successful searches first passed on tries 8–10.</a:t>
            </a:r>
          </a:p>
        </p:txBody>
      </p:sp>
      <p:sp>
        <p:nvSpPr>
          <p:cNvPr id="11" name="">
            <a:extLst xmlns:a="http://schemas.openxmlformats.org/drawingml/2006/main">
              <a:ext uri="{FF2B5EF4-FFF2-40B4-BE49-F238E27FC236}">
                <a16:creationId xmlns:a16="http://schemas.microsoft.com/office/drawing/2014/main" id="{905C8722-FF28-421E-BF85-014B5BEF10E2}"/>
              </a:ext>
            </a:extLst>
          </p:cNvPr>
          <p:cNvSpPr>
            <a:spLocks xmlns:a="http://schemas.openxmlformats.org/drawingml/2006/main" noGrp="1"/>
          </p:cNvSpPr>
          <p:nvPr/>
        </p:nvSpPr>
        <p:spPr>
          <a:xfrm xmlns:a="http://schemas.openxmlformats.org/drawingml/2006/main">
            <a:off x="533400" y="5857875"/>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472"/>
                </a:solidFill>
                <a:latin typeface="Helvetica Neue"/>
                <a:ea typeface="Helvetica Neue"/>
                <a:cs typeface="Helvetica Neue"/>
              </a:defRPr>
            </a:defPPr>
            <a:lvl1pPr>
              <a:defRPr sz="1800" b="0">
                <a:solidFill>
                  <a:srgbClr val="526472"/>
                </a:solidFill>
                <a:latin typeface="Helvetica Neue"/>
                <a:ea typeface="Helvetica Neue"/>
                <a:cs typeface="Helvetica Neue"/>
              </a:defRPr>
            </a:lvl1pPr>
            <a:lvl2pPr>
              <a:defRPr sz="1800" b="0">
                <a:solidFill>
                  <a:srgbClr val="526472"/>
                </a:solidFill>
                <a:latin typeface="Helvetica Neue"/>
                <a:ea typeface="Helvetica Neue"/>
                <a:cs typeface="Helvetica Neue"/>
              </a:defRPr>
            </a:lvl2pPr>
            <a:lvl3pPr>
              <a:defRPr sz="1800" b="0">
                <a:solidFill>
                  <a:srgbClr val="526472"/>
                </a:solidFill>
                <a:latin typeface="Helvetica Neue"/>
                <a:ea typeface="Helvetica Neue"/>
                <a:cs typeface="Helvetica Neue"/>
              </a:defRPr>
            </a:lvl3pPr>
            <a:lvl4pPr>
              <a:defRPr sz="1800" b="0">
                <a:solidFill>
                  <a:srgbClr val="526472"/>
                </a:solidFill>
                <a:latin typeface="Helvetica Neue"/>
                <a:ea typeface="Helvetica Neue"/>
                <a:cs typeface="Helvetica Neue"/>
              </a:defRPr>
            </a:lvl4pPr>
            <a:lvl5pPr>
              <a:defRPr sz="1800" b="0">
                <a:solidFill>
                  <a:srgbClr val="526472"/>
                </a:solidFill>
                <a:latin typeface="Helvetica Neue"/>
                <a:ea typeface="Helvetica Neue"/>
                <a:cs typeface="Helvetica Neue"/>
              </a:defRPr>
            </a:lvl5pPr>
            <a:lvl6pPr>
              <a:defRPr sz="1800" b="0">
                <a:solidFill>
                  <a:srgbClr val="526472"/>
                </a:solidFill>
                <a:latin typeface="Helvetica Neue"/>
                <a:ea typeface="Helvetica Neue"/>
                <a:cs typeface="Helvetica Neue"/>
              </a:defRPr>
            </a:lvl6pPr>
            <a:lvl7pPr>
              <a:defRPr sz="1800" b="0">
                <a:solidFill>
                  <a:srgbClr val="526472"/>
                </a:solidFill>
                <a:latin typeface="Helvetica Neue"/>
                <a:ea typeface="Helvetica Neue"/>
                <a:cs typeface="Helvetica Neue"/>
              </a:defRPr>
            </a:lvl7pPr>
            <a:lvl8pPr>
              <a:defRPr sz="1800" b="0">
                <a:solidFill>
                  <a:srgbClr val="526472"/>
                </a:solidFill>
                <a:latin typeface="Helvetica Neue"/>
                <a:ea typeface="Helvetica Neue"/>
                <a:cs typeface="Helvetica Neue"/>
              </a:defRPr>
            </a:lvl8pPr>
            <a:lvl9pPr>
              <a:defRPr sz="1800" b="0">
                <a:solidFill>
                  <a:srgbClr val="526472"/>
                </a:solidFill>
                <a:latin typeface="Helvetica Neue"/>
                <a:ea typeface="Helvetica Neue"/>
                <a:cs typeface="Helvetica Neue"/>
              </a:defRPr>
            </a:lvl9pPr>
          </a:lstStyle>
          <a:p xmlns:a="http://schemas.openxmlformats.org/drawingml/2006/main">
            <a:pPr>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Across 300 choices per strategy. Broad exploration was more effective in this test.</a:t>
            </a:r>
          </a:p>
        </p:txBody>
      </p:sp>
    </p:spTree>
    <p:extLst>
      <p:ext uri="{BB962C8B-B14F-4D97-AF65-F5344CB8AC3E}">
        <p14:creationId xmlns:p14="http://schemas.microsoft.com/office/powerpoint/2010/main" val="1187676140"/>
      </p:ext>
    </p:extLst>
  </p:cSld>
</p:sld>
</file>

<file path=ppt/slides/slide1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9132C63-3CA3-4986-85DE-89FD8A489834}"/>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STEP 3 / PHYSICAL CALCULATIONS</a:t>
            </a:r>
          </a:p>
        </p:txBody>
      </p:sp>
      <p:sp>
        <p:nvSpPr>
          <p:cNvPr id="2" name="">
            <a:extLst xmlns:a="http://schemas.openxmlformats.org/drawingml/2006/main">
              <a:ext uri="{FF2B5EF4-FFF2-40B4-BE49-F238E27FC236}">
                <a16:creationId xmlns:a16="http://schemas.microsoft.com/office/drawing/2014/main" id="{CF0AD9F6-1ECA-4D56-9BB6-900B3B1C8BE1}"/>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Next test: predict how strongly the coating attaches</a:t>
            </a:r>
          </a:p>
        </p:txBody>
      </p:sp>
      <p:sp>
        <p:nvSpPr>
          <p:cNvPr id="3" name="">
            <a:extLst xmlns:a="http://schemas.openxmlformats.org/drawingml/2006/main">
              <a:ext uri="{FF2B5EF4-FFF2-40B4-BE49-F238E27FC236}">
                <a16:creationId xmlns:a16="http://schemas.microsoft.com/office/drawing/2014/main" id="{101B662C-7C85-4BBA-9D0D-D6ED0744F3F6}"/>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C9A8815A-B74B-4976-959B-4E04B8D81C4E}"/>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DD2CBE69-4D0A-450D-8CD5-A495C6BE3F5C}"/>
              </a:ext>
            </a:extLst>
          </p:cNvPr>
          <p:cNvSpPr>
            <a:spLocks xmlns:a="http://schemas.openxmlformats.org/drawingml/2006/main" noGrp="1"/>
          </p:cNvSpPr>
          <p:nvPr/>
        </p:nvSpPr>
        <p:spPr>
          <a:xfrm xmlns:a="http://schemas.openxmlformats.org/drawingml/2006/main">
            <a:off x="533400" y="2152650"/>
            <a:ext cx="452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72B3A"/>
                </a:solidFill>
                <a:latin typeface="Helvetica Neue"/>
                <a:ea typeface="Helvetica Neue"/>
                <a:cs typeface="Helvetica Neue"/>
              </a:defRPr>
            </a:defPPr>
            <a:lvl1pPr>
              <a:defRPr sz="2475" b="1">
                <a:solidFill>
                  <a:srgbClr val="172B3A"/>
                </a:solidFill>
                <a:latin typeface="Helvetica Neue"/>
                <a:ea typeface="Helvetica Neue"/>
                <a:cs typeface="Helvetica Neue"/>
              </a:defRPr>
            </a:lvl1pPr>
            <a:lvl2pPr>
              <a:defRPr sz="2475" b="1">
                <a:solidFill>
                  <a:srgbClr val="172B3A"/>
                </a:solidFill>
                <a:latin typeface="Helvetica Neue"/>
                <a:ea typeface="Helvetica Neue"/>
                <a:cs typeface="Helvetica Neue"/>
              </a:defRPr>
            </a:lvl2pPr>
            <a:lvl3pPr>
              <a:defRPr sz="2475" b="1">
                <a:solidFill>
                  <a:srgbClr val="172B3A"/>
                </a:solidFill>
                <a:latin typeface="Helvetica Neue"/>
                <a:ea typeface="Helvetica Neue"/>
                <a:cs typeface="Helvetica Neue"/>
              </a:defRPr>
            </a:lvl3pPr>
            <a:lvl4pPr>
              <a:defRPr sz="2475" b="1">
                <a:solidFill>
                  <a:srgbClr val="172B3A"/>
                </a:solidFill>
                <a:latin typeface="Helvetica Neue"/>
                <a:ea typeface="Helvetica Neue"/>
                <a:cs typeface="Helvetica Neue"/>
              </a:defRPr>
            </a:lvl4pPr>
            <a:lvl5pPr>
              <a:defRPr sz="2475" b="1">
                <a:solidFill>
                  <a:srgbClr val="172B3A"/>
                </a:solidFill>
                <a:latin typeface="Helvetica Neue"/>
                <a:ea typeface="Helvetica Neue"/>
                <a:cs typeface="Helvetica Neue"/>
              </a:defRPr>
            </a:lvl5pPr>
            <a:lvl6pPr>
              <a:defRPr sz="2475" b="1">
                <a:solidFill>
                  <a:srgbClr val="172B3A"/>
                </a:solidFill>
                <a:latin typeface="Helvetica Neue"/>
                <a:ea typeface="Helvetica Neue"/>
                <a:cs typeface="Helvetica Neue"/>
              </a:defRPr>
            </a:lvl6pPr>
            <a:lvl7pPr>
              <a:defRPr sz="2475" b="1">
                <a:solidFill>
                  <a:srgbClr val="172B3A"/>
                </a:solidFill>
                <a:latin typeface="Helvetica Neue"/>
                <a:ea typeface="Helvetica Neue"/>
                <a:cs typeface="Helvetica Neue"/>
              </a:defRPr>
            </a:lvl7pPr>
            <a:lvl8pPr>
              <a:defRPr sz="2475" b="1">
                <a:solidFill>
                  <a:srgbClr val="172B3A"/>
                </a:solidFill>
                <a:latin typeface="Helvetica Neue"/>
                <a:ea typeface="Helvetica Neue"/>
                <a:cs typeface="Helvetica Neue"/>
              </a:defRPr>
            </a:lvl8pPr>
            <a:lvl9pPr>
              <a:defRPr sz="2475" b="1">
                <a:solidFill>
                  <a:srgbClr val="172B3A"/>
                </a:solidFill>
                <a:latin typeface="Helvetica Neue"/>
                <a:ea typeface="Helvetica Neue"/>
                <a:cs typeface="Helvetica Neue"/>
              </a:defRPr>
            </a:lvl9pPr>
          </a:lstStyle>
          <a:p xmlns:a="http://schemas.openxmlformats.org/drawingml/2006/main">
            <a:pPr>
              <a:defRPr sz="2475" b="1">
                <a:solidFill>
                  <a:srgbClr val="172B3A"/>
                </a:solidFill>
                <a:latin typeface="Helvetica Neue"/>
                <a:ea typeface="Helvetica Neue"/>
                <a:cs typeface="Helvetica Neue"/>
              </a:defRPr>
            </a:pPr>
            <a:r>
              <a:rPr sz="2475" b="1">
                <a:solidFill>
                  <a:srgbClr val="172B3A"/>
                </a:solidFill>
                <a:latin typeface="Helvetica Neue"/>
                <a:ea typeface="Helvetica Neue"/>
                <a:cs typeface="Helvetica Neue"/>
              </a:rPr>
              <a:t>One known reference</a:t>
            </a:r>
          </a:p>
        </p:txBody>
      </p:sp>
      <p:sp>
        <p:nvSpPr>
          <p:cNvPr id="6" name="">
            <a:extLst xmlns:a="http://schemas.openxmlformats.org/drawingml/2006/main">
              <a:ext uri="{FF2B5EF4-FFF2-40B4-BE49-F238E27FC236}">
                <a16:creationId xmlns:a16="http://schemas.microsoft.com/office/drawing/2014/main" id="{88584E97-9F6D-42AD-9371-BF9BA5A5C2EB}"/>
              </a:ext>
            </a:extLst>
          </p:cNvPr>
          <p:cNvSpPr>
            <a:spLocks xmlns:a="http://schemas.openxmlformats.org/drawingml/2006/main" noGrp="1"/>
          </p:cNvSpPr>
          <p:nvPr/>
        </p:nvSpPr>
        <p:spPr>
          <a:xfrm xmlns:a="http://schemas.openxmlformats.org/drawingml/2006/main">
            <a:off x="533400" y="2857500"/>
            <a:ext cx="47625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526472"/>
                </a:solidFill>
                <a:latin typeface="Helvetica Neue"/>
                <a:ea typeface="Helvetica Neue"/>
                <a:cs typeface="Helvetica Neue"/>
              </a:defRPr>
            </a:defPPr>
            <a:lvl1pPr>
              <a:defRPr sz="2325" b="0">
                <a:solidFill>
                  <a:srgbClr val="526472"/>
                </a:solidFill>
                <a:latin typeface="Helvetica Neue"/>
                <a:ea typeface="Helvetica Neue"/>
                <a:cs typeface="Helvetica Neue"/>
              </a:defRPr>
            </a:lvl1pPr>
            <a:lvl2pPr>
              <a:defRPr sz="2325" b="0">
                <a:solidFill>
                  <a:srgbClr val="526472"/>
                </a:solidFill>
                <a:latin typeface="Helvetica Neue"/>
                <a:ea typeface="Helvetica Neue"/>
                <a:cs typeface="Helvetica Neue"/>
              </a:defRPr>
            </a:lvl2pPr>
            <a:lvl3pPr>
              <a:defRPr sz="2325" b="0">
                <a:solidFill>
                  <a:srgbClr val="526472"/>
                </a:solidFill>
                <a:latin typeface="Helvetica Neue"/>
                <a:ea typeface="Helvetica Neue"/>
                <a:cs typeface="Helvetica Neue"/>
              </a:defRPr>
            </a:lvl3pPr>
            <a:lvl4pPr>
              <a:defRPr sz="2325" b="0">
                <a:solidFill>
                  <a:srgbClr val="526472"/>
                </a:solidFill>
                <a:latin typeface="Helvetica Neue"/>
                <a:ea typeface="Helvetica Neue"/>
                <a:cs typeface="Helvetica Neue"/>
              </a:defRPr>
            </a:lvl4pPr>
            <a:lvl5pPr>
              <a:defRPr sz="2325" b="0">
                <a:solidFill>
                  <a:srgbClr val="526472"/>
                </a:solidFill>
                <a:latin typeface="Helvetica Neue"/>
                <a:ea typeface="Helvetica Neue"/>
                <a:cs typeface="Helvetica Neue"/>
              </a:defRPr>
            </a:lvl5pPr>
            <a:lvl6pPr>
              <a:defRPr sz="2325" b="0">
                <a:solidFill>
                  <a:srgbClr val="526472"/>
                </a:solidFill>
                <a:latin typeface="Helvetica Neue"/>
                <a:ea typeface="Helvetica Neue"/>
                <a:cs typeface="Helvetica Neue"/>
              </a:defRPr>
            </a:lvl6pPr>
            <a:lvl7pPr>
              <a:defRPr sz="2325" b="0">
                <a:solidFill>
                  <a:srgbClr val="526472"/>
                </a:solidFill>
                <a:latin typeface="Helvetica Neue"/>
                <a:ea typeface="Helvetica Neue"/>
                <a:cs typeface="Helvetica Neue"/>
              </a:defRPr>
            </a:lvl7pPr>
            <a:lvl8pPr>
              <a:defRPr sz="2325" b="0">
                <a:solidFill>
                  <a:srgbClr val="526472"/>
                </a:solidFill>
                <a:latin typeface="Helvetica Neue"/>
                <a:ea typeface="Helvetica Neue"/>
                <a:cs typeface="Helvetica Neue"/>
              </a:defRPr>
            </a:lvl8pPr>
            <a:lvl9pPr>
              <a:defRPr sz="2325" b="0">
                <a:solidFill>
                  <a:srgbClr val="526472"/>
                </a:solidFill>
                <a:latin typeface="Helvetica Neue"/>
                <a:ea typeface="Helvetica Neue"/>
                <a:cs typeface="Helvetica Neue"/>
              </a:defRPr>
            </a:lvl9pPr>
          </a:lstStyle>
          <a:p xmlns:a="http://schemas.openxmlformats.org/drawingml/2006/main">
            <a:pPr>
              <a:defRPr sz="2325" b="0">
                <a:solidFill>
                  <a:srgbClr val="526472"/>
                </a:solidFill>
                <a:latin typeface="Helvetica Neue"/>
                <a:ea typeface="Helvetica Neue"/>
                <a:cs typeface="Helvetica Neue"/>
              </a:defRPr>
            </a:pPr>
            <a:r>
              <a:rPr sz="2325" b="0">
                <a:solidFill>
                  <a:srgbClr val="526472"/>
                </a:solidFill>
                <a:latin typeface="Helvetica Neue"/>
                <a:ea typeface="Helvetica Neue"/>
                <a:cs typeface="Helvetica Neue"/>
              </a:rPr>
              <a:t>The LLM sees calculated results</a:t>
            </a:r>
          </a:p>
          <a:p xmlns:a="http://schemas.openxmlformats.org/drawingml/2006/main">
            <a:pPr>
              <a:defRPr sz="2325" b="0">
                <a:solidFill>
                  <a:srgbClr val="526472"/>
                </a:solidFill>
                <a:latin typeface="Helvetica Neue"/>
                <a:ea typeface="Helvetica Neue"/>
                <a:cs typeface="Helvetica Neue"/>
              </a:defRPr>
            </a:pPr>
            <a:r>
              <a:rPr sz="2325" b="0">
                <a:solidFill>
                  <a:srgbClr val="526472"/>
                </a:solidFill>
                <a:latin typeface="Helvetica Neue"/>
                <a:ea typeface="Helvetica Neue"/>
                <a:cs typeface="Helvetica Neue"/>
              </a:rPr>
              <a:t>for LiNbF₆, then chooses two</a:t>
            </a:r>
          </a:p>
          <a:p xmlns:a="http://schemas.openxmlformats.org/drawingml/2006/main">
            <a:pPr>
              <a:defRPr sz="2325" b="0">
                <a:solidFill>
                  <a:srgbClr val="526472"/>
                </a:solidFill>
                <a:latin typeface="Helvetica Neue"/>
                <a:ea typeface="Helvetica Neue"/>
                <a:cs typeface="Helvetica Neue"/>
              </a:defRPr>
            </a:pPr>
            <a:r>
              <a:rPr sz="2325" b="0">
                <a:solidFill>
                  <a:srgbClr val="526472"/>
                </a:solidFill>
                <a:latin typeface="Helvetica Neue"/>
                <a:ea typeface="Helvetica Neue"/>
                <a:cs typeface="Helvetica Neue"/>
              </a:rPr>
              <a:t>more coatings from a small menu.</a:t>
            </a:r>
          </a:p>
        </p:txBody>
      </p:sp>
      <p:sp>
        <p:nvSpPr>
          <p:cNvPr id="7" name="">
            <a:extLst xmlns:a="http://schemas.openxmlformats.org/drawingml/2006/main">
              <a:ext uri="{FF2B5EF4-FFF2-40B4-BE49-F238E27FC236}">
                <a16:creationId xmlns:a16="http://schemas.microsoft.com/office/drawing/2014/main" id="{7EAF7E76-2E7E-435A-9B23-1B9A6605A390}"/>
              </a:ext>
            </a:extLst>
          </p:cNvPr>
          <p:cNvSpPr>
            <a:spLocks xmlns:a="http://schemas.openxmlformats.org/drawingml/2006/main" noGrp="1"/>
          </p:cNvSpPr>
          <p:nvPr/>
        </p:nvSpPr>
        <p:spPr>
          <a:xfrm xmlns:a="http://schemas.openxmlformats.org/drawingml/2006/main">
            <a:off x="6562725" y="215265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72B3A"/>
                </a:solidFill>
                <a:latin typeface="Helvetica Neue"/>
                <a:ea typeface="Helvetica Neue"/>
                <a:cs typeface="Helvetica Neue"/>
              </a:defRPr>
            </a:defPPr>
            <a:lvl1pPr>
              <a:defRPr sz="2475" b="1">
                <a:solidFill>
                  <a:srgbClr val="172B3A"/>
                </a:solidFill>
                <a:latin typeface="Helvetica Neue"/>
                <a:ea typeface="Helvetica Neue"/>
                <a:cs typeface="Helvetica Neue"/>
              </a:defRPr>
            </a:lvl1pPr>
            <a:lvl2pPr>
              <a:defRPr sz="2475" b="1">
                <a:solidFill>
                  <a:srgbClr val="172B3A"/>
                </a:solidFill>
                <a:latin typeface="Helvetica Neue"/>
                <a:ea typeface="Helvetica Neue"/>
                <a:cs typeface="Helvetica Neue"/>
              </a:defRPr>
            </a:lvl2pPr>
            <a:lvl3pPr>
              <a:defRPr sz="2475" b="1">
                <a:solidFill>
                  <a:srgbClr val="172B3A"/>
                </a:solidFill>
                <a:latin typeface="Helvetica Neue"/>
                <a:ea typeface="Helvetica Neue"/>
                <a:cs typeface="Helvetica Neue"/>
              </a:defRPr>
            </a:lvl3pPr>
            <a:lvl4pPr>
              <a:defRPr sz="2475" b="1">
                <a:solidFill>
                  <a:srgbClr val="172B3A"/>
                </a:solidFill>
                <a:latin typeface="Helvetica Neue"/>
                <a:ea typeface="Helvetica Neue"/>
                <a:cs typeface="Helvetica Neue"/>
              </a:defRPr>
            </a:lvl4pPr>
            <a:lvl5pPr>
              <a:defRPr sz="2475" b="1">
                <a:solidFill>
                  <a:srgbClr val="172B3A"/>
                </a:solidFill>
                <a:latin typeface="Helvetica Neue"/>
                <a:ea typeface="Helvetica Neue"/>
                <a:cs typeface="Helvetica Neue"/>
              </a:defRPr>
            </a:lvl5pPr>
            <a:lvl6pPr>
              <a:defRPr sz="2475" b="1">
                <a:solidFill>
                  <a:srgbClr val="172B3A"/>
                </a:solidFill>
                <a:latin typeface="Helvetica Neue"/>
                <a:ea typeface="Helvetica Neue"/>
                <a:cs typeface="Helvetica Neue"/>
              </a:defRPr>
            </a:lvl6pPr>
            <a:lvl7pPr>
              <a:defRPr sz="2475" b="1">
                <a:solidFill>
                  <a:srgbClr val="172B3A"/>
                </a:solidFill>
                <a:latin typeface="Helvetica Neue"/>
                <a:ea typeface="Helvetica Neue"/>
                <a:cs typeface="Helvetica Neue"/>
              </a:defRPr>
            </a:lvl7pPr>
            <a:lvl8pPr>
              <a:defRPr sz="2475" b="1">
                <a:solidFill>
                  <a:srgbClr val="172B3A"/>
                </a:solidFill>
                <a:latin typeface="Helvetica Neue"/>
                <a:ea typeface="Helvetica Neue"/>
                <a:cs typeface="Helvetica Neue"/>
              </a:defRPr>
            </a:lvl8pPr>
            <a:lvl9pPr>
              <a:defRPr sz="2475" b="1">
                <a:solidFill>
                  <a:srgbClr val="172B3A"/>
                </a:solidFill>
                <a:latin typeface="Helvetica Neue"/>
                <a:ea typeface="Helvetica Neue"/>
                <a:cs typeface="Helvetica Neue"/>
              </a:defRPr>
            </a:lvl9pPr>
          </a:lstStyle>
          <a:p xmlns:a="http://schemas.openxmlformats.org/drawingml/2006/main">
            <a:pPr>
              <a:defRPr sz="2475" b="1">
                <a:solidFill>
                  <a:srgbClr val="172B3A"/>
                </a:solidFill>
                <a:latin typeface="Helvetica Neue"/>
                <a:ea typeface="Helvetica Neue"/>
                <a:cs typeface="Helvetica Neue"/>
              </a:defRPr>
            </a:pPr>
            <a:r>
              <a:rPr sz="2475" b="1">
                <a:solidFill>
                  <a:srgbClr val="172B3A"/>
                </a:solidFill>
                <a:latin typeface="Helvetica Neue"/>
                <a:ea typeface="Helvetica Neue"/>
                <a:cs typeface="Helvetica Neue"/>
              </a:rPr>
              <a:t>A prediction before the test</a:t>
            </a:r>
          </a:p>
        </p:txBody>
      </p:sp>
      <p:sp>
        <p:nvSpPr>
          <p:cNvPr id="8" name="">
            <a:extLst xmlns:a="http://schemas.openxmlformats.org/drawingml/2006/main">
              <a:ext uri="{FF2B5EF4-FFF2-40B4-BE49-F238E27FC236}">
                <a16:creationId xmlns:a16="http://schemas.microsoft.com/office/drawing/2014/main" id="{BF79D4A3-F794-42AC-83E0-927D38225964}"/>
              </a:ext>
            </a:extLst>
          </p:cNvPr>
          <p:cNvSpPr>
            <a:spLocks xmlns:a="http://schemas.openxmlformats.org/drawingml/2006/main" noGrp="1"/>
          </p:cNvSpPr>
          <p:nvPr/>
        </p:nvSpPr>
        <p:spPr>
          <a:xfrm xmlns:a="http://schemas.openxmlformats.org/drawingml/2006/main">
            <a:off x="6562725" y="2857500"/>
            <a:ext cx="509587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526472"/>
                </a:solidFill>
                <a:latin typeface="Helvetica Neue"/>
                <a:ea typeface="Helvetica Neue"/>
                <a:cs typeface="Helvetica Neue"/>
              </a:defRPr>
            </a:defPPr>
            <a:lvl1pPr>
              <a:defRPr sz="2325" b="0">
                <a:solidFill>
                  <a:srgbClr val="526472"/>
                </a:solidFill>
                <a:latin typeface="Helvetica Neue"/>
                <a:ea typeface="Helvetica Neue"/>
                <a:cs typeface="Helvetica Neue"/>
              </a:defRPr>
            </a:lvl1pPr>
            <a:lvl2pPr>
              <a:defRPr sz="2325" b="0">
                <a:solidFill>
                  <a:srgbClr val="526472"/>
                </a:solidFill>
                <a:latin typeface="Helvetica Neue"/>
                <a:ea typeface="Helvetica Neue"/>
                <a:cs typeface="Helvetica Neue"/>
              </a:defRPr>
            </a:lvl2pPr>
            <a:lvl3pPr>
              <a:defRPr sz="2325" b="0">
                <a:solidFill>
                  <a:srgbClr val="526472"/>
                </a:solidFill>
                <a:latin typeface="Helvetica Neue"/>
                <a:ea typeface="Helvetica Neue"/>
                <a:cs typeface="Helvetica Neue"/>
              </a:defRPr>
            </a:lvl3pPr>
            <a:lvl4pPr>
              <a:defRPr sz="2325" b="0">
                <a:solidFill>
                  <a:srgbClr val="526472"/>
                </a:solidFill>
                <a:latin typeface="Helvetica Neue"/>
                <a:ea typeface="Helvetica Neue"/>
                <a:cs typeface="Helvetica Neue"/>
              </a:defRPr>
            </a:lvl4pPr>
            <a:lvl5pPr>
              <a:defRPr sz="2325" b="0">
                <a:solidFill>
                  <a:srgbClr val="526472"/>
                </a:solidFill>
                <a:latin typeface="Helvetica Neue"/>
                <a:ea typeface="Helvetica Neue"/>
                <a:cs typeface="Helvetica Neue"/>
              </a:defRPr>
            </a:lvl5pPr>
            <a:lvl6pPr>
              <a:defRPr sz="2325" b="0">
                <a:solidFill>
                  <a:srgbClr val="526472"/>
                </a:solidFill>
                <a:latin typeface="Helvetica Neue"/>
                <a:ea typeface="Helvetica Neue"/>
                <a:cs typeface="Helvetica Neue"/>
              </a:defRPr>
            </a:lvl6pPr>
            <a:lvl7pPr>
              <a:defRPr sz="2325" b="0">
                <a:solidFill>
                  <a:srgbClr val="526472"/>
                </a:solidFill>
                <a:latin typeface="Helvetica Neue"/>
                <a:ea typeface="Helvetica Neue"/>
                <a:cs typeface="Helvetica Neue"/>
              </a:defRPr>
            </a:lvl7pPr>
            <a:lvl8pPr>
              <a:defRPr sz="2325" b="0">
                <a:solidFill>
                  <a:srgbClr val="526472"/>
                </a:solidFill>
                <a:latin typeface="Helvetica Neue"/>
                <a:ea typeface="Helvetica Neue"/>
                <a:cs typeface="Helvetica Neue"/>
              </a:defRPr>
            </a:lvl8pPr>
            <a:lvl9pPr>
              <a:defRPr sz="2325" b="0">
                <a:solidFill>
                  <a:srgbClr val="526472"/>
                </a:solidFill>
                <a:latin typeface="Helvetica Neue"/>
                <a:ea typeface="Helvetica Neue"/>
                <a:cs typeface="Helvetica Neue"/>
              </a:defRPr>
            </a:lvl9pPr>
          </a:lstStyle>
          <a:p xmlns:a="http://schemas.openxmlformats.org/drawingml/2006/main">
            <a:pPr>
              <a:defRPr sz="2325" b="0">
                <a:solidFill>
                  <a:srgbClr val="526472"/>
                </a:solidFill>
                <a:latin typeface="Helvetica Neue"/>
                <a:ea typeface="Helvetica Neue"/>
                <a:cs typeface="Helvetica Neue"/>
              </a:defRPr>
            </a:pPr>
            <a:r>
              <a:rPr sz="2325" b="0">
                <a:solidFill>
                  <a:srgbClr val="526472"/>
                </a:solidFill>
                <a:latin typeface="Helvetica Neue"/>
                <a:ea typeface="Helvetica Neue"/>
                <a:cs typeface="Helvetica Neue"/>
              </a:rPr>
              <a:t>For each choice, it predicts</a:t>
            </a:r>
          </a:p>
          <a:p xmlns:a="http://schemas.openxmlformats.org/drawingml/2006/main">
            <a:pPr>
              <a:defRPr sz="2325" b="0">
                <a:solidFill>
                  <a:srgbClr val="526472"/>
                </a:solidFill>
                <a:latin typeface="Helvetica Neue"/>
                <a:ea typeface="Helvetica Neue"/>
                <a:cs typeface="Helvetica Neue"/>
              </a:defRPr>
            </a:pPr>
            <a:r>
              <a:rPr sz="2325" b="0">
                <a:solidFill>
                  <a:srgbClr val="526472"/>
                </a:solidFill>
                <a:latin typeface="Helvetica Neue"/>
                <a:ea typeface="Helvetica Neue"/>
                <a:cs typeface="Helvetica Neue"/>
              </a:rPr>
              <a:t>adhesion at both contacts</a:t>
            </a:r>
          </a:p>
          <a:p xmlns:a="http://schemas.openxmlformats.org/drawingml/2006/main">
            <a:pPr>
              <a:defRPr sz="2325" b="0">
                <a:solidFill>
                  <a:srgbClr val="526472"/>
                </a:solidFill>
                <a:latin typeface="Helvetica Neue"/>
                <a:ea typeface="Helvetica Neue"/>
                <a:cs typeface="Helvetica Neue"/>
              </a:defRPr>
            </a:pPr>
            <a:r>
              <a:rPr sz="2325" b="0">
                <a:solidFill>
                  <a:srgbClr val="526472"/>
                </a:solidFill>
                <a:latin typeface="Helvetica Neue"/>
                <a:ea typeface="Helvetica Neue"/>
                <a:cs typeface="Helvetica Neue"/>
              </a:rPr>
              <a:t>before the new results exist.</a:t>
            </a:r>
          </a:p>
        </p:txBody>
      </p:sp>
      <p:sp>
        <p:nvSpPr>
          <p:cNvPr id="9" name="">
            <a:extLst xmlns:a="http://schemas.openxmlformats.org/drawingml/2006/main">
              <a:ext uri="{FF2B5EF4-FFF2-40B4-BE49-F238E27FC236}">
                <a16:creationId xmlns:a16="http://schemas.microsoft.com/office/drawing/2014/main" id="{05E140D9-0FDC-4BAC-944D-BF993D3743FB}"/>
              </a:ext>
            </a:extLst>
          </p:cNvPr>
          <p:cNvSpPr>
            <a:spLocks xmlns:a="http://schemas.openxmlformats.org/drawingml/2006/main" noGrp="1"/>
          </p:cNvSpPr>
          <p:nvPr/>
        </p:nvSpPr>
        <p:spPr>
          <a:xfrm xmlns:a="http://schemas.openxmlformats.org/drawingml/2006/main">
            <a:off x="533400" y="472440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7F7B"/>
                </a:solidFill>
                <a:latin typeface="Helvetica Neue"/>
                <a:ea typeface="Helvetica Neue"/>
                <a:cs typeface="Helvetica Neue"/>
              </a:defRPr>
            </a:defPPr>
            <a:lvl1pPr>
              <a:defRPr sz="2250" b="1">
                <a:solidFill>
                  <a:srgbClr val="007F7B"/>
                </a:solidFill>
                <a:latin typeface="Helvetica Neue"/>
                <a:ea typeface="Helvetica Neue"/>
                <a:cs typeface="Helvetica Neue"/>
              </a:defRPr>
            </a:lvl1pPr>
            <a:lvl2pPr>
              <a:defRPr sz="2250" b="1">
                <a:solidFill>
                  <a:srgbClr val="007F7B"/>
                </a:solidFill>
                <a:latin typeface="Helvetica Neue"/>
                <a:ea typeface="Helvetica Neue"/>
                <a:cs typeface="Helvetica Neue"/>
              </a:defRPr>
            </a:lvl2pPr>
            <a:lvl3pPr>
              <a:defRPr sz="2250" b="1">
                <a:solidFill>
                  <a:srgbClr val="007F7B"/>
                </a:solidFill>
                <a:latin typeface="Helvetica Neue"/>
                <a:ea typeface="Helvetica Neue"/>
                <a:cs typeface="Helvetica Neue"/>
              </a:defRPr>
            </a:lvl3pPr>
            <a:lvl4pPr>
              <a:defRPr sz="2250" b="1">
                <a:solidFill>
                  <a:srgbClr val="007F7B"/>
                </a:solidFill>
                <a:latin typeface="Helvetica Neue"/>
                <a:ea typeface="Helvetica Neue"/>
                <a:cs typeface="Helvetica Neue"/>
              </a:defRPr>
            </a:lvl4pPr>
            <a:lvl5pPr>
              <a:defRPr sz="2250" b="1">
                <a:solidFill>
                  <a:srgbClr val="007F7B"/>
                </a:solidFill>
                <a:latin typeface="Helvetica Neue"/>
                <a:ea typeface="Helvetica Neue"/>
                <a:cs typeface="Helvetica Neue"/>
              </a:defRPr>
            </a:lvl5pPr>
            <a:lvl6pPr>
              <a:defRPr sz="2250" b="1">
                <a:solidFill>
                  <a:srgbClr val="007F7B"/>
                </a:solidFill>
                <a:latin typeface="Helvetica Neue"/>
                <a:ea typeface="Helvetica Neue"/>
                <a:cs typeface="Helvetica Neue"/>
              </a:defRPr>
            </a:lvl6pPr>
            <a:lvl7pPr>
              <a:defRPr sz="2250" b="1">
                <a:solidFill>
                  <a:srgbClr val="007F7B"/>
                </a:solidFill>
                <a:latin typeface="Helvetica Neue"/>
                <a:ea typeface="Helvetica Neue"/>
                <a:cs typeface="Helvetica Neue"/>
              </a:defRPr>
            </a:lvl7pPr>
            <a:lvl8pPr>
              <a:defRPr sz="2250" b="1">
                <a:solidFill>
                  <a:srgbClr val="007F7B"/>
                </a:solidFill>
                <a:latin typeface="Helvetica Neue"/>
                <a:ea typeface="Helvetica Neue"/>
                <a:cs typeface="Helvetica Neue"/>
              </a:defRPr>
            </a:lvl8pPr>
            <a:lvl9pPr>
              <a:defRPr sz="2250" b="1">
                <a:solidFill>
                  <a:srgbClr val="007F7B"/>
                </a:solidFill>
                <a:latin typeface="Helvetica Neue"/>
                <a:ea typeface="Helvetica Neue"/>
                <a:cs typeface="Helvetica Neue"/>
              </a:defRPr>
            </a:lvl9pPr>
          </a:lstStyle>
          <a:p xmlns:a="http://schemas.openxmlformats.org/drawingml/2006/main">
            <a:pPr>
              <a:defRPr sz="2250" b="1">
                <a:solidFill>
                  <a:srgbClr val="007F7B"/>
                </a:solidFill>
                <a:latin typeface="Helvetica Neue"/>
                <a:ea typeface="Helvetica Neue"/>
                <a:cs typeface="Helvetica Neue"/>
              </a:defRPr>
            </a:pPr>
            <a:r>
              <a:rPr sz="2250" b="1">
                <a:solidFill>
                  <a:srgbClr val="007F7B"/>
                </a:solidFill>
                <a:latin typeface="Helvetica Neue"/>
                <a:ea typeface="Helvetica Neue"/>
                <a:cs typeface="Helvetica Neue"/>
              </a:rPr>
              <a:t>Adhesion = energy needed to separate a contact in this model.</a:t>
            </a:r>
          </a:p>
          <a:p xmlns:a="http://schemas.openxmlformats.org/drawingml/2006/main">
            <a:pPr>
              <a:defRPr sz="2250" b="1">
                <a:solidFill>
                  <a:srgbClr val="007F7B"/>
                </a:solidFill>
                <a:latin typeface="Helvetica Neue"/>
                <a:ea typeface="Helvetica Neue"/>
                <a:cs typeface="Helvetica Neue"/>
              </a:defRPr>
            </a:pPr>
            <a:r>
              <a:rPr sz="2250" b="1">
                <a:solidFill>
                  <a:srgbClr val="007F7B"/>
                </a:solidFill>
                <a:latin typeface="Helvetica Neue"/>
                <a:ea typeface="Helvetica Neue"/>
                <a:cs typeface="Helvetica Neue"/>
              </a:rPr>
              <a:t>Higher values mean stronger attachment under the tested conditions.</a:t>
            </a:r>
          </a:p>
        </p:txBody>
      </p:sp>
      <p:sp>
        <p:nvSpPr>
          <p:cNvPr id="10" name="">
            <a:extLst xmlns:a="http://schemas.openxmlformats.org/drawingml/2006/main">
              <a:ext uri="{FF2B5EF4-FFF2-40B4-BE49-F238E27FC236}">
                <a16:creationId xmlns:a16="http://schemas.microsoft.com/office/drawing/2014/main" id="{E4F023CF-F53F-46A0-8594-9E1C4C6F6122}"/>
              </a:ext>
            </a:extLst>
          </p:cNvPr>
          <p:cNvSpPr>
            <a:spLocks xmlns:a="http://schemas.openxmlformats.org/drawingml/2006/main" noGrp="1"/>
          </p:cNvSpPr>
          <p:nvPr/>
        </p:nvSpPr>
        <p:spPr>
          <a:xfrm xmlns:a="http://schemas.openxmlformats.org/drawingml/2006/main">
            <a:off x="533400" y="6019800"/>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472"/>
                </a:solidFill>
                <a:latin typeface="Helvetica Neue"/>
                <a:ea typeface="Helvetica Neue"/>
                <a:cs typeface="Helvetica Neue"/>
              </a:defRPr>
            </a:defPPr>
            <a:lvl1pPr>
              <a:defRPr sz="1800" b="0">
                <a:solidFill>
                  <a:srgbClr val="526472"/>
                </a:solidFill>
                <a:latin typeface="Helvetica Neue"/>
                <a:ea typeface="Helvetica Neue"/>
                <a:cs typeface="Helvetica Neue"/>
              </a:defRPr>
            </a:lvl1pPr>
            <a:lvl2pPr>
              <a:defRPr sz="1800" b="0">
                <a:solidFill>
                  <a:srgbClr val="526472"/>
                </a:solidFill>
                <a:latin typeface="Helvetica Neue"/>
                <a:ea typeface="Helvetica Neue"/>
                <a:cs typeface="Helvetica Neue"/>
              </a:defRPr>
            </a:lvl2pPr>
            <a:lvl3pPr>
              <a:defRPr sz="1800" b="0">
                <a:solidFill>
                  <a:srgbClr val="526472"/>
                </a:solidFill>
                <a:latin typeface="Helvetica Neue"/>
                <a:ea typeface="Helvetica Neue"/>
                <a:cs typeface="Helvetica Neue"/>
              </a:defRPr>
            </a:lvl3pPr>
            <a:lvl4pPr>
              <a:defRPr sz="1800" b="0">
                <a:solidFill>
                  <a:srgbClr val="526472"/>
                </a:solidFill>
                <a:latin typeface="Helvetica Neue"/>
                <a:ea typeface="Helvetica Neue"/>
                <a:cs typeface="Helvetica Neue"/>
              </a:defRPr>
            </a:lvl4pPr>
            <a:lvl5pPr>
              <a:defRPr sz="1800" b="0">
                <a:solidFill>
                  <a:srgbClr val="526472"/>
                </a:solidFill>
                <a:latin typeface="Helvetica Neue"/>
                <a:ea typeface="Helvetica Neue"/>
                <a:cs typeface="Helvetica Neue"/>
              </a:defRPr>
            </a:lvl5pPr>
            <a:lvl6pPr>
              <a:defRPr sz="1800" b="0">
                <a:solidFill>
                  <a:srgbClr val="526472"/>
                </a:solidFill>
                <a:latin typeface="Helvetica Neue"/>
                <a:ea typeface="Helvetica Neue"/>
                <a:cs typeface="Helvetica Neue"/>
              </a:defRPr>
            </a:lvl6pPr>
            <a:lvl7pPr>
              <a:defRPr sz="1800" b="0">
                <a:solidFill>
                  <a:srgbClr val="526472"/>
                </a:solidFill>
                <a:latin typeface="Helvetica Neue"/>
                <a:ea typeface="Helvetica Neue"/>
                <a:cs typeface="Helvetica Neue"/>
              </a:defRPr>
            </a:lvl7pPr>
            <a:lvl8pPr>
              <a:defRPr sz="1800" b="0">
                <a:solidFill>
                  <a:srgbClr val="526472"/>
                </a:solidFill>
                <a:latin typeface="Helvetica Neue"/>
                <a:ea typeface="Helvetica Neue"/>
                <a:cs typeface="Helvetica Neue"/>
              </a:defRPr>
            </a:lvl8pPr>
            <a:lvl9pPr>
              <a:defRPr sz="1800" b="0">
                <a:solidFill>
                  <a:srgbClr val="526472"/>
                </a:solidFill>
                <a:latin typeface="Helvetica Neue"/>
                <a:ea typeface="Helvetica Neue"/>
                <a:cs typeface="Helvetica Neue"/>
              </a:defRPr>
            </a:lvl9pPr>
          </a:lstStyle>
          <a:p xmlns:a="http://schemas.openxmlformats.org/drawingml/2006/main">
            <a:pPr>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PET-MAD simulates the atoms. These results have not been measured in a real battery.</a:t>
            </a:r>
          </a:p>
        </p:txBody>
      </p:sp>
    </p:spTree>
    <p:extLst>
      <p:ext uri="{BB962C8B-B14F-4D97-AF65-F5344CB8AC3E}">
        <p14:creationId xmlns:p14="http://schemas.microsoft.com/office/powerpoint/2010/main" val="1107248138"/>
      </p:ext>
    </p:extLst>
  </p:cSld>
</p:sld>
</file>

<file path=ppt/slides/slide1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C3EAF9-6398-49B4-ADC1-5697B435695B}"/>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STEP 3 / PREDICTION CHECKED</a:t>
            </a:r>
          </a:p>
        </p:txBody>
      </p:sp>
      <p:sp>
        <p:nvSpPr>
          <p:cNvPr id="2" name="">
            <a:extLst xmlns:a="http://schemas.openxmlformats.org/drawingml/2006/main">
              <a:ext uri="{FF2B5EF4-FFF2-40B4-BE49-F238E27FC236}">
                <a16:creationId xmlns:a16="http://schemas.microsoft.com/office/drawing/2014/main" id="{8D372829-1687-4500-B48A-B6CB4DF64BDF}"/>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First choice: the forecast worked for LiTaF₆</a:t>
            </a:r>
          </a:p>
        </p:txBody>
      </p:sp>
      <p:sp>
        <p:nvSpPr>
          <p:cNvPr id="3" name="">
            <a:extLst xmlns:a="http://schemas.openxmlformats.org/drawingml/2006/main">
              <a:ext uri="{FF2B5EF4-FFF2-40B4-BE49-F238E27FC236}">
                <a16:creationId xmlns:a16="http://schemas.microsoft.com/office/drawing/2014/main" id="{E600EE0A-1D3B-40F2-94ED-8059D1B301DF}"/>
              </a:ext>
            </a:extLst>
          </p:cNvPr>
          <p:cNvSpPr>
            <a:spLocks xmlns:a="http://schemas.openxmlformats.org/drawingml/2006/main" noGrp="1"/>
          </p:cNvSpPr>
          <p:nvPr/>
        </p:nvSpPr>
        <p:spPr>
          <a:xfrm xmlns:a="http://schemas.openxmlformats.org/drawingml/2006/main">
            <a:off x="533400" y="147637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defRPr sz="2025" b="0">
                <a:solidFill>
                  <a:srgbClr val="526472"/>
                </a:solidFill>
                <a:latin typeface="Helvetica Neue"/>
                <a:ea typeface="Helvetica Neue"/>
                <a:cs typeface="Helvetica Neue"/>
              </a:defRPr>
            </a:lvl1pPr>
            <a:lvl2pPr>
              <a:defRPr sz="2025" b="0">
                <a:solidFill>
                  <a:srgbClr val="526472"/>
                </a:solidFill>
                <a:latin typeface="Helvetica Neue"/>
                <a:ea typeface="Helvetica Neue"/>
                <a:cs typeface="Helvetica Neue"/>
              </a:defRPr>
            </a:lvl2pPr>
            <a:lvl3pPr>
              <a:defRPr sz="2025" b="0">
                <a:solidFill>
                  <a:srgbClr val="526472"/>
                </a:solidFill>
                <a:latin typeface="Helvetica Neue"/>
                <a:ea typeface="Helvetica Neue"/>
                <a:cs typeface="Helvetica Neue"/>
              </a:defRPr>
            </a:lvl3pPr>
            <a:lvl4pPr>
              <a:defRPr sz="2025" b="0">
                <a:solidFill>
                  <a:srgbClr val="526472"/>
                </a:solidFill>
                <a:latin typeface="Helvetica Neue"/>
                <a:ea typeface="Helvetica Neue"/>
                <a:cs typeface="Helvetica Neue"/>
              </a:defRPr>
            </a:lvl4pPr>
            <a:lvl5pPr>
              <a:defRPr sz="2025" b="0">
                <a:solidFill>
                  <a:srgbClr val="526472"/>
                </a:solidFill>
                <a:latin typeface="Helvetica Neue"/>
                <a:ea typeface="Helvetica Neue"/>
                <a:cs typeface="Helvetica Neue"/>
              </a:defRPr>
            </a:lvl5pPr>
            <a:lvl6pPr>
              <a:defRPr sz="2025" b="0">
                <a:solidFill>
                  <a:srgbClr val="526472"/>
                </a:solidFill>
                <a:latin typeface="Helvetica Neue"/>
                <a:ea typeface="Helvetica Neue"/>
                <a:cs typeface="Helvetica Neue"/>
              </a:defRPr>
            </a:lvl6pPr>
            <a:lvl7pPr>
              <a:defRPr sz="2025" b="0">
                <a:solidFill>
                  <a:srgbClr val="526472"/>
                </a:solidFill>
                <a:latin typeface="Helvetica Neue"/>
                <a:ea typeface="Helvetica Neue"/>
                <a:cs typeface="Helvetica Neue"/>
              </a:defRPr>
            </a:lvl7pPr>
            <a:lvl8pPr>
              <a:defRPr sz="2025" b="0">
                <a:solidFill>
                  <a:srgbClr val="526472"/>
                </a:solidFill>
                <a:latin typeface="Helvetica Neue"/>
                <a:ea typeface="Helvetica Neue"/>
                <a:cs typeface="Helvetica Neue"/>
              </a:defRPr>
            </a:lvl8pPr>
            <a:lvl9pPr>
              <a:defRPr sz="2025" b="0">
                <a:solidFill>
                  <a:srgbClr val="526472"/>
                </a:solidFill>
                <a:latin typeface="Helvetica Neue"/>
                <a:ea typeface="Helvetica Neue"/>
                <a:cs typeface="Helvetica Neue"/>
              </a:defRPr>
            </a:lvl9pPr>
          </a:lstStyle>
          <a:p xmlns:a="http://schemas.openxmlformats.org/drawingml/2006/main">
            <a:pPr>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Its idea: replace niobium (Nb) with chemically related tantalum (Ta).</a:t>
            </a:r>
          </a:p>
        </p:txBody>
      </p:sp>
      <p:sp>
        <p:nvSpPr>
          <p:cNvPr id="4" name="">
            <a:extLst xmlns:a="http://schemas.openxmlformats.org/drawingml/2006/main">
              <a:ext uri="{FF2B5EF4-FFF2-40B4-BE49-F238E27FC236}">
                <a16:creationId xmlns:a16="http://schemas.microsoft.com/office/drawing/2014/main" id="{171E6BC1-2591-4000-87C4-E3D7CE39126B}"/>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AEA0D7AE-1DC8-43FF-B894-390156D999FF}"/>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12</a:t>
            </a:r>
          </a:p>
        </p:txBody>
      </p:sp>
      <p:graphicFrame>
        <p:nvGraphicFramePr>
          <p:cNvPr id="6" name="">
            <a:extLst xmlns:a="http://schemas.openxmlformats.org/drawingml/2006/main">
              <a:ext uri="{FF2B5EF4-FFF2-40B4-BE49-F238E27FC236}">
                <a16:creationId xmlns:a16="http://schemas.microsoft.com/office/drawing/2014/main" id="{EE15762E-93B1-481E-847B-16789DEF6A11}"/>
              </a:ext>
            </a:extLst>
          </p:cNvPr>
          <p:cNvGraphicFramePr/>
          <p:nvPr/>
        </p:nvGraphicFramePr>
        <p:xfrm>
          <a:off xmlns:a="http://schemas.openxmlformats.org/drawingml/2006/main" x="533400" y="2257425"/>
          <a:ext xmlns:a="http://schemas.openxmlformats.org/drawingml/2006/main" cx="11125200" cy="2343150"/>
        </p:xfrm>
        <a:graphic xmlns:a="http://schemas.openxmlformats.org/drawingml/2006/main">
          <a:graphicData uri="http://schemas.openxmlformats.org/drawingml/2006/table">
            <a:tbl>
              <a:tblPr firstRow="0" bandRow="0"/>
              <a:tblGrid>
                <a:gridCol w="4095750"/>
                <a:gridCol w="2857500"/>
                <a:gridCol w="4171950"/>
              </a:tblGrid>
              <a:tr h="781050">
                <a:tc>
                  <a:txBody>
                    <a:bodyPr lIns="0" tIns="0" rIns="0" bIns="0">
                      <a:noAutofit/>
                    </a:bodyPr>
                    <a:lstStyle/>
                    <a:p>
                      <a:r>
                        <a:rPr sz="1875" b="1">
                          <a:solidFill>
                            <a:srgbClr val="FFFFFF"/>
                          </a:solidFill>
                          <a:latin typeface="Helvetica Neue"/>
                          <a:ea typeface="Helvetica Neue"/>
                          <a:cs typeface="Helvetica Neue"/>
                        </a:rPr>
                        <a:t>Contact with the coating</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75" b="1">
                          <a:solidFill>
                            <a:srgbClr val="FFFFFF"/>
                          </a:solidFill>
                          <a:latin typeface="Helvetica Neue"/>
                          <a:ea typeface="Helvetica Neue"/>
                          <a:cs typeface="Helvetica Neue"/>
                        </a:rPr>
                        <a:t>LLM forecast</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75" b="1">
                          <a:solidFill>
                            <a:srgbClr val="FFFFFF"/>
                          </a:solidFill>
                          <a:latin typeface="Helvetica Neue"/>
                          <a:ea typeface="Helvetica Neue"/>
                          <a:cs typeface="Helvetica Neue"/>
                        </a:rPr>
                        <a:t>Calculated adhesion</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781050">
                <a:tc>
                  <a:txBody>
                    <a:bodyPr lIns="0" tIns="0" rIns="0" bIns="0">
                      <a:noAutofit/>
                    </a:bodyPr>
                    <a:lstStyle/>
                    <a:p>
                      <a:r>
                        <a:rPr sz="2250" b="0">
                          <a:solidFill>
                            <a:srgbClr val="172B3A"/>
                          </a:solidFill>
                          <a:latin typeface="Helvetica Neue"/>
                          <a:ea typeface="Helvetica Neue"/>
                          <a:cs typeface="Helvetica Neue"/>
                        </a:rPr>
                        <a:t>Cathode side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250" b="0">
                          <a:solidFill>
                            <a:srgbClr val="172B3A"/>
                          </a:solidFill>
                          <a:latin typeface="Helvetica Neue"/>
                          <a:ea typeface="Helvetica Neue"/>
                          <a:cs typeface="Helvetica Neue"/>
                        </a:rPr>
                        <a:t>3.2–3.9</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250" b="0">
                          <a:solidFill>
                            <a:srgbClr val="172B3A"/>
                          </a:solidFill>
                          <a:latin typeface="Helvetica Neue"/>
                          <a:ea typeface="Helvetica Neue"/>
                          <a:cs typeface="Helvetica Neue"/>
                        </a:rPr>
                        <a:t>3.339 (within range)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781050">
                <a:tc>
                  <a:txBody>
                    <a:bodyPr lIns="0" tIns="0" rIns="0" bIns="0">
                      <a:noAutofit/>
                    </a:bodyPr>
                    <a:lstStyle/>
                    <a:p>
                      <a:r>
                        <a:rPr sz="2250" b="0">
                          <a:solidFill>
                            <a:srgbClr val="172B3A"/>
                          </a:solidFill>
                          <a:latin typeface="Helvetica Neue"/>
                          <a:ea typeface="Helvetica Neue"/>
                          <a:cs typeface="Helvetica Neue"/>
                        </a:rPr>
                        <a:t>Electrolyte side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250" b="0">
                          <a:solidFill>
                            <a:srgbClr val="172B3A"/>
                          </a:solidFill>
                          <a:latin typeface="Helvetica Neue"/>
                          <a:ea typeface="Helvetica Neue"/>
                          <a:cs typeface="Helvetica Neue"/>
                        </a:rPr>
                        <a:t>1.4–1.9</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250" b="0">
                          <a:solidFill>
                            <a:srgbClr val="172B3A"/>
                          </a:solidFill>
                          <a:latin typeface="Helvetica Neue"/>
                          <a:ea typeface="Helvetica Neue"/>
                          <a:cs typeface="Helvetica Neue"/>
                        </a:rPr>
                        <a:t>1.577 (within range)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CC84711C-D659-429E-8AB0-2391FABE9F02}"/>
              </a:ext>
            </a:extLst>
          </p:cNvPr>
          <p:cNvSpPr>
            <a:spLocks xmlns:a="http://schemas.openxmlformats.org/drawingml/2006/main" noGrp="1"/>
          </p:cNvSpPr>
          <p:nvPr/>
        </p:nvSpPr>
        <p:spPr>
          <a:xfrm xmlns:a="http://schemas.openxmlformats.org/drawingml/2006/main">
            <a:off x="533400" y="5095875"/>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07F7B"/>
                </a:solidFill>
                <a:latin typeface="Helvetica Neue"/>
                <a:ea typeface="Helvetica Neue"/>
                <a:cs typeface="Helvetica Neue"/>
              </a:defRPr>
            </a:defPPr>
            <a:lvl1pPr>
              <a:defRPr sz="2550" b="1">
                <a:solidFill>
                  <a:srgbClr val="007F7B"/>
                </a:solidFill>
                <a:latin typeface="Helvetica Neue"/>
                <a:ea typeface="Helvetica Neue"/>
                <a:cs typeface="Helvetica Neue"/>
              </a:defRPr>
            </a:lvl1pPr>
            <a:lvl2pPr>
              <a:defRPr sz="2550" b="1">
                <a:solidFill>
                  <a:srgbClr val="007F7B"/>
                </a:solidFill>
                <a:latin typeface="Helvetica Neue"/>
                <a:ea typeface="Helvetica Neue"/>
                <a:cs typeface="Helvetica Neue"/>
              </a:defRPr>
            </a:lvl2pPr>
            <a:lvl3pPr>
              <a:defRPr sz="2550" b="1">
                <a:solidFill>
                  <a:srgbClr val="007F7B"/>
                </a:solidFill>
                <a:latin typeface="Helvetica Neue"/>
                <a:ea typeface="Helvetica Neue"/>
                <a:cs typeface="Helvetica Neue"/>
              </a:defRPr>
            </a:lvl3pPr>
            <a:lvl4pPr>
              <a:defRPr sz="2550" b="1">
                <a:solidFill>
                  <a:srgbClr val="007F7B"/>
                </a:solidFill>
                <a:latin typeface="Helvetica Neue"/>
                <a:ea typeface="Helvetica Neue"/>
                <a:cs typeface="Helvetica Neue"/>
              </a:defRPr>
            </a:lvl4pPr>
            <a:lvl5pPr>
              <a:defRPr sz="2550" b="1">
                <a:solidFill>
                  <a:srgbClr val="007F7B"/>
                </a:solidFill>
                <a:latin typeface="Helvetica Neue"/>
                <a:ea typeface="Helvetica Neue"/>
                <a:cs typeface="Helvetica Neue"/>
              </a:defRPr>
            </a:lvl5pPr>
            <a:lvl6pPr>
              <a:defRPr sz="2550" b="1">
                <a:solidFill>
                  <a:srgbClr val="007F7B"/>
                </a:solidFill>
                <a:latin typeface="Helvetica Neue"/>
                <a:ea typeface="Helvetica Neue"/>
                <a:cs typeface="Helvetica Neue"/>
              </a:defRPr>
            </a:lvl6pPr>
            <a:lvl7pPr>
              <a:defRPr sz="2550" b="1">
                <a:solidFill>
                  <a:srgbClr val="007F7B"/>
                </a:solidFill>
                <a:latin typeface="Helvetica Neue"/>
                <a:ea typeface="Helvetica Neue"/>
                <a:cs typeface="Helvetica Neue"/>
              </a:defRPr>
            </a:lvl7pPr>
            <a:lvl8pPr>
              <a:defRPr sz="2550" b="1">
                <a:solidFill>
                  <a:srgbClr val="007F7B"/>
                </a:solidFill>
                <a:latin typeface="Helvetica Neue"/>
                <a:ea typeface="Helvetica Neue"/>
                <a:cs typeface="Helvetica Neue"/>
              </a:defRPr>
            </a:lvl8pPr>
            <a:lvl9pPr>
              <a:defRPr sz="2550" b="1">
                <a:solidFill>
                  <a:srgbClr val="007F7B"/>
                </a:solidFill>
                <a:latin typeface="Helvetica Neue"/>
                <a:ea typeface="Helvetica Neue"/>
                <a:cs typeface="Helvetica Neue"/>
              </a:defRPr>
            </a:lvl9pPr>
          </a:lstStyle>
          <a:p xmlns:a="http://schemas.openxmlformats.org/drawingml/2006/main">
            <a:pPr>
              <a:defRPr sz="2550" b="1">
                <a:solidFill>
                  <a:srgbClr val="007F7B"/>
                </a:solidFill>
                <a:latin typeface="Helvetica Neue"/>
                <a:ea typeface="Helvetica Neue"/>
                <a:cs typeface="Helvetica Neue"/>
              </a:defRPr>
            </a:pPr>
            <a:r>
              <a:rPr sz="2550" b="1">
                <a:solidFill>
                  <a:srgbClr val="007F7B"/>
                </a:solidFill>
                <a:latin typeface="Helvetica Neue"/>
                <a:ea typeface="Helvetica Neue"/>
                <a:cs typeface="Helvetica Neue"/>
              </a:rPr>
              <a:t>Both forecasts held. It also predicted the weaker contact correctly.</a:t>
            </a:r>
          </a:p>
        </p:txBody>
      </p:sp>
      <p:sp>
        <p:nvSpPr>
          <p:cNvPr id="8" name="">
            <a:extLst xmlns:a="http://schemas.openxmlformats.org/drawingml/2006/main">
              <a:ext uri="{FF2B5EF4-FFF2-40B4-BE49-F238E27FC236}">
                <a16:creationId xmlns:a16="http://schemas.microsoft.com/office/drawing/2014/main" id="{F2BD42BB-846E-4D63-AB16-798D3D7E6C77}"/>
              </a:ext>
            </a:extLst>
          </p:cNvPr>
          <p:cNvSpPr>
            <a:spLocks xmlns:a="http://schemas.openxmlformats.org/drawingml/2006/main" noGrp="1"/>
          </p:cNvSpPr>
          <p:nvPr/>
        </p:nvSpPr>
        <p:spPr>
          <a:xfrm xmlns:a="http://schemas.openxmlformats.org/drawingml/2006/main">
            <a:off x="533400" y="6010275"/>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472"/>
                </a:solidFill>
                <a:latin typeface="Helvetica Neue"/>
                <a:ea typeface="Helvetica Neue"/>
                <a:cs typeface="Helvetica Neue"/>
              </a:defRPr>
            </a:defPPr>
            <a:lvl1pPr>
              <a:defRPr sz="1800" b="0">
                <a:solidFill>
                  <a:srgbClr val="526472"/>
                </a:solidFill>
                <a:latin typeface="Helvetica Neue"/>
                <a:ea typeface="Helvetica Neue"/>
                <a:cs typeface="Helvetica Neue"/>
              </a:defRPr>
            </a:lvl1pPr>
            <a:lvl2pPr>
              <a:defRPr sz="1800" b="0">
                <a:solidFill>
                  <a:srgbClr val="526472"/>
                </a:solidFill>
                <a:latin typeface="Helvetica Neue"/>
                <a:ea typeface="Helvetica Neue"/>
                <a:cs typeface="Helvetica Neue"/>
              </a:defRPr>
            </a:lvl2pPr>
            <a:lvl3pPr>
              <a:defRPr sz="1800" b="0">
                <a:solidFill>
                  <a:srgbClr val="526472"/>
                </a:solidFill>
                <a:latin typeface="Helvetica Neue"/>
                <a:ea typeface="Helvetica Neue"/>
                <a:cs typeface="Helvetica Neue"/>
              </a:defRPr>
            </a:lvl3pPr>
            <a:lvl4pPr>
              <a:defRPr sz="1800" b="0">
                <a:solidFill>
                  <a:srgbClr val="526472"/>
                </a:solidFill>
                <a:latin typeface="Helvetica Neue"/>
                <a:ea typeface="Helvetica Neue"/>
                <a:cs typeface="Helvetica Neue"/>
              </a:defRPr>
            </a:lvl4pPr>
            <a:lvl5pPr>
              <a:defRPr sz="1800" b="0">
                <a:solidFill>
                  <a:srgbClr val="526472"/>
                </a:solidFill>
                <a:latin typeface="Helvetica Neue"/>
                <a:ea typeface="Helvetica Neue"/>
                <a:cs typeface="Helvetica Neue"/>
              </a:defRPr>
            </a:lvl5pPr>
            <a:lvl6pPr>
              <a:defRPr sz="1800" b="0">
                <a:solidFill>
                  <a:srgbClr val="526472"/>
                </a:solidFill>
                <a:latin typeface="Helvetica Neue"/>
                <a:ea typeface="Helvetica Neue"/>
                <a:cs typeface="Helvetica Neue"/>
              </a:defRPr>
            </a:lvl6pPr>
            <a:lvl7pPr>
              <a:defRPr sz="1800" b="0">
                <a:solidFill>
                  <a:srgbClr val="526472"/>
                </a:solidFill>
                <a:latin typeface="Helvetica Neue"/>
                <a:ea typeface="Helvetica Neue"/>
                <a:cs typeface="Helvetica Neue"/>
              </a:defRPr>
            </a:lvl7pPr>
            <a:lvl8pPr>
              <a:defRPr sz="1800" b="0">
                <a:solidFill>
                  <a:srgbClr val="526472"/>
                </a:solidFill>
                <a:latin typeface="Helvetica Neue"/>
                <a:ea typeface="Helvetica Neue"/>
                <a:cs typeface="Helvetica Neue"/>
              </a:defRPr>
            </a:lvl8pPr>
            <a:lvl9pPr>
              <a:defRPr sz="1800" b="0">
                <a:solidFill>
                  <a:srgbClr val="526472"/>
                </a:solidFill>
                <a:latin typeface="Helvetica Neue"/>
                <a:ea typeface="Helvetica Neue"/>
                <a:cs typeface="Helvetica Neue"/>
              </a:defRPr>
            </a:lvl9pPr>
          </a:lstStyle>
          <a:p xmlns:a="http://schemas.openxmlformats.org/drawingml/2006/main">
            <a:pPr>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Units: J/m². Forecasts were recorded before the new calculations.</a:t>
            </a:r>
          </a:p>
        </p:txBody>
      </p:sp>
    </p:spTree>
    <p:extLst>
      <p:ext uri="{BB962C8B-B14F-4D97-AF65-F5344CB8AC3E}">
        <p14:creationId xmlns:p14="http://schemas.microsoft.com/office/powerpoint/2010/main" val="131055105"/>
      </p:ext>
    </p:extLst>
  </p:cSld>
</p:sld>
</file>

<file path=ppt/slides/slide1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309FFD-01E0-4A7C-B785-87682857F48D}"/>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STEP 3 / PREDICTION CHECKED</a:t>
            </a:r>
          </a:p>
        </p:txBody>
      </p:sp>
      <p:sp>
        <p:nvSpPr>
          <p:cNvPr id="2" name="">
            <a:extLst xmlns:a="http://schemas.openxmlformats.org/drawingml/2006/main">
              <a:ext uri="{FF2B5EF4-FFF2-40B4-BE49-F238E27FC236}">
                <a16:creationId xmlns:a16="http://schemas.microsoft.com/office/drawing/2014/main" id="{3F6FA0F6-556B-439F-9718-CBDE27C2EB4C}"/>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Second choice: the forecast failed for LiCaAlF₆</a:t>
            </a:r>
          </a:p>
        </p:txBody>
      </p:sp>
      <p:sp>
        <p:nvSpPr>
          <p:cNvPr id="3" name="">
            <a:extLst xmlns:a="http://schemas.openxmlformats.org/drawingml/2006/main">
              <a:ext uri="{FF2B5EF4-FFF2-40B4-BE49-F238E27FC236}">
                <a16:creationId xmlns:a16="http://schemas.microsoft.com/office/drawing/2014/main" id="{FFAB9C2C-2B6D-4DB0-BE96-C49E3C4F2308}"/>
              </a:ext>
            </a:extLst>
          </p:cNvPr>
          <p:cNvSpPr>
            <a:spLocks xmlns:a="http://schemas.openxmlformats.org/drawingml/2006/main" noGrp="1"/>
          </p:cNvSpPr>
          <p:nvPr/>
        </p:nvSpPr>
        <p:spPr>
          <a:xfrm xmlns:a="http://schemas.openxmlformats.org/drawingml/2006/main">
            <a:off x="533400" y="147637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defRPr sz="2025" b="0">
                <a:solidFill>
                  <a:srgbClr val="526472"/>
                </a:solidFill>
                <a:latin typeface="Helvetica Neue"/>
                <a:ea typeface="Helvetica Neue"/>
                <a:cs typeface="Helvetica Neue"/>
              </a:defRPr>
            </a:lvl1pPr>
            <a:lvl2pPr>
              <a:defRPr sz="2025" b="0">
                <a:solidFill>
                  <a:srgbClr val="526472"/>
                </a:solidFill>
                <a:latin typeface="Helvetica Neue"/>
                <a:ea typeface="Helvetica Neue"/>
                <a:cs typeface="Helvetica Neue"/>
              </a:defRPr>
            </a:lvl2pPr>
            <a:lvl3pPr>
              <a:defRPr sz="2025" b="0">
                <a:solidFill>
                  <a:srgbClr val="526472"/>
                </a:solidFill>
                <a:latin typeface="Helvetica Neue"/>
                <a:ea typeface="Helvetica Neue"/>
                <a:cs typeface="Helvetica Neue"/>
              </a:defRPr>
            </a:lvl3pPr>
            <a:lvl4pPr>
              <a:defRPr sz="2025" b="0">
                <a:solidFill>
                  <a:srgbClr val="526472"/>
                </a:solidFill>
                <a:latin typeface="Helvetica Neue"/>
                <a:ea typeface="Helvetica Neue"/>
                <a:cs typeface="Helvetica Neue"/>
              </a:defRPr>
            </a:lvl4pPr>
            <a:lvl5pPr>
              <a:defRPr sz="2025" b="0">
                <a:solidFill>
                  <a:srgbClr val="526472"/>
                </a:solidFill>
                <a:latin typeface="Helvetica Neue"/>
                <a:ea typeface="Helvetica Neue"/>
                <a:cs typeface="Helvetica Neue"/>
              </a:defRPr>
            </a:lvl5pPr>
            <a:lvl6pPr>
              <a:defRPr sz="2025" b="0">
                <a:solidFill>
                  <a:srgbClr val="526472"/>
                </a:solidFill>
                <a:latin typeface="Helvetica Neue"/>
                <a:ea typeface="Helvetica Neue"/>
                <a:cs typeface="Helvetica Neue"/>
              </a:defRPr>
            </a:lvl6pPr>
            <a:lvl7pPr>
              <a:defRPr sz="2025" b="0">
                <a:solidFill>
                  <a:srgbClr val="526472"/>
                </a:solidFill>
                <a:latin typeface="Helvetica Neue"/>
                <a:ea typeface="Helvetica Neue"/>
                <a:cs typeface="Helvetica Neue"/>
              </a:defRPr>
            </a:lvl7pPr>
            <a:lvl8pPr>
              <a:defRPr sz="2025" b="0">
                <a:solidFill>
                  <a:srgbClr val="526472"/>
                </a:solidFill>
                <a:latin typeface="Helvetica Neue"/>
                <a:ea typeface="Helvetica Neue"/>
                <a:cs typeface="Helvetica Neue"/>
              </a:defRPr>
            </a:lvl8pPr>
            <a:lvl9pPr>
              <a:defRPr sz="2025" b="0">
                <a:solidFill>
                  <a:srgbClr val="526472"/>
                </a:solidFill>
                <a:latin typeface="Helvetica Neue"/>
                <a:ea typeface="Helvetica Neue"/>
                <a:cs typeface="Helvetica Neue"/>
              </a:defRPr>
            </a:lvl9pPr>
          </a:lstStyle>
          <a:p xmlns:a="http://schemas.openxmlformats.org/drawingml/2006/main">
            <a:pPr>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The LLM expected stronger attachment than the calculations found.</a:t>
            </a:r>
          </a:p>
        </p:txBody>
      </p:sp>
      <p:sp>
        <p:nvSpPr>
          <p:cNvPr id="4" name="">
            <a:extLst xmlns:a="http://schemas.openxmlformats.org/drawingml/2006/main">
              <a:ext uri="{FF2B5EF4-FFF2-40B4-BE49-F238E27FC236}">
                <a16:creationId xmlns:a16="http://schemas.microsoft.com/office/drawing/2014/main" id="{16D20085-422B-4850-98C9-A0A8B2F5F491}"/>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D75370A5-790A-449A-BAB8-75FFF60A89D4}"/>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13</a:t>
            </a:r>
          </a:p>
        </p:txBody>
      </p:sp>
      <p:graphicFrame>
        <p:nvGraphicFramePr>
          <p:cNvPr id="6" name="">
            <a:extLst xmlns:a="http://schemas.openxmlformats.org/drawingml/2006/main">
              <a:ext uri="{FF2B5EF4-FFF2-40B4-BE49-F238E27FC236}">
                <a16:creationId xmlns:a16="http://schemas.microsoft.com/office/drawing/2014/main" id="{49F7534D-E66B-4F5C-BDBE-310915D6553E}"/>
              </a:ext>
            </a:extLst>
          </p:cNvPr>
          <p:cNvGraphicFramePr/>
          <p:nvPr/>
        </p:nvGraphicFramePr>
        <p:xfrm>
          <a:off xmlns:a="http://schemas.openxmlformats.org/drawingml/2006/main" x="533400" y="2257425"/>
          <a:ext xmlns:a="http://schemas.openxmlformats.org/drawingml/2006/main" cx="11125200" cy="2343150"/>
        </p:xfrm>
        <a:graphic xmlns:a="http://schemas.openxmlformats.org/drawingml/2006/main">
          <a:graphicData uri="http://schemas.openxmlformats.org/drawingml/2006/table">
            <a:tbl>
              <a:tblPr firstRow="0" bandRow="0"/>
              <a:tblGrid>
                <a:gridCol w="4095750"/>
                <a:gridCol w="2857500"/>
                <a:gridCol w="4171950"/>
              </a:tblGrid>
              <a:tr h="781050">
                <a:tc>
                  <a:txBody>
                    <a:bodyPr lIns="0" tIns="0" rIns="0" bIns="0">
                      <a:noAutofit/>
                    </a:bodyPr>
                    <a:lstStyle/>
                    <a:p>
                      <a:r>
                        <a:rPr sz="1875" b="1">
                          <a:solidFill>
                            <a:srgbClr val="FFFFFF"/>
                          </a:solidFill>
                          <a:latin typeface="Helvetica Neue"/>
                          <a:ea typeface="Helvetica Neue"/>
                          <a:cs typeface="Helvetica Neue"/>
                        </a:rPr>
                        <a:t>Contact with the coating</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75" b="1">
                          <a:solidFill>
                            <a:srgbClr val="FFFFFF"/>
                          </a:solidFill>
                          <a:latin typeface="Helvetica Neue"/>
                          <a:ea typeface="Helvetica Neue"/>
                          <a:cs typeface="Helvetica Neue"/>
                        </a:rPr>
                        <a:t>LLM forecast</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75" b="1">
                          <a:solidFill>
                            <a:srgbClr val="FFFFFF"/>
                          </a:solidFill>
                          <a:latin typeface="Helvetica Neue"/>
                          <a:ea typeface="Helvetica Neue"/>
                          <a:cs typeface="Helvetica Neue"/>
                        </a:rPr>
                        <a:t>Calculated adhesion</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781050">
                <a:tc>
                  <a:txBody>
                    <a:bodyPr lIns="0" tIns="0" rIns="0" bIns="0">
                      <a:noAutofit/>
                    </a:bodyPr>
                    <a:lstStyle/>
                    <a:p>
                      <a:r>
                        <a:rPr sz="2250" b="0">
                          <a:solidFill>
                            <a:srgbClr val="172B3A"/>
                          </a:solidFill>
                          <a:latin typeface="Helvetica Neue"/>
                          <a:ea typeface="Helvetica Neue"/>
                          <a:cs typeface="Helvetica Neue"/>
                        </a:rPr>
                        <a:t>Cathode side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250" b="0">
                          <a:solidFill>
                            <a:srgbClr val="172B3A"/>
                          </a:solidFill>
                          <a:latin typeface="Helvetica Neue"/>
                          <a:ea typeface="Helvetica Neue"/>
                          <a:cs typeface="Helvetica Neue"/>
                        </a:rPr>
                        <a:t>3.0–3.8</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250" b="0">
                          <a:solidFill>
                            <a:srgbClr val="172B3A"/>
                          </a:solidFill>
                          <a:latin typeface="Helvetica Neue"/>
                          <a:ea typeface="Helvetica Neue"/>
                          <a:cs typeface="Helvetica Neue"/>
                        </a:rPr>
                        <a:t>1.427 (below range)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781050">
                <a:tc>
                  <a:txBody>
                    <a:bodyPr lIns="0" tIns="0" rIns="0" bIns="0">
                      <a:noAutofit/>
                    </a:bodyPr>
                    <a:lstStyle/>
                    <a:p>
                      <a:r>
                        <a:rPr sz="2250" b="0">
                          <a:solidFill>
                            <a:srgbClr val="172B3A"/>
                          </a:solidFill>
                          <a:latin typeface="Helvetica Neue"/>
                          <a:ea typeface="Helvetica Neue"/>
                          <a:cs typeface="Helvetica Neue"/>
                        </a:rPr>
                        <a:t>Electrolyte side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250" b="0">
                          <a:solidFill>
                            <a:srgbClr val="172B3A"/>
                          </a:solidFill>
                          <a:latin typeface="Helvetica Neue"/>
                          <a:ea typeface="Helvetica Neue"/>
                          <a:cs typeface="Helvetica Neue"/>
                        </a:rPr>
                        <a:t>1.4–1.9</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250" b="0">
                          <a:solidFill>
                            <a:srgbClr val="172B3A"/>
                          </a:solidFill>
                          <a:latin typeface="Helvetica Neue"/>
                          <a:ea typeface="Helvetica Neue"/>
                          <a:cs typeface="Helvetica Neue"/>
                        </a:rPr>
                        <a:t>0.744 (below range)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69ADCFB3-31AF-4E18-B778-15DCCF771DCE}"/>
              </a:ext>
            </a:extLst>
          </p:cNvPr>
          <p:cNvSpPr>
            <a:spLocks xmlns:a="http://schemas.openxmlformats.org/drawingml/2006/main" noGrp="1"/>
          </p:cNvSpPr>
          <p:nvPr/>
        </p:nvSpPr>
        <p:spPr>
          <a:xfrm xmlns:a="http://schemas.openxmlformats.org/drawingml/2006/main">
            <a:off x="533400" y="5095875"/>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CA713A"/>
                </a:solidFill>
                <a:latin typeface="Helvetica Neue"/>
                <a:ea typeface="Helvetica Neue"/>
                <a:cs typeface="Helvetica Neue"/>
              </a:defRPr>
            </a:defPPr>
            <a:lvl1pPr>
              <a:defRPr sz="2550" b="1">
                <a:solidFill>
                  <a:srgbClr val="CA713A"/>
                </a:solidFill>
                <a:latin typeface="Helvetica Neue"/>
                <a:ea typeface="Helvetica Neue"/>
                <a:cs typeface="Helvetica Neue"/>
              </a:defRPr>
            </a:lvl1pPr>
            <a:lvl2pPr>
              <a:defRPr sz="2550" b="1">
                <a:solidFill>
                  <a:srgbClr val="CA713A"/>
                </a:solidFill>
                <a:latin typeface="Helvetica Neue"/>
                <a:ea typeface="Helvetica Neue"/>
                <a:cs typeface="Helvetica Neue"/>
              </a:defRPr>
            </a:lvl2pPr>
            <a:lvl3pPr>
              <a:defRPr sz="2550" b="1">
                <a:solidFill>
                  <a:srgbClr val="CA713A"/>
                </a:solidFill>
                <a:latin typeface="Helvetica Neue"/>
                <a:ea typeface="Helvetica Neue"/>
                <a:cs typeface="Helvetica Neue"/>
              </a:defRPr>
            </a:lvl3pPr>
            <a:lvl4pPr>
              <a:defRPr sz="2550" b="1">
                <a:solidFill>
                  <a:srgbClr val="CA713A"/>
                </a:solidFill>
                <a:latin typeface="Helvetica Neue"/>
                <a:ea typeface="Helvetica Neue"/>
                <a:cs typeface="Helvetica Neue"/>
              </a:defRPr>
            </a:lvl4pPr>
            <a:lvl5pPr>
              <a:defRPr sz="2550" b="1">
                <a:solidFill>
                  <a:srgbClr val="CA713A"/>
                </a:solidFill>
                <a:latin typeface="Helvetica Neue"/>
                <a:ea typeface="Helvetica Neue"/>
                <a:cs typeface="Helvetica Neue"/>
              </a:defRPr>
            </a:lvl5pPr>
            <a:lvl6pPr>
              <a:defRPr sz="2550" b="1">
                <a:solidFill>
                  <a:srgbClr val="CA713A"/>
                </a:solidFill>
                <a:latin typeface="Helvetica Neue"/>
                <a:ea typeface="Helvetica Neue"/>
                <a:cs typeface="Helvetica Neue"/>
              </a:defRPr>
            </a:lvl6pPr>
            <a:lvl7pPr>
              <a:defRPr sz="2550" b="1">
                <a:solidFill>
                  <a:srgbClr val="CA713A"/>
                </a:solidFill>
                <a:latin typeface="Helvetica Neue"/>
                <a:ea typeface="Helvetica Neue"/>
                <a:cs typeface="Helvetica Neue"/>
              </a:defRPr>
            </a:lvl7pPr>
            <a:lvl8pPr>
              <a:defRPr sz="2550" b="1">
                <a:solidFill>
                  <a:srgbClr val="CA713A"/>
                </a:solidFill>
                <a:latin typeface="Helvetica Neue"/>
                <a:ea typeface="Helvetica Neue"/>
                <a:cs typeface="Helvetica Neue"/>
              </a:defRPr>
            </a:lvl8pPr>
            <a:lvl9pPr>
              <a:defRPr sz="2550" b="1">
                <a:solidFill>
                  <a:srgbClr val="CA713A"/>
                </a:solidFill>
                <a:latin typeface="Helvetica Neue"/>
                <a:ea typeface="Helvetica Neue"/>
                <a:cs typeface="Helvetica Neue"/>
              </a:defRPr>
            </a:lvl9pPr>
          </a:lstStyle>
          <a:p xmlns:a="http://schemas.openxmlformats.org/drawingml/2006/main">
            <a:pPr>
              <a:defRPr sz="2550" b="1">
                <a:solidFill>
                  <a:srgbClr val="CA713A"/>
                </a:solidFill>
                <a:latin typeface="Helvetica Neue"/>
                <a:ea typeface="Helvetica Neue"/>
                <a:cs typeface="Helvetica Neue"/>
              </a:defRPr>
            </a:pPr>
            <a:r>
              <a:rPr sz="2550" b="1">
                <a:solidFill>
                  <a:srgbClr val="CA713A"/>
                </a:solidFill>
                <a:latin typeface="Helvetica Neue"/>
                <a:ea typeface="Helvetica Neue"/>
                <a:cs typeface="Helvetica Neue"/>
              </a:rPr>
              <a:t>Both forecasts missed. The LLM acknowledged the failure afterward.</a:t>
            </a:r>
          </a:p>
        </p:txBody>
      </p:sp>
      <p:sp>
        <p:nvSpPr>
          <p:cNvPr id="8" name="">
            <a:extLst xmlns:a="http://schemas.openxmlformats.org/drawingml/2006/main">
              <a:ext uri="{FF2B5EF4-FFF2-40B4-BE49-F238E27FC236}">
                <a16:creationId xmlns:a16="http://schemas.microsoft.com/office/drawing/2014/main" id="{4A445982-0978-4242-B377-42BFDF9B5D90}"/>
              </a:ext>
            </a:extLst>
          </p:cNvPr>
          <p:cNvSpPr>
            <a:spLocks xmlns:a="http://schemas.openxmlformats.org/drawingml/2006/main" noGrp="1"/>
          </p:cNvSpPr>
          <p:nvPr/>
        </p:nvSpPr>
        <p:spPr>
          <a:xfrm xmlns:a="http://schemas.openxmlformats.org/drawingml/2006/main">
            <a:off x="533400" y="6010275"/>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472"/>
                </a:solidFill>
                <a:latin typeface="Helvetica Neue"/>
                <a:ea typeface="Helvetica Neue"/>
                <a:cs typeface="Helvetica Neue"/>
              </a:defRPr>
            </a:defPPr>
            <a:lvl1pPr>
              <a:defRPr sz="1800" b="0">
                <a:solidFill>
                  <a:srgbClr val="526472"/>
                </a:solidFill>
                <a:latin typeface="Helvetica Neue"/>
                <a:ea typeface="Helvetica Neue"/>
                <a:cs typeface="Helvetica Neue"/>
              </a:defRPr>
            </a:lvl1pPr>
            <a:lvl2pPr>
              <a:defRPr sz="1800" b="0">
                <a:solidFill>
                  <a:srgbClr val="526472"/>
                </a:solidFill>
                <a:latin typeface="Helvetica Neue"/>
                <a:ea typeface="Helvetica Neue"/>
                <a:cs typeface="Helvetica Neue"/>
              </a:defRPr>
            </a:lvl2pPr>
            <a:lvl3pPr>
              <a:defRPr sz="1800" b="0">
                <a:solidFill>
                  <a:srgbClr val="526472"/>
                </a:solidFill>
                <a:latin typeface="Helvetica Neue"/>
                <a:ea typeface="Helvetica Neue"/>
                <a:cs typeface="Helvetica Neue"/>
              </a:defRPr>
            </a:lvl3pPr>
            <a:lvl4pPr>
              <a:defRPr sz="1800" b="0">
                <a:solidFill>
                  <a:srgbClr val="526472"/>
                </a:solidFill>
                <a:latin typeface="Helvetica Neue"/>
                <a:ea typeface="Helvetica Neue"/>
                <a:cs typeface="Helvetica Neue"/>
              </a:defRPr>
            </a:lvl4pPr>
            <a:lvl5pPr>
              <a:defRPr sz="1800" b="0">
                <a:solidFill>
                  <a:srgbClr val="526472"/>
                </a:solidFill>
                <a:latin typeface="Helvetica Neue"/>
                <a:ea typeface="Helvetica Neue"/>
                <a:cs typeface="Helvetica Neue"/>
              </a:defRPr>
            </a:lvl5pPr>
            <a:lvl6pPr>
              <a:defRPr sz="1800" b="0">
                <a:solidFill>
                  <a:srgbClr val="526472"/>
                </a:solidFill>
                <a:latin typeface="Helvetica Neue"/>
                <a:ea typeface="Helvetica Neue"/>
                <a:cs typeface="Helvetica Neue"/>
              </a:defRPr>
            </a:lvl6pPr>
            <a:lvl7pPr>
              <a:defRPr sz="1800" b="0">
                <a:solidFill>
                  <a:srgbClr val="526472"/>
                </a:solidFill>
                <a:latin typeface="Helvetica Neue"/>
                <a:ea typeface="Helvetica Neue"/>
                <a:cs typeface="Helvetica Neue"/>
              </a:defRPr>
            </a:lvl7pPr>
            <a:lvl8pPr>
              <a:defRPr sz="1800" b="0">
                <a:solidFill>
                  <a:srgbClr val="526472"/>
                </a:solidFill>
                <a:latin typeface="Helvetica Neue"/>
                <a:ea typeface="Helvetica Neue"/>
                <a:cs typeface="Helvetica Neue"/>
              </a:defRPr>
            </a:lvl8pPr>
            <a:lvl9pPr>
              <a:defRPr sz="1800" b="0">
                <a:solidFill>
                  <a:srgbClr val="526472"/>
                </a:solidFill>
                <a:latin typeface="Helvetica Neue"/>
                <a:ea typeface="Helvetica Neue"/>
                <a:cs typeface="Helvetica Neue"/>
              </a:defRPr>
            </a:lvl9pPr>
          </a:lstStyle>
          <a:p xmlns:a="http://schemas.openxmlformats.org/drawingml/2006/main">
            <a:pPr>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Units: J/m². It still identified the electrolyte side as the weaker contact.</a:t>
            </a:r>
          </a:p>
        </p:txBody>
      </p:sp>
    </p:spTree>
    <p:extLst>
      <p:ext uri="{BB962C8B-B14F-4D97-AF65-F5344CB8AC3E}">
        <p14:creationId xmlns:p14="http://schemas.microsoft.com/office/powerpoint/2010/main" val="64688523"/>
      </p:ext>
    </p:extLst>
  </p:cSld>
</p:sld>
</file>

<file path=ppt/slides/slide1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C30E15A-4AC0-4FE0-A633-FDFA9FD80C77}"/>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STEP 3 / RESULT</a:t>
            </a:r>
          </a:p>
        </p:txBody>
      </p:sp>
      <p:sp>
        <p:nvSpPr>
          <p:cNvPr id="2" name="">
            <a:extLst xmlns:a="http://schemas.openxmlformats.org/drawingml/2006/main">
              <a:ext uri="{FF2B5EF4-FFF2-40B4-BE49-F238E27FC236}">
                <a16:creationId xmlns:a16="http://schemas.microsoft.com/office/drawing/2014/main" id="{5F8AC785-430E-441C-AE8C-4BB21B58F619}"/>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What the physical calculations found</a:t>
            </a:r>
          </a:p>
        </p:txBody>
      </p:sp>
      <p:sp>
        <p:nvSpPr>
          <p:cNvPr id="3" name="">
            <a:extLst xmlns:a="http://schemas.openxmlformats.org/drawingml/2006/main">
              <a:ext uri="{FF2B5EF4-FFF2-40B4-BE49-F238E27FC236}">
                <a16:creationId xmlns:a16="http://schemas.microsoft.com/office/drawing/2014/main" id="{3E569ADD-83B7-4B84-8A01-6E9BB52C0A3E}"/>
              </a:ext>
            </a:extLst>
          </p:cNvPr>
          <p:cNvSpPr>
            <a:spLocks xmlns:a="http://schemas.openxmlformats.org/drawingml/2006/main" noGrp="1"/>
          </p:cNvSpPr>
          <p:nvPr/>
        </p:nvSpPr>
        <p:spPr>
          <a:xfrm xmlns:a="http://schemas.openxmlformats.org/drawingml/2006/main">
            <a:off x="533400" y="147637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defRPr sz="2025" b="0">
                <a:solidFill>
                  <a:srgbClr val="526472"/>
                </a:solidFill>
                <a:latin typeface="Helvetica Neue"/>
                <a:ea typeface="Helvetica Neue"/>
                <a:cs typeface="Helvetica Neue"/>
              </a:defRPr>
            </a:lvl1pPr>
            <a:lvl2pPr>
              <a:defRPr sz="2025" b="0">
                <a:solidFill>
                  <a:srgbClr val="526472"/>
                </a:solidFill>
                <a:latin typeface="Helvetica Neue"/>
                <a:ea typeface="Helvetica Neue"/>
                <a:cs typeface="Helvetica Neue"/>
              </a:defRPr>
            </a:lvl2pPr>
            <a:lvl3pPr>
              <a:defRPr sz="2025" b="0">
                <a:solidFill>
                  <a:srgbClr val="526472"/>
                </a:solidFill>
                <a:latin typeface="Helvetica Neue"/>
                <a:ea typeface="Helvetica Neue"/>
                <a:cs typeface="Helvetica Neue"/>
              </a:defRPr>
            </a:lvl3pPr>
            <a:lvl4pPr>
              <a:defRPr sz="2025" b="0">
                <a:solidFill>
                  <a:srgbClr val="526472"/>
                </a:solidFill>
                <a:latin typeface="Helvetica Neue"/>
                <a:ea typeface="Helvetica Neue"/>
                <a:cs typeface="Helvetica Neue"/>
              </a:defRPr>
            </a:lvl4pPr>
            <a:lvl5pPr>
              <a:defRPr sz="2025" b="0">
                <a:solidFill>
                  <a:srgbClr val="526472"/>
                </a:solidFill>
                <a:latin typeface="Helvetica Neue"/>
                <a:ea typeface="Helvetica Neue"/>
                <a:cs typeface="Helvetica Neue"/>
              </a:defRPr>
            </a:lvl5pPr>
            <a:lvl6pPr>
              <a:defRPr sz="2025" b="0">
                <a:solidFill>
                  <a:srgbClr val="526472"/>
                </a:solidFill>
                <a:latin typeface="Helvetica Neue"/>
                <a:ea typeface="Helvetica Neue"/>
                <a:cs typeface="Helvetica Neue"/>
              </a:defRPr>
            </a:lvl6pPr>
            <a:lvl7pPr>
              <a:defRPr sz="2025" b="0">
                <a:solidFill>
                  <a:srgbClr val="526472"/>
                </a:solidFill>
                <a:latin typeface="Helvetica Neue"/>
                <a:ea typeface="Helvetica Neue"/>
                <a:cs typeface="Helvetica Neue"/>
              </a:defRPr>
            </a:lvl7pPr>
            <a:lvl8pPr>
              <a:defRPr sz="2025" b="0">
                <a:solidFill>
                  <a:srgbClr val="526472"/>
                </a:solidFill>
                <a:latin typeface="Helvetica Neue"/>
                <a:ea typeface="Helvetica Neue"/>
                <a:cs typeface="Helvetica Neue"/>
              </a:defRPr>
            </a:lvl8pPr>
            <a:lvl9pPr>
              <a:defRPr sz="2025" b="0">
                <a:solidFill>
                  <a:srgbClr val="526472"/>
                </a:solidFill>
                <a:latin typeface="Helvetica Neue"/>
                <a:ea typeface="Helvetica Neue"/>
                <a:cs typeface="Helvetica Neue"/>
              </a:defRPr>
            </a:lvl9pPr>
          </a:lstStyle>
          <a:p xmlns:a="http://schemas.openxmlformats.org/drawingml/2006/main">
            <a:pPr>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Adhesion in the tested structures. Higher values mean stronger attachment.</a:t>
            </a:r>
          </a:p>
        </p:txBody>
      </p:sp>
      <p:sp>
        <p:nvSpPr>
          <p:cNvPr id="4" name="">
            <a:extLst xmlns:a="http://schemas.openxmlformats.org/drawingml/2006/main">
              <a:ext uri="{FF2B5EF4-FFF2-40B4-BE49-F238E27FC236}">
                <a16:creationId xmlns:a16="http://schemas.microsoft.com/office/drawing/2014/main" id="{573928EB-D1E9-43B8-96EE-18113CA743F2}"/>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BF5540A1-D399-4E74-95AB-0D29490788BC}"/>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14</a:t>
            </a:r>
          </a:p>
        </p:txBody>
      </p:sp>
      <p:graphicFrame>
        <p:nvGraphicFramePr>
          <p:cNvPr id="6" name="Chart">
            <a:extLst xmlns:a="http://schemas.openxmlformats.org/drawingml/2006/main">
              <a:ext uri="{FF2B5EF4-FFF2-40B4-BE49-F238E27FC236}">
                <a16:creationId xmlns:a16="http://schemas.microsoft.com/office/drawing/2014/main" id="{2A48B925-1C4D-498A-98F0-2586FBE612BC}"/>
              </a:ext>
            </a:extLst>
          </p:cNvPr>
          <p:cNvGraphicFramePr/>
          <p:nvPr/>
        </p:nvGraphicFramePr>
        <p:xfrm>
          <a:off xmlns:a="http://schemas.openxmlformats.org/drawingml/2006/main" x="533400" y="2105025"/>
          <a:ext xmlns:a="http://schemas.openxmlformats.org/drawingml/2006/main" cx="11125200" cy="3381375"/>
        </p:xfrm>
        <a:graphic xmlns:a="http://schemas.openxmlformats.org/drawingml/2006/main">
          <a:graphicData uri="http://schemas.openxmlformats.org/drawingml/2006/chart">
            <c:chart xmlns:r="http://schemas.openxmlformats.org/officeDocument/2006/relationships" xmlns:c="http://schemas.openxmlformats.org/drawingml/2006/chart" r:id="Re6a540704163448d"/>
          </a:graphicData>
        </a:graphic>
      </p:graphicFrame>
      <p:sp>
        <p:nvSpPr>
          <p:cNvPr id="7" name="">
            <a:extLst xmlns:a="http://schemas.openxmlformats.org/drawingml/2006/main">
              <a:ext uri="{FF2B5EF4-FFF2-40B4-BE49-F238E27FC236}">
                <a16:creationId xmlns:a16="http://schemas.microsoft.com/office/drawing/2014/main" id="{211F0DD0-3FCA-4D5E-905F-B0D19A2A44B4}"/>
              </a:ext>
            </a:extLst>
          </p:cNvPr>
          <p:cNvSpPr>
            <a:spLocks xmlns:a="http://schemas.openxmlformats.org/drawingml/2006/main" noGrp="1"/>
          </p:cNvSpPr>
          <p:nvPr/>
        </p:nvSpPr>
        <p:spPr>
          <a:xfrm xmlns:a="http://schemas.openxmlformats.org/drawingml/2006/main">
            <a:off x="533400" y="5705475"/>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007F7B"/>
                </a:solidFill>
                <a:latin typeface="Helvetica Neue"/>
                <a:ea typeface="Helvetica Neue"/>
                <a:cs typeface="Helvetica Neue"/>
              </a:defRPr>
            </a:defPPr>
            <a:lvl1pPr>
              <a:defRPr sz="1800" b="0">
                <a:solidFill>
                  <a:srgbClr val="007F7B"/>
                </a:solidFill>
                <a:latin typeface="Helvetica Neue"/>
                <a:ea typeface="Helvetica Neue"/>
                <a:cs typeface="Helvetica Neue"/>
              </a:defRPr>
            </a:lvl1pPr>
            <a:lvl2pPr>
              <a:defRPr sz="1800" b="0">
                <a:solidFill>
                  <a:srgbClr val="007F7B"/>
                </a:solidFill>
                <a:latin typeface="Helvetica Neue"/>
                <a:ea typeface="Helvetica Neue"/>
                <a:cs typeface="Helvetica Neue"/>
              </a:defRPr>
            </a:lvl2pPr>
            <a:lvl3pPr>
              <a:defRPr sz="1800" b="0">
                <a:solidFill>
                  <a:srgbClr val="007F7B"/>
                </a:solidFill>
                <a:latin typeface="Helvetica Neue"/>
                <a:ea typeface="Helvetica Neue"/>
                <a:cs typeface="Helvetica Neue"/>
              </a:defRPr>
            </a:lvl3pPr>
            <a:lvl4pPr>
              <a:defRPr sz="1800" b="0">
                <a:solidFill>
                  <a:srgbClr val="007F7B"/>
                </a:solidFill>
                <a:latin typeface="Helvetica Neue"/>
                <a:ea typeface="Helvetica Neue"/>
                <a:cs typeface="Helvetica Neue"/>
              </a:defRPr>
            </a:lvl4pPr>
            <a:lvl5pPr>
              <a:defRPr sz="1800" b="0">
                <a:solidFill>
                  <a:srgbClr val="007F7B"/>
                </a:solidFill>
                <a:latin typeface="Helvetica Neue"/>
                <a:ea typeface="Helvetica Neue"/>
                <a:cs typeface="Helvetica Neue"/>
              </a:defRPr>
            </a:lvl5pPr>
            <a:lvl6pPr>
              <a:defRPr sz="1800" b="0">
                <a:solidFill>
                  <a:srgbClr val="007F7B"/>
                </a:solidFill>
                <a:latin typeface="Helvetica Neue"/>
                <a:ea typeface="Helvetica Neue"/>
                <a:cs typeface="Helvetica Neue"/>
              </a:defRPr>
            </a:lvl6pPr>
            <a:lvl7pPr>
              <a:defRPr sz="1800" b="0">
                <a:solidFill>
                  <a:srgbClr val="007F7B"/>
                </a:solidFill>
                <a:latin typeface="Helvetica Neue"/>
                <a:ea typeface="Helvetica Neue"/>
                <a:cs typeface="Helvetica Neue"/>
              </a:defRPr>
            </a:lvl7pPr>
            <a:lvl8pPr>
              <a:defRPr sz="1800" b="0">
                <a:solidFill>
                  <a:srgbClr val="007F7B"/>
                </a:solidFill>
                <a:latin typeface="Helvetica Neue"/>
                <a:ea typeface="Helvetica Neue"/>
                <a:cs typeface="Helvetica Neue"/>
              </a:defRPr>
            </a:lvl8pPr>
            <a:lvl9pPr>
              <a:defRPr sz="1800" b="0">
                <a:solidFill>
                  <a:srgbClr val="007F7B"/>
                </a:solidFill>
                <a:latin typeface="Helvetica Neue"/>
                <a:ea typeface="Helvetica Neue"/>
                <a:cs typeface="Helvetica Neue"/>
              </a:defRPr>
            </a:lvl9pPr>
          </a:lstStyle>
          <a:p xmlns:a="http://schemas.openxmlformats.org/drawingml/2006/main">
            <a:pPr>
              <a:defRPr sz="1800" b="0">
                <a:solidFill>
                  <a:srgbClr val="007F7B"/>
                </a:solidFill>
                <a:latin typeface="Helvetica Neue"/>
                <a:ea typeface="Helvetica Neue"/>
                <a:cs typeface="Helvetica Neue"/>
              </a:defRPr>
            </a:pPr>
            <a:r>
              <a:rPr sz="1800" b="0">
                <a:solidFill>
                  <a:srgbClr val="007F7B"/>
                </a:solidFill>
                <a:latin typeface="Helvetica Neue"/>
                <a:ea typeface="Helvetica Neue"/>
                <a:cs typeface="Helvetica Neue"/>
              </a:rPr>
              <a:t>Ca–Al attached less strongly. The small Nb–Ta gap does not establish a reliable winner.</a:t>
            </a:r>
          </a:p>
        </p:txBody>
      </p:sp>
      <p:sp>
        <p:nvSpPr>
          <p:cNvPr id="8" name="">
            <a:extLst xmlns:a="http://schemas.openxmlformats.org/drawingml/2006/main">
              <a:ext uri="{FF2B5EF4-FFF2-40B4-BE49-F238E27FC236}">
                <a16:creationId xmlns:a16="http://schemas.microsoft.com/office/drawing/2014/main" id="{8E3FAF43-38EB-413E-A19F-1533A9CF052B}"/>
              </a:ext>
            </a:extLst>
          </p:cNvPr>
          <p:cNvSpPr>
            <a:spLocks xmlns:a="http://schemas.openxmlformats.org/drawingml/2006/main" noGrp="1"/>
          </p:cNvSpPr>
          <p:nvPr/>
        </p:nvSpPr>
        <p:spPr>
          <a:xfrm xmlns:a="http://schemas.openxmlformats.org/drawingml/2006/main">
            <a:off x="533400" y="6105525"/>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472"/>
                </a:solidFill>
                <a:latin typeface="Helvetica Neue"/>
                <a:ea typeface="Helvetica Neue"/>
                <a:cs typeface="Helvetica Neue"/>
              </a:defRPr>
            </a:defPPr>
            <a:lvl1pPr>
              <a:defRPr sz="1650" b="0">
                <a:solidFill>
                  <a:srgbClr val="526472"/>
                </a:solidFill>
                <a:latin typeface="Helvetica Neue"/>
                <a:ea typeface="Helvetica Neue"/>
                <a:cs typeface="Helvetica Neue"/>
              </a:defRPr>
            </a:lvl1pPr>
            <a:lvl2pPr>
              <a:defRPr sz="1650" b="0">
                <a:solidFill>
                  <a:srgbClr val="526472"/>
                </a:solidFill>
                <a:latin typeface="Helvetica Neue"/>
                <a:ea typeface="Helvetica Neue"/>
                <a:cs typeface="Helvetica Neue"/>
              </a:defRPr>
            </a:lvl2pPr>
            <a:lvl3pPr>
              <a:defRPr sz="1650" b="0">
                <a:solidFill>
                  <a:srgbClr val="526472"/>
                </a:solidFill>
                <a:latin typeface="Helvetica Neue"/>
                <a:ea typeface="Helvetica Neue"/>
                <a:cs typeface="Helvetica Neue"/>
              </a:defRPr>
            </a:lvl3pPr>
            <a:lvl4pPr>
              <a:defRPr sz="1650" b="0">
                <a:solidFill>
                  <a:srgbClr val="526472"/>
                </a:solidFill>
                <a:latin typeface="Helvetica Neue"/>
                <a:ea typeface="Helvetica Neue"/>
                <a:cs typeface="Helvetica Neue"/>
              </a:defRPr>
            </a:lvl4pPr>
            <a:lvl5pPr>
              <a:defRPr sz="1650" b="0">
                <a:solidFill>
                  <a:srgbClr val="526472"/>
                </a:solidFill>
                <a:latin typeface="Helvetica Neue"/>
                <a:ea typeface="Helvetica Neue"/>
                <a:cs typeface="Helvetica Neue"/>
              </a:defRPr>
            </a:lvl5pPr>
            <a:lvl6pPr>
              <a:defRPr sz="1650" b="0">
                <a:solidFill>
                  <a:srgbClr val="526472"/>
                </a:solidFill>
                <a:latin typeface="Helvetica Neue"/>
                <a:ea typeface="Helvetica Neue"/>
                <a:cs typeface="Helvetica Neue"/>
              </a:defRPr>
            </a:lvl6pPr>
            <a:lvl7pPr>
              <a:defRPr sz="1650" b="0">
                <a:solidFill>
                  <a:srgbClr val="526472"/>
                </a:solidFill>
                <a:latin typeface="Helvetica Neue"/>
                <a:ea typeface="Helvetica Neue"/>
                <a:cs typeface="Helvetica Neue"/>
              </a:defRPr>
            </a:lvl7pPr>
            <a:lvl8pPr>
              <a:defRPr sz="1650" b="0">
                <a:solidFill>
                  <a:srgbClr val="526472"/>
                </a:solidFill>
                <a:latin typeface="Helvetica Neue"/>
                <a:ea typeface="Helvetica Neue"/>
                <a:cs typeface="Helvetica Neue"/>
              </a:defRPr>
            </a:lvl8pPr>
            <a:lvl9pPr>
              <a:defRPr sz="1650" b="0">
                <a:solidFill>
                  <a:srgbClr val="526472"/>
                </a:solidFill>
                <a:latin typeface="Helvetica Neue"/>
                <a:ea typeface="Helvetica Neue"/>
                <a:cs typeface="Helvetica Neue"/>
              </a:defRPr>
            </a:lvl9pPr>
          </a:lstStyle>
          <a:p xmlns:a="http://schemas.openxmlformats.org/drawingml/2006/main">
            <a:pPr>
              <a:defRPr sz="1650" b="0">
                <a:solidFill>
                  <a:srgbClr val="526472"/>
                </a:solidFill>
                <a:latin typeface="Helvetica Neue"/>
                <a:ea typeface="Helvetica Neue"/>
                <a:cs typeface="Helvetica Neue"/>
              </a:defRPr>
            </a:pPr>
            <a:r>
              <a:rPr sz="1650" b="0">
                <a:solidFill>
                  <a:srgbClr val="526472"/>
                </a:solidFill>
                <a:latin typeface="Helvetica Neue"/>
                <a:ea typeface="Helvetica Neue"/>
                <a:cs typeface="Helvetica Neue"/>
              </a:rPr>
              <a:t>Numerical sensitivity and charged model surfaces still limit the physical interpretation.</a:t>
            </a:r>
          </a:p>
        </p:txBody>
      </p:sp>
    </p:spTree>
    <p:extLst>
      <p:ext uri="{BB962C8B-B14F-4D97-AF65-F5344CB8AC3E}">
        <p14:creationId xmlns:p14="http://schemas.microsoft.com/office/powerpoint/2010/main" val="910524772"/>
      </p:ext>
    </p:extLst>
  </p:cSld>
</p:sld>
</file>

<file path=ppt/slides/slide1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CE6AF45-57BA-4F36-A4C5-240B34CC7674}"/>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THE ANSWER</a:t>
            </a:r>
          </a:p>
        </p:txBody>
      </p:sp>
      <p:sp>
        <p:nvSpPr>
          <p:cNvPr id="2" name="">
            <a:extLst xmlns:a="http://schemas.openxmlformats.org/drawingml/2006/main">
              <a:ext uri="{FF2B5EF4-FFF2-40B4-BE49-F238E27FC236}">
                <a16:creationId xmlns:a16="http://schemas.microsoft.com/office/drawing/2014/main" id="{39860711-3AD9-4F0B-AA0E-4F059BFD5055}"/>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What the LLM achieved</a:t>
            </a:r>
          </a:p>
        </p:txBody>
      </p:sp>
      <p:sp>
        <p:nvSpPr>
          <p:cNvPr id="3" name="">
            <a:extLst xmlns:a="http://schemas.openxmlformats.org/drawingml/2006/main">
              <a:ext uri="{FF2B5EF4-FFF2-40B4-BE49-F238E27FC236}">
                <a16:creationId xmlns:a16="http://schemas.microsoft.com/office/drawing/2014/main" id="{90C7B4F1-9EA1-462F-9D02-77ECE2FCFDF1}"/>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BE3C350C-BCF7-4D2C-841B-35E992DFFB5D}"/>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90B99DE2-8ACA-4CCC-BB49-ACD5B47C20C9}"/>
              </a:ext>
            </a:extLst>
          </p:cNvPr>
          <p:cNvSpPr>
            <a:spLocks xmlns:a="http://schemas.openxmlformats.org/drawingml/2006/main" noGrp="1"/>
          </p:cNvSpPr>
          <p:nvPr/>
        </p:nvSpPr>
        <p:spPr>
          <a:xfrm xmlns:a="http://schemas.openxmlformats.org/drawingml/2006/main">
            <a:off x="533400" y="206692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7F7B"/>
                </a:solidFill>
                <a:latin typeface="Helvetica Neue"/>
                <a:ea typeface="Helvetica Neue"/>
                <a:cs typeface="Helvetica Neue"/>
              </a:defRPr>
            </a:defPPr>
            <a:lvl1pPr>
              <a:defRPr sz="3225" b="1">
                <a:solidFill>
                  <a:srgbClr val="007F7B"/>
                </a:solidFill>
                <a:latin typeface="Helvetica Neue"/>
                <a:ea typeface="Helvetica Neue"/>
                <a:cs typeface="Helvetica Neue"/>
              </a:defRPr>
            </a:lvl1pPr>
            <a:lvl2pPr>
              <a:defRPr sz="3225" b="1">
                <a:solidFill>
                  <a:srgbClr val="007F7B"/>
                </a:solidFill>
                <a:latin typeface="Helvetica Neue"/>
                <a:ea typeface="Helvetica Neue"/>
                <a:cs typeface="Helvetica Neue"/>
              </a:defRPr>
            </a:lvl2pPr>
            <a:lvl3pPr>
              <a:defRPr sz="3225" b="1">
                <a:solidFill>
                  <a:srgbClr val="007F7B"/>
                </a:solidFill>
                <a:latin typeface="Helvetica Neue"/>
                <a:ea typeface="Helvetica Neue"/>
                <a:cs typeface="Helvetica Neue"/>
              </a:defRPr>
            </a:lvl3pPr>
            <a:lvl4pPr>
              <a:defRPr sz="3225" b="1">
                <a:solidFill>
                  <a:srgbClr val="007F7B"/>
                </a:solidFill>
                <a:latin typeface="Helvetica Neue"/>
                <a:ea typeface="Helvetica Neue"/>
                <a:cs typeface="Helvetica Neue"/>
              </a:defRPr>
            </a:lvl4pPr>
            <a:lvl5pPr>
              <a:defRPr sz="3225" b="1">
                <a:solidFill>
                  <a:srgbClr val="007F7B"/>
                </a:solidFill>
                <a:latin typeface="Helvetica Neue"/>
                <a:ea typeface="Helvetica Neue"/>
                <a:cs typeface="Helvetica Neue"/>
              </a:defRPr>
            </a:lvl5pPr>
            <a:lvl6pPr>
              <a:defRPr sz="3225" b="1">
                <a:solidFill>
                  <a:srgbClr val="007F7B"/>
                </a:solidFill>
                <a:latin typeface="Helvetica Neue"/>
                <a:ea typeface="Helvetica Neue"/>
                <a:cs typeface="Helvetica Neue"/>
              </a:defRPr>
            </a:lvl6pPr>
            <a:lvl7pPr>
              <a:defRPr sz="3225" b="1">
                <a:solidFill>
                  <a:srgbClr val="007F7B"/>
                </a:solidFill>
                <a:latin typeface="Helvetica Neue"/>
                <a:ea typeface="Helvetica Neue"/>
                <a:cs typeface="Helvetica Neue"/>
              </a:defRPr>
            </a:lvl7pPr>
            <a:lvl8pPr>
              <a:defRPr sz="3225" b="1">
                <a:solidFill>
                  <a:srgbClr val="007F7B"/>
                </a:solidFill>
                <a:latin typeface="Helvetica Neue"/>
                <a:ea typeface="Helvetica Neue"/>
                <a:cs typeface="Helvetica Neue"/>
              </a:defRPr>
            </a:lvl8pPr>
            <a:lvl9pPr>
              <a:defRPr sz="3225" b="1">
                <a:solidFill>
                  <a:srgbClr val="007F7B"/>
                </a:solidFill>
                <a:latin typeface="Helvetica Neue"/>
                <a:ea typeface="Helvetica Neue"/>
                <a:cs typeface="Helvetica Neue"/>
              </a:defRPr>
            </a:lvl9pPr>
          </a:lstStyle>
          <a:p xmlns:a="http://schemas.openxmlformats.org/drawingml/2006/main">
            <a:pPr>
              <a:defRPr sz="3225" b="1">
                <a:solidFill>
                  <a:srgbClr val="007F7B"/>
                </a:solidFill>
                <a:latin typeface="Helvetica Neue"/>
                <a:ea typeface="Helvetica Neue"/>
                <a:cs typeface="Helvetica Neue"/>
              </a:defRPr>
            </a:pPr>
            <a:r>
              <a:rPr sz="3225" b="1">
                <a:solidFill>
                  <a:srgbClr val="007F7B"/>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5C8B6683-359C-440F-BBD5-AE489F2BEC0B}"/>
              </a:ext>
            </a:extLst>
          </p:cNvPr>
          <p:cNvSpPr>
            <a:spLocks xmlns:a="http://schemas.openxmlformats.org/drawingml/2006/main" noGrp="1"/>
          </p:cNvSpPr>
          <p:nvPr/>
        </p:nvSpPr>
        <p:spPr>
          <a:xfrm xmlns:a="http://schemas.openxmlformats.org/drawingml/2006/main">
            <a:off x="1657350" y="2066925"/>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defRPr sz="2325" b="1">
                <a:solidFill>
                  <a:srgbClr val="172B3A"/>
                </a:solidFill>
                <a:latin typeface="Helvetica Neue"/>
                <a:ea typeface="Helvetica Neue"/>
                <a:cs typeface="Helvetica Neue"/>
              </a:defRPr>
            </a:lvl1pPr>
            <a:lvl2pPr>
              <a:defRPr sz="2325" b="1">
                <a:solidFill>
                  <a:srgbClr val="172B3A"/>
                </a:solidFill>
                <a:latin typeface="Helvetica Neue"/>
                <a:ea typeface="Helvetica Neue"/>
                <a:cs typeface="Helvetica Neue"/>
              </a:defRPr>
            </a:lvl2pPr>
            <a:lvl3pPr>
              <a:defRPr sz="2325" b="1">
                <a:solidFill>
                  <a:srgbClr val="172B3A"/>
                </a:solidFill>
                <a:latin typeface="Helvetica Neue"/>
                <a:ea typeface="Helvetica Neue"/>
                <a:cs typeface="Helvetica Neue"/>
              </a:defRPr>
            </a:lvl3pPr>
            <a:lvl4pPr>
              <a:defRPr sz="2325" b="1">
                <a:solidFill>
                  <a:srgbClr val="172B3A"/>
                </a:solidFill>
                <a:latin typeface="Helvetica Neue"/>
                <a:ea typeface="Helvetica Neue"/>
                <a:cs typeface="Helvetica Neue"/>
              </a:defRPr>
            </a:lvl4pPr>
            <a:lvl5pPr>
              <a:defRPr sz="2325" b="1">
                <a:solidFill>
                  <a:srgbClr val="172B3A"/>
                </a:solidFill>
                <a:latin typeface="Helvetica Neue"/>
                <a:ea typeface="Helvetica Neue"/>
                <a:cs typeface="Helvetica Neue"/>
              </a:defRPr>
            </a:lvl5pPr>
            <a:lvl6pPr>
              <a:defRPr sz="2325" b="1">
                <a:solidFill>
                  <a:srgbClr val="172B3A"/>
                </a:solidFill>
                <a:latin typeface="Helvetica Neue"/>
                <a:ea typeface="Helvetica Neue"/>
                <a:cs typeface="Helvetica Neue"/>
              </a:defRPr>
            </a:lvl6pPr>
            <a:lvl7pPr>
              <a:defRPr sz="2325" b="1">
                <a:solidFill>
                  <a:srgbClr val="172B3A"/>
                </a:solidFill>
                <a:latin typeface="Helvetica Neue"/>
                <a:ea typeface="Helvetica Neue"/>
                <a:cs typeface="Helvetica Neue"/>
              </a:defRPr>
            </a:lvl7pPr>
            <a:lvl8pPr>
              <a:defRPr sz="2325" b="1">
                <a:solidFill>
                  <a:srgbClr val="172B3A"/>
                </a:solidFill>
                <a:latin typeface="Helvetica Neue"/>
                <a:ea typeface="Helvetica Neue"/>
                <a:cs typeface="Helvetica Neue"/>
              </a:defRPr>
            </a:lvl8pPr>
            <a:lvl9pPr>
              <a:defRPr sz="2325" b="1">
                <a:solidFill>
                  <a:srgbClr val="172B3A"/>
                </a:solidFill>
                <a:latin typeface="Helvetica Neue"/>
                <a:ea typeface="Helvetica Neue"/>
                <a:cs typeface="Helvetica Neue"/>
              </a:defRPr>
            </a:lvl9pPr>
          </a:lstStyle>
          <a:p xmlns:a="http://schemas.openxmlformats.org/drawingml/2006/main">
            <a:pPr>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Useful feedback improved some choices</a:t>
            </a:r>
          </a:p>
        </p:txBody>
      </p:sp>
      <p:sp>
        <p:nvSpPr>
          <p:cNvPr id="7" name="">
            <a:extLst xmlns:a="http://schemas.openxmlformats.org/drawingml/2006/main">
              <a:ext uri="{FF2B5EF4-FFF2-40B4-BE49-F238E27FC236}">
                <a16:creationId xmlns:a16="http://schemas.microsoft.com/office/drawing/2014/main" id="{E67F2D22-FE11-4DD7-A685-D46C3BF1FF29}"/>
              </a:ext>
            </a:extLst>
          </p:cNvPr>
          <p:cNvSpPr>
            <a:spLocks xmlns:a="http://schemas.openxmlformats.org/drawingml/2006/main" noGrp="1"/>
          </p:cNvSpPr>
          <p:nvPr/>
        </p:nvSpPr>
        <p:spPr>
          <a:xfrm xmlns:a="http://schemas.openxmlformats.org/drawingml/2006/main">
            <a:off x="1657350" y="2533650"/>
            <a:ext cx="985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defRPr sz="2100" b="0">
                <a:solidFill>
                  <a:srgbClr val="526472"/>
                </a:solidFill>
                <a:latin typeface="Helvetica Neue"/>
                <a:ea typeface="Helvetica Neue"/>
                <a:cs typeface="Helvetica Neue"/>
              </a:defRPr>
            </a:lvl1pPr>
            <a:lvl2pPr>
              <a:defRPr sz="2100" b="0">
                <a:solidFill>
                  <a:srgbClr val="526472"/>
                </a:solidFill>
                <a:latin typeface="Helvetica Neue"/>
                <a:ea typeface="Helvetica Neue"/>
                <a:cs typeface="Helvetica Neue"/>
              </a:defRPr>
            </a:lvl2pPr>
            <a:lvl3pPr>
              <a:defRPr sz="2100" b="0">
                <a:solidFill>
                  <a:srgbClr val="526472"/>
                </a:solidFill>
                <a:latin typeface="Helvetica Neue"/>
                <a:ea typeface="Helvetica Neue"/>
                <a:cs typeface="Helvetica Neue"/>
              </a:defRPr>
            </a:lvl3pPr>
            <a:lvl4pPr>
              <a:defRPr sz="2100" b="0">
                <a:solidFill>
                  <a:srgbClr val="526472"/>
                </a:solidFill>
                <a:latin typeface="Helvetica Neue"/>
                <a:ea typeface="Helvetica Neue"/>
                <a:cs typeface="Helvetica Neue"/>
              </a:defRPr>
            </a:lvl4pPr>
            <a:lvl5pPr>
              <a:defRPr sz="2100" b="0">
                <a:solidFill>
                  <a:srgbClr val="526472"/>
                </a:solidFill>
                <a:latin typeface="Helvetica Neue"/>
                <a:ea typeface="Helvetica Neue"/>
                <a:cs typeface="Helvetica Neue"/>
              </a:defRPr>
            </a:lvl5pPr>
            <a:lvl6pPr>
              <a:defRPr sz="2100" b="0">
                <a:solidFill>
                  <a:srgbClr val="526472"/>
                </a:solidFill>
                <a:latin typeface="Helvetica Neue"/>
                <a:ea typeface="Helvetica Neue"/>
                <a:cs typeface="Helvetica Neue"/>
              </a:defRPr>
            </a:lvl6pPr>
            <a:lvl7pPr>
              <a:defRPr sz="2100" b="0">
                <a:solidFill>
                  <a:srgbClr val="526472"/>
                </a:solidFill>
                <a:latin typeface="Helvetica Neue"/>
                <a:ea typeface="Helvetica Neue"/>
                <a:cs typeface="Helvetica Neue"/>
              </a:defRPr>
            </a:lvl7pPr>
            <a:lvl8pPr>
              <a:defRPr sz="2100" b="0">
                <a:solidFill>
                  <a:srgbClr val="526472"/>
                </a:solidFill>
                <a:latin typeface="Helvetica Neue"/>
                <a:ea typeface="Helvetica Neue"/>
                <a:cs typeface="Helvetica Neue"/>
              </a:defRPr>
            </a:lvl8pPr>
            <a:lvl9pPr>
              <a:defRPr sz="2100" b="0">
                <a:solidFill>
                  <a:srgbClr val="526472"/>
                </a:solidFill>
                <a:latin typeface="Helvetica Neue"/>
                <a:ea typeface="Helvetica Neue"/>
                <a:cs typeface="Helvetica Neue"/>
              </a:defRPr>
            </a:lvl9pPr>
          </a:lstStyle>
          <a:p xmlns:a="http://schemas.openxmlformats.org/drawingml/2006/main">
            <a:pPr>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Strong gains in the sulfide tests. The oxide result showed a limit.</a:t>
            </a:r>
          </a:p>
        </p:txBody>
      </p:sp>
      <p:sp>
        <p:nvSpPr>
          <p:cNvPr id="8" name="">
            <a:extLst xmlns:a="http://schemas.openxmlformats.org/drawingml/2006/main">
              <a:ext uri="{FF2B5EF4-FFF2-40B4-BE49-F238E27FC236}">
                <a16:creationId xmlns:a16="http://schemas.microsoft.com/office/drawing/2014/main" id="{A26A1087-C9BF-4E85-BF7F-FB2D525226BE}"/>
              </a:ext>
            </a:extLst>
          </p:cNvPr>
          <p:cNvSpPr>
            <a:spLocks xmlns:a="http://schemas.openxmlformats.org/drawingml/2006/main" noGrp="1"/>
          </p:cNvSpPr>
          <p:nvPr/>
        </p:nvSpPr>
        <p:spPr>
          <a:xfrm xmlns:a="http://schemas.openxmlformats.org/drawingml/2006/main">
            <a:off x="533400" y="332422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7F7B"/>
                </a:solidFill>
                <a:latin typeface="Helvetica Neue"/>
                <a:ea typeface="Helvetica Neue"/>
                <a:cs typeface="Helvetica Neue"/>
              </a:defRPr>
            </a:defPPr>
            <a:lvl1pPr>
              <a:defRPr sz="3225" b="1">
                <a:solidFill>
                  <a:srgbClr val="007F7B"/>
                </a:solidFill>
                <a:latin typeface="Helvetica Neue"/>
                <a:ea typeface="Helvetica Neue"/>
                <a:cs typeface="Helvetica Neue"/>
              </a:defRPr>
            </a:lvl1pPr>
            <a:lvl2pPr>
              <a:defRPr sz="3225" b="1">
                <a:solidFill>
                  <a:srgbClr val="007F7B"/>
                </a:solidFill>
                <a:latin typeface="Helvetica Neue"/>
                <a:ea typeface="Helvetica Neue"/>
                <a:cs typeface="Helvetica Neue"/>
              </a:defRPr>
            </a:lvl2pPr>
            <a:lvl3pPr>
              <a:defRPr sz="3225" b="1">
                <a:solidFill>
                  <a:srgbClr val="007F7B"/>
                </a:solidFill>
                <a:latin typeface="Helvetica Neue"/>
                <a:ea typeface="Helvetica Neue"/>
                <a:cs typeface="Helvetica Neue"/>
              </a:defRPr>
            </a:lvl3pPr>
            <a:lvl4pPr>
              <a:defRPr sz="3225" b="1">
                <a:solidFill>
                  <a:srgbClr val="007F7B"/>
                </a:solidFill>
                <a:latin typeface="Helvetica Neue"/>
                <a:ea typeface="Helvetica Neue"/>
                <a:cs typeface="Helvetica Neue"/>
              </a:defRPr>
            </a:lvl4pPr>
            <a:lvl5pPr>
              <a:defRPr sz="3225" b="1">
                <a:solidFill>
                  <a:srgbClr val="007F7B"/>
                </a:solidFill>
                <a:latin typeface="Helvetica Neue"/>
                <a:ea typeface="Helvetica Neue"/>
                <a:cs typeface="Helvetica Neue"/>
              </a:defRPr>
            </a:lvl5pPr>
            <a:lvl6pPr>
              <a:defRPr sz="3225" b="1">
                <a:solidFill>
                  <a:srgbClr val="007F7B"/>
                </a:solidFill>
                <a:latin typeface="Helvetica Neue"/>
                <a:ea typeface="Helvetica Neue"/>
                <a:cs typeface="Helvetica Neue"/>
              </a:defRPr>
            </a:lvl6pPr>
            <a:lvl7pPr>
              <a:defRPr sz="3225" b="1">
                <a:solidFill>
                  <a:srgbClr val="007F7B"/>
                </a:solidFill>
                <a:latin typeface="Helvetica Neue"/>
                <a:ea typeface="Helvetica Neue"/>
                <a:cs typeface="Helvetica Neue"/>
              </a:defRPr>
            </a:lvl7pPr>
            <a:lvl8pPr>
              <a:defRPr sz="3225" b="1">
                <a:solidFill>
                  <a:srgbClr val="007F7B"/>
                </a:solidFill>
                <a:latin typeface="Helvetica Neue"/>
                <a:ea typeface="Helvetica Neue"/>
                <a:cs typeface="Helvetica Neue"/>
              </a:defRPr>
            </a:lvl8pPr>
            <a:lvl9pPr>
              <a:defRPr sz="3225" b="1">
                <a:solidFill>
                  <a:srgbClr val="007F7B"/>
                </a:solidFill>
                <a:latin typeface="Helvetica Neue"/>
                <a:ea typeface="Helvetica Neue"/>
                <a:cs typeface="Helvetica Neue"/>
              </a:defRPr>
            </a:lvl9pPr>
          </a:lstStyle>
          <a:p xmlns:a="http://schemas.openxmlformats.org/drawingml/2006/main">
            <a:pPr>
              <a:defRPr sz="3225" b="1">
                <a:solidFill>
                  <a:srgbClr val="007F7B"/>
                </a:solidFill>
                <a:latin typeface="Helvetica Neue"/>
                <a:ea typeface="Helvetica Neue"/>
                <a:cs typeface="Helvetica Neue"/>
              </a:defRPr>
            </a:pPr>
            <a:r>
              <a:rPr sz="3225" b="1">
                <a:solidFill>
                  <a:srgbClr val="007F7B"/>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63D5096A-EEBE-46D8-BE38-45AA411906F2}"/>
              </a:ext>
            </a:extLst>
          </p:cNvPr>
          <p:cNvSpPr>
            <a:spLocks xmlns:a="http://schemas.openxmlformats.org/drawingml/2006/main" noGrp="1"/>
          </p:cNvSpPr>
          <p:nvPr/>
        </p:nvSpPr>
        <p:spPr>
          <a:xfrm xmlns:a="http://schemas.openxmlformats.org/drawingml/2006/main">
            <a:off x="1657350" y="3324225"/>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defRPr sz="2325" b="1">
                <a:solidFill>
                  <a:srgbClr val="172B3A"/>
                </a:solidFill>
                <a:latin typeface="Helvetica Neue"/>
                <a:ea typeface="Helvetica Neue"/>
                <a:cs typeface="Helvetica Neue"/>
              </a:defRPr>
            </a:lvl1pPr>
            <a:lvl2pPr>
              <a:defRPr sz="2325" b="1">
                <a:solidFill>
                  <a:srgbClr val="172B3A"/>
                </a:solidFill>
                <a:latin typeface="Helvetica Neue"/>
                <a:ea typeface="Helvetica Neue"/>
                <a:cs typeface="Helvetica Neue"/>
              </a:defRPr>
            </a:lvl2pPr>
            <a:lvl3pPr>
              <a:defRPr sz="2325" b="1">
                <a:solidFill>
                  <a:srgbClr val="172B3A"/>
                </a:solidFill>
                <a:latin typeface="Helvetica Neue"/>
                <a:ea typeface="Helvetica Neue"/>
                <a:cs typeface="Helvetica Neue"/>
              </a:defRPr>
            </a:lvl3pPr>
            <a:lvl4pPr>
              <a:defRPr sz="2325" b="1">
                <a:solidFill>
                  <a:srgbClr val="172B3A"/>
                </a:solidFill>
                <a:latin typeface="Helvetica Neue"/>
                <a:ea typeface="Helvetica Neue"/>
                <a:cs typeface="Helvetica Neue"/>
              </a:defRPr>
            </a:lvl4pPr>
            <a:lvl5pPr>
              <a:defRPr sz="2325" b="1">
                <a:solidFill>
                  <a:srgbClr val="172B3A"/>
                </a:solidFill>
                <a:latin typeface="Helvetica Neue"/>
                <a:ea typeface="Helvetica Neue"/>
                <a:cs typeface="Helvetica Neue"/>
              </a:defRPr>
            </a:lvl5pPr>
            <a:lvl6pPr>
              <a:defRPr sz="2325" b="1">
                <a:solidFill>
                  <a:srgbClr val="172B3A"/>
                </a:solidFill>
                <a:latin typeface="Helvetica Neue"/>
                <a:ea typeface="Helvetica Neue"/>
                <a:cs typeface="Helvetica Neue"/>
              </a:defRPr>
            </a:lvl6pPr>
            <a:lvl7pPr>
              <a:defRPr sz="2325" b="1">
                <a:solidFill>
                  <a:srgbClr val="172B3A"/>
                </a:solidFill>
                <a:latin typeface="Helvetica Neue"/>
                <a:ea typeface="Helvetica Neue"/>
                <a:cs typeface="Helvetica Neue"/>
              </a:defRPr>
            </a:lvl7pPr>
            <a:lvl8pPr>
              <a:defRPr sz="2325" b="1">
                <a:solidFill>
                  <a:srgbClr val="172B3A"/>
                </a:solidFill>
                <a:latin typeface="Helvetica Neue"/>
                <a:ea typeface="Helvetica Neue"/>
                <a:cs typeface="Helvetica Neue"/>
              </a:defRPr>
            </a:lvl8pPr>
            <a:lvl9pPr>
              <a:defRPr sz="2325" b="1">
                <a:solidFill>
                  <a:srgbClr val="172B3A"/>
                </a:solidFill>
                <a:latin typeface="Helvetica Neue"/>
                <a:ea typeface="Helvetica Neue"/>
                <a:cs typeface="Helvetica Neue"/>
              </a:defRPr>
            </a:lvl9pPr>
          </a:lstStyle>
          <a:p xmlns:a="http://schemas.openxmlformats.org/drawingml/2006/main">
            <a:pPr>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It made chemical hypotheses testable</a:t>
            </a:r>
          </a:p>
        </p:txBody>
      </p:sp>
      <p:sp>
        <p:nvSpPr>
          <p:cNvPr id="10" name="">
            <a:extLst xmlns:a="http://schemas.openxmlformats.org/drawingml/2006/main">
              <a:ext uri="{FF2B5EF4-FFF2-40B4-BE49-F238E27FC236}">
                <a16:creationId xmlns:a16="http://schemas.microsoft.com/office/drawing/2014/main" id="{0CF7C6E9-294D-4EAD-B8EB-1E0AAF8F9055}"/>
              </a:ext>
            </a:extLst>
          </p:cNvPr>
          <p:cNvSpPr>
            <a:spLocks xmlns:a="http://schemas.openxmlformats.org/drawingml/2006/main" noGrp="1"/>
          </p:cNvSpPr>
          <p:nvPr/>
        </p:nvSpPr>
        <p:spPr>
          <a:xfrm xmlns:a="http://schemas.openxmlformats.org/drawingml/2006/main">
            <a:off x="1657350" y="3790950"/>
            <a:ext cx="985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defRPr sz="2100" b="0">
                <a:solidFill>
                  <a:srgbClr val="526472"/>
                </a:solidFill>
                <a:latin typeface="Helvetica Neue"/>
                <a:ea typeface="Helvetica Neue"/>
                <a:cs typeface="Helvetica Neue"/>
              </a:defRPr>
            </a:lvl1pPr>
            <a:lvl2pPr>
              <a:defRPr sz="2100" b="0">
                <a:solidFill>
                  <a:srgbClr val="526472"/>
                </a:solidFill>
                <a:latin typeface="Helvetica Neue"/>
                <a:ea typeface="Helvetica Neue"/>
                <a:cs typeface="Helvetica Neue"/>
              </a:defRPr>
            </a:lvl2pPr>
            <a:lvl3pPr>
              <a:defRPr sz="2100" b="0">
                <a:solidFill>
                  <a:srgbClr val="526472"/>
                </a:solidFill>
                <a:latin typeface="Helvetica Neue"/>
                <a:ea typeface="Helvetica Neue"/>
                <a:cs typeface="Helvetica Neue"/>
              </a:defRPr>
            </a:lvl3pPr>
            <a:lvl4pPr>
              <a:defRPr sz="2100" b="0">
                <a:solidFill>
                  <a:srgbClr val="526472"/>
                </a:solidFill>
                <a:latin typeface="Helvetica Neue"/>
                <a:ea typeface="Helvetica Neue"/>
                <a:cs typeface="Helvetica Neue"/>
              </a:defRPr>
            </a:lvl4pPr>
            <a:lvl5pPr>
              <a:defRPr sz="2100" b="0">
                <a:solidFill>
                  <a:srgbClr val="526472"/>
                </a:solidFill>
                <a:latin typeface="Helvetica Neue"/>
                <a:ea typeface="Helvetica Neue"/>
                <a:cs typeface="Helvetica Neue"/>
              </a:defRPr>
            </a:lvl5pPr>
            <a:lvl6pPr>
              <a:defRPr sz="2100" b="0">
                <a:solidFill>
                  <a:srgbClr val="526472"/>
                </a:solidFill>
                <a:latin typeface="Helvetica Neue"/>
                <a:ea typeface="Helvetica Neue"/>
                <a:cs typeface="Helvetica Neue"/>
              </a:defRPr>
            </a:lvl6pPr>
            <a:lvl7pPr>
              <a:defRPr sz="2100" b="0">
                <a:solidFill>
                  <a:srgbClr val="526472"/>
                </a:solidFill>
                <a:latin typeface="Helvetica Neue"/>
                <a:ea typeface="Helvetica Neue"/>
                <a:cs typeface="Helvetica Neue"/>
              </a:defRPr>
            </a:lvl7pPr>
            <a:lvl8pPr>
              <a:defRPr sz="2100" b="0">
                <a:solidFill>
                  <a:srgbClr val="526472"/>
                </a:solidFill>
                <a:latin typeface="Helvetica Neue"/>
                <a:ea typeface="Helvetica Neue"/>
                <a:cs typeface="Helvetica Neue"/>
              </a:defRPr>
            </a:lvl8pPr>
            <a:lvl9pPr>
              <a:defRPr sz="2100" b="0">
                <a:solidFill>
                  <a:srgbClr val="526472"/>
                </a:solidFill>
                <a:latin typeface="Helvetica Neue"/>
                <a:ea typeface="Helvetica Neue"/>
                <a:cs typeface="Helvetica Neue"/>
              </a:defRPr>
            </a:lvl9pPr>
          </a:lstStyle>
          <a:p xmlns:a="http://schemas.openxmlformats.org/drawingml/2006/main">
            <a:pPr>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Two adhesion forecasts held and two failed, all recorded in advance.</a:t>
            </a:r>
          </a:p>
        </p:txBody>
      </p:sp>
      <p:sp>
        <p:nvSpPr>
          <p:cNvPr id="11" name="">
            <a:extLst xmlns:a="http://schemas.openxmlformats.org/drawingml/2006/main">
              <a:ext uri="{FF2B5EF4-FFF2-40B4-BE49-F238E27FC236}">
                <a16:creationId xmlns:a16="http://schemas.microsoft.com/office/drawing/2014/main" id="{701DF57E-99CC-4858-B3A5-CAD48C6999E4}"/>
              </a:ext>
            </a:extLst>
          </p:cNvPr>
          <p:cNvSpPr>
            <a:spLocks xmlns:a="http://schemas.openxmlformats.org/drawingml/2006/main" noGrp="1"/>
          </p:cNvSpPr>
          <p:nvPr/>
        </p:nvSpPr>
        <p:spPr>
          <a:xfrm xmlns:a="http://schemas.openxmlformats.org/drawingml/2006/main">
            <a:off x="533400" y="458152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7F7B"/>
                </a:solidFill>
                <a:latin typeface="Helvetica Neue"/>
                <a:ea typeface="Helvetica Neue"/>
                <a:cs typeface="Helvetica Neue"/>
              </a:defRPr>
            </a:defPPr>
            <a:lvl1pPr>
              <a:defRPr sz="3225" b="1">
                <a:solidFill>
                  <a:srgbClr val="007F7B"/>
                </a:solidFill>
                <a:latin typeface="Helvetica Neue"/>
                <a:ea typeface="Helvetica Neue"/>
                <a:cs typeface="Helvetica Neue"/>
              </a:defRPr>
            </a:lvl1pPr>
            <a:lvl2pPr>
              <a:defRPr sz="3225" b="1">
                <a:solidFill>
                  <a:srgbClr val="007F7B"/>
                </a:solidFill>
                <a:latin typeface="Helvetica Neue"/>
                <a:ea typeface="Helvetica Neue"/>
                <a:cs typeface="Helvetica Neue"/>
              </a:defRPr>
            </a:lvl2pPr>
            <a:lvl3pPr>
              <a:defRPr sz="3225" b="1">
                <a:solidFill>
                  <a:srgbClr val="007F7B"/>
                </a:solidFill>
                <a:latin typeface="Helvetica Neue"/>
                <a:ea typeface="Helvetica Neue"/>
                <a:cs typeface="Helvetica Neue"/>
              </a:defRPr>
            </a:lvl3pPr>
            <a:lvl4pPr>
              <a:defRPr sz="3225" b="1">
                <a:solidFill>
                  <a:srgbClr val="007F7B"/>
                </a:solidFill>
                <a:latin typeface="Helvetica Neue"/>
                <a:ea typeface="Helvetica Neue"/>
                <a:cs typeface="Helvetica Neue"/>
              </a:defRPr>
            </a:lvl4pPr>
            <a:lvl5pPr>
              <a:defRPr sz="3225" b="1">
                <a:solidFill>
                  <a:srgbClr val="007F7B"/>
                </a:solidFill>
                <a:latin typeface="Helvetica Neue"/>
                <a:ea typeface="Helvetica Neue"/>
                <a:cs typeface="Helvetica Neue"/>
              </a:defRPr>
            </a:lvl5pPr>
            <a:lvl6pPr>
              <a:defRPr sz="3225" b="1">
                <a:solidFill>
                  <a:srgbClr val="007F7B"/>
                </a:solidFill>
                <a:latin typeface="Helvetica Neue"/>
                <a:ea typeface="Helvetica Neue"/>
                <a:cs typeface="Helvetica Neue"/>
              </a:defRPr>
            </a:lvl6pPr>
            <a:lvl7pPr>
              <a:defRPr sz="3225" b="1">
                <a:solidFill>
                  <a:srgbClr val="007F7B"/>
                </a:solidFill>
                <a:latin typeface="Helvetica Neue"/>
                <a:ea typeface="Helvetica Neue"/>
                <a:cs typeface="Helvetica Neue"/>
              </a:defRPr>
            </a:lvl7pPr>
            <a:lvl8pPr>
              <a:defRPr sz="3225" b="1">
                <a:solidFill>
                  <a:srgbClr val="007F7B"/>
                </a:solidFill>
                <a:latin typeface="Helvetica Neue"/>
                <a:ea typeface="Helvetica Neue"/>
                <a:cs typeface="Helvetica Neue"/>
              </a:defRPr>
            </a:lvl8pPr>
            <a:lvl9pPr>
              <a:defRPr sz="3225" b="1">
                <a:solidFill>
                  <a:srgbClr val="007F7B"/>
                </a:solidFill>
                <a:latin typeface="Helvetica Neue"/>
                <a:ea typeface="Helvetica Neue"/>
                <a:cs typeface="Helvetica Neue"/>
              </a:defRPr>
            </a:lvl9pPr>
          </a:lstStyle>
          <a:p xmlns:a="http://schemas.openxmlformats.org/drawingml/2006/main">
            <a:pPr>
              <a:defRPr sz="3225" b="1">
                <a:solidFill>
                  <a:srgbClr val="007F7B"/>
                </a:solidFill>
                <a:latin typeface="Helvetica Neue"/>
                <a:ea typeface="Helvetica Neue"/>
                <a:cs typeface="Helvetica Neue"/>
              </a:defRPr>
            </a:pPr>
            <a:r>
              <a:rPr sz="3225" b="1">
                <a:solidFill>
                  <a:srgbClr val="007F7B"/>
                </a:solidFill>
                <a:latin typeface="Helvetica Neue"/>
                <a:ea typeface="Helvetica Neue"/>
                <a:cs typeface="Helvetica Neue"/>
              </a:rPr>
              <a:t>03</a:t>
            </a:r>
          </a:p>
        </p:txBody>
      </p:sp>
      <p:sp>
        <p:nvSpPr>
          <p:cNvPr id="12" name="">
            <a:extLst xmlns:a="http://schemas.openxmlformats.org/drawingml/2006/main">
              <a:ext uri="{FF2B5EF4-FFF2-40B4-BE49-F238E27FC236}">
                <a16:creationId xmlns:a16="http://schemas.microsoft.com/office/drawing/2014/main" id="{32A69F77-AAA8-45A2-97AD-1BF46F767D5A}"/>
              </a:ext>
            </a:extLst>
          </p:cNvPr>
          <p:cNvSpPr>
            <a:spLocks xmlns:a="http://schemas.openxmlformats.org/drawingml/2006/main" noGrp="1"/>
          </p:cNvSpPr>
          <p:nvPr/>
        </p:nvSpPr>
        <p:spPr>
          <a:xfrm xmlns:a="http://schemas.openxmlformats.org/drawingml/2006/main">
            <a:off x="1657350" y="4581525"/>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defRPr sz="2325" b="1">
                <a:solidFill>
                  <a:srgbClr val="172B3A"/>
                </a:solidFill>
                <a:latin typeface="Helvetica Neue"/>
                <a:ea typeface="Helvetica Neue"/>
                <a:cs typeface="Helvetica Neue"/>
              </a:defRPr>
            </a:lvl1pPr>
            <a:lvl2pPr>
              <a:defRPr sz="2325" b="1">
                <a:solidFill>
                  <a:srgbClr val="172B3A"/>
                </a:solidFill>
                <a:latin typeface="Helvetica Neue"/>
                <a:ea typeface="Helvetica Neue"/>
                <a:cs typeface="Helvetica Neue"/>
              </a:defRPr>
            </a:lvl2pPr>
            <a:lvl3pPr>
              <a:defRPr sz="2325" b="1">
                <a:solidFill>
                  <a:srgbClr val="172B3A"/>
                </a:solidFill>
                <a:latin typeface="Helvetica Neue"/>
                <a:ea typeface="Helvetica Neue"/>
                <a:cs typeface="Helvetica Neue"/>
              </a:defRPr>
            </a:lvl3pPr>
            <a:lvl4pPr>
              <a:defRPr sz="2325" b="1">
                <a:solidFill>
                  <a:srgbClr val="172B3A"/>
                </a:solidFill>
                <a:latin typeface="Helvetica Neue"/>
                <a:ea typeface="Helvetica Neue"/>
                <a:cs typeface="Helvetica Neue"/>
              </a:defRPr>
            </a:lvl4pPr>
            <a:lvl5pPr>
              <a:defRPr sz="2325" b="1">
                <a:solidFill>
                  <a:srgbClr val="172B3A"/>
                </a:solidFill>
                <a:latin typeface="Helvetica Neue"/>
                <a:ea typeface="Helvetica Neue"/>
                <a:cs typeface="Helvetica Neue"/>
              </a:defRPr>
            </a:lvl5pPr>
            <a:lvl6pPr>
              <a:defRPr sz="2325" b="1">
                <a:solidFill>
                  <a:srgbClr val="172B3A"/>
                </a:solidFill>
                <a:latin typeface="Helvetica Neue"/>
                <a:ea typeface="Helvetica Neue"/>
                <a:cs typeface="Helvetica Neue"/>
              </a:defRPr>
            </a:lvl6pPr>
            <a:lvl7pPr>
              <a:defRPr sz="2325" b="1">
                <a:solidFill>
                  <a:srgbClr val="172B3A"/>
                </a:solidFill>
                <a:latin typeface="Helvetica Neue"/>
                <a:ea typeface="Helvetica Neue"/>
                <a:cs typeface="Helvetica Neue"/>
              </a:defRPr>
            </a:lvl7pPr>
            <a:lvl8pPr>
              <a:defRPr sz="2325" b="1">
                <a:solidFill>
                  <a:srgbClr val="172B3A"/>
                </a:solidFill>
                <a:latin typeface="Helvetica Neue"/>
                <a:ea typeface="Helvetica Neue"/>
                <a:cs typeface="Helvetica Neue"/>
              </a:defRPr>
            </a:lvl8pPr>
            <a:lvl9pPr>
              <a:defRPr sz="2325" b="1">
                <a:solidFill>
                  <a:srgbClr val="172B3A"/>
                </a:solidFill>
                <a:latin typeface="Helvetica Neue"/>
                <a:ea typeface="Helvetica Neue"/>
                <a:cs typeface="Helvetica Neue"/>
              </a:defRPr>
            </a:lvl9pPr>
          </a:lstStyle>
          <a:p xmlns:a="http://schemas.openxmlformats.org/drawingml/2006/main">
            <a:pPr>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It assessed results, but still needed review</a:t>
            </a:r>
          </a:p>
        </p:txBody>
      </p:sp>
      <p:sp>
        <p:nvSpPr>
          <p:cNvPr id="13" name="">
            <a:extLst xmlns:a="http://schemas.openxmlformats.org/drawingml/2006/main">
              <a:ext uri="{FF2B5EF4-FFF2-40B4-BE49-F238E27FC236}">
                <a16:creationId xmlns:a16="http://schemas.microsoft.com/office/drawing/2014/main" id="{08D82B9A-B2BF-4A9D-8FB9-8AD767E4A556}"/>
              </a:ext>
            </a:extLst>
          </p:cNvPr>
          <p:cNvSpPr>
            <a:spLocks xmlns:a="http://schemas.openxmlformats.org/drawingml/2006/main" noGrp="1"/>
          </p:cNvSpPr>
          <p:nvPr/>
        </p:nvSpPr>
        <p:spPr>
          <a:xfrm xmlns:a="http://schemas.openxmlformats.org/drawingml/2006/main">
            <a:off x="1657350" y="5048250"/>
            <a:ext cx="985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defRPr sz="2100" b="0">
                <a:solidFill>
                  <a:srgbClr val="526472"/>
                </a:solidFill>
                <a:latin typeface="Helvetica Neue"/>
                <a:ea typeface="Helvetica Neue"/>
                <a:cs typeface="Helvetica Neue"/>
              </a:defRPr>
            </a:lvl1pPr>
            <a:lvl2pPr>
              <a:defRPr sz="2100" b="0">
                <a:solidFill>
                  <a:srgbClr val="526472"/>
                </a:solidFill>
                <a:latin typeface="Helvetica Neue"/>
                <a:ea typeface="Helvetica Neue"/>
                <a:cs typeface="Helvetica Neue"/>
              </a:defRPr>
            </a:lvl2pPr>
            <a:lvl3pPr>
              <a:defRPr sz="2100" b="0">
                <a:solidFill>
                  <a:srgbClr val="526472"/>
                </a:solidFill>
                <a:latin typeface="Helvetica Neue"/>
                <a:ea typeface="Helvetica Neue"/>
                <a:cs typeface="Helvetica Neue"/>
              </a:defRPr>
            </a:lvl3pPr>
            <a:lvl4pPr>
              <a:defRPr sz="2100" b="0">
                <a:solidFill>
                  <a:srgbClr val="526472"/>
                </a:solidFill>
                <a:latin typeface="Helvetica Neue"/>
                <a:ea typeface="Helvetica Neue"/>
                <a:cs typeface="Helvetica Neue"/>
              </a:defRPr>
            </a:lvl4pPr>
            <a:lvl5pPr>
              <a:defRPr sz="2100" b="0">
                <a:solidFill>
                  <a:srgbClr val="526472"/>
                </a:solidFill>
                <a:latin typeface="Helvetica Neue"/>
                <a:ea typeface="Helvetica Neue"/>
                <a:cs typeface="Helvetica Neue"/>
              </a:defRPr>
            </a:lvl5pPr>
            <a:lvl6pPr>
              <a:defRPr sz="2100" b="0">
                <a:solidFill>
                  <a:srgbClr val="526472"/>
                </a:solidFill>
                <a:latin typeface="Helvetica Neue"/>
                <a:ea typeface="Helvetica Neue"/>
                <a:cs typeface="Helvetica Neue"/>
              </a:defRPr>
            </a:lvl6pPr>
            <a:lvl7pPr>
              <a:defRPr sz="2100" b="0">
                <a:solidFill>
                  <a:srgbClr val="526472"/>
                </a:solidFill>
                <a:latin typeface="Helvetica Neue"/>
                <a:ea typeface="Helvetica Neue"/>
                <a:cs typeface="Helvetica Neue"/>
              </a:defRPr>
            </a:lvl7pPr>
            <a:lvl8pPr>
              <a:defRPr sz="2100" b="0">
                <a:solidFill>
                  <a:srgbClr val="526472"/>
                </a:solidFill>
                <a:latin typeface="Helvetica Neue"/>
                <a:ea typeface="Helvetica Neue"/>
                <a:cs typeface="Helvetica Neue"/>
              </a:defRPr>
            </a:lvl8pPr>
            <a:lvl9pPr>
              <a:defRPr sz="2100" b="0">
                <a:solidFill>
                  <a:srgbClr val="526472"/>
                </a:solidFill>
                <a:latin typeface="Helvetica Neue"/>
                <a:ea typeface="Helvetica Neue"/>
                <a:cs typeface="Helvetica Neue"/>
              </a:defRPr>
            </a:lvl9pPr>
          </a:lstStyle>
          <a:p xmlns:a="http://schemas.openxmlformats.org/drawingml/2006/main">
            <a:pPr>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Its order stayed the same. A human corrected one interpretation.</a:t>
            </a:r>
          </a:p>
        </p:txBody>
      </p:sp>
      <p:sp>
        <p:nvSpPr>
          <p:cNvPr id="14" name="">
            <a:extLst xmlns:a="http://schemas.openxmlformats.org/drawingml/2006/main">
              <a:ext uri="{FF2B5EF4-FFF2-40B4-BE49-F238E27FC236}">
                <a16:creationId xmlns:a16="http://schemas.microsoft.com/office/drawing/2014/main" id="{C1FD9109-D7EB-4206-AF3E-FF19B22E7199}"/>
              </a:ext>
            </a:extLst>
          </p:cNvPr>
          <p:cNvSpPr>
            <a:spLocks xmlns:a="http://schemas.openxmlformats.org/drawingml/2006/main" noGrp="1"/>
          </p:cNvSpPr>
          <p:nvPr/>
        </p:nvSpPr>
        <p:spPr>
          <a:xfrm xmlns:a="http://schemas.openxmlformats.org/drawingml/2006/main">
            <a:off x="533400" y="6010275"/>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007F7B"/>
                </a:solidFill>
                <a:latin typeface="Helvetica Neue"/>
                <a:ea typeface="Helvetica Neue"/>
                <a:cs typeface="Helvetica Neue"/>
              </a:defRPr>
            </a:defPPr>
            <a:lvl1pPr>
              <a:defRPr sz="1800" b="0">
                <a:solidFill>
                  <a:srgbClr val="007F7B"/>
                </a:solidFill>
                <a:latin typeface="Helvetica Neue"/>
                <a:ea typeface="Helvetica Neue"/>
                <a:cs typeface="Helvetica Neue"/>
              </a:defRPr>
            </a:lvl1pPr>
            <a:lvl2pPr>
              <a:defRPr sz="1800" b="0">
                <a:solidFill>
                  <a:srgbClr val="007F7B"/>
                </a:solidFill>
                <a:latin typeface="Helvetica Neue"/>
                <a:ea typeface="Helvetica Neue"/>
                <a:cs typeface="Helvetica Neue"/>
              </a:defRPr>
            </a:lvl2pPr>
            <a:lvl3pPr>
              <a:defRPr sz="1800" b="0">
                <a:solidFill>
                  <a:srgbClr val="007F7B"/>
                </a:solidFill>
                <a:latin typeface="Helvetica Neue"/>
                <a:ea typeface="Helvetica Neue"/>
                <a:cs typeface="Helvetica Neue"/>
              </a:defRPr>
            </a:lvl3pPr>
            <a:lvl4pPr>
              <a:defRPr sz="1800" b="0">
                <a:solidFill>
                  <a:srgbClr val="007F7B"/>
                </a:solidFill>
                <a:latin typeface="Helvetica Neue"/>
                <a:ea typeface="Helvetica Neue"/>
                <a:cs typeface="Helvetica Neue"/>
              </a:defRPr>
            </a:lvl4pPr>
            <a:lvl5pPr>
              <a:defRPr sz="1800" b="0">
                <a:solidFill>
                  <a:srgbClr val="007F7B"/>
                </a:solidFill>
                <a:latin typeface="Helvetica Neue"/>
                <a:ea typeface="Helvetica Neue"/>
                <a:cs typeface="Helvetica Neue"/>
              </a:defRPr>
            </a:lvl5pPr>
            <a:lvl6pPr>
              <a:defRPr sz="1800" b="0">
                <a:solidFill>
                  <a:srgbClr val="007F7B"/>
                </a:solidFill>
                <a:latin typeface="Helvetica Neue"/>
                <a:ea typeface="Helvetica Neue"/>
                <a:cs typeface="Helvetica Neue"/>
              </a:defRPr>
            </a:lvl6pPr>
            <a:lvl7pPr>
              <a:defRPr sz="1800" b="0">
                <a:solidFill>
                  <a:srgbClr val="007F7B"/>
                </a:solidFill>
                <a:latin typeface="Helvetica Neue"/>
                <a:ea typeface="Helvetica Neue"/>
                <a:cs typeface="Helvetica Neue"/>
              </a:defRPr>
            </a:lvl7pPr>
            <a:lvl8pPr>
              <a:defRPr sz="1800" b="0">
                <a:solidFill>
                  <a:srgbClr val="007F7B"/>
                </a:solidFill>
                <a:latin typeface="Helvetica Neue"/>
                <a:ea typeface="Helvetica Neue"/>
                <a:cs typeface="Helvetica Neue"/>
              </a:defRPr>
            </a:lvl8pPr>
            <a:lvl9pPr>
              <a:defRPr sz="1800" b="0">
                <a:solidFill>
                  <a:srgbClr val="007F7B"/>
                </a:solidFill>
                <a:latin typeface="Helvetica Neue"/>
                <a:ea typeface="Helvetica Neue"/>
                <a:cs typeface="Helvetica Neue"/>
              </a:defRPr>
            </a:lvl9pPr>
          </a:lstStyle>
          <a:p xmlns:a="http://schemas.openxmlformats.org/drawingml/2006/main">
            <a:pPr>
              <a:defRPr sz="1800" b="0">
                <a:solidFill>
                  <a:srgbClr val="007F7B"/>
                </a:solidFill>
                <a:latin typeface="Helvetica Neue"/>
                <a:ea typeface="Helvetica Neue"/>
                <a:cs typeface="Helvetica Neue"/>
              </a:defRPr>
            </a:pPr>
            <a:r>
              <a:rPr sz="1800" b="0">
                <a:solidFill>
                  <a:srgbClr val="007F7B"/>
                </a:solidFill>
                <a:latin typeface="Helvetica Neue"/>
                <a:ea typeface="Helvetica Neue"/>
                <a:cs typeface="Helvetica Neue"/>
              </a:rPr>
              <a:t>We tested a scientific decision process. A better battery coating has not yet been validated.</a:t>
            </a:r>
          </a:p>
        </p:txBody>
      </p:sp>
    </p:spTree>
    <p:extLst>
      <p:ext uri="{BB962C8B-B14F-4D97-AF65-F5344CB8AC3E}">
        <p14:creationId xmlns:p14="http://schemas.microsoft.com/office/powerpoint/2010/main" val="1061926165"/>
      </p:ext>
    </p:extLst>
  </p:cSld>
</p:sld>
</file>

<file path=ppt/slides/slide1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990AD30-45ED-4A17-B2DC-085CD5E44E78}"/>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TOWARD USEFUL BATTERY COATINGS</a:t>
            </a:r>
          </a:p>
        </p:txBody>
      </p:sp>
      <p:sp>
        <p:nvSpPr>
          <p:cNvPr id="2" name="">
            <a:extLst xmlns:a="http://schemas.openxmlformats.org/drawingml/2006/main">
              <a:ext uri="{FF2B5EF4-FFF2-40B4-BE49-F238E27FC236}">
                <a16:creationId xmlns:a16="http://schemas.microsoft.com/office/drawing/2014/main" id="{F33F4CD9-B63E-47DA-ADA8-A03F7000CA5C}"/>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What comes next</a:t>
            </a:r>
          </a:p>
        </p:txBody>
      </p:sp>
      <p:sp>
        <p:nvSpPr>
          <p:cNvPr id="3" name="">
            <a:extLst xmlns:a="http://schemas.openxmlformats.org/drawingml/2006/main">
              <a:ext uri="{FF2B5EF4-FFF2-40B4-BE49-F238E27FC236}">
                <a16:creationId xmlns:a16="http://schemas.microsoft.com/office/drawing/2014/main" id="{42054062-BA11-43C4-8993-6709B4488C37}"/>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EA85907C-41A9-4B3F-B3D6-7F233B426CEE}"/>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76AAA46C-34D1-43B3-8626-CA0DAD962EA5}"/>
              </a:ext>
            </a:extLst>
          </p:cNvPr>
          <p:cNvSpPr>
            <a:spLocks xmlns:a="http://schemas.openxmlformats.org/drawingml/2006/main" noGrp="1"/>
          </p:cNvSpPr>
          <p:nvPr/>
        </p:nvSpPr>
        <p:spPr>
          <a:xfrm xmlns:a="http://schemas.openxmlformats.org/drawingml/2006/main">
            <a:off x="533400" y="200977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7F7B"/>
                </a:solidFill>
                <a:latin typeface="Helvetica Neue"/>
                <a:ea typeface="Helvetica Neue"/>
                <a:cs typeface="Helvetica Neue"/>
              </a:defRPr>
            </a:defPPr>
            <a:lvl1pPr>
              <a:defRPr sz="3225" b="1">
                <a:solidFill>
                  <a:srgbClr val="007F7B"/>
                </a:solidFill>
                <a:latin typeface="Helvetica Neue"/>
                <a:ea typeface="Helvetica Neue"/>
                <a:cs typeface="Helvetica Neue"/>
              </a:defRPr>
            </a:lvl1pPr>
            <a:lvl2pPr>
              <a:defRPr sz="3225" b="1">
                <a:solidFill>
                  <a:srgbClr val="007F7B"/>
                </a:solidFill>
                <a:latin typeface="Helvetica Neue"/>
                <a:ea typeface="Helvetica Neue"/>
                <a:cs typeface="Helvetica Neue"/>
              </a:defRPr>
            </a:lvl2pPr>
            <a:lvl3pPr>
              <a:defRPr sz="3225" b="1">
                <a:solidFill>
                  <a:srgbClr val="007F7B"/>
                </a:solidFill>
                <a:latin typeface="Helvetica Neue"/>
                <a:ea typeface="Helvetica Neue"/>
                <a:cs typeface="Helvetica Neue"/>
              </a:defRPr>
            </a:lvl3pPr>
            <a:lvl4pPr>
              <a:defRPr sz="3225" b="1">
                <a:solidFill>
                  <a:srgbClr val="007F7B"/>
                </a:solidFill>
                <a:latin typeface="Helvetica Neue"/>
                <a:ea typeface="Helvetica Neue"/>
                <a:cs typeface="Helvetica Neue"/>
              </a:defRPr>
            </a:lvl4pPr>
            <a:lvl5pPr>
              <a:defRPr sz="3225" b="1">
                <a:solidFill>
                  <a:srgbClr val="007F7B"/>
                </a:solidFill>
                <a:latin typeface="Helvetica Neue"/>
                <a:ea typeface="Helvetica Neue"/>
                <a:cs typeface="Helvetica Neue"/>
              </a:defRPr>
            </a:lvl5pPr>
            <a:lvl6pPr>
              <a:defRPr sz="3225" b="1">
                <a:solidFill>
                  <a:srgbClr val="007F7B"/>
                </a:solidFill>
                <a:latin typeface="Helvetica Neue"/>
                <a:ea typeface="Helvetica Neue"/>
                <a:cs typeface="Helvetica Neue"/>
              </a:defRPr>
            </a:lvl6pPr>
            <a:lvl7pPr>
              <a:defRPr sz="3225" b="1">
                <a:solidFill>
                  <a:srgbClr val="007F7B"/>
                </a:solidFill>
                <a:latin typeface="Helvetica Neue"/>
                <a:ea typeface="Helvetica Neue"/>
                <a:cs typeface="Helvetica Neue"/>
              </a:defRPr>
            </a:lvl7pPr>
            <a:lvl8pPr>
              <a:defRPr sz="3225" b="1">
                <a:solidFill>
                  <a:srgbClr val="007F7B"/>
                </a:solidFill>
                <a:latin typeface="Helvetica Neue"/>
                <a:ea typeface="Helvetica Neue"/>
                <a:cs typeface="Helvetica Neue"/>
              </a:defRPr>
            </a:lvl8pPr>
            <a:lvl9pPr>
              <a:defRPr sz="3225" b="1">
                <a:solidFill>
                  <a:srgbClr val="007F7B"/>
                </a:solidFill>
                <a:latin typeface="Helvetica Neue"/>
                <a:ea typeface="Helvetica Neue"/>
                <a:cs typeface="Helvetica Neue"/>
              </a:defRPr>
            </a:lvl9pPr>
          </a:lstStyle>
          <a:p xmlns:a="http://schemas.openxmlformats.org/drawingml/2006/main">
            <a:pPr>
              <a:defRPr sz="3225" b="1">
                <a:solidFill>
                  <a:srgbClr val="007F7B"/>
                </a:solidFill>
                <a:latin typeface="Helvetica Neue"/>
                <a:ea typeface="Helvetica Neue"/>
                <a:cs typeface="Helvetica Neue"/>
              </a:defRPr>
            </a:pPr>
            <a:r>
              <a:rPr sz="3225" b="1">
                <a:solidFill>
                  <a:srgbClr val="007F7B"/>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06C2052E-31D5-4391-9997-06C0BE69509A}"/>
              </a:ext>
            </a:extLst>
          </p:cNvPr>
          <p:cNvSpPr>
            <a:spLocks xmlns:a="http://schemas.openxmlformats.org/drawingml/2006/main" noGrp="1"/>
          </p:cNvSpPr>
          <p:nvPr/>
        </p:nvSpPr>
        <p:spPr>
          <a:xfrm xmlns:a="http://schemas.openxmlformats.org/drawingml/2006/main">
            <a:off x="1657350" y="2009775"/>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defRPr sz="2325" b="1">
                <a:solidFill>
                  <a:srgbClr val="172B3A"/>
                </a:solidFill>
                <a:latin typeface="Helvetica Neue"/>
                <a:ea typeface="Helvetica Neue"/>
                <a:cs typeface="Helvetica Neue"/>
              </a:defRPr>
            </a:lvl1pPr>
            <a:lvl2pPr>
              <a:defRPr sz="2325" b="1">
                <a:solidFill>
                  <a:srgbClr val="172B3A"/>
                </a:solidFill>
                <a:latin typeface="Helvetica Neue"/>
                <a:ea typeface="Helvetica Neue"/>
                <a:cs typeface="Helvetica Neue"/>
              </a:defRPr>
            </a:lvl2pPr>
            <a:lvl3pPr>
              <a:defRPr sz="2325" b="1">
                <a:solidFill>
                  <a:srgbClr val="172B3A"/>
                </a:solidFill>
                <a:latin typeface="Helvetica Neue"/>
                <a:ea typeface="Helvetica Neue"/>
                <a:cs typeface="Helvetica Neue"/>
              </a:defRPr>
            </a:lvl3pPr>
            <a:lvl4pPr>
              <a:defRPr sz="2325" b="1">
                <a:solidFill>
                  <a:srgbClr val="172B3A"/>
                </a:solidFill>
                <a:latin typeface="Helvetica Neue"/>
                <a:ea typeface="Helvetica Neue"/>
                <a:cs typeface="Helvetica Neue"/>
              </a:defRPr>
            </a:lvl4pPr>
            <a:lvl5pPr>
              <a:defRPr sz="2325" b="1">
                <a:solidFill>
                  <a:srgbClr val="172B3A"/>
                </a:solidFill>
                <a:latin typeface="Helvetica Neue"/>
                <a:ea typeface="Helvetica Neue"/>
                <a:cs typeface="Helvetica Neue"/>
              </a:defRPr>
            </a:lvl5pPr>
            <a:lvl6pPr>
              <a:defRPr sz="2325" b="1">
                <a:solidFill>
                  <a:srgbClr val="172B3A"/>
                </a:solidFill>
                <a:latin typeface="Helvetica Neue"/>
                <a:ea typeface="Helvetica Neue"/>
                <a:cs typeface="Helvetica Neue"/>
              </a:defRPr>
            </a:lvl6pPr>
            <a:lvl7pPr>
              <a:defRPr sz="2325" b="1">
                <a:solidFill>
                  <a:srgbClr val="172B3A"/>
                </a:solidFill>
                <a:latin typeface="Helvetica Neue"/>
                <a:ea typeface="Helvetica Neue"/>
                <a:cs typeface="Helvetica Neue"/>
              </a:defRPr>
            </a:lvl7pPr>
            <a:lvl8pPr>
              <a:defRPr sz="2325" b="1">
                <a:solidFill>
                  <a:srgbClr val="172B3A"/>
                </a:solidFill>
                <a:latin typeface="Helvetica Neue"/>
                <a:ea typeface="Helvetica Neue"/>
                <a:cs typeface="Helvetica Neue"/>
              </a:defRPr>
            </a:lvl8pPr>
            <a:lvl9pPr>
              <a:defRPr sz="2325" b="1">
                <a:solidFill>
                  <a:srgbClr val="172B3A"/>
                </a:solidFill>
                <a:latin typeface="Helvetica Neue"/>
                <a:ea typeface="Helvetica Neue"/>
                <a:cs typeface="Helvetica Neue"/>
              </a:defRPr>
            </a:lvl9pPr>
          </a:lstStyle>
          <a:p xmlns:a="http://schemas.openxmlformats.org/drawingml/2006/main">
            <a:pPr>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Improve how the LLM explores</a:t>
            </a:r>
          </a:p>
        </p:txBody>
      </p:sp>
      <p:sp>
        <p:nvSpPr>
          <p:cNvPr id="7" name="">
            <a:extLst xmlns:a="http://schemas.openxmlformats.org/drawingml/2006/main">
              <a:ext uri="{FF2B5EF4-FFF2-40B4-BE49-F238E27FC236}">
                <a16:creationId xmlns:a16="http://schemas.microsoft.com/office/drawing/2014/main" id="{B230406A-7980-4E21-B4B7-E4AE8FEF6EC0}"/>
              </a:ext>
            </a:extLst>
          </p:cNvPr>
          <p:cNvSpPr>
            <a:spLocks xmlns:a="http://schemas.openxmlformats.org/drawingml/2006/main" noGrp="1"/>
          </p:cNvSpPr>
          <p:nvPr/>
        </p:nvSpPr>
        <p:spPr>
          <a:xfrm xmlns:a="http://schemas.openxmlformats.org/drawingml/2006/main">
            <a:off x="1657350" y="2476500"/>
            <a:ext cx="985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defRPr sz="2100" b="0">
                <a:solidFill>
                  <a:srgbClr val="526472"/>
                </a:solidFill>
                <a:latin typeface="Helvetica Neue"/>
                <a:ea typeface="Helvetica Neue"/>
                <a:cs typeface="Helvetica Neue"/>
              </a:defRPr>
            </a:lvl1pPr>
            <a:lvl2pPr>
              <a:defRPr sz="2100" b="0">
                <a:solidFill>
                  <a:srgbClr val="526472"/>
                </a:solidFill>
                <a:latin typeface="Helvetica Neue"/>
                <a:ea typeface="Helvetica Neue"/>
                <a:cs typeface="Helvetica Neue"/>
              </a:defRPr>
            </a:lvl2pPr>
            <a:lvl3pPr>
              <a:defRPr sz="2100" b="0">
                <a:solidFill>
                  <a:srgbClr val="526472"/>
                </a:solidFill>
                <a:latin typeface="Helvetica Neue"/>
                <a:ea typeface="Helvetica Neue"/>
                <a:cs typeface="Helvetica Neue"/>
              </a:defRPr>
            </a:lvl3pPr>
            <a:lvl4pPr>
              <a:defRPr sz="2100" b="0">
                <a:solidFill>
                  <a:srgbClr val="526472"/>
                </a:solidFill>
                <a:latin typeface="Helvetica Neue"/>
                <a:ea typeface="Helvetica Neue"/>
                <a:cs typeface="Helvetica Neue"/>
              </a:defRPr>
            </a:lvl4pPr>
            <a:lvl5pPr>
              <a:defRPr sz="2100" b="0">
                <a:solidFill>
                  <a:srgbClr val="526472"/>
                </a:solidFill>
                <a:latin typeface="Helvetica Neue"/>
                <a:ea typeface="Helvetica Neue"/>
                <a:cs typeface="Helvetica Neue"/>
              </a:defRPr>
            </a:lvl5pPr>
            <a:lvl6pPr>
              <a:defRPr sz="2100" b="0">
                <a:solidFill>
                  <a:srgbClr val="526472"/>
                </a:solidFill>
                <a:latin typeface="Helvetica Neue"/>
                <a:ea typeface="Helvetica Neue"/>
                <a:cs typeface="Helvetica Neue"/>
              </a:defRPr>
            </a:lvl6pPr>
            <a:lvl7pPr>
              <a:defRPr sz="2100" b="0">
                <a:solidFill>
                  <a:srgbClr val="526472"/>
                </a:solidFill>
                <a:latin typeface="Helvetica Neue"/>
                <a:ea typeface="Helvetica Neue"/>
                <a:cs typeface="Helvetica Neue"/>
              </a:defRPr>
            </a:lvl7pPr>
            <a:lvl8pPr>
              <a:defRPr sz="2100" b="0">
                <a:solidFill>
                  <a:srgbClr val="526472"/>
                </a:solidFill>
                <a:latin typeface="Helvetica Neue"/>
                <a:ea typeface="Helvetica Neue"/>
                <a:cs typeface="Helvetica Neue"/>
              </a:defRPr>
            </a:lvl8pPr>
            <a:lvl9pPr>
              <a:defRPr sz="2100" b="0">
                <a:solidFill>
                  <a:srgbClr val="526472"/>
                </a:solidFill>
                <a:latin typeface="Helvetica Neue"/>
                <a:ea typeface="Helvetica Neue"/>
                <a:cs typeface="Helvetica Neue"/>
              </a:defRPr>
            </a:lvl9pPr>
          </a:lstStyle>
          <a:p xmlns:a="http://schemas.openxmlformats.org/drawingml/2006/main">
            <a:pPr>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Test ways to avoid repeating a narrow set of chemical ideas.</a:t>
            </a:r>
          </a:p>
        </p:txBody>
      </p:sp>
      <p:sp>
        <p:nvSpPr>
          <p:cNvPr id="8" name="">
            <a:extLst xmlns:a="http://schemas.openxmlformats.org/drawingml/2006/main">
              <a:ext uri="{FF2B5EF4-FFF2-40B4-BE49-F238E27FC236}">
                <a16:creationId xmlns:a16="http://schemas.microsoft.com/office/drawing/2014/main" id="{1935B013-EB9A-4A3B-B578-BC348095AF03}"/>
              </a:ext>
            </a:extLst>
          </p:cNvPr>
          <p:cNvSpPr>
            <a:spLocks xmlns:a="http://schemas.openxmlformats.org/drawingml/2006/main" noGrp="1"/>
          </p:cNvSpPr>
          <p:nvPr/>
        </p:nvSpPr>
        <p:spPr>
          <a:xfrm xmlns:a="http://schemas.openxmlformats.org/drawingml/2006/main">
            <a:off x="533400" y="326707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7F7B"/>
                </a:solidFill>
                <a:latin typeface="Helvetica Neue"/>
                <a:ea typeface="Helvetica Neue"/>
                <a:cs typeface="Helvetica Neue"/>
              </a:defRPr>
            </a:defPPr>
            <a:lvl1pPr>
              <a:defRPr sz="3225" b="1">
                <a:solidFill>
                  <a:srgbClr val="007F7B"/>
                </a:solidFill>
                <a:latin typeface="Helvetica Neue"/>
                <a:ea typeface="Helvetica Neue"/>
                <a:cs typeface="Helvetica Neue"/>
              </a:defRPr>
            </a:lvl1pPr>
            <a:lvl2pPr>
              <a:defRPr sz="3225" b="1">
                <a:solidFill>
                  <a:srgbClr val="007F7B"/>
                </a:solidFill>
                <a:latin typeface="Helvetica Neue"/>
                <a:ea typeface="Helvetica Neue"/>
                <a:cs typeface="Helvetica Neue"/>
              </a:defRPr>
            </a:lvl2pPr>
            <a:lvl3pPr>
              <a:defRPr sz="3225" b="1">
                <a:solidFill>
                  <a:srgbClr val="007F7B"/>
                </a:solidFill>
                <a:latin typeface="Helvetica Neue"/>
                <a:ea typeface="Helvetica Neue"/>
                <a:cs typeface="Helvetica Neue"/>
              </a:defRPr>
            </a:lvl3pPr>
            <a:lvl4pPr>
              <a:defRPr sz="3225" b="1">
                <a:solidFill>
                  <a:srgbClr val="007F7B"/>
                </a:solidFill>
                <a:latin typeface="Helvetica Neue"/>
                <a:ea typeface="Helvetica Neue"/>
                <a:cs typeface="Helvetica Neue"/>
              </a:defRPr>
            </a:lvl4pPr>
            <a:lvl5pPr>
              <a:defRPr sz="3225" b="1">
                <a:solidFill>
                  <a:srgbClr val="007F7B"/>
                </a:solidFill>
                <a:latin typeface="Helvetica Neue"/>
                <a:ea typeface="Helvetica Neue"/>
                <a:cs typeface="Helvetica Neue"/>
              </a:defRPr>
            </a:lvl5pPr>
            <a:lvl6pPr>
              <a:defRPr sz="3225" b="1">
                <a:solidFill>
                  <a:srgbClr val="007F7B"/>
                </a:solidFill>
                <a:latin typeface="Helvetica Neue"/>
                <a:ea typeface="Helvetica Neue"/>
                <a:cs typeface="Helvetica Neue"/>
              </a:defRPr>
            </a:lvl6pPr>
            <a:lvl7pPr>
              <a:defRPr sz="3225" b="1">
                <a:solidFill>
                  <a:srgbClr val="007F7B"/>
                </a:solidFill>
                <a:latin typeface="Helvetica Neue"/>
                <a:ea typeface="Helvetica Neue"/>
                <a:cs typeface="Helvetica Neue"/>
              </a:defRPr>
            </a:lvl7pPr>
            <a:lvl8pPr>
              <a:defRPr sz="3225" b="1">
                <a:solidFill>
                  <a:srgbClr val="007F7B"/>
                </a:solidFill>
                <a:latin typeface="Helvetica Neue"/>
                <a:ea typeface="Helvetica Neue"/>
                <a:cs typeface="Helvetica Neue"/>
              </a:defRPr>
            </a:lvl8pPr>
            <a:lvl9pPr>
              <a:defRPr sz="3225" b="1">
                <a:solidFill>
                  <a:srgbClr val="007F7B"/>
                </a:solidFill>
                <a:latin typeface="Helvetica Neue"/>
                <a:ea typeface="Helvetica Neue"/>
                <a:cs typeface="Helvetica Neue"/>
              </a:defRPr>
            </a:lvl9pPr>
          </a:lstStyle>
          <a:p xmlns:a="http://schemas.openxmlformats.org/drawingml/2006/main">
            <a:pPr>
              <a:defRPr sz="3225" b="1">
                <a:solidFill>
                  <a:srgbClr val="007F7B"/>
                </a:solidFill>
                <a:latin typeface="Helvetica Neue"/>
                <a:ea typeface="Helvetica Neue"/>
                <a:cs typeface="Helvetica Neue"/>
              </a:defRPr>
            </a:pPr>
            <a:r>
              <a:rPr sz="3225" b="1">
                <a:solidFill>
                  <a:srgbClr val="007F7B"/>
                </a:solidFill>
                <a:latin typeface="Helvetica Neue"/>
                <a:ea typeface="Helvetica Neue"/>
                <a:cs typeface="Helvetica Neue"/>
              </a:rPr>
              <a:t>2</a:t>
            </a:r>
          </a:p>
        </p:txBody>
      </p:sp>
      <p:sp>
        <p:nvSpPr>
          <p:cNvPr id="9" name="">
            <a:extLst xmlns:a="http://schemas.openxmlformats.org/drawingml/2006/main">
              <a:ext uri="{FF2B5EF4-FFF2-40B4-BE49-F238E27FC236}">
                <a16:creationId xmlns:a16="http://schemas.microsoft.com/office/drawing/2014/main" id="{2CE9BDFC-DEED-46EB-A8F0-A9E8053C31B1}"/>
              </a:ext>
            </a:extLst>
          </p:cNvPr>
          <p:cNvSpPr>
            <a:spLocks xmlns:a="http://schemas.openxmlformats.org/drawingml/2006/main" noGrp="1"/>
          </p:cNvSpPr>
          <p:nvPr/>
        </p:nvSpPr>
        <p:spPr>
          <a:xfrm xmlns:a="http://schemas.openxmlformats.org/drawingml/2006/main">
            <a:off x="1657350" y="3267075"/>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defRPr sz="2325" b="1">
                <a:solidFill>
                  <a:srgbClr val="172B3A"/>
                </a:solidFill>
                <a:latin typeface="Helvetica Neue"/>
                <a:ea typeface="Helvetica Neue"/>
                <a:cs typeface="Helvetica Neue"/>
              </a:defRPr>
            </a:lvl1pPr>
            <a:lvl2pPr>
              <a:defRPr sz="2325" b="1">
                <a:solidFill>
                  <a:srgbClr val="172B3A"/>
                </a:solidFill>
                <a:latin typeface="Helvetica Neue"/>
                <a:ea typeface="Helvetica Neue"/>
                <a:cs typeface="Helvetica Neue"/>
              </a:defRPr>
            </a:lvl2pPr>
            <a:lvl3pPr>
              <a:defRPr sz="2325" b="1">
                <a:solidFill>
                  <a:srgbClr val="172B3A"/>
                </a:solidFill>
                <a:latin typeface="Helvetica Neue"/>
                <a:ea typeface="Helvetica Neue"/>
                <a:cs typeface="Helvetica Neue"/>
              </a:defRPr>
            </a:lvl3pPr>
            <a:lvl4pPr>
              <a:defRPr sz="2325" b="1">
                <a:solidFill>
                  <a:srgbClr val="172B3A"/>
                </a:solidFill>
                <a:latin typeface="Helvetica Neue"/>
                <a:ea typeface="Helvetica Neue"/>
                <a:cs typeface="Helvetica Neue"/>
              </a:defRPr>
            </a:lvl4pPr>
            <a:lvl5pPr>
              <a:defRPr sz="2325" b="1">
                <a:solidFill>
                  <a:srgbClr val="172B3A"/>
                </a:solidFill>
                <a:latin typeface="Helvetica Neue"/>
                <a:ea typeface="Helvetica Neue"/>
                <a:cs typeface="Helvetica Neue"/>
              </a:defRPr>
            </a:lvl5pPr>
            <a:lvl6pPr>
              <a:defRPr sz="2325" b="1">
                <a:solidFill>
                  <a:srgbClr val="172B3A"/>
                </a:solidFill>
                <a:latin typeface="Helvetica Neue"/>
                <a:ea typeface="Helvetica Neue"/>
                <a:cs typeface="Helvetica Neue"/>
              </a:defRPr>
            </a:lvl6pPr>
            <a:lvl7pPr>
              <a:defRPr sz="2325" b="1">
                <a:solidFill>
                  <a:srgbClr val="172B3A"/>
                </a:solidFill>
                <a:latin typeface="Helvetica Neue"/>
                <a:ea typeface="Helvetica Neue"/>
                <a:cs typeface="Helvetica Neue"/>
              </a:defRPr>
            </a:lvl7pPr>
            <a:lvl8pPr>
              <a:defRPr sz="2325" b="1">
                <a:solidFill>
                  <a:srgbClr val="172B3A"/>
                </a:solidFill>
                <a:latin typeface="Helvetica Neue"/>
                <a:ea typeface="Helvetica Neue"/>
                <a:cs typeface="Helvetica Neue"/>
              </a:defRPr>
            </a:lvl8pPr>
            <a:lvl9pPr>
              <a:defRPr sz="2325" b="1">
                <a:solidFill>
                  <a:srgbClr val="172B3A"/>
                </a:solidFill>
                <a:latin typeface="Helvetica Neue"/>
                <a:ea typeface="Helvetica Neue"/>
                <a:cs typeface="Helvetica Neue"/>
              </a:defRPr>
            </a:lvl9pPr>
          </a:lstStyle>
          <a:p xmlns:a="http://schemas.openxmlformats.org/drawingml/2006/main">
            <a:pPr>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Test choices over more physical calculations</a:t>
            </a:r>
          </a:p>
        </p:txBody>
      </p:sp>
      <p:sp>
        <p:nvSpPr>
          <p:cNvPr id="10" name="">
            <a:extLst xmlns:a="http://schemas.openxmlformats.org/drawingml/2006/main">
              <a:ext uri="{FF2B5EF4-FFF2-40B4-BE49-F238E27FC236}">
                <a16:creationId xmlns:a16="http://schemas.microsoft.com/office/drawing/2014/main" id="{409C3885-685A-447E-8127-6F5DEFAE186A}"/>
              </a:ext>
            </a:extLst>
          </p:cNvPr>
          <p:cNvSpPr>
            <a:spLocks xmlns:a="http://schemas.openxmlformats.org/drawingml/2006/main" noGrp="1"/>
          </p:cNvSpPr>
          <p:nvPr/>
        </p:nvSpPr>
        <p:spPr>
          <a:xfrm xmlns:a="http://schemas.openxmlformats.org/drawingml/2006/main">
            <a:off x="1657350" y="3733800"/>
            <a:ext cx="985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defRPr sz="2100" b="0">
                <a:solidFill>
                  <a:srgbClr val="526472"/>
                </a:solidFill>
                <a:latin typeface="Helvetica Neue"/>
                <a:ea typeface="Helvetica Neue"/>
                <a:cs typeface="Helvetica Neue"/>
              </a:defRPr>
            </a:lvl1pPr>
            <a:lvl2pPr>
              <a:defRPr sz="2100" b="0">
                <a:solidFill>
                  <a:srgbClr val="526472"/>
                </a:solidFill>
                <a:latin typeface="Helvetica Neue"/>
                <a:ea typeface="Helvetica Neue"/>
                <a:cs typeface="Helvetica Neue"/>
              </a:defRPr>
            </a:lvl2pPr>
            <a:lvl3pPr>
              <a:defRPr sz="2100" b="0">
                <a:solidFill>
                  <a:srgbClr val="526472"/>
                </a:solidFill>
                <a:latin typeface="Helvetica Neue"/>
                <a:ea typeface="Helvetica Neue"/>
                <a:cs typeface="Helvetica Neue"/>
              </a:defRPr>
            </a:lvl3pPr>
            <a:lvl4pPr>
              <a:defRPr sz="2100" b="0">
                <a:solidFill>
                  <a:srgbClr val="526472"/>
                </a:solidFill>
                <a:latin typeface="Helvetica Neue"/>
                <a:ea typeface="Helvetica Neue"/>
                <a:cs typeface="Helvetica Neue"/>
              </a:defRPr>
            </a:lvl4pPr>
            <a:lvl5pPr>
              <a:defRPr sz="2100" b="0">
                <a:solidFill>
                  <a:srgbClr val="526472"/>
                </a:solidFill>
                <a:latin typeface="Helvetica Neue"/>
                <a:ea typeface="Helvetica Neue"/>
                <a:cs typeface="Helvetica Neue"/>
              </a:defRPr>
            </a:lvl5pPr>
            <a:lvl6pPr>
              <a:defRPr sz="2100" b="0">
                <a:solidFill>
                  <a:srgbClr val="526472"/>
                </a:solidFill>
                <a:latin typeface="Helvetica Neue"/>
                <a:ea typeface="Helvetica Neue"/>
                <a:cs typeface="Helvetica Neue"/>
              </a:defRPr>
            </a:lvl6pPr>
            <a:lvl7pPr>
              <a:defRPr sz="2100" b="0">
                <a:solidFill>
                  <a:srgbClr val="526472"/>
                </a:solidFill>
                <a:latin typeface="Helvetica Neue"/>
                <a:ea typeface="Helvetica Neue"/>
                <a:cs typeface="Helvetica Neue"/>
              </a:defRPr>
            </a:lvl7pPr>
            <a:lvl8pPr>
              <a:defRPr sz="2100" b="0">
                <a:solidFill>
                  <a:srgbClr val="526472"/>
                </a:solidFill>
                <a:latin typeface="Helvetica Neue"/>
                <a:ea typeface="Helvetica Neue"/>
                <a:cs typeface="Helvetica Neue"/>
              </a:defRPr>
            </a:lvl8pPr>
            <a:lvl9pPr>
              <a:defRPr sz="2100" b="0">
                <a:solidFill>
                  <a:srgbClr val="526472"/>
                </a:solidFill>
                <a:latin typeface="Helvetica Neue"/>
                <a:ea typeface="Helvetica Neue"/>
                <a:cs typeface="Helvetica Neue"/>
              </a:defRPr>
            </a:lvl9pPr>
          </a:lstStyle>
          <a:p xmlns:a="http://schemas.openxmlformats.org/drawingml/2006/main">
            <a:pPr>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Compare LLM-guided selection with simple rules and random choices.</a:t>
            </a:r>
          </a:p>
        </p:txBody>
      </p:sp>
      <p:sp>
        <p:nvSpPr>
          <p:cNvPr id="11" name="">
            <a:extLst xmlns:a="http://schemas.openxmlformats.org/drawingml/2006/main">
              <a:ext uri="{FF2B5EF4-FFF2-40B4-BE49-F238E27FC236}">
                <a16:creationId xmlns:a16="http://schemas.microsoft.com/office/drawing/2014/main" id="{4C5931EE-40AF-4181-8984-F9D913EFCCD0}"/>
              </a:ext>
            </a:extLst>
          </p:cNvPr>
          <p:cNvSpPr>
            <a:spLocks xmlns:a="http://schemas.openxmlformats.org/drawingml/2006/main" noGrp="1"/>
          </p:cNvSpPr>
          <p:nvPr/>
        </p:nvSpPr>
        <p:spPr>
          <a:xfrm xmlns:a="http://schemas.openxmlformats.org/drawingml/2006/main">
            <a:off x="533400" y="452437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7F7B"/>
                </a:solidFill>
                <a:latin typeface="Helvetica Neue"/>
                <a:ea typeface="Helvetica Neue"/>
                <a:cs typeface="Helvetica Neue"/>
              </a:defRPr>
            </a:defPPr>
            <a:lvl1pPr>
              <a:defRPr sz="3225" b="1">
                <a:solidFill>
                  <a:srgbClr val="007F7B"/>
                </a:solidFill>
                <a:latin typeface="Helvetica Neue"/>
                <a:ea typeface="Helvetica Neue"/>
                <a:cs typeface="Helvetica Neue"/>
              </a:defRPr>
            </a:lvl1pPr>
            <a:lvl2pPr>
              <a:defRPr sz="3225" b="1">
                <a:solidFill>
                  <a:srgbClr val="007F7B"/>
                </a:solidFill>
                <a:latin typeface="Helvetica Neue"/>
                <a:ea typeface="Helvetica Neue"/>
                <a:cs typeface="Helvetica Neue"/>
              </a:defRPr>
            </a:lvl2pPr>
            <a:lvl3pPr>
              <a:defRPr sz="3225" b="1">
                <a:solidFill>
                  <a:srgbClr val="007F7B"/>
                </a:solidFill>
                <a:latin typeface="Helvetica Neue"/>
                <a:ea typeface="Helvetica Neue"/>
                <a:cs typeface="Helvetica Neue"/>
              </a:defRPr>
            </a:lvl3pPr>
            <a:lvl4pPr>
              <a:defRPr sz="3225" b="1">
                <a:solidFill>
                  <a:srgbClr val="007F7B"/>
                </a:solidFill>
                <a:latin typeface="Helvetica Neue"/>
                <a:ea typeface="Helvetica Neue"/>
                <a:cs typeface="Helvetica Neue"/>
              </a:defRPr>
            </a:lvl4pPr>
            <a:lvl5pPr>
              <a:defRPr sz="3225" b="1">
                <a:solidFill>
                  <a:srgbClr val="007F7B"/>
                </a:solidFill>
                <a:latin typeface="Helvetica Neue"/>
                <a:ea typeface="Helvetica Neue"/>
                <a:cs typeface="Helvetica Neue"/>
              </a:defRPr>
            </a:lvl5pPr>
            <a:lvl6pPr>
              <a:defRPr sz="3225" b="1">
                <a:solidFill>
                  <a:srgbClr val="007F7B"/>
                </a:solidFill>
                <a:latin typeface="Helvetica Neue"/>
                <a:ea typeface="Helvetica Neue"/>
                <a:cs typeface="Helvetica Neue"/>
              </a:defRPr>
            </a:lvl6pPr>
            <a:lvl7pPr>
              <a:defRPr sz="3225" b="1">
                <a:solidFill>
                  <a:srgbClr val="007F7B"/>
                </a:solidFill>
                <a:latin typeface="Helvetica Neue"/>
                <a:ea typeface="Helvetica Neue"/>
                <a:cs typeface="Helvetica Neue"/>
              </a:defRPr>
            </a:lvl7pPr>
            <a:lvl8pPr>
              <a:defRPr sz="3225" b="1">
                <a:solidFill>
                  <a:srgbClr val="007F7B"/>
                </a:solidFill>
                <a:latin typeface="Helvetica Neue"/>
                <a:ea typeface="Helvetica Neue"/>
                <a:cs typeface="Helvetica Neue"/>
              </a:defRPr>
            </a:lvl8pPr>
            <a:lvl9pPr>
              <a:defRPr sz="3225" b="1">
                <a:solidFill>
                  <a:srgbClr val="007F7B"/>
                </a:solidFill>
                <a:latin typeface="Helvetica Neue"/>
                <a:ea typeface="Helvetica Neue"/>
                <a:cs typeface="Helvetica Neue"/>
              </a:defRPr>
            </a:lvl9pPr>
          </a:lstStyle>
          <a:p xmlns:a="http://schemas.openxmlformats.org/drawingml/2006/main">
            <a:pPr>
              <a:defRPr sz="3225" b="1">
                <a:solidFill>
                  <a:srgbClr val="007F7B"/>
                </a:solidFill>
                <a:latin typeface="Helvetica Neue"/>
                <a:ea typeface="Helvetica Neue"/>
                <a:cs typeface="Helvetica Neue"/>
              </a:defRPr>
            </a:pPr>
            <a:r>
              <a:rPr sz="3225" b="1">
                <a:solidFill>
                  <a:srgbClr val="007F7B"/>
                </a:solidFill>
                <a:latin typeface="Helvetica Neue"/>
                <a:ea typeface="Helvetica Neue"/>
                <a:cs typeface="Helvetica Neue"/>
              </a:rPr>
              <a:t>3</a:t>
            </a:r>
          </a:p>
        </p:txBody>
      </p:sp>
      <p:sp>
        <p:nvSpPr>
          <p:cNvPr id="12" name="">
            <a:extLst xmlns:a="http://schemas.openxmlformats.org/drawingml/2006/main">
              <a:ext uri="{FF2B5EF4-FFF2-40B4-BE49-F238E27FC236}">
                <a16:creationId xmlns:a16="http://schemas.microsoft.com/office/drawing/2014/main" id="{B8E4C9B3-6914-40B5-807E-A2F288524ECD}"/>
              </a:ext>
            </a:extLst>
          </p:cNvPr>
          <p:cNvSpPr>
            <a:spLocks xmlns:a="http://schemas.openxmlformats.org/drawingml/2006/main" noGrp="1"/>
          </p:cNvSpPr>
          <p:nvPr/>
        </p:nvSpPr>
        <p:spPr>
          <a:xfrm xmlns:a="http://schemas.openxmlformats.org/drawingml/2006/main">
            <a:off x="1657350" y="4524375"/>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defRPr sz="2325" b="1">
                <a:solidFill>
                  <a:srgbClr val="172B3A"/>
                </a:solidFill>
                <a:latin typeface="Helvetica Neue"/>
                <a:ea typeface="Helvetica Neue"/>
                <a:cs typeface="Helvetica Neue"/>
              </a:defRPr>
            </a:lvl1pPr>
            <a:lvl2pPr>
              <a:defRPr sz="2325" b="1">
                <a:solidFill>
                  <a:srgbClr val="172B3A"/>
                </a:solidFill>
                <a:latin typeface="Helvetica Neue"/>
                <a:ea typeface="Helvetica Neue"/>
                <a:cs typeface="Helvetica Neue"/>
              </a:defRPr>
            </a:lvl2pPr>
            <a:lvl3pPr>
              <a:defRPr sz="2325" b="1">
                <a:solidFill>
                  <a:srgbClr val="172B3A"/>
                </a:solidFill>
                <a:latin typeface="Helvetica Neue"/>
                <a:ea typeface="Helvetica Neue"/>
                <a:cs typeface="Helvetica Neue"/>
              </a:defRPr>
            </a:lvl3pPr>
            <a:lvl4pPr>
              <a:defRPr sz="2325" b="1">
                <a:solidFill>
                  <a:srgbClr val="172B3A"/>
                </a:solidFill>
                <a:latin typeface="Helvetica Neue"/>
                <a:ea typeface="Helvetica Neue"/>
                <a:cs typeface="Helvetica Neue"/>
              </a:defRPr>
            </a:lvl4pPr>
            <a:lvl5pPr>
              <a:defRPr sz="2325" b="1">
                <a:solidFill>
                  <a:srgbClr val="172B3A"/>
                </a:solidFill>
                <a:latin typeface="Helvetica Neue"/>
                <a:ea typeface="Helvetica Neue"/>
                <a:cs typeface="Helvetica Neue"/>
              </a:defRPr>
            </a:lvl5pPr>
            <a:lvl6pPr>
              <a:defRPr sz="2325" b="1">
                <a:solidFill>
                  <a:srgbClr val="172B3A"/>
                </a:solidFill>
                <a:latin typeface="Helvetica Neue"/>
                <a:ea typeface="Helvetica Neue"/>
                <a:cs typeface="Helvetica Neue"/>
              </a:defRPr>
            </a:lvl6pPr>
            <a:lvl7pPr>
              <a:defRPr sz="2325" b="1">
                <a:solidFill>
                  <a:srgbClr val="172B3A"/>
                </a:solidFill>
                <a:latin typeface="Helvetica Neue"/>
                <a:ea typeface="Helvetica Neue"/>
                <a:cs typeface="Helvetica Neue"/>
              </a:defRPr>
            </a:lvl7pPr>
            <a:lvl8pPr>
              <a:defRPr sz="2325" b="1">
                <a:solidFill>
                  <a:srgbClr val="172B3A"/>
                </a:solidFill>
                <a:latin typeface="Helvetica Neue"/>
                <a:ea typeface="Helvetica Neue"/>
                <a:cs typeface="Helvetica Neue"/>
              </a:defRPr>
            </a:lvl8pPr>
            <a:lvl9pPr>
              <a:defRPr sz="2325" b="1">
                <a:solidFill>
                  <a:srgbClr val="172B3A"/>
                </a:solidFill>
                <a:latin typeface="Helvetica Neue"/>
                <a:ea typeface="Helvetica Neue"/>
                <a:cs typeface="Helvetica Neue"/>
              </a:defRPr>
            </a:lvl9pPr>
          </a:lstStyle>
          <a:p xmlns:a="http://schemas.openxmlformats.org/drawingml/2006/main">
            <a:pPr>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Check the missing battery requirements</a:t>
            </a:r>
          </a:p>
        </p:txBody>
      </p:sp>
      <p:sp>
        <p:nvSpPr>
          <p:cNvPr id="13" name="">
            <a:extLst xmlns:a="http://schemas.openxmlformats.org/drawingml/2006/main">
              <a:ext uri="{FF2B5EF4-FFF2-40B4-BE49-F238E27FC236}">
                <a16:creationId xmlns:a16="http://schemas.microsoft.com/office/drawing/2014/main" id="{69E200AB-F394-471E-B149-C20983255696}"/>
              </a:ext>
            </a:extLst>
          </p:cNvPr>
          <p:cNvSpPr>
            <a:spLocks xmlns:a="http://schemas.openxmlformats.org/drawingml/2006/main" noGrp="1"/>
          </p:cNvSpPr>
          <p:nvPr/>
        </p:nvSpPr>
        <p:spPr>
          <a:xfrm xmlns:a="http://schemas.openxmlformats.org/drawingml/2006/main">
            <a:off x="1657350" y="4991100"/>
            <a:ext cx="985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defRPr sz="2100" b="0">
                <a:solidFill>
                  <a:srgbClr val="526472"/>
                </a:solidFill>
                <a:latin typeface="Helvetica Neue"/>
                <a:ea typeface="Helvetica Neue"/>
                <a:cs typeface="Helvetica Neue"/>
              </a:defRPr>
            </a:lvl1pPr>
            <a:lvl2pPr>
              <a:defRPr sz="2100" b="0">
                <a:solidFill>
                  <a:srgbClr val="526472"/>
                </a:solidFill>
                <a:latin typeface="Helvetica Neue"/>
                <a:ea typeface="Helvetica Neue"/>
                <a:cs typeface="Helvetica Neue"/>
              </a:defRPr>
            </a:lvl2pPr>
            <a:lvl3pPr>
              <a:defRPr sz="2100" b="0">
                <a:solidFill>
                  <a:srgbClr val="526472"/>
                </a:solidFill>
                <a:latin typeface="Helvetica Neue"/>
                <a:ea typeface="Helvetica Neue"/>
                <a:cs typeface="Helvetica Neue"/>
              </a:defRPr>
            </a:lvl3pPr>
            <a:lvl4pPr>
              <a:defRPr sz="2100" b="0">
                <a:solidFill>
                  <a:srgbClr val="526472"/>
                </a:solidFill>
                <a:latin typeface="Helvetica Neue"/>
                <a:ea typeface="Helvetica Neue"/>
                <a:cs typeface="Helvetica Neue"/>
              </a:defRPr>
            </a:lvl4pPr>
            <a:lvl5pPr>
              <a:defRPr sz="2100" b="0">
                <a:solidFill>
                  <a:srgbClr val="526472"/>
                </a:solidFill>
                <a:latin typeface="Helvetica Neue"/>
                <a:ea typeface="Helvetica Neue"/>
                <a:cs typeface="Helvetica Neue"/>
              </a:defRPr>
            </a:lvl5pPr>
            <a:lvl6pPr>
              <a:defRPr sz="2100" b="0">
                <a:solidFill>
                  <a:srgbClr val="526472"/>
                </a:solidFill>
                <a:latin typeface="Helvetica Neue"/>
                <a:ea typeface="Helvetica Neue"/>
                <a:cs typeface="Helvetica Neue"/>
              </a:defRPr>
            </a:lvl6pPr>
            <a:lvl7pPr>
              <a:defRPr sz="2100" b="0">
                <a:solidFill>
                  <a:srgbClr val="526472"/>
                </a:solidFill>
                <a:latin typeface="Helvetica Neue"/>
                <a:ea typeface="Helvetica Neue"/>
                <a:cs typeface="Helvetica Neue"/>
              </a:defRPr>
            </a:lvl7pPr>
            <a:lvl8pPr>
              <a:defRPr sz="2100" b="0">
                <a:solidFill>
                  <a:srgbClr val="526472"/>
                </a:solidFill>
                <a:latin typeface="Helvetica Neue"/>
                <a:ea typeface="Helvetica Neue"/>
                <a:cs typeface="Helvetica Neue"/>
              </a:defRPr>
            </a:lvl8pPr>
            <a:lvl9pPr>
              <a:defRPr sz="2100" b="0">
                <a:solidFill>
                  <a:srgbClr val="526472"/>
                </a:solidFill>
                <a:latin typeface="Helvetica Neue"/>
                <a:ea typeface="Helvetica Neue"/>
                <a:cs typeface="Helvetica Neue"/>
              </a:defRPr>
            </a:lvl9pPr>
          </a:lstStyle>
          <a:p xmlns:a="http://schemas.openxmlformats.org/drawingml/2006/main">
            <a:pPr>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Test ion transport, practical preparation and experimental performance.</a:t>
            </a:r>
          </a:p>
        </p:txBody>
      </p:sp>
      <p:sp>
        <p:nvSpPr>
          <p:cNvPr id="14" name="">
            <a:extLst xmlns:a="http://schemas.openxmlformats.org/drawingml/2006/main">
              <a:ext uri="{FF2B5EF4-FFF2-40B4-BE49-F238E27FC236}">
                <a16:creationId xmlns:a16="http://schemas.microsoft.com/office/drawing/2014/main" id="{497B3F21-CC39-4481-A6BC-45E05C9F3AB6}"/>
              </a:ext>
            </a:extLst>
          </p:cNvPr>
          <p:cNvSpPr>
            <a:spLocks xmlns:a="http://schemas.openxmlformats.org/drawingml/2006/main" noGrp="1"/>
          </p:cNvSpPr>
          <p:nvPr/>
        </p:nvSpPr>
        <p:spPr>
          <a:xfrm xmlns:a="http://schemas.openxmlformats.org/drawingml/2006/main">
            <a:off x="533400" y="6010275"/>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007F7B"/>
                </a:solidFill>
                <a:latin typeface="Helvetica Neue"/>
                <a:ea typeface="Helvetica Neue"/>
                <a:cs typeface="Helvetica Neue"/>
              </a:defRPr>
            </a:defPPr>
            <a:lvl1pPr>
              <a:defRPr sz="1800" b="0">
                <a:solidFill>
                  <a:srgbClr val="007F7B"/>
                </a:solidFill>
                <a:latin typeface="Helvetica Neue"/>
                <a:ea typeface="Helvetica Neue"/>
                <a:cs typeface="Helvetica Neue"/>
              </a:defRPr>
            </a:lvl1pPr>
            <a:lvl2pPr>
              <a:defRPr sz="1800" b="0">
                <a:solidFill>
                  <a:srgbClr val="007F7B"/>
                </a:solidFill>
                <a:latin typeface="Helvetica Neue"/>
                <a:ea typeface="Helvetica Neue"/>
                <a:cs typeface="Helvetica Neue"/>
              </a:defRPr>
            </a:lvl2pPr>
            <a:lvl3pPr>
              <a:defRPr sz="1800" b="0">
                <a:solidFill>
                  <a:srgbClr val="007F7B"/>
                </a:solidFill>
                <a:latin typeface="Helvetica Neue"/>
                <a:ea typeface="Helvetica Neue"/>
                <a:cs typeface="Helvetica Neue"/>
              </a:defRPr>
            </a:lvl3pPr>
            <a:lvl4pPr>
              <a:defRPr sz="1800" b="0">
                <a:solidFill>
                  <a:srgbClr val="007F7B"/>
                </a:solidFill>
                <a:latin typeface="Helvetica Neue"/>
                <a:ea typeface="Helvetica Neue"/>
                <a:cs typeface="Helvetica Neue"/>
              </a:defRPr>
            </a:lvl4pPr>
            <a:lvl5pPr>
              <a:defRPr sz="1800" b="0">
                <a:solidFill>
                  <a:srgbClr val="007F7B"/>
                </a:solidFill>
                <a:latin typeface="Helvetica Neue"/>
                <a:ea typeface="Helvetica Neue"/>
                <a:cs typeface="Helvetica Neue"/>
              </a:defRPr>
            </a:lvl5pPr>
            <a:lvl6pPr>
              <a:defRPr sz="1800" b="0">
                <a:solidFill>
                  <a:srgbClr val="007F7B"/>
                </a:solidFill>
                <a:latin typeface="Helvetica Neue"/>
                <a:ea typeface="Helvetica Neue"/>
                <a:cs typeface="Helvetica Neue"/>
              </a:defRPr>
            </a:lvl6pPr>
            <a:lvl7pPr>
              <a:defRPr sz="1800" b="0">
                <a:solidFill>
                  <a:srgbClr val="007F7B"/>
                </a:solidFill>
                <a:latin typeface="Helvetica Neue"/>
                <a:ea typeface="Helvetica Neue"/>
                <a:cs typeface="Helvetica Neue"/>
              </a:defRPr>
            </a:lvl7pPr>
            <a:lvl8pPr>
              <a:defRPr sz="1800" b="0">
                <a:solidFill>
                  <a:srgbClr val="007F7B"/>
                </a:solidFill>
                <a:latin typeface="Helvetica Neue"/>
                <a:ea typeface="Helvetica Neue"/>
                <a:cs typeface="Helvetica Neue"/>
              </a:defRPr>
            </a:lvl8pPr>
            <a:lvl9pPr>
              <a:defRPr sz="1800" b="0">
                <a:solidFill>
                  <a:srgbClr val="007F7B"/>
                </a:solidFill>
                <a:latin typeface="Helvetica Neue"/>
                <a:ea typeface="Helvetica Neue"/>
                <a:cs typeface="Helvetica Neue"/>
              </a:defRPr>
            </a:lvl9pPr>
          </a:lstStyle>
          <a:p xmlns:a="http://schemas.openxmlformats.org/drawingml/2006/main">
            <a:pPr>
              <a:defRPr sz="1800" b="0">
                <a:solidFill>
                  <a:srgbClr val="007F7B"/>
                </a:solidFill>
                <a:latin typeface="Helvetica Neue"/>
                <a:ea typeface="Helvetica Neue"/>
                <a:cs typeface="Helvetica Neue"/>
              </a:defRPr>
            </a:pPr>
            <a:r>
              <a:rPr sz="1800" b="0">
                <a:solidFill>
                  <a:srgbClr val="007F7B"/>
                </a:solidFill>
                <a:latin typeface="Helvetica Neue"/>
                <a:ea typeface="Helvetica Neue"/>
                <a:cs typeface="Helvetica Neue"/>
              </a:rPr>
              <a:t>The contribution: a measured test of AI-guided scientific choices, including where they fail.</a:t>
            </a:r>
          </a:p>
        </p:txBody>
      </p:sp>
    </p:spTree>
    <p:extLst>
      <p:ext uri="{BB962C8B-B14F-4D97-AF65-F5344CB8AC3E}">
        <p14:creationId xmlns:p14="http://schemas.microsoft.com/office/powerpoint/2010/main" val="1928760311"/>
      </p:ext>
    </p:extLst>
  </p:cSld>
</p:sld>
</file>

<file path=ppt/slides/slide1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944B85-78AA-44E5-8106-0EA2F9C4ED87}"/>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BACKUP / STATISTICAL EVIDENCE</a:t>
            </a:r>
          </a:p>
        </p:txBody>
      </p:sp>
      <p:sp>
        <p:nvSpPr>
          <p:cNvPr id="2" name="">
            <a:extLst xmlns:a="http://schemas.openxmlformats.org/drawingml/2006/main">
              <a:ext uri="{FF2B5EF4-FFF2-40B4-BE49-F238E27FC236}">
                <a16:creationId xmlns:a16="http://schemas.microsoft.com/office/drawing/2014/main" id="{F1B0177F-9E75-4817-B59D-1233EB2DEE8C}"/>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All five strategies and the planned statistical tests</a:t>
            </a:r>
          </a:p>
        </p:txBody>
      </p:sp>
      <p:sp>
        <p:nvSpPr>
          <p:cNvPr id="3" name="">
            <a:extLst xmlns:a="http://schemas.openxmlformats.org/drawingml/2006/main">
              <a:ext uri="{FF2B5EF4-FFF2-40B4-BE49-F238E27FC236}">
                <a16:creationId xmlns:a16="http://schemas.microsoft.com/office/drawing/2014/main" id="{47DD528C-E85F-488F-A836-9CEDD4C43BAB}"/>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88AF677E-7478-4CDC-85F0-E7F12E937F8F}"/>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17</a:t>
            </a:r>
          </a:p>
        </p:txBody>
      </p:sp>
      <p:graphicFrame>
        <p:nvGraphicFramePr>
          <p:cNvPr id="8" name="">
            <a:extLst xmlns:a="http://schemas.openxmlformats.org/drawingml/2006/main">
              <a:ext uri="{FF2B5EF4-FFF2-40B4-BE49-F238E27FC236}">
                <a16:creationId xmlns:a16="http://schemas.microsoft.com/office/drawing/2014/main" id="{49B648A1-E207-4808-AE9F-1260EDAE1083}"/>
              </a:ext>
            </a:extLst>
          </p:cNvPr>
          <p:cNvGraphicFramePr/>
          <p:nvPr/>
        </p:nvGraphicFramePr>
        <p:xfrm>
          <a:off xmlns:a="http://schemas.openxmlformats.org/drawingml/2006/main" x="533400" y="2076450"/>
          <a:ext xmlns:a="http://schemas.openxmlformats.org/drawingml/2006/main" cx="11125200" cy="2647950"/>
        </p:xfrm>
        <a:graphic xmlns:a="http://schemas.openxmlformats.org/drawingml/2006/main">
          <a:graphicData uri="http://schemas.openxmlformats.org/drawingml/2006/table">
            <a:tbl>
              <a:tblPr firstRow="0" bandRow="0"/>
              <a:tblGrid>
                <a:gridCol w="2647950"/>
                <a:gridCol w="1695450"/>
                <a:gridCol w="1695450"/>
                <a:gridCol w="1695450"/>
                <a:gridCol w="1695450"/>
                <a:gridCol w="1695450"/>
              </a:tblGrid>
              <a:tr h="661988">
                <a:tc>
                  <a:txBody>
                    <a:bodyPr lIns="0" tIns="0" rIns="0" bIns="0">
                      <a:noAutofit/>
                    </a:bodyPr>
                    <a:lstStyle/>
                    <a:p>
                      <a:r>
                        <a:rPr sz="1800" b="1">
                          <a:solidFill>
                            <a:srgbClr val="FFFFFF"/>
                          </a:solidFill>
                          <a:latin typeface="Helvetica Neue"/>
                          <a:ea typeface="Helvetica Neue"/>
                          <a:cs typeface="Helvetica Neue"/>
                        </a:rPr>
                        <a:t>Electrolyte</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Uses results</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No results</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Mixed up</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One list</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Random</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61988">
                <a:tc>
                  <a:txBody>
                    <a:bodyPr lIns="0" tIns="0" rIns="0" bIns="0">
                      <a:noAutofit/>
                    </a:bodyPr>
                    <a:lstStyle/>
                    <a:p>
                      <a:r>
                        <a:rPr sz="2025" b="0">
                          <a:solidFill>
                            <a:srgbClr val="172B3A"/>
                          </a:solidFill>
                          <a:latin typeface="Helvetica Neue"/>
                          <a:ea typeface="Helvetica Neue"/>
                          <a:cs typeface="Helvetica Neue"/>
                        </a:rPr>
                        <a:t>Sulfide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20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2</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6</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8</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61988">
                <a:tc>
                  <a:txBody>
                    <a:bodyPr lIns="0" tIns="0" rIns="0" bIns="0">
                      <a:noAutofit/>
                    </a:bodyPr>
                    <a:lstStyle/>
                    <a:p>
                      <a:r>
                        <a:rPr sz="2025" b="0">
                          <a:solidFill>
                            <a:srgbClr val="172B3A"/>
                          </a:solidFill>
                          <a:latin typeface="Helvetica Neue"/>
                          <a:ea typeface="Helvetica Neue"/>
                          <a:cs typeface="Helvetica Neue"/>
                        </a:rPr>
                        <a:t>Chloride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30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30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30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30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29</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61988">
                <a:tc>
                  <a:txBody>
                    <a:bodyPr lIns="0" tIns="0" rIns="0" bIns="0">
                      <a:noAutofit/>
                    </a:bodyPr>
                    <a:lstStyle/>
                    <a:p>
                      <a:r>
                        <a:rPr sz="2025" b="0">
                          <a:solidFill>
                            <a:srgbClr val="172B3A"/>
                          </a:solidFill>
                          <a:latin typeface="Helvetica Neue"/>
                          <a:ea typeface="Helvetica Neue"/>
                          <a:cs typeface="Helvetica Neue"/>
                        </a:rPr>
                        <a:t>Oxide (LLZO)</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12</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4</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24</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9" name="">
            <a:extLst xmlns:a="http://schemas.openxmlformats.org/drawingml/2006/main">
              <a:ext uri="{FF2B5EF4-FFF2-40B4-BE49-F238E27FC236}">
                <a16:creationId xmlns:a16="http://schemas.microsoft.com/office/drawing/2014/main" id="{D5FF8437-09C7-4458-9538-B4917289176F}"/>
              </a:ext>
            </a:extLst>
          </p:cNvPr>
          <p:cNvSpPr>
            <a:spLocks xmlns:a="http://schemas.openxmlformats.org/drawingml/2006/main" noGrp="1"/>
          </p:cNvSpPr>
          <p:nvPr/>
        </p:nvSpPr>
        <p:spPr>
          <a:xfrm xmlns:a="http://schemas.openxmlformats.org/drawingml/2006/main">
            <a:off x="533400" y="49911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2B3A"/>
                </a:solidFill>
                <a:latin typeface="Helvetica Neue"/>
                <a:ea typeface="Helvetica Neue"/>
                <a:cs typeface="Helvetica Neue"/>
              </a:defRPr>
            </a:defPPr>
            <a:lvl1pPr>
              <a:defRPr sz="1950" b="1">
                <a:solidFill>
                  <a:srgbClr val="172B3A"/>
                </a:solidFill>
                <a:latin typeface="Helvetica Neue"/>
                <a:ea typeface="Helvetica Neue"/>
                <a:cs typeface="Helvetica Neue"/>
              </a:defRPr>
            </a:lvl1pPr>
            <a:lvl2pPr>
              <a:defRPr sz="1950" b="1">
                <a:solidFill>
                  <a:srgbClr val="172B3A"/>
                </a:solidFill>
                <a:latin typeface="Helvetica Neue"/>
                <a:ea typeface="Helvetica Neue"/>
                <a:cs typeface="Helvetica Neue"/>
              </a:defRPr>
            </a:lvl2pPr>
            <a:lvl3pPr>
              <a:defRPr sz="1950" b="1">
                <a:solidFill>
                  <a:srgbClr val="172B3A"/>
                </a:solidFill>
                <a:latin typeface="Helvetica Neue"/>
                <a:ea typeface="Helvetica Neue"/>
                <a:cs typeface="Helvetica Neue"/>
              </a:defRPr>
            </a:lvl3pPr>
            <a:lvl4pPr>
              <a:defRPr sz="1950" b="1">
                <a:solidFill>
                  <a:srgbClr val="172B3A"/>
                </a:solidFill>
                <a:latin typeface="Helvetica Neue"/>
                <a:ea typeface="Helvetica Neue"/>
                <a:cs typeface="Helvetica Neue"/>
              </a:defRPr>
            </a:lvl4pPr>
            <a:lvl5pPr>
              <a:defRPr sz="1950" b="1">
                <a:solidFill>
                  <a:srgbClr val="172B3A"/>
                </a:solidFill>
                <a:latin typeface="Helvetica Neue"/>
                <a:ea typeface="Helvetica Neue"/>
                <a:cs typeface="Helvetica Neue"/>
              </a:defRPr>
            </a:lvl5pPr>
            <a:lvl6pPr>
              <a:defRPr sz="1950" b="1">
                <a:solidFill>
                  <a:srgbClr val="172B3A"/>
                </a:solidFill>
                <a:latin typeface="Helvetica Neue"/>
                <a:ea typeface="Helvetica Neue"/>
                <a:cs typeface="Helvetica Neue"/>
              </a:defRPr>
            </a:lvl6pPr>
            <a:lvl7pPr>
              <a:defRPr sz="1950" b="1">
                <a:solidFill>
                  <a:srgbClr val="172B3A"/>
                </a:solidFill>
                <a:latin typeface="Helvetica Neue"/>
                <a:ea typeface="Helvetica Neue"/>
                <a:cs typeface="Helvetica Neue"/>
              </a:defRPr>
            </a:lvl7pPr>
            <a:lvl8pPr>
              <a:defRPr sz="1950" b="1">
                <a:solidFill>
                  <a:srgbClr val="172B3A"/>
                </a:solidFill>
                <a:latin typeface="Helvetica Neue"/>
                <a:ea typeface="Helvetica Neue"/>
                <a:cs typeface="Helvetica Neue"/>
              </a:defRPr>
            </a:lvl8pPr>
            <a:lvl9pPr>
              <a:defRPr sz="1950" b="1">
                <a:solidFill>
                  <a:srgbClr val="172B3A"/>
                </a:solidFill>
                <a:latin typeface="Helvetica Neue"/>
                <a:ea typeface="Helvetica Neue"/>
                <a:cs typeface="Helvetica Neue"/>
              </a:defRPr>
            </a:lvl9pPr>
          </a:lstStyle>
          <a:p xmlns:a="http://schemas.openxmlformats.org/drawingml/2006/main">
            <a:pPr>
              <a:defRPr sz="1950" b="1">
                <a:solidFill>
                  <a:srgbClr val="172B3A"/>
                </a:solidFill>
                <a:latin typeface="Helvetica Neue"/>
                <a:ea typeface="Helvetica Neue"/>
                <a:cs typeface="Helvetica Neue"/>
              </a:defRPr>
            </a:pPr>
            <a:r>
              <a:rPr sz="1950" b="1">
                <a:solidFill>
                  <a:srgbClr val="172B3A"/>
                </a:solidFill>
                <a:latin typeface="Helvetica Neue"/>
                <a:ea typeface="Helvetica Neue"/>
                <a:cs typeface="Helvetica Neue"/>
              </a:rPr>
              <a:t>Successful searches out of 30, after ten tries. Holm-adjusted paired tests:</a:t>
            </a:r>
          </a:p>
        </p:txBody>
      </p:sp>
      <p:sp>
        <p:nvSpPr>
          <p:cNvPr id="10" name="">
            <a:extLst xmlns:a="http://schemas.openxmlformats.org/drawingml/2006/main">
              <a:ext uri="{FF2B5EF4-FFF2-40B4-BE49-F238E27FC236}">
                <a16:creationId xmlns:a16="http://schemas.microsoft.com/office/drawing/2014/main" id="{E5A049D0-1798-44A2-AA63-E54DEB978570}"/>
              </a:ext>
            </a:extLst>
          </p:cNvPr>
          <p:cNvSpPr>
            <a:spLocks xmlns:a="http://schemas.openxmlformats.org/drawingml/2006/main" noGrp="1"/>
          </p:cNvSpPr>
          <p:nvPr/>
        </p:nvSpPr>
        <p:spPr>
          <a:xfrm xmlns:a="http://schemas.openxmlformats.org/drawingml/2006/main">
            <a:off x="533400" y="5467350"/>
            <a:ext cx="11125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472"/>
                </a:solidFill>
                <a:latin typeface="Helvetica Neue"/>
                <a:ea typeface="Helvetica Neue"/>
                <a:cs typeface="Helvetica Neue"/>
              </a:defRPr>
            </a:defPPr>
            <a:lvl1pPr>
              <a:defRPr sz="1800" b="0">
                <a:solidFill>
                  <a:srgbClr val="526472"/>
                </a:solidFill>
                <a:latin typeface="Helvetica Neue"/>
                <a:ea typeface="Helvetica Neue"/>
                <a:cs typeface="Helvetica Neue"/>
              </a:defRPr>
            </a:lvl1pPr>
            <a:lvl2pPr>
              <a:defRPr sz="1800" b="0">
                <a:solidFill>
                  <a:srgbClr val="526472"/>
                </a:solidFill>
                <a:latin typeface="Helvetica Neue"/>
                <a:ea typeface="Helvetica Neue"/>
                <a:cs typeface="Helvetica Neue"/>
              </a:defRPr>
            </a:lvl2pPr>
            <a:lvl3pPr>
              <a:defRPr sz="1800" b="0">
                <a:solidFill>
                  <a:srgbClr val="526472"/>
                </a:solidFill>
                <a:latin typeface="Helvetica Neue"/>
                <a:ea typeface="Helvetica Neue"/>
                <a:cs typeface="Helvetica Neue"/>
              </a:defRPr>
            </a:lvl3pPr>
            <a:lvl4pPr>
              <a:defRPr sz="1800" b="0">
                <a:solidFill>
                  <a:srgbClr val="526472"/>
                </a:solidFill>
                <a:latin typeface="Helvetica Neue"/>
                <a:ea typeface="Helvetica Neue"/>
                <a:cs typeface="Helvetica Neue"/>
              </a:defRPr>
            </a:lvl4pPr>
            <a:lvl5pPr>
              <a:defRPr sz="1800" b="0">
                <a:solidFill>
                  <a:srgbClr val="526472"/>
                </a:solidFill>
                <a:latin typeface="Helvetica Neue"/>
                <a:ea typeface="Helvetica Neue"/>
                <a:cs typeface="Helvetica Neue"/>
              </a:defRPr>
            </a:lvl5pPr>
            <a:lvl6pPr>
              <a:defRPr sz="1800" b="0">
                <a:solidFill>
                  <a:srgbClr val="526472"/>
                </a:solidFill>
                <a:latin typeface="Helvetica Neue"/>
                <a:ea typeface="Helvetica Neue"/>
                <a:cs typeface="Helvetica Neue"/>
              </a:defRPr>
            </a:lvl6pPr>
            <a:lvl7pPr>
              <a:defRPr sz="1800" b="0">
                <a:solidFill>
                  <a:srgbClr val="526472"/>
                </a:solidFill>
                <a:latin typeface="Helvetica Neue"/>
                <a:ea typeface="Helvetica Neue"/>
                <a:cs typeface="Helvetica Neue"/>
              </a:defRPr>
            </a:lvl7pPr>
            <a:lvl8pPr>
              <a:defRPr sz="1800" b="0">
                <a:solidFill>
                  <a:srgbClr val="526472"/>
                </a:solidFill>
                <a:latin typeface="Helvetica Neue"/>
                <a:ea typeface="Helvetica Neue"/>
                <a:cs typeface="Helvetica Neue"/>
              </a:defRPr>
            </a:lvl8pPr>
            <a:lvl9pPr>
              <a:defRPr sz="1800" b="0">
                <a:solidFill>
                  <a:srgbClr val="526472"/>
                </a:solidFill>
                <a:latin typeface="Helvetica Neue"/>
                <a:ea typeface="Helvetica Neue"/>
                <a:cs typeface="Helvetica Neue"/>
              </a:defRPr>
            </a:lvl9pPr>
          </a:lstStyle>
          <a:p xmlns:a="http://schemas.openxmlformats.org/drawingml/2006/main">
            <a:pPr>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Sulfide: versus no results p = 0.0000458, versus mixed-up p = 0.00244.</a:t>
            </a:r>
          </a:p>
          <a:p xmlns:a="http://schemas.openxmlformats.org/drawingml/2006/main">
            <a:pPr>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LLZO: versus no results p = 0.00244, versus mixed-up p = 0.172.</a:t>
            </a:r>
          </a:p>
          <a:p xmlns:a="http://schemas.openxmlformats.org/drawingml/2006/main">
            <a:pPr>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Chloride: p = 1 for both comparisons. Six planned tests in total.</a:t>
            </a:r>
          </a:p>
        </p:txBody>
      </p:sp>
    </p:spTree>
    <p:extLst>
      <p:ext uri="{BB962C8B-B14F-4D97-AF65-F5344CB8AC3E}">
        <p14:creationId xmlns:p14="http://schemas.microsoft.com/office/powerpoint/2010/main" val="1803532214"/>
      </p:ext>
    </p:extLst>
  </p:cSld>
</p:sld>
</file>

<file path=ppt/slides/slide1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65599A-0192-4F57-B83B-BAD6D4C75AF8}"/>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BACKUP / OBJECTIVE INTERPRETATION</a:t>
            </a:r>
          </a:p>
        </p:txBody>
      </p:sp>
      <p:sp>
        <p:nvSpPr>
          <p:cNvPr id="2" name="">
            <a:extLst xmlns:a="http://schemas.openxmlformats.org/drawingml/2006/main">
              <a:ext uri="{FF2B5EF4-FFF2-40B4-BE49-F238E27FC236}">
                <a16:creationId xmlns:a16="http://schemas.microsoft.com/office/drawing/2014/main" id="{3886C612-B2B5-40D6-8C8D-B617A837578C}"/>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Acceptability, optimum-finding and practicality differ</a:t>
            </a:r>
          </a:p>
        </p:txBody>
      </p:sp>
      <p:sp>
        <p:nvSpPr>
          <p:cNvPr id="3" name="">
            <a:extLst xmlns:a="http://schemas.openxmlformats.org/drawingml/2006/main">
              <a:ext uri="{FF2B5EF4-FFF2-40B4-BE49-F238E27FC236}">
                <a16:creationId xmlns:a16="http://schemas.microsoft.com/office/drawing/2014/main" id="{DCE083E9-04FE-4FB9-B970-95A3B1AD81C1}"/>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836F86EE-5332-40DA-8C28-A2C06CD2BE5E}"/>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18</a:t>
            </a:r>
          </a:p>
        </p:txBody>
      </p:sp>
      <p:graphicFrame>
        <p:nvGraphicFramePr>
          <p:cNvPr id="5" name="">
            <a:extLst xmlns:a="http://schemas.openxmlformats.org/drawingml/2006/main">
              <a:ext uri="{FF2B5EF4-FFF2-40B4-BE49-F238E27FC236}">
                <a16:creationId xmlns:a16="http://schemas.microsoft.com/office/drawing/2014/main" id="{F472A08F-20CE-4627-AA98-67511DC92F02}"/>
              </a:ext>
            </a:extLst>
          </p:cNvPr>
          <p:cNvGraphicFramePr/>
          <p:nvPr/>
        </p:nvGraphicFramePr>
        <p:xfrm>
          <a:off xmlns:a="http://schemas.openxmlformats.org/drawingml/2006/main" x="533400" y="2019300"/>
          <a:ext xmlns:a="http://schemas.openxmlformats.org/drawingml/2006/main" cx="11125200" cy="3381375"/>
        </p:xfrm>
        <a:graphic xmlns:a="http://schemas.openxmlformats.org/drawingml/2006/main">
          <a:graphicData uri="http://schemas.openxmlformats.org/drawingml/2006/table">
            <a:tbl>
              <a:tblPr firstRow="0" bandRow="0"/>
              <a:tblGrid>
                <a:gridCol w="3476625"/>
                <a:gridCol w="3476625"/>
                <a:gridCol w="4171950"/>
              </a:tblGrid>
              <a:tr h="676275">
                <a:tc>
                  <a:txBody>
                    <a:bodyPr lIns="0" tIns="0" rIns="0" bIns="0">
                      <a:noAutofit/>
                    </a:bodyPr>
                    <a:lstStyle/>
                    <a:p>
                      <a:r>
                        <a:rPr sz="1725" b="1">
                          <a:solidFill>
                            <a:srgbClr val="FFFFFF"/>
                          </a:solidFill>
                          <a:latin typeface="Helvetica Neue"/>
                          <a:ea typeface="Helvetica Neue"/>
                          <a:cs typeface="Helvetica Neue"/>
                        </a:rPr>
                        <a:t>Question</a:t>
                      </a:r>
                    </a:p>
                  </a:txBody>
                  <a:tcPr marL="133350" marR="114300" marT="38100" marB="38100"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Measure</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Observed limitation</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76275">
                <a:tc>
                  <a:txBody>
                    <a:bodyPr lIns="0" tIns="0" rIns="0" bIns="0">
                      <a:noAutofit/>
                    </a:bodyPr>
                    <a:lstStyle/>
                    <a:p>
                      <a:r>
                        <a:rPr sz="1875" b="0">
                          <a:solidFill>
                            <a:srgbClr val="172B3A"/>
                          </a:solidFill>
                          <a:latin typeface="Helvetica Neue"/>
                          <a:ea typeface="Helvetica Neue"/>
                          <a:cs typeface="Helvetica Neue"/>
                        </a:rPr>
                        <a:t>Can the policy find a passing candidate?</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Acceptance at P ≤ 0.050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This is the primary reported result</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76275">
                <a:tc>
                  <a:txBody>
                    <a:bodyPr lIns="0" tIns="0" rIns="0" bIns="0">
                      <a:noAutofit/>
                    </a:bodyPr>
                    <a:lstStyle/>
                    <a:p>
                      <a:r>
                        <a:rPr sz="1875" b="0">
                          <a:solidFill>
                            <a:srgbClr val="172B3A"/>
                          </a:solidFill>
                          <a:latin typeface="Helvetica Neue"/>
                          <a:ea typeface="Helvetica Neue"/>
                          <a:cs typeface="Helvetica Neue"/>
                        </a:rPr>
                        <a:t>Does it find the pool’s optimum?</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Best-bin discovery / regret</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Sulfide: iterative 6, random 5</a:t>
                      </a:r>
                    </a:p>
                    <a:p>
                      <a:r>
                        <a:rPr sz="1875" b="0">
                          <a:solidFill>
                            <a:srgbClr val="172B3A"/>
                          </a:solidFill>
                          <a:latin typeface="Helvetica Neue"/>
                          <a:ea typeface="Helvetica Neue"/>
                          <a:cs typeface="Helvetica Neue"/>
                        </a:rPr>
                        <a:t>LLZO: all LLMs 0, random 2 (of 30)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76275">
                <a:tc>
                  <a:txBody>
                    <a:bodyPr lIns="0" tIns="0" rIns="0" bIns="0">
                      <a:noAutofit/>
                    </a:bodyPr>
                    <a:lstStyle/>
                    <a:p>
                      <a:r>
                        <a:rPr sz="1875" b="0">
                          <a:solidFill>
                            <a:srgbClr val="172B3A"/>
                          </a:solidFill>
                          <a:latin typeface="Helvetica Neue"/>
                          <a:ea typeface="Helvetica Neue"/>
                          <a:cs typeface="Helvetica Neue"/>
                        </a:rPr>
                        <a:t>Is the actual coating useful?</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Transport, processing, electrochemistry</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Not established by this evaluator</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76275">
                <a:tc>
                  <a:txBody>
                    <a:bodyPr lIns="0" tIns="0" rIns="0" bIns="0">
                      <a:noAutofit/>
                    </a:bodyPr>
                    <a:lstStyle/>
                    <a:p>
                      <a:r>
                        <a:rPr sz="1875" b="0">
                          <a:solidFill>
                            <a:srgbClr val="172B3A"/>
                          </a:solidFill>
                          <a:latin typeface="Helvetica Neue"/>
                          <a:ea typeface="Helvetica Neue"/>
                          <a:cs typeface="Helvetica Neue"/>
                        </a:rPr>
                        <a:t>Is the search saving compute?</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Cost of avoided expensive evaluations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Cheap tables alone cannot show this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6" name="">
            <a:extLst xmlns:a="http://schemas.openxmlformats.org/drawingml/2006/main">
              <a:ext uri="{FF2B5EF4-FFF2-40B4-BE49-F238E27FC236}">
                <a16:creationId xmlns:a16="http://schemas.microsoft.com/office/drawing/2014/main" id="{5CE44975-38D2-4924-802E-2110F1B33AC4}"/>
              </a:ext>
            </a:extLst>
          </p:cNvPr>
          <p:cNvSpPr>
            <a:spLocks xmlns:a="http://schemas.openxmlformats.org/drawingml/2006/main" noGrp="1"/>
          </p:cNvSpPr>
          <p:nvPr/>
        </p:nvSpPr>
        <p:spPr>
          <a:xfrm xmlns:a="http://schemas.openxmlformats.org/drawingml/2006/main">
            <a:off x="533400" y="5800725"/>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472"/>
                </a:solidFill>
                <a:latin typeface="Helvetica Neue"/>
                <a:ea typeface="Helvetica Neue"/>
                <a:cs typeface="Helvetica Neue"/>
              </a:defRPr>
            </a:defPPr>
            <a:lvl1pPr>
              <a:buNone/>
              <a:defRPr sz="1725" b="0">
                <a:solidFill>
                  <a:srgbClr val="526472"/>
                </a:solidFill>
                <a:latin typeface="Helvetica Neue"/>
                <a:ea typeface="Helvetica Neue"/>
                <a:cs typeface="Helvetica Neue"/>
              </a:defRPr>
            </a:lvl1pPr>
            <a:lvl2pPr>
              <a:buNone/>
              <a:defRPr sz="1725" b="0">
                <a:solidFill>
                  <a:srgbClr val="526472"/>
                </a:solidFill>
                <a:latin typeface="Helvetica Neue"/>
                <a:ea typeface="Helvetica Neue"/>
                <a:cs typeface="Helvetica Neue"/>
              </a:defRPr>
            </a:lvl2pPr>
            <a:lvl3pPr>
              <a:buNone/>
              <a:defRPr sz="1725" b="0">
                <a:solidFill>
                  <a:srgbClr val="526472"/>
                </a:solidFill>
                <a:latin typeface="Helvetica Neue"/>
                <a:ea typeface="Helvetica Neue"/>
                <a:cs typeface="Helvetica Neue"/>
              </a:defRPr>
            </a:lvl3pPr>
            <a:lvl4pPr>
              <a:buNone/>
              <a:defRPr sz="1725" b="0">
                <a:solidFill>
                  <a:srgbClr val="526472"/>
                </a:solidFill>
                <a:latin typeface="Helvetica Neue"/>
                <a:ea typeface="Helvetica Neue"/>
                <a:cs typeface="Helvetica Neue"/>
              </a:defRPr>
            </a:lvl4pPr>
            <a:lvl5pPr>
              <a:buNone/>
              <a:defRPr sz="1725" b="0">
                <a:solidFill>
                  <a:srgbClr val="526472"/>
                </a:solidFill>
                <a:latin typeface="Helvetica Neue"/>
                <a:ea typeface="Helvetica Neue"/>
                <a:cs typeface="Helvetica Neue"/>
              </a:defRPr>
            </a:lvl5pPr>
            <a:lvl6pPr>
              <a:buNone/>
              <a:defRPr sz="1725" b="0">
                <a:solidFill>
                  <a:srgbClr val="526472"/>
                </a:solidFill>
                <a:latin typeface="Helvetica Neue"/>
                <a:ea typeface="Helvetica Neue"/>
                <a:cs typeface="Helvetica Neue"/>
              </a:defRPr>
            </a:lvl6pPr>
            <a:lvl7pPr>
              <a:buNone/>
              <a:defRPr sz="1725" b="0">
                <a:solidFill>
                  <a:srgbClr val="526472"/>
                </a:solidFill>
                <a:latin typeface="Helvetica Neue"/>
                <a:ea typeface="Helvetica Neue"/>
                <a:cs typeface="Helvetica Neue"/>
              </a:defRPr>
            </a:lvl7pPr>
            <a:lvl8pPr>
              <a:buNone/>
              <a:defRPr sz="1725" b="0">
                <a:solidFill>
                  <a:srgbClr val="526472"/>
                </a:solidFill>
                <a:latin typeface="Helvetica Neue"/>
                <a:ea typeface="Helvetica Neue"/>
                <a:cs typeface="Helvetica Neue"/>
              </a:defRPr>
            </a:lvl8pPr>
            <a:lvl9pPr>
              <a:buNone/>
              <a:defRPr sz="1725" b="0">
                <a:solidFill>
                  <a:srgbClr val="526472"/>
                </a:solidFill>
                <a:latin typeface="Helvetica Neue"/>
                <a:ea typeface="Helvetica Neue"/>
                <a:cs typeface="Helvetica Neue"/>
              </a:defRPr>
            </a:lvl9pPr>
          </a:lstStyle>
          <a:p xmlns:a="http://schemas.openxmlformats.org/drawingml/2006/main">
            <a:pPr>
              <a:buNone/>
              <a:defRPr sz="1725" b="0">
                <a:solidFill>
                  <a:srgbClr val="526472"/>
                </a:solidFill>
                <a:latin typeface="Helvetica Neue"/>
                <a:ea typeface="Helvetica Neue"/>
                <a:cs typeface="Helvetica Neue"/>
              </a:defRPr>
            </a:pPr>
            <a:r>
              <a:rPr sz="1725" b="0">
                <a:solidFill>
                  <a:srgbClr val="526472"/>
                </a:solidFill>
                <a:latin typeface="Helvetica Neue"/>
                <a:ea typeface="Helvetica Neue"/>
                <a:cs typeface="Helvetica Neue"/>
              </a:rPr>
              <a:t>Acceptance cuts through a ranking bin. Near-threshold conclusions depend on the frozen definition.</a:t>
            </a:r>
          </a:p>
        </p:txBody>
      </p:sp>
    </p:spTree>
    <p:extLst>
      <p:ext uri="{BB962C8B-B14F-4D97-AF65-F5344CB8AC3E}">
        <p14:creationId xmlns:p14="http://schemas.microsoft.com/office/powerpoint/2010/main" val="1892059981"/>
      </p:ext>
    </p:extLst>
  </p:cSld>
</p:sld>
</file>

<file path=ppt/slides/slide1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01CC180-0227-4620-9F20-A267E3F2EA41}"/>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BACKUP / POST-HOC CHEMISTRY REVIEW</a:t>
            </a:r>
          </a:p>
        </p:txBody>
      </p:sp>
      <p:sp>
        <p:nvSpPr>
          <p:cNvPr id="2" name="">
            <a:extLst xmlns:a="http://schemas.openxmlformats.org/drawingml/2006/main">
              <a:ext uri="{FF2B5EF4-FFF2-40B4-BE49-F238E27FC236}">
                <a16:creationId xmlns:a16="http://schemas.microsoft.com/office/drawing/2014/main" id="{E2C490F1-AF3D-4889-9114-53406599A000}"/>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The LLZO audit qualifies the criterion, not the score</a:t>
            </a:r>
          </a:p>
        </p:txBody>
      </p:sp>
      <p:sp>
        <p:nvSpPr>
          <p:cNvPr id="3" name="">
            <a:extLst xmlns:a="http://schemas.openxmlformats.org/drawingml/2006/main">
              <a:ext uri="{FF2B5EF4-FFF2-40B4-BE49-F238E27FC236}">
                <a16:creationId xmlns:a16="http://schemas.microsoft.com/office/drawing/2014/main" id="{E96FE793-38FF-4DFE-9B1B-766431FC7E7E}"/>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93C9E67A-C7AC-40A9-9A7D-DD74DAC1EF10}"/>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D5B1F26B-061C-433E-8AF8-2B382A7221B2}"/>
              </a:ext>
            </a:extLst>
          </p:cNvPr>
          <p:cNvSpPr>
            <a:spLocks xmlns:a="http://schemas.openxmlformats.org/drawingml/2006/main" noGrp="1"/>
          </p:cNvSpPr>
          <p:nvPr/>
        </p:nvSpPr>
        <p:spPr>
          <a:xfrm xmlns:a="http://schemas.openxmlformats.org/drawingml/2006/main">
            <a:off x="533400" y="2047875"/>
            <a:ext cx="111252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72B3A"/>
                </a:solidFill>
                <a:latin typeface="Helvetica Neue"/>
                <a:ea typeface="Helvetica Neue"/>
                <a:cs typeface="Helvetica Neue"/>
              </a:defRPr>
            </a:defPPr>
            <a:lvl1pPr>
              <a:buNone/>
              <a:defRPr sz="2550" b="1">
                <a:solidFill>
                  <a:srgbClr val="172B3A"/>
                </a:solidFill>
                <a:latin typeface="Helvetica Neue"/>
                <a:ea typeface="Helvetica Neue"/>
                <a:cs typeface="Helvetica Neue"/>
              </a:defRPr>
            </a:lvl1pPr>
            <a:lvl2pPr>
              <a:buNone/>
              <a:defRPr sz="2550" b="1">
                <a:solidFill>
                  <a:srgbClr val="172B3A"/>
                </a:solidFill>
                <a:latin typeface="Helvetica Neue"/>
                <a:ea typeface="Helvetica Neue"/>
                <a:cs typeface="Helvetica Neue"/>
              </a:defRPr>
            </a:lvl2pPr>
            <a:lvl3pPr>
              <a:buNone/>
              <a:defRPr sz="2550" b="1">
                <a:solidFill>
                  <a:srgbClr val="172B3A"/>
                </a:solidFill>
                <a:latin typeface="Helvetica Neue"/>
                <a:ea typeface="Helvetica Neue"/>
                <a:cs typeface="Helvetica Neue"/>
              </a:defRPr>
            </a:lvl3pPr>
            <a:lvl4pPr>
              <a:buNone/>
              <a:defRPr sz="2550" b="1">
                <a:solidFill>
                  <a:srgbClr val="172B3A"/>
                </a:solidFill>
                <a:latin typeface="Helvetica Neue"/>
                <a:ea typeface="Helvetica Neue"/>
                <a:cs typeface="Helvetica Neue"/>
              </a:defRPr>
            </a:lvl4pPr>
            <a:lvl5pPr>
              <a:buNone/>
              <a:defRPr sz="2550" b="1">
                <a:solidFill>
                  <a:srgbClr val="172B3A"/>
                </a:solidFill>
                <a:latin typeface="Helvetica Neue"/>
                <a:ea typeface="Helvetica Neue"/>
                <a:cs typeface="Helvetica Neue"/>
              </a:defRPr>
            </a:lvl5pPr>
            <a:lvl6pPr>
              <a:buNone/>
              <a:defRPr sz="2550" b="1">
                <a:solidFill>
                  <a:srgbClr val="172B3A"/>
                </a:solidFill>
                <a:latin typeface="Helvetica Neue"/>
                <a:ea typeface="Helvetica Neue"/>
                <a:cs typeface="Helvetica Neue"/>
              </a:defRPr>
            </a:lvl6pPr>
            <a:lvl7pPr>
              <a:buNone/>
              <a:defRPr sz="2550" b="1">
                <a:solidFill>
                  <a:srgbClr val="172B3A"/>
                </a:solidFill>
                <a:latin typeface="Helvetica Neue"/>
                <a:ea typeface="Helvetica Neue"/>
                <a:cs typeface="Helvetica Neue"/>
              </a:defRPr>
            </a:lvl7pPr>
            <a:lvl8pPr>
              <a:buNone/>
              <a:defRPr sz="2550" b="1">
                <a:solidFill>
                  <a:srgbClr val="172B3A"/>
                </a:solidFill>
                <a:latin typeface="Helvetica Neue"/>
                <a:ea typeface="Helvetica Neue"/>
                <a:cs typeface="Helvetica Neue"/>
              </a:defRPr>
            </a:lvl8pPr>
            <a:lvl9pPr>
              <a:buNone/>
              <a:defRPr sz="2550" b="1">
                <a:solidFill>
                  <a:srgbClr val="172B3A"/>
                </a:solidFill>
                <a:latin typeface="Helvetica Neue"/>
                <a:ea typeface="Helvetica Neue"/>
                <a:cs typeface="Helvetica Neue"/>
              </a:defRPr>
            </a:lvl9pPr>
          </a:lstStyle>
          <a:p xmlns:a="http://schemas.openxmlformats.org/drawingml/2006/main">
            <a:pPr>
              <a:buNone/>
              <a:defRPr sz="2550" b="1">
                <a:solidFill>
                  <a:srgbClr val="172B3A"/>
                </a:solidFill>
                <a:latin typeface="Helvetica Neue"/>
                <a:ea typeface="Helvetica Neue"/>
                <a:cs typeface="Helvetica Neue"/>
              </a:defRPr>
            </a:pPr>
            <a:r>
              <a:rPr sz="2550" b="1">
                <a:solidFill>
                  <a:srgbClr val="172B3A"/>
                </a:solidFill>
                <a:latin typeface="Helvetica Neue"/>
                <a:ea typeface="Helvetica Neue"/>
                <a:cs typeface="Helvetica Neue"/>
              </a:rPr>
              <a:t>5 of 17 acceptable structures were flagged for practical review:</a:t>
            </a:r>
          </a:p>
          <a:p xmlns:a="http://schemas.openxmlformats.org/drawingml/2006/main">
            <a:pPr>
              <a:buNone/>
              <a:defRPr sz="2550" b="1">
                <a:solidFill>
                  <a:srgbClr val="172B3A"/>
                </a:solidFill>
                <a:latin typeface="Helvetica Neue"/>
                <a:ea typeface="Helvetica Neue"/>
                <a:cs typeface="Helvetica Neue"/>
              </a:defRPr>
            </a:pPr>
            <a:r>
              <a:rPr sz="2550" b="1">
                <a:solidFill>
                  <a:srgbClr val="172B3A"/>
                </a:solidFill>
                <a:latin typeface="Helvetica Neue"/>
                <a:ea typeface="Helvetica Neue"/>
                <a:cs typeface="Helvetica Neue"/>
              </a:rPr>
              <a:t>LiIO₃, LiClO₄ and Li₅IO₆.</a:t>
            </a:r>
          </a:p>
        </p:txBody>
      </p:sp>
      <p:graphicFrame>
        <p:nvGraphicFramePr>
          <p:cNvPr id="6" name="">
            <a:extLst xmlns:a="http://schemas.openxmlformats.org/drawingml/2006/main">
              <a:ext uri="{FF2B5EF4-FFF2-40B4-BE49-F238E27FC236}">
                <a16:creationId xmlns:a16="http://schemas.microsoft.com/office/drawing/2014/main" id="{C6B52349-0967-44BF-9071-71D377E5B307}"/>
              </a:ext>
            </a:extLst>
          </p:cNvPr>
          <p:cNvGraphicFramePr/>
          <p:nvPr/>
        </p:nvGraphicFramePr>
        <p:xfrm>
          <a:off xmlns:a="http://schemas.openxmlformats.org/drawingml/2006/main" x="533400" y="3381375"/>
          <a:ext xmlns:a="http://schemas.openxmlformats.org/drawingml/2006/main" cx="11125200" cy="1885950"/>
        </p:xfrm>
        <a:graphic xmlns:a="http://schemas.openxmlformats.org/drawingml/2006/main">
          <a:graphicData uri="http://schemas.openxmlformats.org/drawingml/2006/table">
            <a:tbl>
              <a:tblPr firstRow="0" bandRow="0"/>
              <a:tblGrid>
                <a:gridCol w="8905875"/>
                <a:gridCol w="2219325"/>
              </a:tblGrid>
              <a:tr h="628650">
                <a:tc>
                  <a:txBody>
                    <a:bodyPr lIns="0" tIns="0" rIns="0" bIns="0">
                      <a:noAutofit/>
                    </a:bodyPr>
                    <a:lstStyle/>
                    <a:p>
                      <a:r>
                        <a:rPr sz="1725" b="1">
                          <a:solidFill>
                            <a:srgbClr val="FFFFFF"/>
                          </a:solidFill>
                          <a:latin typeface="Helvetica Neue"/>
                          <a:ea typeface="Helvetica Neue"/>
                          <a:cs typeface="Helvetica Neue"/>
                        </a:rPr>
                        <a:t>Random’s 24 successful runs</a:t>
                      </a:r>
                    </a:p>
                  </a:txBody>
                  <a:tcPr marL="133350" marR="114300" marT="38100" marB="38100"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Count</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28650">
                <a:tc>
                  <a:txBody>
                    <a:bodyPr lIns="0" tIns="0" rIns="0" bIns="0">
                      <a:noAutofit/>
                    </a:bodyPr>
                    <a:lstStyle/>
                    <a:p>
                      <a:r>
                        <a:rPr sz="2025" b="0">
                          <a:solidFill>
                            <a:srgbClr val="172B3A"/>
                          </a:solidFill>
                          <a:latin typeface="Helvetica Neue"/>
                          <a:ea typeface="Helvetica Neue"/>
                          <a:cs typeface="Helvetica Neue"/>
                        </a:rPr>
                        <a:t>Also found an unflagged acceptable candidate</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18</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28650">
                <a:tc>
                  <a:txBody>
                    <a:bodyPr lIns="0" tIns="0" rIns="0" bIns="0">
                      <a:noAutofit/>
                    </a:bodyPr>
                    <a:lstStyle/>
                    <a:p>
                      <a:r>
                        <a:rPr sz="2025" b="0">
                          <a:solidFill>
                            <a:srgbClr val="172B3A"/>
                          </a:solidFill>
                          <a:latin typeface="Helvetica Neue"/>
                          <a:ea typeface="Helvetica Neue"/>
                          <a:cs typeface="Helvetica Neue"/>
                        </a:rPr>
                        <a:t>Succeeded only through a flagged candidate</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6</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0987D0F8-CD83-4A0E-BD76-5A60357EFDA4}"/>
              </a:ext>
            </a:extLst>
          </p:cNvPr>
          <p:cNvSpPr>
            <a:spLocks xmlns:a="http://schemas.openxmlformats.org/drawingml/2006/main" noGrp="1"/>
          </p:cNvSpPr>
          <p:nvPr/>
        </p:nvSpPr>
        <p:spPr>
          <a:xfrm xmlns:a="http://schemas.openxmlformats.org/drawingml/2006/main">
            <a:off x="533400" y="5600700"/>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A44838"/>
                </a:solidFill>
                <a:latin typeface="Helvetica Neue"/>
                <a:ea typeface="Helvetica Neue"/>
                <a:cs typeface="Helvetica Neue"/>
              </a:defRPr>
            </a:defPPr>
            <a:lvl1pPr>
              <a:buNone/>
              <a:defRPr sz="1725" b="0">
                <a:solidFill>
                  <a:srgbClr val="A44838"/>
                </a:solidFill>
                <a:latin typeface="Helvetica Neue"/>
                <a:ea typeface="Helvetica Neue"/>
                <a:cs typeface="Helvetica Neue"/>
              </a:defRPr>
            </a:lvl1pPr>
            <a:lvl2pPr>
              <a:buNone/>
              <a:defRPr sz="1725" b="0">
                <a:solidFill>
                  <a:srgbClr val="A44838"/>
                </a:solidFill>
                <a:latin typeface="Helvetica Neue"/>
                <a:ea typeface="Helvetica Neue"/>
                <a:cs typeface="Helvetica Neue"/>
              </a:defRPr>
            </a:lvl2pPr>
            <a:lvl3pPr>
              <a:buNone/>
              <a:defRPr sz="1725" b="0">
                <a:solidFill>
                  <a:srgbClr val="A44838"/>
                </a:solidFill>
                <a:latin typeface="Helvetica Neue"/>
                <a:ea typeface="Helvetica Neue"/>
                <a:cs typeface="Helvetica Neue"/>
              </a:defRPr>
            </a:lvl3pPr>
            <a:lvl4pPr>
              <a:buNone/>
              <a:defRPr sz="1725" b="0">
                <a:solidFill>
                  <a:srgbClr val="A44838"/>
                </a:solidFill>
                <a:latin typeface="Helvetica Neue"/>
                <a:ea typeface="Helvetica Neue"/>
                <a:cs typeface="Helvetica Neue"/>
              </a:defRPr>
            </a:lvl4pPr>
            <a:lvl5pPr>
              <a:buNone/>
              <a:defRPr sz="1725" b="0">
                <a:solidFill>
                  <a:srgbClr val="A44838"/>
                </a:solidFill>
                <a:latin typeface="Helvetica Neue"/>
                <a:ea typeface="Helvetica Neue"/>
                <a:cs typeface="Helvetica Neue"/>
              </a:defRPr>
            </a:lvl5pPr>
            <a:lvl6pPr>
              <a:buNone/>
              <a:defRPr sz="1725" b="0">
                <a:solidFill>
                  <a:srgbClr val="A44838"/>
                </a:solidFill>
                <a:latin typeface="Helvetica Neue"/>
                <a:ea typeface="Helvetica Neue"/>
                <a:cs typeface="Helvetica Neue"/>
              </a:defRPr>
            </a:lvl6pPr>
            <a:lvl7pPr>
              <a:buNone/>
              <a:defRPr sz="1725" b="0">
                <a:solidFill>
                  <a:srgbClr val="A44838"/>
                </a:solidFill>
                <a:latin typeface="Helvetica Neue"/>
                <a:ea typeface="Helvetica Neue"/>
                <a:cs typeface="Helvetica Neue"/>
              </a:defRPr>
            </a:lvl7pPr>
            <a:lvl8pPr>
              <a:buNone/>
              <a:defRPr sz="1725" b="0">
                <a:solidFill>
                  <a:srgbClr val="A44838"/>
                </a:solidFill>
                <a:latin typeface="Helvetica Neue"/>
                <a:ea typeface="Helvetica Neue"/>
                <a:cs typeface="Helvetica Neue"/>
              </a:defRPr>
            </a:lvl8pPr>
            <a:lvl9pPr>
              <a:buNone/>
              <a:defRPr sz="1725" b="0">
                <a:solidFill>
                  <a:srgbClr val="A44838"/>
                </a:solidFill>
                <a:latin typeface="Helvetica Neue"/>
                <a:ea typeface="Helvetica Neue"/>
                <a:cs typeface="Helvetica Neue"/>
              </a:defRPr>
            </a:lvl9pPr>
          </a:lstStyle>
          <a:p xmlns:a="http://schemas.openxmlformats.org/drawingml/2006/main">
            <a:pPr>
              <a:buNone/>
              <a:defRPr sz="1725" b="0">
                <a:solidFill>
                  <a:srgbClr val="A44838"/>
                </a:solidFill>
                <a:latin typeface="Helvetica Neue"/>
                <a:ea typeface="Helvetica Neue"/>
                <a:cs typeface="Helvetica Neue"/>
              </a:defRPr>
            </a:pPr>
            <a:r>
              <a:rPr sz="1725" b="0">
                <a:solidFill>
                  <a:srgbClr val="A44838"/>
                </a:solidFill>
                <a:latin typeface="Helvetica Neue"/>
                <a:ea typeface="Helvetica Neue"/>
                <a:cs typeface="Helvetica Neue"/>
              </a:rPr>
              <a:t>This is a descriptive partition, not a rerun with a new endpoint. Primary result: 24 versus 12.</a:t>
            </a:r>
          </a:p>
        </p:txBody>
      </p:sp>
      <p:sp>
        <p:nvSpPr>
          <p:cNvPr id="8" name="">
            <a:extLst xmlns:a="http://schemas.openxmlformats.org/drawingml/2006/main">
              <a:ext uri="{FF2B5EF4-FFF2-40B4-BE49-F238E27FC236}">
                <a16:creationId xmlns:a16="http://schemas.microsoft.com/office/drawing/2014/main" id="{BC4D3CEE-9DD3-47A2-9EED-54C4DD6BC97D}"/>
              </a:ext>
            </a:extLst>
          </p:cNvPr>
          <p:cNvSpPr>
            <a:spLocks xmlns:a="http://schemas.openxmlformats.org/drawingml/2006/main" noGrp="1"/>
          </p:cNvSpPr>
          <p:nvPr/>
        </p:nvSpPr>
        <p:spPr>
          <a:xfrm xmlns:a="http://schemas.openxmlformats.org/drawingml/2006/main">
            <a:off x="533400" y="6067425"/>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472"/>
                </a:solidFill>
                <a:latin typeface="Helvetica Neue"/>
                <a:ea typeface="Helvetica Neue"/>
                <a:cs typeface="Helvetica Neue"/>
              </a:defRPr>
            </a:defPPr>
            <a:lvl1pPr>
              <a:buNone/>
              <a:defRPr sz="1650" b="0">
                <a:solidFill>
                  <a:srgbClr val="526472"/>
                </a:solidFill>
                <a:latin typeface="Helvetica Neue"/>
                <a:ea typeface="Helvetica Neue"/>
                <a:cs typeface="Helvetica Neue"/>
              </a:defRPr>
            </a:lvl1pPr>
            <a:lvl2pPr>
              <a:buNone/>
              <a:defRPr sz="1650" b="0">
                <a:solidFill>
                  <a:srgbClr val="526472"/>
                </a:solidFill>
                <a:latin typeface="Helvetica Neue"/>
                <a:ea typeface="Helvetica Neue"/>
                <a:cs typeface="Helvetica Neue"/>
              </a:defRPr>
            </a:lvl2pPr>
            <a:lvl3pPr>
              <a:buNone/>
              <a:defRPr sz="1650" b="0">
                <a:solidFill>
                  <a:srgbClr val="526472"/>
                </a:solidFill>
                <a:latin typeface="Helvetica Neue"/>
                <a:ea typeface="Helvetica Neue"/>
                <a:cs typeface="Helvetica Neue"/>
              </a:defRPr>
            </a:lvl3pPr>
            <a:lvl4pPr>
              <a:buNone/>
              <a:defRPr sz="1650" b="0">
                <a:solidFill>
                  <a:srgbClr val="526472"/>
                </a:solidFill>
                <a:latin typeface="Helvetica Neue"/>
                <a:ea typeface="Helvetica Neue"/>
                <a:cs typeface="Helvetica Neue"/>
              </a:defRPr>
            </a:lvl4pPr>
            <a:lvl5pPr>
              <a:buNone/>
              <a:defRPr sz="1650" b="0">
                <a:solidFill>
                  <a:srgbClr val="526472"/>
                </a:solidFill>
                <a:latin typeface="Helvetica Neue"/>
                <a:ea typeface="Helvetica Neue"/>
                <a:cs typeface="Helvetica Neue"/>
              </a:defRPr>
            </a:lvl5pPr>
            <a:lvl6pPr>
              <a:buNone/>
              <a:defRPr sz="1650" b="0">
                <a:solidFill>
                  <a:srgbClr val="526472"/>
                </a:solidFill>
                <a:latin typeface="Helvetica Neue"/>
                <a:ea typeface="Helvetica Neue"/>
                <a:cs typeface="Helvetica Neue"/>
              </a:defRPr>
            </a:lvl6pPr>
            <a:lvl7pPr>
              <a:buNone/>
              <a:defRPr sz="1650" b="0">
                <a:solidFill>
                  <a:srgbClr val="526472"/>
                </a:solidFill>
                <a:latin typeface="Helvetica Neue"/>
                <a:ea typeface="Helvetica Neue"/>
                <a:cs typeface="Helvetica Neue"/>
              </a:defRPr>
            </a:lvl7pPr>
            <a:lvl8pPr>
              <a:buNone/>
              <a:defRPr sz="1650" b="0">
                <a:solidFill>
                  <a:srgbClr val="526472"/>
                </a:solidFill>
                <a:latin typeface="Helvetica Neue"/>
                <a:ea typeface="Helvetica Neue"/>
                <a:cs typeface="Helvetica Neue"/>
              </a:defRPr>
            </a:lvl8pPr>
            <a:lvl9pPr>
              <a:buNone/>
              <a:defRPr sz="1650" b="0">
                <a:solidFill>
                  <a:srgbClr val="526472"/>
                </a:solidFill>
                <a:latin typeface="Helvetica Neue"/>
                <a:ea typeface="Helvetica Neue"/>
                <a:cs typeface="Helvetica Neue"/>
              </a:defRPr>
            </a:lvl9pPr>
          </a:lstStyle>
          <a:p xmlns:a="http://schemas.openxmlformats.org/drawingml/2006/main">
            <a:pPr>
              <a:buNone/>
              <a:defRPr sz="1650" b="0">
                <a:solidFill>
                  <a:srgbClr val="526472"/>
                </a:solidFill>
                <a:latin typeface="Helvetica Neue"/>
                <a:ea typeface="Helvetica Neue"/>
                <a:cs typeface="Helvetica Neue"/>
              </a:defRPr>
            </a:pPr>
            <a:r>
              <a:rPr sz="1650" b="0">
                <a:solidFill>
                  <a:srgbClr val="526472"/>
                </a:solidFill>
                <a:latin typeface="Helvetica Neue"/>
                <a:ea typeface="Helvetica Neue"/>
                <a:cs typeface="Helvetica Neue"/>
              </a:rPr>
              <a:t>The model is not proven to be making a safety judgment. Finite-temperature and processing limits remain.</a:t>
            </a:r>
          </a:p>
        </p:txBody>
      </p:sp>
    </p:spTree>
    <p:extLst>
      <p:ext uri="{BB962C8B-B14F-4D97-AF65-F5344CB8AC3E}">
        <p14:creationId xmlns:p14="http://schemas.microsoft.com/office/powerpoint/2010/main" val="278632726"/>
      </p:ext>
    </p:extLst>
  </p:cSld>
</p:sld>
</file>

<file path=ppt/slides/slide2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FF27EF-BBB7-4A81-BAC4-8D8CE522A58E}"/>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BACKUP / FINAL PHYSICAL VALUES</a:t>
            </a:r>
          </a:p>
        </p:txBody>
      </p:sp>
      <p:sp>
        <p:nvSpPr>
          <p:cNvPr id="2" name="">
            <a:extLst xmlns:a="http://schemas.openxmlformats.org/drawingml/2006/main">
              <a:ext uri="{FF2B5EF4-FFF2-40B4-BE49-F238E27FC236}">
                <a16:creationId xmlns:a16="http://schemas.microsoft.com/office/drawing/2014/main" id="{1F5234AB-8496-48D4-BF37-F6F2F1B07B52}"/>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Relaxed adhesion and rigid separation are different</a:t>
            </a:r>
          </a:p>
        </p:txBody>
      </p:sp>
      <p:sp>
        <p:nvSpPr>
          <p:cNvPr id="3" name="">
            <a:extLst xmlns:a="http://schemas.openxmlformats.org/drawingml/2006/main">
              <a:ext uri="{FF2B5EF4-FFF2-40B4-BE49-F238E27FC236}">
                <a16:creationId xmlns:a16="http://schemas.microsoft.com/office/drawing/2014/main" id="{F290F9C2-72C3-4CE1-A83C-F0874D3B5E85}"/>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7793E53F-6E77-4651-B87B-3E1200CE0CD0}"/>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20</a:t>
            </a:r>
          </a:p>
        </p:txBody>
      </p:sp>
      <p:graphicFrame>
        <p:nvGraphicFramePr>
          <p:cNvPr id="5" name="">
            <a:extLst xmlns:a="http://schemas.openxmlformats.org/drawingml/2006/main">
              <a:ext uri="{FF2B5EF4-FFF2-40B4-BE49-F238E27FC236}">
                <a16:creationId xmlns:a16="http://schemas.microsoft.com/office/drawing/2014/main" id="{832876E7-361E-40AC-AAA7-BD2AFB7847F8}"/>
              </a:ext>
            </a:extLst>
          </p:cNvPr>
          <p:cNvGraphicFramePr/>
          <p:nvPr/>
        </p:nvGraphicFramePr>
        <p:xfrm>
          <a:off xmlns:a="http://schemas.openxmlformats.org/drawingml/2006/main" x="533400" y="2019300"/>
          <a:ext xmlns:a="http://schemas.openxmlformats.org/drawingml/2006/main" cx="11125200" cy="2857500"/>
        </p:xfrm>
        <a:graphic xmlns:a="http://schemas.openxmlformats.org/drawingml/2006/main">
          <a:graphicData uri="http://schemas.openxmlformats.org/drawingml/2006/table">
            <a:tbl>
              <a:tblPr firstRow="0" bandRow="0"/>
              <a:tblGrid>
                <a:gridCol w="2476500"/>
                <a:gridCol w="3381375"/>
                <a:gridCol w="3381375"/>
                <a:gridCol w="1885950"/>
              </a:tblGrid>
              <a:tr h="714375">
                <a:tc>
                  <a:txBody>
                    <a:bodyPr lIns="0" tIns="0" rIns="0" bIns="0">
                      <a:noAutofit/>
                    </a:bodyPr>
                    <a:lstStyle/>
                    <a:p>
                      <a:r>
                        <a:rPr sz="1725" b="1">
                          <a:solidFill>
                            <a:srgbClr val="FFFFFF"/>
                          </a:solidFill>
                          <a:latin typeface="Helvetica Neue"/>
                          <a:ea typeface="Helvetica Neue"/>
                          <a:cs typeface="Helvetica Neue"/>
                        </a:rPr>
                        <a:t>Coating</a:t>
                      </a:r>
                    </a:p>
                  </a:txBody>
                  <a:tcPr marL="133350" marR="114300" marT="38100" marB="38100"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Cathode</a:t>
                      </a:r>
                    </a:p>
                    <a:p>
                      <a:r>
                        <a:rPr sz="1725" b="1">
                          <a:solidFill>
                            <a:srgbClr val="FFFFFF"/>
                          </a:solidFill>
                          <a:latin typeface="Helvetica Neue"/>
                          <a:ea typeface="Helvetica Neue"/>
                          <a:cs typeface="Helvetica Neue"/>
                        </a:rPr>
                        <a:t>Wadh / Wsep</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Electrolyte</a:t>
                      </a:r>
                    </a:p>
                    <a:p>
                      <a:r>
                        <a:rPr sz="1725" b="1">
                          <a:solidFill>
                            <a:srgbClr val="FFFFFF"/>
                          </a:solidFill>
                          <a:latin typeface="Helvetica Neue"/>
                          <a:ea typeface="Helvetica Neue"/>
                          <a:cs typeface="Helvetica Neue"/>
                        </a:rPr>
                        <a:t>Wadh / Wsep</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Atoms</a:t>
                      </a:r>
                    </a:p>
                    <a:p>
                      <a:r>
                        <a:rPr sz="1725" b="1">
                          <a:solidFill>
                            <a:srgbClr val="FFFFFF"/>
                          </a:solidFill>
                          <a:latin typeface="Helvetica Neue"/>
                          <a:ea typeface="Helvetica Neue"/>
                          <a:cs typeface="Helvetica Neue"/>
                        </a:rPr>
                        <a:t>C / E</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714375">
                <a:tc>
                  <a:txBody>
                    <a:bodyPr lIns="0" tIns="0" rIns="0" bIns="0">
                      <a:noAutofit/>
                    </a:bodyPr>
                    <a:lstStyle/>
                    <a:p>
                      <a:r>
                        <a:rPr sz="2100" b="0">
                          <a:solidFill>
                            <a:srgbClr val="172B3A"/>
                          </a:solidFill>
                          <a:latin typeface="Helvetica Neue"/>
                          <a:ea typeface="Helvetica Neue"/>
                          <a:cs typeface="Helvetica Neue"/>
                        </a:rPr>
                        <a:t>LiNbF₆</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3.617 / 5.168</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1.633 / 2.967</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696 / 880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714375">
                <a:tc>
                  <a:txBody>
                    <a:bodyPr lIns="0" tIns="0" rIns="0" bIns="0">
                      <a:noAutofit/>
                    </a:bodyPr>
                    <a:lstStyle/>
                    <a:p>
                      <a:r>
                        <a:rPr sz="2100" b="0">
                          <a:solidFill>
                            <a:srgbClr val="172B3A"/>
                          </a:solidFill>
                          <a:latin typeface="Helvetica Neue"/>
                          <a:ea typeface="Helvetica Neue"/>
                          <a:cs typeface="Helvetica Neue"/>
                        </a:rPr>
                        <a:t>LiTaF₆</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3.339 / 4.728</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1.577 / 2.911</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696 / 880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714375">
                <a:tc>
                  <a:txBody>
                    <a:bodyPr lIns="0" tIns="0" rIns="0" bIns="0">
                      <a:noAutofit/>
                    </a:bodyPr>
                    <a:lstStyle/>
                    <a:p>
                      <a:r>
                        <a:rPr sz="2100" b="0">
                          <a:solidFill>
                            <a:srgbClr val="172B3A"/>
                          </a:solidFill>
                          <a:latin typeface="Helvetica Neue"/>
                          <a:ea typeface="Helvetica Neue"/>
                          <a:cs typeface="Helvetica Neue"/>
                        </a:rPr>
                        <a:t>LiCaAlF₆</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1.427 / 4.322</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0.744 / 1.490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720 / 1212</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6" name="">
            <a:extLst xmlns:a="http://schemas.openxmlformats.org/drawingml/2006/main">
              <a:ext uri="{FF2B5EF4-FFF2-40B4-BE49-F238E27FC236}">
                <a16:creationId xmlns:a16="http://schemas.microsoft.com/office/drawing/2014/main" id="{8B08354C-268E-41D3-9CD8-A0DCA34D2B33}"/>
              </a:ext>
            </a:extLst>
          </p:cNvPr>
          <p:cNvSpPr>
            <a:spLocks xmlns:a="http://schemas.openxmlformats.org/drawingml/2006/main" noGrp="1"/>
          </p:cNvSpPr>
          <p:nvPr/>
        </p:nvSpPr>
        <p:spPr>
          <a:xfrm xmlns:a="http://schemas.openxmlformats.org/drawingml/2006/main">
            <a:off x="533400" y="5210175"/>
            <a:ext cx="111252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007F7B"/>
                </a:solidFill>
                <a:latin typeface="Helvetica Neue"/>
                <a:ea typeface="Helvetica Neue"/>
                <a:cs typeface="Helvetica Neue"/>
              </a:defRPr>
            </a:defPPr>
            <a:lvl1pPr>
              <a:buNone/>
              <a:defRPr sz="2100" b="0">
                <a:solidFill>
                  <a:srgbClr val="007F7B"/>
                </a:solidFill>
                <a:latin typeface="Helvetica Neue"/>
                <a:ea typeface="Helvetica Neue"/>
                <a:cs typeface="Helvetica Neue"/>
              </a:defRPr>
            </a:lvl1pPr>
            <a:lvl2pPr>
              <a:buNone/>
              <a:defRPr sz="2100" b="0">
                <a:solidFill>
                  <a:srgbClr val="007F7B"/>
                </a:solidFill>
                <a:latin typeface="Helvetica Neue"/>
                <a:ea typeface="Helvetica Neue"/>
                <a:cs typeface="Helvetica Neue"/>
              </a:defRPr>
            </a:lvl2pPr>
            <a:lvl3pPr>
              <a:buNone/>
              <a:defRPr sz="2100" b="0">
                <a:solidFill>
                  <a:srgbClr val="007F7B"/>
                </a:solidFill>
                <a:latin typeface="Helvetica Neue"/>
                <a:ea typeface="Helvetica Neue"/>
                <a:cs typeface="Helvetica Neue"/>
              </a:defRPr>
            </a:lvl3pPr>
            <a:lvl4pPr>
              <a:buNone/>
              <a:defRPr sz="2100" b="0">
                <a:solidFill>
                  <a:srgbClr val="007F7B"/>
                </a:solidFill>
                <a:latin typeface="Helvetica Neue"/>
                <a:ea typeface="Helvetica Neue"/>
                <a:cs typeface="Helvetica Neue"/>
              </a:defRPr>
            </a:lvl4pPr>
            <a:lvl5pPr>
              <a:buNone/>
              <a:defRPr sz="2100" b="0">
                <a:solidFill>
                  <a:srgbClr val="007F7B"/>
                </a:solidFill>
                <a:latin typeface="Helvetica Neue"/>
                <a:ea typeface="Helvetica Neue"/>
                <a:cs typeface="Helvetica Neue"/>
              </a:defRPr>
            </a:lvl5pPr>
            <a:lvl6pPr>
              <a:buNone/>
              <a:defRPr sz="2100" b="0">
                <a:solidFill>
                  <a:srgbClr val="007F7B"/>
                </a:solidFill>
                <a:latin typeface="Helvetica Neue"/>
                <a:ea typeface="Helvetica Neue"/>
                <a:cs typeface="Helvetica Neue"/>
              </a:defRPr>
            </a:lvl6pPr>
            <a:lvl7pPr>
              <a:buNone/>
              <a:defRPr sz="2100" b="0">
                <a:solidFill>
                  <a:srgbClr val="007F7B"/>
                </a:solidFill>
                <a:latin typeface="Helvetica Neue"/>
                <a:ea typeface="Helvetica Neue"/>
                <a:cs typeface="Helvetica Neue"/>
              </a:defRPr>
            </a:lvl7pPr>
            <a:lvl8pPr>
              <a:buNone/>
              <a:defRPr sz="2100" b="0">
                <a:solidFill>
                  <a:srgbClr val="007F7B"/>
                </a:solidFill>
                <a:latin typeface="Helvetica Neue"/>
                <a:ea typeface="Helvetica Neue"/>
                <a:cs typeface="Helvetica Neue"/>
              </a:defRPr>
            </a:lvl8pPr>
            <a:lvl9pPr>
              <a:buNone/>
              <a:defRPr sz="2100" b="0">
                <a:solidFill>
                  <a:srgbClr val="007F7B"/>
                </a:solidFill>
                <a:latin typeface="Helvetica Neue"/>
                <a:ea typeface="Helvetica Neue"/>
                <a:cs typeface="Helvetica Neue"/>
              </a:defRPr>
            </a:lvl9pPr>
          </a:lstStyle>
          <a:p xmlns:a="http://schemas.openxmlformats.org/drawingml/2006/main">
            <a:pPr>
              <a:buNone/>
              <a:defRPr sz="2100" b="0">
                <a:solidFill>
                  <a:srgbClr val="007F7B"/>
                </a:solidFill>
                <a:latin typeface="Helvetica Neue"/>
                <a:ea typeface="Helvetica Neue"/>
                <a:cs typeface="Helvetica Neue"/>
              </a:defRPr>
            </a:pPr>
            <a:r>
              <a:rPr sz="2100" b="0">
                <a:solidFill>
                  <a:srgbClr val="007F7B"/>
                </a:solidFill>
                <a:latin typeface="Helvetica Neue"/>
                <a:ea typeface="Helvetica Neue"/>
                <a:cs typeface="Helvetica Neue"/>
              </a:rPr>
              <a:t>Wadh: separated slabs are allowed to relax.</a:t>
            </a:r>
          </a:p>
          <a:p xmlns:a="http://schemas.openxmlformats.org/drawingml/2006/main">
            <a:pPr>
              <a:buNone/>
              <a:defRPr sz="2100" b="0">
                <a:solidFill>
                  <a:srgbClr val="007F7B"/>
                </a:solidFill>
                <a:latin typeface="Helvetica Neue"/>
                <a:ea typeface="Helvetica Neue"/>
                <a:cs typeface="Helvetica Neue"/>
              </a:defRPr>
            </a:pPr>
            <a:r>
              <a:rPr sz="2100" b="0">
                <a:solidFill>
                  <a:srgbClr val="007F7B"/>
                </a:solidFill>
                <a:latin typeface="Helvetica Neue"/>
                <a:ea typeface="Helvetica Neue"/>
                <a:cs typeface="Helvetica Neue"/>
              </a:rPr>
              <a:t>Wsep: fragments retain their joined-interface geometry.</a:t>
            </a:r>
          </a:p>
        </p:txBody>
      </p:sp>
      <p:sp>
        <p:nvSpPr>
          <p:cNvPr id="7" name="">
            <a:extLst xmlns:a="http://schemas.openxmlformats.org/drawingml/2006/main">
              <a:ext uri="{FF2B5EF4-FFF2-40B4-BE49-F238E27FC236}">
                <a16:creationId xmlns:a16="http://schemas.microsoft.com/office/drawing/2014/main" id="{15A1ED18-99CD-4471-AE27-5B9F9E2DDC2F}"/>
              </a:ext>
            </a:extLst>
          </p:cNvPr>
          <p:cNvSpPr>
            <a:spLocks xmlns:a="http://schemas.openxmlformats.org/drawingml/2006/main" noGrp="1"/>
          </p:cNvSpPr>
          <p:nvPr/>
        </p:nvSpPr>
        <p:spPr>
          <a:xfrm xmlns:a="http://schemas.openxmlformats.org/drawingml/2006/main">
            <a:off x="533400" y="6105525"/>
            <a:ext cx="11125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472"/>
                </a:solidFill>
                <a:latin typeface="Helvetica Neue"/>
                <a:ea typeface="Helvetica Neue"/>
                <a:cs typeface="Helvetica Neue"/>
              </a:defRPr>
            </a:defPPr>
            <a:lvl1pPr>
              <a:buNone/>
              <a:defRPr sz="1650" b="0">
                <a:solidFill>
                  <a:srgbClr val="526472"/>
                </a:solidFill>
                <a:latin typeface="Helvetica Neue"/>
                <a:ea typeface="Helvetica Neue"/>
                <a:cs typeface="Helvetica Neue"/>
              </a:defRPr>
            </a:lvl1pPr>
            <a:lvl2pPr>
              <a:buNone/>
              <a:defRPr sz="1650" b="0">
                <a:solidFill>
                  <a:srgbClr val="526472"/>
                </a:solidFill>
                <a:latin typeface="Helvetica Neue"/>
                <a:ea typeface="Helvetica Neue"/>
                <a:cs typeface="Helvetica Neue"/>
              </a:defRPr>
            </a:lvl2pPr>
            <a:lvl3pPr>
              <a:buNone/>
              <a:defRPr sz="1650" b="0">
                <a:solidFill>
                  <a:srgbClr val="526472"/>
                </a:solidFill>
                <a:latin typeface="Helvetica Neue"/>
                <a:ea typeface="Helvetica Neue"/>
                <a:cs typeface="Helvetica Neue"/>
              </a:defRPr>
            </a:lvl3pPr>
            <a:lvl4pPr>
              <a:buNone/>
              <a:defRPr sz="1650" b="0">
                <a:solidFill>
                  <a:srgbClr val="526472"/>
                </a:solidFill>
                <a:latin typeface="Helvetica Neue"/>
                <a:ea typeface="Helvetica Neue"/>
                <a:cs typeface="Helvetica Neue"/>
              </a:defRPr>
            </a:lvl4pPr>
            <a:lvl5pPr>
              <a:buNone/>
              <a:defRPr sz="1650" b="0">
                <a:solidFill>
                  <a:srgbClr val="526472"/>
                </a:solidFill>
                <a:latin typeface="Helvetica Neue"/>
                <a:ea typeface="Helvetica Neue"/>
                <a:cs typeface="Helvetica Neue"/>
              </a:defRPr>
            </a:lvl5pPr>
            <a:lvl6pPr>
              <a:buNone/>
              <a:defRPr sz="1650" b="0">
                <a:solidFill>
                  <a:srgbClr val="526472"/>
                </a:solidFill>
                <a:latin typeface="Helvetica Neue"/>
                <a:ea typeface="Helvetica Neue"/>
                <a:cs typeface="Helvetica Neue"/>
              </a:defRPr>
            </a:lvl6pPr>
            <a:lvl7pPr>
              <a:buNone/>
              <a:defRPr sz="1650" b="0">
                <a:solidFill>
                  <a:srgbClr val="526472"/>
                </a:solidFill>
                <a:latin typeface="Helvetica Neue"/>
                <a:ea typeface="Helvetica Neue"/>
                <a:cs typeface="Helvetica Neue"/>
              </a:defRPr>
            </a:lvl7pPr>
            <a:lvl8pPr>
              <a:buNone/>
              <a:defRPr sz="1650" b="0">
                <a:solidFill>
                  <a:srgbClr val="526472"/>
                </a:solidFill>
                <a:latin typeface="Helvetica Neue"/>
                <a:ea typeface="Helvetica Neue"/>
                <a:cs typeface="Helvetica Neue"/>
              </a:defRPr>
            </a:lvl8pPr>
            <a:lvl9pPr>
              <a:buNone/>
              <a:defRPr sz="1650" b="0">
                <a:solidFill>
                  <a:srgbClr val="526472"/>
                </a:solidFill>
                <a:latin typeface="Helvetica Neue"/>
                <a:ea typeface="Helvetica Neue"/>
                <a:cs typeface="Helvetica Neue"/>
              </a:defRPr>
            </a:lvl9pPr>
          </a:lstStyle>
          <a:p xmlns:a="http://schemas.openxmlformats.org/drawingml/2006/main">
            <a:pPr>
              <a:buNone/>
              <a:defRPr sz="1650" b="0">
                <a:solidFill>
                  <a:srgbClr val="526472"/>
                </a:solidFill>
                <a:latin typeface="Helvetica Neue"/>
                <a:ea typeface="Helvetica Neue"/>
                <a:cs typeface="Helvetica Neue"/>
              </a:defRPr>
            </a:pPr>
            <a:r>
              <a:rPr sz="1650" b="0">
                <a:solidFill>
                  <a:srgbClr val="526472"/>
                </a:solidFill>
                <a:latin typeface="Helvetica Neue"/>
                <a:ea typeface="Helvetica Neue"/>
                <a:cs typeface="Helvetica Neue"/>
              </a:rPr>
              <a:t>J/m². Primary snapshots unchanged. Later robustness checks are a separate record.</a:t>
            </a:r>
          </a:p>
        </p:txBody>
      </p:sp>
    </p:spTree>
    <p:extLst>
      <p:ext uri="{BB962C8B-B14F-4D97-AF65-F5344CB8AC3E}">
        <p14:creationId xmlns:p14="http://schemas.microsoft.com/office/powerpoint/2010/main" val="1237249875"/>
      </p:ext>
    </p:extLst>
  </p:cSld>
</p:sld>
</file>

<file path=ppt/slides/slide2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39EBD1-3CFB-40F0-9D08-B03BA3FD10D0}"/>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BACKUP / PHYSICAL REALIZATION</a:t>
            </a:r>
          </a:p>
        </p:txBody>
      </p:sp>
      <p:sp>
        <p:nvSpPr>
          <p:cNvPr id="2" name="">
            <a:extLst xmlns:a="http://schemas.openxmlformats.org/drawingml/2006/main">
              <a:ext uri="{FF2B5EF4-FFF2-40B4-BE49-F238E27FC236}">
                <a16:creationId xmlns:a16="http://schemas.microsoft.com/office/drawing/2014/main" id="{12B99ED8-4662-42ED-AE3C-FBE2CF002B37}"/>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The structures and convergence evidence are archived</a:t>
            </a:r>
          </a:p>
        </p:txBody>
      </p:sp>
      <p:sp>
        <p:nvSpPr>
          <p:cNvPr id="3" name="">
            <a:extLst xmlns:a="http://schemas.openxmlformats.org/drawingml/2006/main">
              <a:ext uri="{FF2B5EF4-FFF2-40B4-BE49-F238E27FC236}">
                <a16:creationId xmlns:a16="http://schemas.microsoft.com/office/drawing/2014/main" id="{6249ADB4-3A6C-491F-B066-067ECC26B295}"/>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3EC56658-4810-4084-95D2-4278C16F19D0}"/>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21</a:t>
            </a:r>
          </a:p>
        </p:txBody>
      </p:sp>
      <p:pic>
        <p:nvPicPr>
          <p:cNvPr id="5" name="">
            <a:extLst xmlns:a="http://schemas.openxmlformats.org/drawingml/2006/main">
              <a:ext uri="{FF2B5EF4-FFF2-40B4-BE49-F238E27FC236}">
                <a16:creationId xmlns:a16="http://schemas.microsoft.com/office/drawing/2014/main" id="{87E8C3F1-1EA3-48BD-8CF8-7EDB5BE44828}"/>
              </a:ext>
            </a:extLst>
          </p:cNvPr>
          <p:cNvPicPr>
            <a:picLocks xmlns:a="http://schemas.openxmlformats.org/drawingml/2006/main" noChangeAspect="1"/>
          </p:cNvPicPr>
          <p:nvPr/>
        </p:nvPicPr>
        <p:blipFill>
          <a:blip xmlns:r="http://schemas.openxmlformats.org/officeDocument/2006/relationships" xmlns:a="http://schemas.openxmlformats.org/drawingml/2006/main" r:embed="R9169aa4fc9ee4455"/>
          <a:stretch xmlns:a="http://schemas.openxmlformats.org/drawingml/2006/main"/>
        </p:blipFill>
        <p:spPr>
          <a:xfrm xmlns:a="http://schemas.openxmlformats.org/drawingml/2006/main">
            <a:off x="1571625" y="1838325"/>
            <a:ext cx="9048750" cy="4524375"/>
          </a:xfrm>
          <a:prstGeom xmlns:a="http://schemas.openxmlformats.org/drawingml/2006/main" prst="rect">
            <a:avLst/>
          </a:prstGeom>
        </p:spPr>
      </p:pic>
    </p:spTree>
    <p:extLst>
      <p:ext uri="{BB962C8B-B14F-4D97-AF65-F5344CB8AC3E}">
        <p14:creationId xmlns:p14="http://schemas.microsoft.com/office/powerpoint/2010/main" val="1637127024"/>
      </p:ext>
    </p:extLst>
  </p:cSld>
</p:sld>
</file>

<file path=ppt/slides/slide2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F47706F-1B11-458E-9262-6FD33EC37BC4}"/>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BACKUP / ACCOUNTING AND HANDOFF</a:t>
            </a:r>
          </a:p>
        </p:txBody>
      </p:sp>
      <p:sp>
        <p:nvSpPr>
          <p:cNvPr id="2" name="">
            <a:extLst xmlns:a="http://schemas.openxmlformats.org/drawingml/2006/main">
              <a:ext uri="{FF2B5EF4-FFF2-40B4-BE49-F238E27FC236}">
                <a16:creationId xmlns:a16="http://schemas.microsoft.com/office/drawing/2014/main" id="{F244B59E-0A21-4664-9B2B-17A060BD96FF}"/>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Archived evidence and completed integration</a:t>
            </a:r>
          </a:p>
        </p:txBody>
      </p:sp>
      <p:sp>
        <p:nvSpPr>
          <p:cNvPr id="3" name="">
            <a:extLst xmlns:a="http://schemas.openxmlformats.org/drawingml/2006/main">
              <a:ext uri="{FF2B5EF4-FFF2-40B4-BE49-F238E27FC236}">
                <a16:creationId xmlns:a16="http://schemas.microsoft.com/office/drawing/2014/main" id="{E10F9E5F-34BA-47B7-B8BD-CC85BA82D6B9}"/>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4B2F63F4-589F-4D68-A436-FB24F83C01E7}"/>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22</a:t>
            </a:r>
          </a:p>
        </p:txBody>
      </p:sp>
      <p:graphicFrame>
        <p:nvGraphicFramePr>
          <p:cNvPr id="5" name="">
            <a:extLst xmlns:a="http://schemas.openxmlformats.org/drawingml/2006/main">
              <a:ext uri="{FF2B5EF4-FFF2-40B4-BE49-F238E27FC236}">
                <a16:creationId xmlns:a16="http://schemas.microsoft.com/office/drawing/2014/main" id="{3DE0A2E6-F933-43FA-8E4A-7C736FCBC28F}"/>
              </a:ext>
            </a:extLst>
          </p:cNvPr>
          <p:cNvGraphicFramePr/>
          <p:nvPr/>
        </p:nvGraphicFramePr>
        <p:xfrm>
          <a:off xmlns:a="http://schemas.openxmlformats.org/drawingml/2006/main" x="533400" y="1971675"/>
          <a:ext xmlns:a="http://schemas.openxmlformats.org/drawingml/2006/main" cx="11125200" cy="3705225"/>
        </p:xfrm>
        <a:graphic xmlns:a="http://schemas.openxmlformats.org/drawingml/2006/main">
          <a:graphicData uri="http://schemas.openxmlformats.org/drawingml/2006/table">
            <a:tbl>
              <a:tblPr firstRow="0" bandRow="0"/>
              <a:tblGrid>
                <a:gridCol w="3238500"/>
                <a:gridCol w="7886700"/>
              </a:tblGrid>
              <a:tr h="617538">
                <a:tc>
                  <a:txBody>
                    <a:bodyPr lIns="0" tIns="0" rIns="0" bIns="0">
                      <a:noAutofit/>
                    </a:bodyPr>
                    <a:lstStyle/>
                    <a:p>
                      <a:r>
                        <a:rPr sz="1725" b="1">
                          <a:solidFill>
                            <a:srgbClr val="FFFFFF"/>
                          </a:solidFill>
                          <a:latin typeface="Helvetica Neue"/>
                          <a:ea typeface="Helvetica Neue"/>
                          <a:cs typeface="Helvetica Neue"/>
                        </a:rPr>
                        <a:t>Evidence / cost</a:t>
                      </a:r>
                    </a:p>
                  </a:txBody>
                  <a:tcPr marL="133350" marR="114300" marT="38100" marB="38100"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Verified record</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17538">
                <a:tc>
                  <a:txBody>
                    <a:bodyPr lIns="0" tIns="0" rIns="0" bIns="0">
                      <a:noAutofit/>
                    </a:bodyPr>
                    <a:lstStyle/>
                    <a:p>
                      <a:r>
                        <a:rPr sz="1800" b="0">
                          <a:solidFill>
                            <a:srgbClr val="172B3A"/>
                          </a:solidFill>
                          <a:latin typeface="Helvetica Neue"/>
                          <a:ea typeface="Helvetica Neue"/>
                          <a:cs typeface="Helvetica Neue"/>
                        </a:rPr>
                        <a:t>Environment study</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450 runs, 2,800 API calls, about $3.63 at recorded list rates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17538">
                <a:tc>
                  <a:txBody>
                    <a:bodyPr lIns="0" tIns="0" rIns="0" bIns="0">
                      <a:noAutofit/>
                    </a:bodyPr>
                    <a:lstStyle/>
                    <a:p>
                      <a:r>
                        <a:rPr sz="1800" b="0">
                          <a:solidFill>
                            <a:srgbClr val="172B3A"/>
                          </a:solidFill>
                          <a:latin typeface="Helvetica Neue"/>
                          <a:ea typeface="Helvetica Neue"/>
                          <a:cs typeface="Helvetica Neue"/>
                        </a:rPr>
                        <a:t>Physical pilot LLM</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5 / 10 HTTP attempts, about $0.006 at recorded list rates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17538">
                <a:tc>
                  <a:txBody>
                    <a:bodyPr lIns="0" tIns="0" rIns="0" bIns="0">
                      <a:noAutofit/>
                    </a:bodyPr>
                    <a:lstStyle/>
                    <a:p>
                      <a:r>
                        <a:rPr sz="1800" b="0">
                          <a:solidFill>
                            <a:srgbClr val="172B3A"/>
                          </a:solidFill>
                          <a:latin typeface="Helvetica Neue"/>
                          <a:ea typeface="Helvetica Neue"/>
                          <a:cs typeface="Helvetica Neue"/>
                        </a:rPr>
                        <a:t>New PET-MAD jobs</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26 / 36, all converged, 6,632 runner calls + 52 single points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17538">
                <a:tc>
                  <a:txBody>
                    <a:bodyPr lIns="0" tIns="0" rIns="0" bIns="0">
                      <a:noAutofit/>
                    </a:bodyPr>
                    <a:lstStyle/>
                    <a:p>
                      <a:r>
                        <a:rPr sz="1800" b="0">
                          <a:solidFill>
                            <a:srgbClr val="172B3A"/>
                          </a:solidFill>
                          <a:latin typeface="Helvetica Neue"/>
                          <a:ea typeface="Helvetica Neue"/>
                          <a:cs typeface="Helvetica Neue"/>
                        </a:rPr>
                        <a:t>Compute time</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25.4 min runner time; 47.5 min summed Slurm elapsed</a:t>
                      </a:r>
                    </a:p>
                    <a:p>
                      <a:r>
                        <a:rPr sz="1800" b="0">
                          <a:solidFill>
                            <a:srgbClr val="172B3A"/>
                          </a:solidFill>
                          <a:latin typeface="Helvetica Neue"/>
                          <a:ea typeface="Helvetica Neue"/>
                          <a:cs typeface="Helvetica Neue"/>
                        </a:rPr>
                        <a:t>Reused work, bulk preparation and queue time are separate</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17538">
                <a:tc>
                  <a:txBody>
                    <a:bodyPr lIns="0" tIns="0" rIns="0" bIns="0">
                      <a:noAutofit/>
                    </a:bodyPr>
                    <a:lstStyle/>
                    <a:p>
                      <a:r>
                        <a:rPr sz="1800" b="0">
                          <a:solidFill>
                            <a:srgbClr val="172B3A"/>
                          </a:solidFill>
                          <a:latin typeface="Helvetica Neue"/>
                          <a:ea typeface="Helvetica Neue"/>
                          <a:cs typeface="Helvetica Neue"/>
                        </a:rPr>
                        <a:t>Integrated delivery</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Reader fix, code integration and structure viewer completed</a:t>
                      </a:r>
                    </a:p>
                    <a:p>
                      <a:r>
                        <a:rPr sz="1800" b="0">
                          <a:solidFill>
                            <a:srgbClr val="172B3A"/>
                          </a:solidFill>
                          <a:latin typeface="Helvetica Neue"/>
                          <a:ea typeface="Helvetica Neue"/>
                          <a:cs typeface="Helvetica Neue"/>
                        </a:rPr>
                        <a:t>on the separate final-integration branch</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6" name="">
            <a:extLst xmlns:a="http://schemas.openxmlformats.org/drawingml/2006/main">
              <a:ext uri="{FF2B5EF4-FFF2-40B4-BE49-F238E27FC236}">
                <a16:creationId xmlns:a16="http://schemas.microsoft.com/office/drawing/2014/main" id="{D7AF82FC-CFFA-4A17-B3A4-758318F15595}"/>
              </a:ext>
            </a:extLst>
          </p:cNvPr>
          <p:cNvSpPr>
            <a:spLocks xmlns:a="http://schemas.openxmlformats.org/drawingml/2006/main" noGrp="1"/>
          </p:cNvSpPr>
          <p:nvPr/>
        </p:nvSpPr>
        <p:spPr>
          <a:xfrm xmlns:a="http://schemas.openxmlformats.org/drawingml/2006/main">
            <a:off x="533400" y="5972175"/>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472"/>
                </a:solidFill>
                <a:latin typeface="Helvetica Neue"/>
                <a:ea typeface="Helvetica Neue"/>
                <a:cs typeface="Helvetica Neue"/>
              </a:defRPr>
            </a:defPPr>
            <a:lvl1pPr>
              <a:buNone/>
              <a:defRPr sz="1725" b="0">
                <a:solidFill>
                  <a:srgbClr val="526472"/>
                </a:solidFill>
                <a:latin typeface="Helvetica Neue"/>
                <a:ea typeface="Helvetica Neue"/>
                <a:cs typeface="Helvetica Neue"/>
              </a:defRPr>
            </a:lvl1pPr>
            <a:lvl2pPr>
              <a:buNone/>
              <a:defRPr sz="1725" b="0">
                <a:solidFill>
                  <a:srgbClr val="526472"/>
                </a:solidFill>
                <a:latin typeface="Helvetica Neue"/>
                <a:ea typeface="Helvetica Neue"/>
                <a:cs typeface="Helvetica Neue"/>
              </a:defRPr>
            </a:lvl2pPr>
            <a:lvl3pPr>
              <a:buNone/>
              <a:defRPr sz="1725" b="0">
                <a:solidFill>
                  <a:srgbClr val="526472"/>
                </a:solidFill>
                <a:latin typeface="Helvetica Neue"/>
                <a:ea typeface="Helvetica Neue"/>
                <a:cs typeface="Helvetica Neue"/>
              </a:defRPr>
            </a:lvl3pPr>
            <a:lvl4pPr>
              <a:buNone/>
              <a:defRPr sz="1725" b="0">
                <a:solidFill>
                  <a:srgbClr val="526472"/>
                </a:solidFill>
                <a:latin typeface="Helvetica Neue"/>
                <a:ea typeface="Helvetica Neue"/>
                <a:cs typeface="Helvetica Neue"/>
              </a:defRPr>
            </a:lvl4pPr>
            <a:lvl5pPr>
              <a:buNone/>
              <a:defRPr sz="1725" b="0">
                <a:solidFill>
                  <a:srgbClr val="526472"/>
                </a:solidFill>
                <a:latin typeface="Helvetica Neue"/>
                <a:ea typeface="Helvetica Neue"/>
                <a:cs typeface="Helvetica Neue"/>
              </a:defRPr>
            </a:lvl5pPr>
            <a:lvl6pPr>
              <a:buNone/>
              <a:defRPr sz="1725" b="0">
                <a:solidFill>
                  <a:srgbClr val="526472"/>
                </a:solidFill>
                <a:latin typeface="Helvetica Neue"/>
                <a:ea typeface="Helvetica Neue"/>
                <a:cs typeface="Helvetica Neue"/>
              </a:defRPr>
            </a:lvl6pPr>
            <a:lvl7pPr>
              <a:buNone/>
              <a:defRPr sz="1725" b="0">
                <a:solidFill>
                  <a:srgbClr val="526472"/>
                </a:solidFill>
                <a:latin typeface="Helvetica Neue"/>
                <a:ea typeface="Helvetica Neue"/>
                <a:cs typeface="Helvetica Neue"/>
              </a:defRPr>
            </a:lvl7pPr>
            <a:lvl8pPr>
              <a:buNone/>
              <a:defRPr sz="1725" b="0">
                <a:solidFill>
                  <a:srgbClr val="526472"/>
                </a:solidFill>
                <a:latin typeface="Helvetica Neue"/>
                <a:ea typeface="Helvetica Neue"/>
                <a:cs typeface="Helvetica Neue"/>
              </a:defRPr>
            </a:lvl8pPr>
            <a:lvl9pPr>
              <a:buNone/>
              <a:defRPr sz="1725" b="0">
                <a:solidFill>
                  <a:srgbClr val="526472"/>
                </a:solidFill>
                <a:latin typeface="Helvetica Neue"/>
                <a:ea typeface="Helvetica Neue"/>
                <a:cs typeface="Helvetica Neue"/>
              </a:defRPr>
            </a:lvl9pPr>
          </a:lstStyle>
          <a:p xmlns:a="http://schemas.openxmlformats.org/drawingml/2006/main">
            <a:pPr>
              <a:buNone/>
              <a:defRPr sz="1725" b="0">
                <a:solidFill>
                  <a:srgbClr val="526472"/>
                </a:solidFill>
                <a:latin typeface="Helvetica Neue"/>
                <a:ea typeface="Helvetica Neue"/>
                <a:cs typeface="Helvetica Neue"/>
              </a:defRPr>
            </a:pPr>
            <a:r>
              <a:rPr sz="1725" b="0">
                <a:solidFill>
                  <a:srgbClr val="526472"/>
                </a:solidFill>
                <a:latin typeface="Helvetica Neue"/>
                <a:ea typeface="Helvetica Neue"/>
                <a:cs typeface="Helvetica Neue"/>
              </a:rPr>
              <a:t>Frozen decisions, later robustness, source hashes and limitations remain independently inspectable.</a:t>
            </a:r>
          </a:p>
        </p:txBody>
      </p:sp>
    </p:spTree>
    <p:extLst>
      <p:ext uri="{BB962C8B-B14F-4D97-AF65-F5344CB8AC3E}">
        <p14:creationId xmlns:p14="http://schemas.microsoft.com/office/powerpoint/2010/main" val="10174108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2026-10-22T11:31:56.5260000Z</dcterms:created>
  <dcterms:modified xsi:type="dcterms:W3CDTF">2026-10-22T11:31:56.5260000Z</dcterms:modified>
</coreProperties>
</file>