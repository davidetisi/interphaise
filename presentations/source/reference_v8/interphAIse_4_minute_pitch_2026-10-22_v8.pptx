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32545825a34617" /><Relationship Type="http://schemas.openxmlformats.org/officeDocument/2006/relationships/extended-properties" Target="/docProps/app.xml" Id="R6023cb8089fa419f" /><Relationship Type="http://schemas.openxmlformats.org/officeDocument/2006/relationships/officeDocument" Target="/ppt/presentation.xml" Id="R628128050ed74e7e" /></Relationships>
</file>

<file path=ppt/presentation.xml><?xml version="1.0" encoding="utf-8"?>
<p:presentation xmlns:p="http://schemas.openxmlformats.org/presentationml/2006/main">
  <p:sldMasterIdLst>
    <p:sldMasterId xmlns:r="http://schemas.openxmlformats.org/officeDocument/2006/relationships" id="2147483648" r:id="R8dedcf9895dc48f9"/>
  </p:sldMasterIdLst>
  <p:notesMasterIdLst>
    <p:notesMasterId xmlns:r="http://schemas.openxmlformats.org/officeDocument/2006/relationships" r:id="R355e02f46fa44608"/>
  </p:notesMasterIdLst>
  <p:sldIdLst>
    <p:sldId xmlns:r="http://schemas.openxmlformats.org/officeDocument/2006/relationships" id="256" r:id="Ra6e5f09d07384f9b"/>
    <p:sldId xmlns:r="http://schemas.openxmlformats.org/officeDocument/2006/relationships" id="257" r:id="Rcba0bec708ba4b52"/>
    <p:sldId xmlns:r="http://schemas.openxmlformats.org/officeDocument/2006/relationships" id="258" r:id="R9159a7a2a6a047ef"/>
    <p:sldId xmlns:r="http://schemas.openxmlformats.org/officeDocument/2006/relationships" id="259" r:id="R4c92fbe798174ffc"/>
    <p:sldId xmlns:r="http://schemas.openxmlformats.org/officeDocument/2006/relationships" id="260" r:id="Ra8e47c30c9fb44e7"/>
    <p:sldId xmlns:r="http://schemas.openxmlformats.org/officeDocument/2006/relationships" id="261" r:id="R530e3a902b1b4993"/>
    <p:sldId xmlns:r="http://schemas.openxmlformats.org/officeDocument/2006/relationships" id="262" r:id="R1d025603cab840bc"/>
    <p:sldId xmlns:r="http://schemas.openxmlformats.org/officeDocument/2006/relationships" id="263" r:id="R5bab427b4f6241c9"/>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51cac75a74d4e08" /><Relationship Type="http://schemas.openxmlformats.org/officeDocument/2006/relationships/slideMaster" Target="/ppt/slideMasters/slideMaster1.xml" Id="R8dedcf9895dc48f9" /><Relationship Type="http://schemas.openxmlformats.org/officeDocument/2006/relationships/notesMaster" Target="/ppt/notesMasters/notesMaster1.xml" Id="R355e02f46fa44608" /><Relationship Type="http://schemas.openxmlformats.org/officeDocument/2006/relationships/presProps" Target="/ppt/presProps.xml" Id="R20f74b46034e4c44" /><Relationship Type="http://schemas.openxmlformats.org/officeDocument/2006/relationships/viewProps" Target="/ppt/viewProps.xml" Id="Rfafe2927f3684cc9" /><Relationship Type="http://schemas.openxmlformats.org/officeDocument/2006/relationships/tableStyles" Target="/ppt/tableStyles.xml" Id="R37ecbb1773ab43bd" /><Relationship Type="http://schemas.openxmlformats.org/officeDocument/2006/relationships/slide" Target="/ppt/slides/slide1.xml" Id="Ra6e5f09d07384f9b" /><Relationship Type="http://schemas.openxmlformats.org/officeDocument/2006/relationships/slide" Target="/ppt/slides/slide2.xml" Id="Rcba0bec708ba4b52" /><Relationship Type="http://schemas.openxmlformats.org/officeDocument/2006/relationships/slide" Target="/ppt/slides/slide3.xml" Id="R9159a7a2a6a047ef" /><Relationship Type="http://schemas.openxmlformats.org/officeDocument/2006/relationships/slide" Target="/ppt/slides/slide4.xml" Id="R4c92fbe798174ffc" /><Relationship Type="http://schemas.openxmlformats.org/officeDocument/2006/relationships/slide" Target="/ppt/slides/slide5.xml" Id="Ra8e47c30c9fb44e7" /><Relationship Type="http://schemas.openxmlformats.org/officeDocument/2006/relationships/slide" Target="/ppt/slides/slide6.xml" Id="R530e3a902b1b4993" /><Relationship Type="http://schemas.openxmlformats.org/officeDocument/2006/relationships/slide" Target="/ppt/slides/slide7.xml" Id="R1d025603cab840bc" /><Relationship Type="http://schemas.openxmlformats.org/officeDocument/2006/relationships/slide" Target="/ppt/slides/slide8.xml" Id="R5bab427b4f6241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926f0687b441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f8739d12d14587" /><Relationship Type="http://schemas.openxmlformats.org/officeDocument/2006/relationships/notesMaster" Target="/ppt/notesMasters/notesMaster1.xml" Id="Rc0f415dcf3ce43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96eb68cd434a30" /><Relationship Type="http://schemas.openxmlformats.org/officeDocument/2006/relationships/notesMaster" Target="/ppt/notesMasters/notesMaster1.xml" Id="Rfcb9f82c5f9d47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2ab5185c52408d" /><Relationship Type="http://schemas.openxmlformats.org/officeDocument/2006/relationships/notesMaster" Target="/ppt/notesMasters/notesMaster1.xml" Id="Rbfe6692e9de449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78cbc517174b2f" /><Relationship Type="http://schemas.openxmlformats.org/officeDocument/2006/relationships/notesMaster" Target="/ppt/notesMasters/notesMaster1.xml" Id="R332375db150c48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652af8b4dd432c" /><Relationship Type="http://schemas.openxmlformats.org/officeDocument/2006/relationships/notesMaster" Target="/ppt/notesMasters/notesMaster1.xml" Id="R45ab33a3970446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d2d85ad70f4c38" /><Relationship Type="http://schemas.openxmlformats.org/officeDocument/2006/relationships/notesMaster" Target="/ppt/notesMasters/notesMaster1.xml" Id="Rf3a568b391354d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9f5586a42d4490" /><Relationship Type="http://schemas.openxmlformats.org/officeDocument/2006/relationships/notesMaster" Target="/ppt/notesMasters/notesMaster1.xml" Id="R5cf5a1c2056f43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e48d801f04495d" /><Relationship Type="http://schemas.openxmlformats.org/officeDocument/2006/relationships/notesMaster" Target="/ppt/notesMasters/notesMaster1.xml" Id="R08082725cab740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1/8 • 0:00–0:30</a:t>
            </a:r>
          </a:p>
          <a:p xmlns:a="http://schemas.openxmlformats.org/drawingml/2006/main">
            <a:r>
              <a:t>Solid-state batteries need stable contact between the cathode, which stores lithium, and the electrolyte, which carries lithium ions. A coating must limit reactions, block electrons, stay attached and let lithium move. interphAIse tests a clear question: can an AI language model use calculation feedback to find an acceptable coating within ten choices?</a:t>
            </a:r>
          </a:p>
          <a:p xmlns:a="http://schemas.openxmlformats.org/drawingml/2006/main">
            <a:endParaRPr/>
          </a:p>
          <a:p xmlns:a="http://schemas.openxmlformats.org/drawingml/2006/main">
            <a:r>
              <a:t>SCIENTIFIC DETAIL</a:t>
            </a:r>
          </a:p>
          <a:p xmlns:a="http://schemas.openxmlformats.org/drawingml/2006/main">
            <a:r>
              <a:t>The cathode stores lithium and the solid electrolyte carries ions. The coating is intended to protect their boundary while retaining contact and lithium transport. The project delegates selection from known structures and tests the resulting choices. Potential impact is faster or more useful candidate triage for battery researchers, not a measured acceleration or improved battery. The contribution is combining controlled feedback comparisons with prospective atomistic forecast checks and an auditable record. The illustration is conceptual, AI-generated and not to scale; it is not a simulated or measured structure. The event judges impact, innovativeness, novelty and relevance to physical sciences. Its public page, read on 22 October 2026, limits optional videos to four minutes.</a:t>
            </a:r>
          </a:p>
          <a:p xmlns:a="http://schemas.openxmlformats.org/drawingml/2006/main">
            <a:endParaRPr/>
          </a:p>
          <a:p xmlns:a="http://schemas.openxmlformats.org/drawingml/2006/main">
            <a:r>
              <a:t>Sources:</a:t>
            </a:r>
          </a:p>
          <a:p xmlns:a="http://schemas.openxmlformats.org/drawingml/2006/main">
            <a:r>
              <a:t>/Users/davidetisi/Documents/Work/DTU/OSI_Hackathon/interphAIse-integration/RESULTS_SYNTHESIS_2026-10-22.md</a:t>
            </a:r>
          </a:p>
          <a:p xmlns:a="http://schemas.openxmlformats.org/drawingml/2006/main">
            <a:r>
              <a:t>https://scientificintelligence.org/campaigns/osi-hackathon-2026</a:t>
            </a:r>
          </a:p>
          <a:p xmlns:a="http://schemas.openxmlformats.org/drawingml/2006/main">
            <a:r>
              <a:t>/Users/davidetisi/Documents/Work/DTU/OSI_Hackathon/interphAIse/presentations/source/nonexpert_assets/provenance.json</a:t>
            </a:r>
          </a:p>
          <a:p xmlns:a="http://schemas.openxmlformats.org/drawingml/2006/main">
            <a:endParaRP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/Users/davidetisi/Documents/Work/DTU/OSI_Hackathon/interphAIse-integration/interphaise/discovery_evaluator.py</a:t>
            </a:r>
          </a:p>
          <a:p xmlns:a="http://schemas.openxmlformats.org/drawingml/2006/main">
            <a:r>
              <a:t>/Users/davidetisi/Documents/Work/DTU/OSI_Hackathon/interphAIse-integration/EVALUATOR_HANDOFF.md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/Users/davidetisi/Documents/Work/DTU/OSI_Hackathon/interphAIse-integration/LLM_PETMAD_PILOT_PLAN.md</a:t>
            </a:r>
          </a:p>
          <a:p xmlns:a="http://schemas.openxmlformats.org/drawingml/2006/main">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2/8 • 0:30–1:00</a:t>
            </a:r>
          </a:p>
          <a:p xmlns:a="http://schemas.openxmlformats.org/drawingml/2006/main">
            <a:r>
              <a:t>The LLM chooses a candidate; Materials Project and thermodynamic tools test chemistry, and PET-MAD tests attachment. Fixed chemistry and structure filters retain 141 known candidates. We keep the cathode fixed and use sulfide, chloride and oxide electrolytes to test different chemistries. Haiku and DeepSeek each get ten choices per search. The full study has 810 searches, with different model reasoning configurations.</a:t>
            </a:r>
          </a:p>
          <a:p xmlns:a="http://schemas.openxmlformats.org/drawingml/2006/main">
            <a:endParaRPr/>
          </a:p>
          <a:p xmlns:a="http://schemas.openxmlformats.org/drawingml/2006/main">
            <a:r>
              <a:t>SCIENTIFIC DETAIL</a:t>
            </a:r>
          </a:p>
          <a:p xmlns:a="http://schemas.openxmlformats.org/drawingml/2006/main">
            <a:r>
              <a:t>Completed evidence only: 450 Haiku-study runs (360 LLM + 90 random) plus 360 DeepSeek LLM runs = 810 unique runs and 8,100 charged queries. The shared random runs are not repeated or counted twice. All environment menus contain the same 141 structure IDs representing 100 formulas. The screening rule uses penalty ≤0.050 eV/non-Li atom and band gap ≥2 eV at LiCoO2 / electrolyte, 4 V, with equilibrated endpoints. Cheap precomputed tables give exhaustive benchmark truth; query counts do not establish saved expensive compute.</a:t>
            </a:r>
          </a:p>
          <a:p xmlns:a="http://schemas.openxmlformats.org/drawingml/2006/main">
            <a:endParaRPr/>
          </a:p>
          <a:p xmlns:a="http://schemas.openxmlformats.org/drawingml/2006/main">
            <a:r>
              <a:t>Haiku 5.5 uses the direct Anthropic route. DeepSeek V3.2 uses OpenRouter, SiliconFlow fp8, no fallbacks, reasoning cap 3,072 and total output cap 4,096. Both use temperature 1.0. Actual reasoning use differs. Cross-model comparisons are descriptive. PET-MAD S 1.6.0 (r²SCAN) is a separate atomic model accessed through UPET. pymatgen builds matched interfaces, ASE relaxes them, and PET-MAD predicts energies/forces. Python validates budgets and archives results; Niflheim GPUs and Slurm execute atomic jobs. The 3D viewer supports human inspection. DeepSeek did not run the physical forecast pilot.</a:t>
            </a:r>
          </a:p>
          <a:p xmlns:a="http://schemas.openxmlformats.org/drawingml/2006/main">
            <a:endParaRP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/Users/davidetisi/Documents/Work/DTU/OSI_Hackathon/interphAIse-integration/interphaise/discovery_evaluator.py</a:t>
            </a:r>
          </a:p>
          <a:p xmlns:a="http://schemas.openxmlformats.org/drawingml/2006/main">
            <a:r>
              <a:t>/Users/davidetisi/Documents/Work/DTU/OSI_Hackathon/interphAIse-integration/interphaise/tools/mlip.py</a:t>
            </a:r>
          </a:p>
          <a:p xmlns:a="http://schemas.openxmlformats.org/drawingml/2006/main">
            <a:endParaRPr/>
          </a:p>
          <a:p xmlns:a="http://schemas.openxmlformats.org/drawingml/2006/main">
            <a:r>
              <a:t>MATERIAL SELECTION</a:t>
            </a:r>
          </a:p>
          <a:p xmlns:a="http://schemas.openxmlformats.org/drawingml/2006/main">
            <a:r>
              <a:t>Materials were selected to vary electrolyte chemistry while holding LiCoO2 (mp-22526) and imposed Li potential at 4 V fixed. Li6PS5Cl is the established sulfide setting. Li3InCl6 adds a chloride and was available as an ordered cached alternative; Li3YCl6 was absent from that prefiltered cache. LLZO adds an oxide challenge to test whether the sulfide-compatible direction remains useful. The endpoint records were selected by the lowest summary hull energy among ordered matching records in the available cache, before the new environment scores; this is not an unrestricted polymorph search. The chosen LLZO model is ordered tetragonal, not disordered/doped cubic LLZO.</a:t>
            </a:r>
          </a:p>
          <a:p xmlns:a="http://schemas.openxmlformats.org/drawingml/2006/main">
            <a:r>
              <a:t>Sources:</a:t>
            </a:r>
          </a:p>
          <a:p xmlns:a="http://schemas.openxmlformats.org/drawingml/2006/main">
            <a:r>
              <a:t>/Users/davidetisi/Documents/Work/DTU/OSI_Hackathon/interphAIse-integration/ENVIRONMENT_EXPANSION.md</a:t>
            </a:r>
          </a:p>
          <a:p xmlns:a="http://schemas.openxmlformats.org/drawingml/2006/main">
            <a:endParaRPr/>
          </a:p>
          <a:p xmlns:a="http://schemas.openxmlformats.org/drawingml/2006/main">
            <a:r>
              <a:t>The menu retains all 141 eligible structures (100 formulas) from 3,770 cached Materials Project records. Fixed filters require Li, no more than four elements from the declared chemical scope, summary energy above hull ≤0.025 eV/atom, ordered structures and no more than 40 primitive sites. The restriction keeps phase diagrams and the two-day task manageable. All eligible records are retained, without choosing by the new environment scores. Five families: 61 other oxides, 29 halides, 23 silicates, 16 phosphates, 12 borates. Band gap was not a pool prefilter; it is used in the acceptance gate. Near-hull does not establish synthesis or transport quality.</a:t>
            </a:r>
          </a:p>
          <a:p xmlns:a="http://schemas.openxmlformats.org/drawingml/2006/main">
            <a:r>
              <a:t>Sources:</a:t>
            </a:r>
          </a:p>
          <a:p xmlns:a="http://schemas.openxmlformats.org/drawingml/2006/main">
            <a:r>
              <a:t>/Users/davidetisi/Documents/Work/DTU/OSI_Hackathon/interphAIse-integration/ENVIRONMENT_EXPANSION.md</a:t>
            </a:r>
          </a:p>
          <a:p xmlns:a="http://schemas.openxmlformats.org/drawingml/2006/main">
            <a:r>
              <a:t>/Users/davidetisi/Documents/Work/DTU/OSI_Hackathon/interphAIse-integration/data/exploration/environment_expansion_v1/pool.json</a:t>
            </a:r>
          </a:p>
          <a:p xmlns:a="http://schemas.openxmlformats.org/drawingml/2006/main">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3/8 • 1:00–1:40</a:t>
            </a:r>
          </a:p>
          <a:p xmlns:a="http://schemas.openxmlformats.org/drawingml/2006/main">
            <a:r>
              <a:t>We compare five strategies: true results after each choice, no scores, scores assigned to the wrong materials, one upfront list, and random sampling. Each has thirty searches. A coating passes if its worst decomposition or extra-contact-reaction penalty is at most 0.050 electronvolts per non-lithium atom and its band gap is at least two electronvolts. Success means finding one pass within ten choices. Adhesion and lithium mobility are separate physical checks.</a:t>
            </a:r>
          </a:p>
          <a:p xmlns:a="http://schemas.openxmlformats.org/drawingml/2006/main">
            <a:endParaRPr/>
          </a:p>
          <a:p xmlns:a="http://schemas.openxmlformats.org/drawingml/2006/main">
            <a:r>
              <a:t>SCIENTIFIC DETAIL</a:t>
            </a:r>
          </a:p>
          <a:p xmlns:a="http://schemas.openxmlformats.org/drawingml/2006/main">
            <a:r>
              <a:t>The chart labels correspond to iterative, sequential, shuffled, upfront and random. Each model is tested in all four LLM arms; random is shared. Sequential still has earlier choices and rationales, so it controls access to numerical results. Shuffled reassigns historical outcomes, testing whether correct attribution matters. This control is imperfect because some assignments remain correct and earlier rationales can conflict with shuffled outcomes. Upfront tests initial shortlist quality, but it also changes batch versus sequential choice. An upfront–iterative difference therefore does not isolate a causal effect of feedback. Invalid, duplicate and failed queries consume the budget. Success is a proxy-screen hit, not a working battery.</a:t>
            </a:r>
          </a:p>
          <a:p xmlns:a="http://schemas.openxmlformats.org/drawingml/2006/main">
            <a:endParaRPr/>
          </a:p>
          <a:p xmlns:a="http://schemas.openxmlformats.org/drawingml/2006/main">
            <a:r>
              <a:t>Sources:</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/Users/davidetisi/Documents/Work/DTU/OSI_Hackathon/interphAIse/presentations/source/four_minute_evidence_2026-10-22.json</a:t>
            </a:r>
          </a:p>
          <a:p xmlns:a="http://schemas.openxmlformats.org/drawingml/2006/main">
            <a:endParaRP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/Users/davidetisi/Documents/Work/DTU/OSI_Hackathon/interphAIse-integration/interphaise/discovery_evaluator.py</a:t>
            </a:r>
          </a:p>
          <a:p xmlns:a="http://schemas.openxmlformats.org/drawingml/2006/main">
            <a:r>
              <a:t>/Users/davidetisi/Documents/Work/DTU/OSI_Hackathon/interphAIse-integration/EVALUATOR_HANDOFF.md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/Users/davidetisi/Documents/Work/DTU/OSI_Hackathon/interphAIse-integration/LLM_PETMAD_PILOT_PLAN.md</a:t>
            </a:r>
          </a:p>
          <a:p xmlns:a="http://schemas.openxmlformats.org/drawingml/2006/main">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4/8 • 1:40–2:15</a:t>
            </a:r>
          </a:p>
          <a:p xmlns:a="http://schemas.openxmlformats.org/drawingml/2006/main">
            <a:r>
              <a:t>Sulfide is our strongest result. Haiku succeeds in twenty of thirty searches with correct feedback, compared with two without results, six with mixed-up results, and eight for random. The planned statistical tests support its improvement over both feedback controls. DeepSeek moves in the same direction, but its twelve successes give weaker evidence that does not survive correction. The benefit is clearest for Haiku.</a:t>
            </a:r>
          </a:p>
          <a:p xmlns:a="http://schemas.openxmlformats.org/drawingml/2006/main">
            <a:r>
              <a:t/>
            </a:r>
            <a:endParaRPr/>
          </a:p>
          <a:p xmlns:a="http://schemas.openxmlformats.org/drawingml/2006/main">
            <a:r>
              <a:t>SCIENTIFIC DETAIL</a:t>
            </a:r>
          </a:p>
          <a:p xmlns:a="http://schemas.openxmlformats.org/drawingml/2006/main">
            <a:r>
              <a:t>Sulfide electrolyte: Li6PS5Cl. Only four of 141 structures pass. Counts in iterative/sequential/shuffled/upfront order are Haiku 20/2/6/0, DeepSeek 12/2/3/2, shared random 8. Paired exact McNemar tests with a separate six-test Holm family for each model: Haiku vs sequential p=0.0000457764 and vs shuffled p=0.00244140625; DeepSeek 0.07763671875 and 0.1123046875. Both Haiku contrasts pass 0.05, neither DeepSeek contrast does. Differences in significance are not a cross-model significance test. Random comparisons here are descriptive. Individual 95% Wilson success-probability intervals and full counts are in the companion 15-minute presentation. Planned tests are in the companion 15-minute presentation. A concrete Haiku trace is in the companion 15-minute presentation.</a:t>
            </a:r>
          </a:p>
          <a:p xmlns:a="http://schemas.openxmlformats.org/drawingml/2006/main">
            <a:r>
              <a:t/>
            </a:r>
            <a:endParaRP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/Users/davidetisi/Documents/Work/DTU/OSI_Hackathon/interphAIse-integration/data/reviews/deepseek_results_review_20261022.json</a:t>
            </a:r>
          </a:p>
          <a:p xmlns:a="http://schemas.openxmlformats.org/drawingml/2006/main">
            <a:r>
              <a:t>/Users/davidetisi/Documents/Work/DTU/OSI_Hackathon/interphAIse-integration/RESULTS_SYNTHESIS_2026-10-22.md</a:t>
            </a:r>
          </a:p>
          <a:p xmlns:a="http://schemas.openxmlformats.org/drawingml/2006/main">
            <a:r>
              <a:t/>
            </a:r>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8/30. All three panels use the same 0–34 axis range, with labelled ticks 0, 10, 20 and 30. Comparisons with random and between models are descriptive. Planned significance tests concern the feedback controls. The shared random runs are counted once. Visual reference: /Users/davidetisi/Documents/Work/DTU/OSI_Hackathon/interphAIse-integration/presentations/results_2026-10-22/interphaise_submission_2026-10-22.docx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5/8 • 2:15–2:40</a:t>
            </a:r>
          </a:p>
          <a:p xmlns:a="http://schemas.openxmlformats.org/drawingml/2006/main">
            <a:r>
              <a:t>Niobium fluoride was the existing acceptable reference. Haiku chose tantalum fluoride as an acceptable, close chemical analogue. Calcium aluminium fluoride was the only acceptable unevaluated option left. Both tantalum adhesion forecasts held; both calcium aluminium forecasts failed. Niobium and tantalum remain a pair for follow-up, without a proven winner.</a:t>
            </a:r>
          </a:p>
          <a:p xmlns:a="http://schemas.openxmlformats.org/drawingml/2006/main">
            <a:endParaRPr/>
          </a:p>
          <a:p xmlns:a="http://schemas.openxmlformats.org/drawingml/2006/main">
            <a:r>
              <a:t>SCIENTIFIC DETAIL</a:t>
            </a:r>
          </a:p>
          <a:p xmlns:a="http://schemas.openxmlformats.org/drawingml/2006/main">
            <a:r>
              <a:t>The sulfide screen accepts four crystal structures representing three formulas: LiNbF6, LiCaAlF6 and two LiTaF6 polymorphs. All are known Materials Project structures. The physical study evaluates one Ta polymorph plus Nb and Ca–Al. The reference Nb data are supplied first, then Haiku chooses Ta followed by Ca–Al. No DeepSeek physical forecast or interface calculation exists. The table gives selected-primary relaxed adhesion at the electrolyte contact, the weaker contact for all three materials. The Nb/Ta pair is an interpretation for follow-up, not a global optimum or validated coating.</a:t>
            </a:r>
          </a:p>
          <a:p xmlns:a="http://schemas.openxmlformats.org/drawingml/2006/main">
            <a:endParaRPr/>
          </a:p>
          <a:p xmlns:a="http://schemas.openxmlformats.org/drawingml/2006/main">
            <a:r>
              <a:t>Ta forecasts: cathode 3.2–3.9 gives 3.3387484128, electrolyte 1.4–1.9 gives 1.5773585444 J/m². Ca–Al forecasts: 3.0–3.8 gives 1.4267104455, and 1.4–1.9 gives 0.7435735866. Both Ca–Al forecasts fail. Haiku predicts the weaker contact correctly twice. Choice order remains unchanged; the second choice is the only acceptable remaining feasible candidate. This bounded pilot cannot establish adaptive expensive-search gain. The Nb/Ta weaker-contact gap is about 0.056 J/m², below known reference/construction sensitivities of about 0.121/0.114. All contacts are formally polar. Ca–Al electrolyte thickness/reference sensitivities remain unquantified. Exact forecasts are in the companion 15-minute presentation and physical definitions/values in the companion 15-minute presentation.</a:t>
            </a:r>
          </a:p>
          <a:p xmlns:a="http://schemas.openxmlformats.org/drawingml/2006/main">
            <a:endParaRPr/>
          </a:p>
          <a:p xmlns:a="http://schemas.openxmlformats.org/drawingml/2006/main">
            <a:r>
              <a:t>Sources:</a:t>
            </a:r>
          </a:p>
          <a:p xmlns:a="http://schemas.openxmlformats.org/drawingml/2006/main">
            <a:r>
              <a:t>/Users/davidetisi/Documents/Work/DTU/OSI_Hackathon/interphAIse-integration/FINAL_PILOT_REVIEW.md</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endParaRPr/>
          </a:p>
          <a:p xmlns:a="http://schemas.openxmlformats.org/drawingml/2006/main">
            <a:r>
              <a:t>MATERIAL SELECTION</a:t>
            </a:r>
          </a:p>
          <a:p xmlns:a="http://schemas.openxmlformats.org/drawingml/2006/main">
            <a:r>
              <a:t>LiNbF6 is the acceptable, already evaluated reference supplied to Haiku, rather than one of its two new physical choices. Haiku chose LiTaF6 with known frozen chemical acceptance and a 5.9 eV gap, then forecast adhesion by analogy to LiNbF6 (same fluoride framework and similar cation size in its rationale). The archived explanation also cites rounded penalties 0.027 for Ta and 0.029 for Nb, both in bin 1; these do not establish a robust winner within that bin. LiCaAlF6 (penalty 0.048, bin 2, gap 7.6 eV) was already second on the initial shortlist and was the only acceptable, feasible, unevaluated candidate after Ta. The mixed Ca/Al framework was a less-close analogy, and the forecasts subsequently failed. LiF remained unevaluated because it failed the chemical screen. The physical feasible menu contains one Ta polymorph, while two Ta polymorphs pass the full chemical screen. These are recorded selection reasons and model hypotheses, not a demonstrated causal mechanism or transport validation.</a:t>
            </a:r>
          </a:p>
          <a:p xmlns:a="http://schemas.openxmlformats.org/drawingml/2006/main">
            <a:r>
              <a:t>Sources:</a:t>
            </a:r>
          </a:p>
          <a:p xmlns:a="http://schemas.openxmlformats.org/drawingml/2006/main">
            <a:r>
              <a:t>/Users/davidetisi/Documents/Work/DTU/OSI_Hackathon/interphAIse-integration/data/experiments/llm_petmad_pilot_v1/state.json</a:t>
            </a:r>
          </a:p>
          <a:p xmlns:a="http://schemas.openxmlformats.org/drawingml/2006/main">
            <a:r>
              <a:t>/Users/davidetisi/Documents/Work/DTU/OSI_Hackathon/interphAIse-integration/data/petmad/coating_comparison_v1/manifest.json</a:t>
            </a:r>
          </a:p>
          <a:p xmlns:a="http://schemas.openxmlformats.org/drawingml/2006/main">
            <a:r>
              <a:t>/Users/davidetisi/Documents/Work/DTU/OSI_Hackathon/interphAIse-integration/data/experiments/llm_petmad_pilot_v1/INTERPRETATION.md</a:t>
            </a:r>
          </a:p>
          <a:p xmlns:a="http://schemas.openxmlformats.org/drawingml/2006/main">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6/8 • 2:40–2:55</a:t>
            </a:r>
          </a:p>
          <a:p xmlns:a="http://schemas.openxmlformats.org/drawingml/2006/main">
            <a:r>
              <a:t>Chloride is easy under this screen: both models succeed in every strategy, and random nearly always succeeds. This ceiling gives little room to demonstrate a feedback advantage.</a:t>
            </a:r>
          </a:p>
          <a:p xmlns:a="http://schemas.openxmlformats.org/drawingml/2006/main">
            <a:r>
              <a:t/>
            </a:r>
            <a:endParaRPr/>
          </a:p>
          <a:p xmlns:a="http://schemas.openxmlformats.org/drawingml/2006/main">
            <a:r>
              <a:t>SCIENTIFIC DETAIL</a:t>
            </a:r>
          </a:p>
          <a:p xmlns:a="http://schemas.openxmlformats.org/drawingml/2006/main">
            <a:r>
              <a:t>Chloride electrolyte: Li3InCl6. All four LLM strategies succeed in 30/30 runs for each model. Shared random succeeds in 29/30. The finite-pool exact random success probability in ten samples is about 99.4%, consistent with the ceiling. Both models have p=1 for both planned comparisons. This condition is part of the declared full study and remains in the pitch. It is not a failure of finding acceptable candidates and does not establish a model/feedback advantage.</a:t>
            </a:r>
          </a:p>
          <a:p xmlns:a="http://schemas.openxmlformats.org/drawingml/2006/main">
            <a:r>
              <a:t/>
            </a:r>
            <a:endParaRP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
            </a:r>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29/30. All three panels use the same 0–34 axis range, with labelled ticks 0, 10, 20 and 30. Comparisons with random and between models are descriptive. Planned significance tests concern the feedback controls. The shared random runs are counted once. Visual reference: /Users/davidetisi/Documents/Work/DTU/OSI_Hackathon/interphAIse-integration/presentations/results_2026-10-22/interphaise_submission_2026-10-22.docx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7/8 • 2:55–3:30</a:t>
            </a:r>
          </a:p>
          <a:p xmlns:a="http://schemas.openxmlformats.org/drawingml/2006/main">
            <a:r>
              <a:t>LLZO, an oxide electrolyte, exposes the failure. DeepSeek succeeds twenty times with an upfront list, but only ten with correct feedback and twelve with mixed-up feedback. Random succeeds twenty-four times. Its initial chemical knowledge is useful, but this loop demonstrates no clear benefit from using feedback correctly. Haiku’s iterative search also trails random. These results identify a failure of the tested strategy, without proving that feedback itself causes the loss.</a:t>
            </a:r>
          </a:p>
          <a:p xmlns:a="http://schemas.openxmlformats.org/drawingml/2006/main">
            <a:r>
              <a:t/>
            </a:r>
            <a:endParaRPr/>
          </a:p>
          <a:p xmlns:a="http://schemas.openxmlformats.org/drawingml/2006/main">
            <a:r>
              <a:t>SCIENTIFIC DETAIL</a:t>
            </a:r>
          </a:p>
          <a:p xmlns:a="http://schemas.openxmlformats.org/drawingml/2006/main">
            <a:r>
              <a:t>LLZO is Li7La3Zr2O12. Seventeen of 141 structures pass the frozen proxy. Counts iterative/sequential/shuffled/upfront: Haiku 12/0/4/1 and DeepSeek 10/4/12/20. Shared random is 24/30. DeepSeek iterative vs sequential has Holm p=0.4375 and vs shuffled p=1. Thus correctly attributed feedback has no demonstrated benefit in these planned contrasts. The result supports a failure of the tested feedback-guided selection policy, not proof that the model cannot reason or that feedback has exactly zero effect. Upfront–iterative changes selection policy as well as feedback, so the 20-to-10 difference is not a causal feedback-harm estimate. Cross-model comparisons are descriptive with different reasoning compute.</a:t>
            </a:r>
          </a:p>
          <a:p xmlns:a="http://schemas.openxmlformats.org/drawingml/2006/main">
            <a:r>
              <a:t/>
            </a:r>
            <a:endParaRPr/>
          </a:p>
          <a:p xmlns:a="http://schemas.openxmlformats.org/drawingml/2006/main">
            <a:r>
              <a:t>DeepSeek upfront finds 22 acceptable picks across 20 successful runs: LiAlSiO4 18, LiMgPO4 3, LiAl(SiO3)2 1. All lie outside the predefined oxyhalogen review set. This shows useful initial candidate knowledge and qualifies the earlier Haiku-only explanation. It does not establish practical coating quality. Random retains 24/30 on the frozen endpoint, including 18 runs with an unflagged acceptable hit. DeepSeek iterative has nine unflagged-hit and one flagged-only success. Audit is post-hoc, in the companion 15-minute presentation.</a:t>
            </a:r>
          </a:p>
          <a:p xmlns:a="http://schemas.openxmlformats.org/drawingml/2006/main">
            <a:r>
              <a:t/>
            </a:r>
            <a:endParaRP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/Users/davidetisi/Documents/Work/DTU/OSI_Hackathon/interphAIse-integration/data/reviews/deepseek_results_review_20261022.json</a:t>
            </a:r>
          </a:p>
          <a:p xmlns:a="http://schemas.openxmlformats.org/drawingml/2006/main">
            <a:r>
              <a:t>/Users/davidetisi/Documents/Work/DTU/OSI_Hackathon/interphAIse-integration/data/experiments/deepseek_v1/llzo_audit.md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/Users/davidetisi/Documents/Work/DTU/OSI_Hackathon/interphAIse-integration/RESULTS_SYNTHESIS_2026-10-22.md</a:t>
            </a:r>
          </a:p>
          <a:p xmlns:a="http://schemas.openxmlformats.org/drawingml/2006/main">
            <a:r>
              <a:t/>
            </a:r>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24/30. All three panels use the same 0–34 axis range, with labelled ticks 0, 10, 20 and 30. Comparisons with random and between models are descriptive. Planned significance tests concern the feedback controls. The shared random runs are counted once. Visual reference: /Users/davidetisi/Documents/Work/DTU/OSI_Hackathon/interphAIse-integration/presentations/results_2026-10-22/interphaise_submission_2026-10-22.docx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8/8 • 3:30–3:55</a:t>
            </a:r>
          </a:p>
          <a:p xmlns:a="http://schemas.openxmlformats.org/drawingml/2006/main">
            <a:r>
              <a:t>Next, we need to test lithium-ion mobility across the coating and the interphases. A layer can look chemically acceptable and stay attached, yet block the battery’s current. Those longer transport simulations were beyond the two-day computation window. We would combine mobility with compatibility and adhesion, then validate the leading candidates with stronger physical models and experiments.</a:t>
            </a:r>
          </a:p>
          <a:p xmlns:a="http://schemas.openxmlformats.org/drawingml/2006/main">
            <a:endParaRPr/>
          </a:p>
          <a:p xmlns:a="http://schemas.openxmlformats.org/drawingml/2006/main">
            <a:r>
              <a:t>SCIENTIFIC DETAIL</a:t>
            </a:r>
          </a:p>
          <a:p xmlns:a="http://schemas.openxmlformats.org/drawingml/2006/main">
            <a:r>
              <a:t>Proposed future work, not a completed mobility result. The user identifies the two-day hackathon computation window as the reason transport was not included. Atomic relaxation and adhesion are not diffusion simulations. Future work should test Li motion through the coating and near both contacts, including any reaction/interphase layer, over adequate trajectories and temperatures. Adequate sampling and validation of the potential are needed before reporting transport properties. Combine this with compatibility, adhesion and practical processability, then refine polar-interface models and perform higher-fidelity/experimental checks. An initial test should include the Nb/Ta follow-up pair; no optimal conducting coating has yet been established.</a:t>
            </a:r>
          </a:p>
          <a:p xmlns:a="http://schemas.openxmlformats.org/drawingml/2006/main">
            <a:endParaRPr/>
          </a:p>
          <a:p xmlns:a="http://schemas.openxmlformats.org/drawingml/2006/main">
            <a:r>
              <a:t>The main presentation ends here. Public structure viewer: https://davidetisi.github.io/interphAIse/ . The viewer illustrates computed interfaces, not ion trajectories.</a:t>
            </a:r>
          </a:p>
          <a:p xmlns:a="http://schemas.openxmlformats.org/drawingml/2006/main">
            <a:endParaRPr/>
          </a:p>
          <a:p xmlns:a="http://schemas.openxmlformats.org/drawingml/2006/main">
            <a:r>
              <a:t>Sources:</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/Users/davidetisi/Documents/Work/DTU/OSI_Hackathon/interphAIse-integration/FINAL_PILOT_REVIEW.md</a:t>
            </a:r>
          </a:p>
          <a:p xmlns:a="http://schemas.openxmlformats.org/drawingml/2006/main">
            <a:r>
              <a:t>https://scientificintelligence.org/campaigns/osi-hackathon-2026</a:t>
            </a:r>
          </a:p>
          <a:p xmlns:a="http://schemas.openxmlformats.org/drawingml/2006/main">
            <a:endParaRP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85723913df41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3f23c7f88141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63b53d77b941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7a23e922f840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82735565274b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c9ae1b3ede4a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EC5DAB-9995-4D61-9E6B-B14C99645E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9B777E90-E3F1-4723-98E7-529EBE05AD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A11827-643C-4147-A4C5-8A44C4E2B6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D20C4-86B4-4A86-8E31-BFC12A8582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F279A389-7F42-4B5D-A0C2-09D973F5B2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E71DF9-63C6-4671-A446-E6888E950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0089925F-FD08-433F-BA61-C71EF4069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3D4DF3B0-4068-4904-804A-774C445D7A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318C1-58ED-4A92-9FD4-878669DDA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136E71E-FF2A-487A-B4C3-54F3C22F1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1efaa03bab4b46" /><Relationship Type="http://schemas.openxmlformats.org/officeDocument/2006/relationships/slideLayout" Target="/ppt/slideLayouts/slideLayout1.xml" Id="Rc8909460d1f34756" /><Relationship Type="http://schemas.openxmlformats.org/officeDocument/2006/relationships/slideLayout" Target="/ppt/slideLayouts/slideLayout2.xml" Id="Rb0e74e17a00949d3" /><Relationship Type="http://schemas.openxmlformats.org/officeDocument/2006/relationships/slideLayout" Target="/ppt/slideLayouts/slideLayout3.xml" Id="Rc612c199eedd4222" /><Relationship Type="http://schemas.openxmlformats.org/officeDocument/2006/relationships/slideLayout" Target="/ppt/slideLayouts/slideLayout4.xml" Id="Rf0aa677610a64a0e" /><Relationship Type="http://schemas.openxmlformats.org/officeDocument/2006/relationships/slideLayout" Target="/ppt/slideLayouts/slideLayout5.xml" Id="R9096eec8b296420b" /><Relationship Type="http://schemas.openxmlformats.org/officeDocument/2006/relationships/slideLayout" Target="/ppt/slideLayouts/slideLayout6.xml" Id="R1788bbbf0b8a43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09460d1f34756"/>
    <p:sldLayoutId xmlns:r="http://schemas.openxmlformats.org/officeDocument/2006/relationships" id="2147483650" r:id="Rb0e74e17a00949d3"/>
    <p:sldLayoutId xmlns:r="http://schemas.openxmlformats.org/officeDocument/2006/relationships" id="2147483651" r:id="Rc612c199eedd4222"/>
    <p:sldLayoutId xmlns:r="http://schemas.openxmlformats.org/officeDocument/2006/relationships" id="2147483652" r:id="Rf0aa677610a64a0e"/>
    <p:sldLayoutId xmlns:r="http://schemas.openxmlformats.org/officeDocument/2006/relationships" id="2147483653" r:id="R9096eec8b296420b"/>
    <p:sldLayoutId xmlns:r="http://schemas.openxmlformats.org/officeDocument/2006/relationships" id="2147483654" r:id="R1788bbbf0b8a43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a84838e5cd4e29" /><Relationship Type="http://schemas.openxmlformats.org/officeDocument/2006/relationships/image" Target="/ppt/media/image.png" Id="Re62ad8d3dacc42d4" /><Relationship Type="http://schemas.openxmlformats.org/officeDocument/2006/relationships/image" Target="/ppt/media/image2.png" Id="R261134ab59ef4ecb" /><Relationship Type="http://schemas.openxmlformats.org/officeDocument/2006/relationships/notesSlide" Target="/ppt/notesSlides/notesSlide1.xml" Id="Rfaa564d7123e45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eb7f1894de4907" /><Relationship Type="http://schemas.openxmlformats.org/officeDocument/2006/relationships/image" Target="/ppt/media/image2.png" Id="R52ecf07fd5ac4ad8" /><Relationship Type="http://schemas.openxmlformats.org/officeDocument/2006/relationships/notesSlide" Target="/ppt/notesSlides/notesSlide2.xml" Id="R443cfc268f4346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441362f2a4403f" /><Relationship Type="http://schemas.openxmlformats.org/officeDocument/2006/relationships/image" Target="/ppt/media/image2.png" Id="Rc60a6e5fcf2b4495" /><Relationship Type="http://schemas.openxmlformats.org/officeDocument/2006/relationships/notesSlide" Target="/ppt/notesSlides/notesSlide3.xml" Id="R0cc7657837aa4c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02da4484934e4d" /><Relationship Type="http://schemas.openxmlformats.org/officeDocument/2006/relationships/image" Target="/ppt/media/image2.png" Id="R972ba999bea94232" /><Relationship Type="http://schemas.openxmlformats.org/officeDocument/2006/relationships/chart" Target="/ppt/slides/charts/chart1.xml" Id="Rc3202cefb72f4ca3" /><Relationship Type="http://schemas.openxmlformats.org/officeDocument/2006/relationships/notesSlide" Target="/ppt/notesSlides/notesSlide4.xml" Id="R9a7b2440ad6e41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91eee4e34b4ccb" /><Relationship Type="http://schemas.openxmlformats.org/officeDocument/2006/relationships/image" Target="/ppt/media/image2.png" Id="R288d2644b4ae48be" /><Relationship Type="http://schemas.openxmlformats.org/officeDocument/2006/relationships/notesSlide" Target="/ppt/notesSlides/notesSlide5.xml" Id="R5f794594a02a41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b3429ebcd24e33" /><Relationship Type="http://schemas.openxmlformats.org/officeDocument/2006/relationships/image" Target="/ppt/media/image2.png" Id="R5a6c953a501e42c1" /><Relationship Type="http://schemas.openxmlformats.org/officeDocument/2006/relationships/chart" Target="/ppt/slides/charts/chart2.xml" Id="R366979690fdb491e" /><Relationship Type="http://schemas.openxmlformats.org/officeDocument/2006/relationships/notesSlide" Target="/ppt/notesSlides/notesSlide6.xml" Id="Ra62de8f13d604e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bfd59ca33c4c3a" /><Relationship Type="http://schemas.openxmlformats.org/officeDocument/2006/relationships/image" Target="/ppt/media/image2.png" Id="R2c43f05f42864fb9" /><Relationship Type="http://schemas.openxmlformats.org/officeDocument/2006/relationships/chart" Target="/ppt/slides/charts/chart3.xml" Id="R284991edc9814c64" /><Relationship Type="http://schemas.openxmlformats.org/officeDocument/2006/relationships/notesSlide" Target="/ppt/notesSlides/notesSlide7.xml" Id="R05260b916d1d42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050d16385b4f76" /><Relationship Type="http://schemas.openxmlformats.org/officeDocument/2006/relationships/image" Target="/ppt/media/image2.png" Id="R3c6fe9c833114652" /><Relationship Type="http://schemas.openxmlformats.org/officeDocument/2006/relationships/notesSlide" Target="/ppt/notesSlides/notesSlide8.xml" Id="R7d4ebdd8646549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0</c:v>
                </c:pt>
                <c:pt idx="1">
                  <c:v>6</c:v>
                </c:pt>
                <c:pt idx="2">
                  <c:v>2</c:v>
                </c:pt>
                <c:pt idx="3">
                  <c:v>20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c:v>
                </c:pt>
                <c:pt idx="1">
                  <c:v>3</c:v>
                </c:pt>
                <c:pt idx="2">
                  <c:v>2</c:v>
                </c:pt>
                <c:pt idx="3">
                  <c:v>12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30</c:v>
                </c:pt>
                <c:pt idx="1">
                  <c:v>30</c:v>
                </c:pt>
                <c:pt idx="2">
                  <c:v>30</c:v>
                </c:pt>
                <c:pt idx="3">
                  <c:v>30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30</c:v>
                </c:pt>
                <c:pt idx="1">
                  <c:v>30</c:v>
                </c:pt>
                <c:pt idx="2">
                  <c:v>30</c:v>
                </c:pt>
                <c:pt idx="3">
                  <c:v>30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1</c:v>
                </c:pt>
                <c:pt idx="1">
                  <c:v>4</c:v>
                </c:pt>
                <c:pt idx="2">
                  <c:v>0</c:v>
                </c:pt>
                <c:pt idx="3">
                  <c:v>12</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20</c:v>
                </c:pt>
                <c:pt idx="1">
                  <c:v>12</c:v>
                </c:pt>
                <c:pt idx="2">
                  <c:v>4</c:v>
                </c:pt>
                <c:pt idx="3">
                  <c:v>10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6" name="Immagine 5">
            <a:extLst xmlns:a="http://schemas.openxmlformats.org/drawingml/2006/main">
              <a:ext uri="{FF2B5EF4-FFF2-40B4-BE49-F238E27FC236}">
                <a16:creationId xmlns:a16="http://schemas.microsoft.com/office/drawing/2014/main" id="{8CFE6332-DEF1-4E51-8D69-6CAAA4BC831D}"/>
              </a:ext>
            </a:extLst>
          </p:cNvPr>
          <p:cNvPicPr>
            <a:picLocks xmlns:a="http://schemas.openxmlformats.org/drawingml/2006/main" noChangeAspect="1"/>
          </p:cNvPicPr>
          <p:nvPr/>
        </p:nvPicPr>
        <p:blipFill>
          <a:blip xmlns:r="http://schemas.openxmlformats.org/officeDocument/2006/relationships" xmlns:a="http://schemas.openxmlformats.org/drawingml/2006/main" r:embed="Re62ad8d3dacc42d4"/>
          <a:stretch xmlns:a="http://schemas.openxmlformats.org/drawingml/2006/main"/>
        </p:blipFill>
        <p:spPr>
          <a:xfrm xmlns:a="http://schemas.openxmlformats.org/drawingml/2006/main">
            <a:off x="640556" y="1952625"/>
            <a:ext cx="6500813" cy="4333875"/>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2851F08A-2C41-46D3-A553-FFBFA84F378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IDEA AND WHY IT MATTERS</a:t>
            </a:r>
          </a:p>
        </p:txBody>
      </p:sp>
      <p:sp>
        <p:nvSpPr>
          <p:cNvPr id="8" name="Rettangolo 7">
            <a:extLst xmlns:a="http://schemas.openxmlformats.org/drawingml/2006/main">
              <a:ext uri="{FF2B5EF4-FFF2-40B4-BE49-F238E27FC236}">
                <a16:creationId xmlns:a16="http://schemas.microsoft.com/office/drawing/2014/main" id="{CE25A196-E941-4A7B-9F64-A5CF23B0E044}"/>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interphAIse: choosing protective battery layers</a:t>
            </a:r>
          </a:p>
        </p:txBody>
      </p:sp>
      <p:sp>
        <p:nvSpPr>
          <p:cNvPr id="9" name="Rettangolo 8">
            <a:extLst xmlns:a="http://schemas.openxmlformats.org/drawingml/2006/main">
              <a:ext uri="{FF2B5EF4-FFF2-40B4-BE49-F238E27FC236}">
                <a16:creationId xmlns:a16="http://schemas.microsoft.com/office/drawing/2014/main" id="{4DEAAEC5-8E79-4BF5-8CB6-BB76C5FD133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An AI language model chooses what to test. Scientific tools check its choices.</a:t>
            </a:r>
          </a:p>
        </p:txBody>
      </p:sp>
      <p:sp>
        <p:nvSpPr>
          <p:cNvPr id="10" name="Rettangolo 9">
            <a:extLst xmlns:a="http://schemas.openxmlformats.org/drawingml/2006/main">
              <a:ext uri="{FF2B5EF4-FFF2-40B4-BE49-F238E27FC236}">
                <a16:creationId xmlns:a16="http://schemas.microsoft.com/office/drawing/2014/main" id="{404866D4-754C-4DA4-AD18-E9EAD0310BE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11" name="Rettangolo 10">
            <a:extLst xmlns:a="http://schemas.openxmlformats.org/drawingml/2006/main">
              <a:ext uri="{FF2B5EF4-FFF2-40B4-BE49-F238E27FC236}">
                <a16:creationId xmlns:a16="http://schemas.microsoft.com/office/drawing/2014/main" id="{792B0EB4-A9BC-4228-A6A7-F029C3B0566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01</a:t>
            </a:r>
          </a:p>
        </p:txBody>
      </p:sp>
      <p:sp>
        <p:nvSpPr>
          <p:cNvPr id="12" name="Rettangolo 11">
            <a:extLst xmlns:a="http://schemas.openxmlformats.org/drawingml/2006/main">
              <a:ext uri="{FF2B5EF4-FFF2-40B4-BE49-F238E27FC236}">
                <a16:creationId xmlns:a16="http://schemas.microsoft.com/office/drawing/2014/main" id="{662092EA-5327-449B-B806-F1D6D58A0462}"/>
              </a:ext>
            </a:extLst>
          </p:cNvPr>
          <p:cNvSpPr>
            <a:spLocks xmlns:a="http://schemas.openxmlformats.org/drawingml/2006/main" noGrp="1"/>
          </p:cNvSpPr>
          <p:nvPr/>
        </p:nvSpPr>
        <p:spPr>
          <a:xfrm xmlns:a="http://schemas.openxmlformats.org/drawingml/2006/main">
            <a:off x="7572375" y="2190750"/>
            <a:ext cx="4086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A coating must</a:t>
            </a:r>
          </a:p>
        </p:txBody>
      </p:sp>
      <p:sp>
        <p:nvSpPr>
          <p:cNvPr id="13" name="Rettangolo 12">
            <a:extLst xmlns:a="http://schemas.openxmlformats.org/drawingml/2006/main">
              <a:ext uri="{FF2B5EF4-FFF2-40B4-BE49-F238E27FC236}">
                <a16:creationId xmlns:a16="http://schemas.microsoft.com/office/drawing/2014/main" id="{4F17F637-1D7F-4B1E-BD52-06BEF44A6ACF}"/>
              </a:ext>
            </a:extLst>
          </p:cNvPr>
          <p:cNvSpPr>
            <a:spLocks xmlns:a="http://schemas.openxmlformats.org/drawingml/2006/main" noGrp="1"/>
          </p:cNvSpPr>
          <p:nvPr/>
        </p:nvSpPr>
        <p:spPr>
          <a:xfrm xmlns:a="http://schemas.openxmlformats.org/drawingml/2006/main">
            <a:off x="7572375" y="2943225"/>
            <a:ext cx="4086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Limit unwanted reactions</a:t>
            </a:r>
          </a:p>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and stay attached.</a:t>
            </a:r>
          </a:p>
        </p:txBody>
      </p:sp>
      <p:sp>
        <p:nvSpPr>
          <p:cNvPr id="14" name="Rettangolo 13">
            <a:extLst xmlns:a="http://schemas.openxmlformats.org/drawingml/2006/main">
              <a:ext uri="{FF2B5EF4-FFF2-40B4-BE49-F238E27FC236}">
                <a16:creationId xmlns:a16="http://schemas.microsoft.com/office/drawing/2014/main" id="{DEDF4673-FBFA-4026-BF74-7C8A065B350F}"/>
              </a:ext>
            </a:extLst>
          </p:cNvPr>
          <p:cNvSpPr>
            <a:spLocks xmlns:a="http://schemas.openxmlformats.org/drawingml/2006/main" noGrp="1"/>
          </p:cNvSpPr>
          <p:nvPr/>
        </p:nvSpPr>
        <p:spPr>
          <a:xfrm xmlns:a="http://schemas.openxmlformats.org/drawingml/2006/main">
            <a:off x="7572375" y="4133850"/>
            <a:ext cx="4086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66AA8"/>
                </a:solidFill>
                <a:latin typeface="Helvetica Neue"/>
                <a:ea typeface="Helvetica Neue"/>
                <a:cs typeface="Helvetica Neue"/>
              </a:defRPr>
            </a:defPPr>
            <a:lvl1pPr>
              <a:buNone/>
              <a:defRPr sz="2325" b="1">
                <a:solidFill>
                  <a:srgbClr val="366AA8"/>
                </a:solidFill>
                <a:latin typeface="Helvetica Neue"/>
                <a:ea typeface="Helvetica Neue"/>
                <a:cs typeface="Helvetica Neue"/>
              </a:defRPr>
            </a:lvl1pPr>
            <a:lvl2pPr>
              <a:buNone/>
              <a:defRPr sz="2325" b="1">
                <a:solidFill>
                  <a:srgbClr val="366AA8"/>
                </a:solidFill>
                <a:latin typeface="Helvetica Neue"/>
                <a:ea typeface="Helvetica Neue"/>
                <a:cs typeface="Helvetica Neue"/>
              </a:defRPr>
            </a:lvl2pPr>
            <a:lvl3pPr>
              <a:buNone/>
              <a:defRPr sz="2325" b="1">
                <a:solidFill>
                  <a:srgbClr val="366AA8"/>
                </a:solidFill>
                <a:latin typeface="Helvetica Neue"/>
                <a:ea typeface="Helvetica Neue"/>
                <a:cs typeface="Helvetica Neue"/>
              </a:defRPr>
            </a:lvl3pPr>
            <a:lvl4pPr>
              <a:buNone/>
              <a:defRPr sz="2325" b="1">
                <a:solidFill>
                  <a:srgbClr val="366AA8"/>
                </a:solidFill>
                <a:latin typeface="Helvetica Neue"/>
                <a:ea typeface="Helvetica Neue"/>
                <a:cs typeface="Helvetica Neue"/>
              </a:defRPr>
            </a:lvl4pPr>
            <a:lvl5pPr>
              <a:buNone/>
              <a:defRPr sz="2325" b="1">
                <a:solidFill>
                  <a:srgbClr val="366AA8"/>
                </a:solidFill>
                <a:latin typeface="Helvetica Neue"/>
                <a:ea typeface="Helvetica Neue"/>
                <a:cs typeface="Helvetica Neue"/>
              </a:defRPr>
            </a:lvl5pPr>
            <a:lvl6pPr>
              <a:buNone/>
              <a:defRPr sz="2325" b="1">
                <a:solidFill>
                  <a:srgbClr val="366AA8"/>
                </a:solidFill>
                <a:latin typeface="Helvetica Neue"/>
                <a:ea typeface="Helvetica Neue"/>
                <a:cs typeface="Helvetica Neue"/>
              </a:defRPr>
            </a:lvl6pPr>
            <a:lvl7pPr>
              <a:buNone/>
              <a:defRPr sz="2325" b="1">
                <a:solidFill>
                  <a:srgbClr val="366AA8"/>
                </a:solidFill>
                <a:latin typeface="Helvetica Neue"/>
                <a:ea typeface="Helvetica Neue"/>
                <a:cs typeface="Helvetica Neue"/>
              </a:defRPr>
            </a:lvl7pPr>
            <a:lvl8pPr>
              <a:buNone/>
              <a:defRPr sz="2325" b="1">
                <a:solidFill>
                  <a:srgbClr val="366AA8"/>
                </a:solidFill>
                <a:latin typeface="Helvetica Neue"/>
                <a:ea typeface="Helvetica Neue"/>
                <a:cs typeface="Helvetica Neue"/>
              </a:defRPr>
            </a:lvl8pPr>
            <a:lvl9pPr>
              <a:buNone/>
              <a:defRPr sz="2325" b="1">
                <a:solidFill>
                  <a:srgbClr val="366AA8"/>
                </a:solidFill>
                <a:latin typeface="Helvetica Neue"/>
                <a:ea typeface="Helvetica Neue"/>
                <a:cs typeface="Helvetica Neue"/>
              </a:defRPr>
            </a:lvl9pPr>
          </a:lstStyle>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Block electrons.</a:t>
            </a:r>
          </a:p>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Let lithium ions cross.</a:t>
            </a:r>
          </a:p>
        </p:txBody>
      </p:sp>
      <p:sp>
        <p:nvSpPr>
          <p:cNvPr id="15" name="Rettangolo 14">
            <a:extLst xmlns:a="http://schemas.openxmlformats.org/drawingml/2006/main">
              <a:ext uri="{FF2B5EF4-FFF2-40B4-BE49-F238E27FC236}">
                <a16:creationId xmlns:a16="http://schemas.microsoft.com/office/drawing/2014/main" id="{B0397D55-FB5B-4D0D-908E-556408E902F7}"/>
              </a:ext>
            </a:extLst>
          </p:cNvPr>
          <p:cNvSpPr>
            <a:spLocks xmlns:a="http://schemas.openxmlformats.org/drawingml/2006/main" noGrp="1"/>
          </p:cNvSpPr>
          <p:nvPr/>
        </p:nvSpPr>
        <p:spPr>
          <a:xfrm xmlns:a="http://schemas.openxmlformats.org/drawingml/2006/main">
            <a:off x="7572375" y="5362575"/>
            <a:ext cx="4086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Goal: test whether feedback</a:t>
            </a:r>
          </a:p>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improves coating selection.</a:t>
            </a:r>
          </a:p>
        </p:txBody>
      </p:sp>
      <p:sp>
        <p:nvSpPr>
          <p:cNvPr id="16" name="Rettangolo 15">
            <a:extLst xmlns:a="http://schemas.openxmlformats.org/drawingml/2006/main">
              <a:ext uri="{FF2B5EF4-FFF2-40B4-BE49-F238E27FC236}">
                <a16:creationId xmlns:a16="http://schemas.microsoft.com/office/drawing/2014/main" id="{3E80A472-04F5-4CBA-A607-0EAAAC15FC89}"/>
              </a:ext>
            </a:extLst>
          </p:cNvPr>
          <p:cNvSpPr>
            <a:spLocks xmlns:a="http://schemas.openxmlformats.org/drawingml/2006/main" noGrp="1"/>
          </p:cNvSpPr>
          <p:nvPr/>
        </p:nvSpPr>
        <p:spPr>
          <a:xfrm xmlns:a="http://schemas.openxmlformats.org/drawingml/2006/main">
            <a:off x="533400" y="6134100"/>
            <a:ext cx="657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2"/>
                </a:solidFill>
                <a:latin typeface="Helvetica Neue"/>
                <a:ea typeface="Helvetica Neue"/>
                <a:cs typeface="Helvetica Neue"/>
              </a:defRPr>
            </a:defPPr>
            <a:lvl1pPr>
              <a:buNone/>
              <a:defRPr sz="1500" b="0">
                <a:solidFill>
                  <a:srgbClr val="526472"/>
                </a:solidFill>
                <a:latin typeface="Helvetica Neue"/>
                <a:ea typeface="Helvetica Neue"/>
                <a:cs typeface="Helvetica Neue"/>
              </a:defRPr>
            </a:lvl1pPr>
            <a:lvl2pPr>
              <a:buNone/>
              <a:defRPr sz="1500" b="0">
                <a:solidFill>
                  <a:srgbClr val="526472"/>
                </a:solidFill>
                <a:latin typeface="Helvetica Neue"/>
                <a:ea typeface="Helvetica Neue"/>
                <a:cs typeface="Helvetica Neue"/>
              </a:defRPr>
            </a:lvl2pPr>
            <a:lvl3pPr>
              <a:buNone/>
              <a:defRPr sz="1500" b="0">
                <a:solidFill>
                  <a:srgbClr val="526472"/>
                </a:solidFill>
                <a:latin typeface="Helvetica Neue"/>
                <a:ea typeface="Helvetica Neue"/>
                <a:cs typeface="Helvetica Neue"/>
              </a:defRPr>
            </a:lvl3pPr>
            <a:lvl4pPr>
              <a:buNone/>
              <a:defRPr sz="1500" b="0">
                <a:solidFill>
                  <a:srgbClr val="526472"/>
                </a:solidFill>
                <a:latin typeface="Helvetica Neue"/>
                <a:ea typeface="Helvetica Neue"/>
                <a:cs typeface="Helvetica Neue"/>
              </a:defRPr>
            </a:lvl4pPr>
            <a:lvl5pPr>
              <a:buNone/>
              <a:defRPr sz="1500" b="0">
                <a:solidFill>
                  <a:srgbClr val="526472"/>
                </a:solidFill>
                <a:latin typeface="Helvetica Neue"/>
                <a:ea typeface="Helvetica Neue"/>
                <a:cs typeface="Helvetica Neue"/>
              </a:defRPr>
            </a:lvl5pPr>
            <a:lvl6pPr>
              <a:buNone/>
              <a:defRPr sz="1500" b="0">
                <a:solidFill>
                  <a:srgbClr val="526472"/>
                </a:solidFill>
                <a:latin typeface="Helvetica Neue"/>
                <a:ea typeface="Helvetica Neue"/>
                <a:cs typeface="Helvetica Neue"/>
              </a:defRPr>
            </a:lvl6pPr>
            <a:lvl7pPr>
              <a:buNone/>
              <a:defRPr sz="1500" b="0">
                <a:solidFill>
                  <a:srgbClr val="526472"/>
                </a:solidFill>
                <a:latin typeface="Helvetica Neue"/>
                <a:ea typeface="Helvetica Neue"/>
                <a:cs typeface="Helvetica Neue"/>
              </a:defRPr>
            </a:lvl7pPr>
            <a:lvl8pPr>
              <a:buNone/>
              <a:defRPr sz="1500" b="0">
                <a:solidFill>
                  <a:srgbClr val="526472"/>
                </a:solidFill>
                <a:latin typeface="Helvetica Neue"/>
                <a:ea typeface="Helvetica Neue"/>
                <a:cs typeface="Helvetica Neue"/>
              </a:defRPr>
            </a:lvl8pPr>
            <a:lvl9pPr>
              <a:buNone/>
              <a:defRPr sz="1500" b="0">
                <a:solidFill>
                  <a:srgbClr val="526472"/>
                </a:solidFill>
                <a:latin typeface="Helvetica Neue"/>
                <a:ea typeface="Helvetica Neue"/>
                <a:cs typeface="Helvetica Neue"/>
              </a:defRPr>
            </a:lvl9pPr>
          </a:lstStyle>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Davide Tisi and Adem R. N. Aouichaoui</a:t>
            </a:r>
          </a:p>
        </p:txBody>
      </p:sp>
      <p:pic>
        <p:nvPicPr>
          <p:cNvPr id="17" name="Immagine 16">
            <a:extLst xmlns:a="http://schemas.openxmlformats.org/drawingml/2006/main">
              <a:ext uri="{FF2B5EF4-FFF2-40B4-BE49-F238E27FC236}">
                <a16:creationId xmlns:a16="http://schemas.microsoft.com/office/drawing/2014/main" id="{7DC696F5-4C4C-4649-A9A1-1C2E1BC929DB}"/>
              </a:ext>
            </a:extLst>
          </p:cNvPr>
          <p:cNvPicPr>
            <a:picLocks xmlns:a="http://schemas.openxmlformats.org/drawingml/2006/main" noChangeAspect="1"/>
          </p:cNvPicPr>
          <p:nvPr/>
        </p:nvPicPr>
        <p:blipFill>
          <a:blip xmlns:r="http://schemas.openxmlformats.org/officeDocument/2006/relationships" xmlns:a="http://schemas.openxmlformats.org/drawingml/2006/main" r:embed="R261134ab59ef4ecb"/>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24646047"/>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7055C22F-CC20-4436-BD94-8C3A6DDEC70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HOW IT WORKS</a:t>
            </a:r>
          </a:p>
        </p:txBody>
      </p:sp>
      <p:sp>
        <p:nvSpPr>
          <p:cNvPr id="2" name="Rettangolo 1">
            <a:extLst xmlns:a="http://schemas.openxmlformats.org/drawingml/2006/main">
              <a:ext uri="{FF2B5EF4-FFF2-40B4-BE49-F238E27FC236}">
                <a16:creationId xmlns:a16="http://schemas.microsoft.com/office/drawing/2014/main" id="{200117FA-36CF-495D-AD8B-1D48C84B9BFA}"/>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LLM and its scientific tools</a:t>
            </a:r>
          </a:p>
        </p:txBody>
      </p:sp>
      <p:sp>
        <p:nvSpPr>
          <p:cNvPr id="3" name="Rettangolo 2">
            <a:extLst xmlns:a="http://schemas.openxmlformats.org/drawingml/2006/main">
              <a:ext uri="{FF2B5EF4-FFF2-40B4-BE49-F238E27FC236}">
                <a16:creationId xmlns:a16="http://schemas.microsoft.com/office/drawing/2014/main" id="{1878814E-6E88-4B6D-BAD7-720E757F4A3E}"/>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Choose a candidate, calculate its properties, read the result, choose again.</a:t>
            </a:r>
          </a:p>
        </p:txBody>
      </p:sp>
      <p:sp>
        <p:nvSpPr>
          <p:cNvPr id="4" name="Rettangolo 3">
            <a:extLst xmlns:a="http://schemas.openxmlformats.org/drawingml/2006/main">
              <a:ext uri="{FF2B5EF4-FFF2-40B4-BE49-F238E27FC236}">
                <a16:creationId xmlns:a16="http://schemas.microsoft.com/office/drawing/2014/main" id="{5F197F97-E141-4718-91AD-F9EB2F22820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714498F0-7034-4A35-89E2-596350CA046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02</a:t>
            </a:r>
          </a:p>
        </p:txBody>
      </p:sp>
      <p:graphicFrame>
        <p:nvGraphicFramePr>
          <p:cNvPr id="6" name="Tabella 5">
            <a:extLst xmlns:a="http://schemas.openxmlformats.org/drawingml/2006/main">
              <a:ext uri="{FF2B5EF4-FFF2-40B4-BE49-F238E27FC236}">
                <a16:creationId xmlns:a16="http://schemas.microsoft.com/office/drawing/2014/main" id="{EC1C7735-4E5A-429D-97AC-901822BE9779}"/>
              </a:ext>
            </a:extLst>
          </p:cNvPr>
          <p:cNvGraphicFramePr/>
          <p:nvPr/>
        </p:nvGraphicFramePr>
        <p:xfrm>
          <a:off xmlns:a="http://schemas.openxmlformats.org/drawingml/2006/main" x="533400" y="2133600"/>
          <a:ext xmlns:a="http://schemas.openxmlformats.org/drawingml/2006/main" cx="11125200" cy="2839879"/>
        </p:xfrm>
        <a:graphic xmlns:a="http://schemas.openxmlformats.org/drawingml/2006/main">
          <a:graphicData uri="http://schemas.openxmlformats.org/drawingml/2006/table">
            <a:tbl>
              <a:tblPr/>
              <a:tblGrid>
                <a:gridCol w="3143250"/>
                <a:gridCol w="7981950"/>
              </a:tblGrid>
              <a:tr h="702469">
                <a:tc>
                  <a:txBody>
                    <a:bodyPr/>
                    <a:lstStyle/>
                    <a:p>
                      <a:r>
                        <a:rPr sz="1800" b="1">
                          <a:solidFill>
                            <a:srgbClr val="FFFFFF"/>
                          </a:solidFill>
                          <a:latin typeface="Helvetica Neue"/>
                          <a:ea typeface="Helvetica Neue"/>
                          <a:cs typeface="Helvetica Neue"/>
                        </a:rPr>
                        <a:t>Part of the workflow</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800" b="1">
                          <a:solidFill>
                            <a:srgbClr val="FFFFFF"/>
                          </a:solidFill>
                          <a:latin typeface="Helvetica Neue"/>
                          <a:ea typeface="Helvetica Neue"/>
                          <a:cs typeface="Helvetica Neue"/>
                        </a:rPr>
                        <a:t>Tool and role</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02469">
                <a:tc>
                  <a:txBody>
                    <a:bodyPr/>
                    <a:lstStyle/>
                    <a:p>
                      <a:r>
                        <a:rPr sz="2025" b="0">
                          <a:solidFill>
                            <a:srgbClr val="172B3A"/>
                          </a:solidFill>
                          <a:latin typeface="Helvetica Neue"/>
                          <a:ea typeface="Helvetica Neue"/>
                          <a:cs typeface="Helvetica Neue"/>
                        </a:rPr>
                        <a:t>Scientific choices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Haiku 5.5 / DeepSeek V3.2</a:t>
                      </a:r>
                    </a:p>
                    <a:p>
                      <a:r>
                        <a:rPr sz="2025" b="0">
                          <a:solidFill>
                            <a:srgbClr val="172B3A"/>
                          </a:solidFill>
                          <a:latin typeface="Helvetica Neue"/>
                          <a:ea typeface="Helvetica Neue"/>
                          <a:cs typeface="Helvetica Neue"/>
                        </a:rPr>
                        <a:t>Select a known material and explain the choice</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02469">
                <a:tc>
                  <a:txBody>
                    <a:bodyPr/>
                    <a:lstStyle/>
                    <a:p>
                      <a:r>
                        <a:rPr sz="2025" b="0">
                          <a:solidFill>
                            <a:srgbClr val="172B3A"/>
                          </a:solidFill>
                          <a:latin typeface="Helvetica Neue"/>
                          <a:ea typeface="Helvetica Neue"/>
                          <a:cs typeface="Helvetica Neue"/>
                        </a:rPr>
                        <a:t>Chemical screening</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Materials Project + pymatgen / SciPy</a:t>
                      </a:r>
                    </a:p>
                    <a:p>
                      <a:r>
                        <a:rPr sz="2025" b="0">
                          <a:solidFill>
                            <a:srgbClr val="172B3A"/>
                          </a:solidFill>
                          <a:latin typeface="Helvetica Neue"/>
                          <a:ea typeface="Helvetica Neue"/>
                          <a:cs typeface="Helvetica Neue"/>
                        </a:rPr>
                        <a:t>Supply reference data and precompute reaction scores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02469">
                <a:tc>
                  <a:txBody>
                    <a:bodyPr/>
                    <a:lstStyle/>
                    <a:p>
                      <a:r>
                        <a:rPr sz="2025" b="0">
                          <a:solidFill>
                            <a:srgbClr val="172B3A"/>
                          </a:solidFill>
                          <a:latin typeface="Helvetica Neue"/>
                          <a:ea typeface="Helvetica Neue"/>
                          <a:cs typeface="Helvetica Neue"/>
                        </a:rPr>
                        <a:t>Physical follow-up</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ASE + PET-MAD</a:t>
                      </a:r>
                    </a:p>
                    <a:p>
                      <a:r>
                        <a:rPr sz="2025" b="0">
                          <a:solidFill>
                            <a:srgbClr val="172B3A"/>
                          </a:solidFill>
                          <a:latin typeface="Helvetica Neue"/>
                          <a:ea typeface="Helvetica Neue"/>
                          <a:cs typeface="Helvetica Neue"/>
                        </a:rPr>
                        <a:t>Model the atoms and calculate attachment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bl>
          </a:graphicData>
        </a:graphic>
      </p:graphicFrame>
      <p:sp>
        <p:nvSpPr>
          <p:cNvPr id="7" name="Rettangolo 6">
            <a:extLst xmlns:a="http://schemas.openxmlformats.org/drawingml/2006/main">
              <a:ext uri="{FF2B5EF4-FFF2-40B4-BE49-F238E27FC236}">
                <a16:creationId xmlns:a16="http://schemas.microsoft.com/office/drawing/2014/main" id="{CB92BA62-63F9-4343-8456-3B8A134712FF}"/>
              </a:ext>
            </a:extLst>
          </p:cNvPr>
          <p:cNvSpPr>
            <a:spLocks xmlns:a="http://schemas.openxmlformats.org/drawingml/2006/main" noGrp="1"/>
          </p:cNvSpPr>
          <p:nvPr/>
        </p:nvSpPr>
        <p:spPr>
          <a:xfrm xmlns:a="http://schemas.openxmlformats.org/drawingml/2006/main">
            <a:off x="533400" y="523875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141 candidates selected by fixed chemistry and structure filters.</a:t>
            </a:r>
          </a:p>
        </p:txBody>
      </p:sp>
      <p:sp>
        <p:nvSpPr>
          <p:cNvPr id="8" name="Rettangolo 7">
            <a:extLst xmlns:a="http://schemas.openxmlformats.org/drawingml/2006/main">
              <a:ext uri="{FF2B5EF4-FFF2-40B4-BE49-F238E27FC236}">
                <a16:creationId xmlns:a16="http://schemas.microsoft.com/office/drawing/2014/main" id="{9846E666-0BC9-4AB5-A335-27F6CFF0B36C}"/>
              </a:ext>
            </a:extLst>
          </p:cNvPr>
          <p:cNvSpPr>
            <a:spLocks xmlns:a="http://schemas.openxmlformats.org/drawingml/2006/main" noGrp="1"/>
          </p:cNvSpPr>
          <p:nvPr/>
        </p:nvSpPr>
        <p:spPr>
          <a:xfrm xmlns:a="http://schemas.openxmlformats.org/drawingml/2006/main">
            <a:off x="533400" y="5819775"/>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2"/>
                </a:solidFill>
                <a:latin typeface="Helvetica Neue"/>
                <a:ea typeface="Helvetica Neue"/>
                <a:cs typeface="Helvetica Neue"/>
              </a:defRPr>
            </a:defPPr>
            <a:lvl1pPr>
              <a:buNone/>
              <a:defRPr sz="1950" b="0">
                <a:solidFill>
                  <a:srgbClr val="526472"/>
                </a:solidFill>
                <a:latin typeface="Helvetica Neue"/>
                <a:ea typeface="Helvetica Neue"/>
                <a:cs typeface="Helvetica Neue"/>
              </a:defRPr>
            </a:lvl1pPr>
            <a:lvl2pPr>
              <a:buNone/>
              <a:defRPr sz="1950" b="0">
                <a:solidFill>
                  <a:srgbClr val="526472"/>
                </a:solidFill>
                <a:latin typeface="Helvetica Neue"/>
                <a:ea typeface="Helvetica Neue"/>
                <a:cs typeface="Helvetica Neue"/>
              </a:defRPr>
            </a:lvl2pPr>
            <a:lvl3pPr>
              <a:buNone/>
              <a:defRPr sz="1950" b="0">
                <a:solidFill>
                  <a:srgbClr val="526472"/>
                </a:solidFill>
                <a:latin typeface="Helvetica Neue"/>
                <a:ea typeface="Helvetica Neue"/>
                <a:cs typeface="Helvetica Neue"/>
              </a:defRPr>
            </a:lvl3pPr>
            <a:lvl4pPr>
              <a:buNone/>
              <a:defRPr sz="1950" b="0">
                <a:solidFill>
                  <a:srgbClr val="526472"/>
                </a:solidFill>
                <a:latin typeface="Helvetica Neue"/>
                <a:ea typeface="Helvetica Neue"/>
                <a:cs typeface="Helvetica Neue"/>
              </a:defRPr>
            </a:lvl4pPr>
            <a:lvl5pPr>
              <a:buNone/>
              <a:defRPr sz="1950" b="0">
                <a:solidFill>
                  <a:srgbClr val="526472"/>
                </a:solidFill>
                <a:latin typeface="Helvetica Neue"/>
                <a:ea typeface="Helvetica Neue"/>
                <a:cs typeface="Helvetica Neue"/>
              </a:defRPr>
            </a:lvl5pPr>
            <a:lvl6pPr>
              <a:buNone/>
              <a:defRPr sz="1950" b="0">
                <a:solidFill>
                  <a:srgbClr val="526472"/>
                </a:solidFill>
                <a:latin typeface="Helvetica Neue"/>
                <a:ea typeface="Helvetica Neue"/>
                <a:cs typeface="Helvetica Neue"/>
              </a:defRPr>
            </a:lvl6pPr>
            <a:lvl7pPr>
              <a:buNone/>
              <a:defRPr sz="1950" b="0">
                <a:solidFill>
                  <a:srgbClr val="526472"/>
                </a:solidFill>
                <a:latin typeface="Helvetica Neue"/>
                <a:ea typeface="Helvetica Neue"/>
                <a:cs typeface="Helvetica Neue"/>
              </a:defRPr>
            </a:lvl7pPr>
            <a:lvl8pPr>
              <a:buNone/>
              <a:defRPr sz="1950" b="0">
                <a:solidFill>
                  <a:srgbClr val="526472"/>
                </a:solidFill>
                <a:latin typeface="Helvetica Neue"/>
                <a:ea typeface="Helvetica Neue"/>
                <a:cs typeface="Helvetica Neue"/>
              </a:defRPr>
            </a:lvl8pPr>
            <a:lvl9pPr>
              <a:buNone/>
              <a:defRPr sz="1950" b="0">
                <a:solidFill>
                  <a:srgbClr val="526472"/>
                </a:solidFill>
                <a:latin typeface="Helvetica Neue"/>
                <a:ea typeface="Helvetica Neue"/>
                <a:cs typeface="Helvetica Neue"/>
              </a:defRPr>
            </a:lvl9pPr>
          </a:lstStyle>
          <a:p xmlns:a="http://schemas.openxmlformats.org/drawingml/2006/main">
            <a:pPr>
              <a:buNone/>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Same cathode. Sulfide, chloride and oxide test different chemistries.</a:t>
            </a:r>
          </a:p>
        </p:txBody>
      </p:sp>
      <p:pic>
        <p:nvPicPr>
          <p:cNvPr id="10" name="Immagine 9">
            <a:extLst xmlns:a="http://schemas.openxmlformats.org/drawingml/2006/main">
              <a:ext uri="{FF2B5EF4-FFF2-40B4-BE49-F238E27FC236}">
                <a16:creationId xmlns:a16="http://schemas.microsoft.com/office/drawing/2014/main" id="{C686722C-60A5-4E4C-9221-36DF25E5E907}"/>
              </a:ext>
            </a:extLst>
          </p:cNvPr>
          <p:cNvPicPr>
            <a:picLocks xmlns:a="http://schemas.openxmlformats.org/drawingml/2006/main" noChangeAspect="1"/>
          </p:cNvPicPr>
          <p:nvPr/>
        </p:nvPicPr>
        <p:blipFill>
          <a:blip xmlns:r="http://schemas.openxmlformats.org/officeDocument/2006/relationships" xmlns:a="http://schemas.openxmlformats.org/drawingml/2006/main" r:embed="R52ecf07fd5ac4ad8"/>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34391441"/>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08FC15E6-E157-484C-AFC7-173EE7B66962}"/>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COMPARISON</a:t>
            </a:r>
          </a:p>
        </p:txBody>
      </p:sp>
      <p:sp>
        <p:nvSpPr>
          <p:cNvPr id="2" name="Rettangolo 1">
            <a:extLst xmlns:a="http://schemas.openxmlformats.org/drawingml/2006/main">
              <a:ext uri="{FF2B5EF4-FFF2-40B4-BE49-F238E27FC236}">
                <a16:creationId xmlns:a16="http://schemas.microsoft.com/office/drawing/2014/main" id="{ADEAB985-F4AA-4112-AD68-449B13C77041}"/>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Five strategies test the value of feedback</a:t>
            </a:r>
          </a:p>
        </p:txBody>
      </p:sp>
      <p:sp>
        <p:nvSpPr>
          <p:cNvPr id="3" name="Rettangolo 2">
            <a:extLst xmlns:a="http://schemas.openxmlformats.org/drawingml/2006/main">
              <a:ext uri="{FF2B5EF4-FFF2-40B4-BE49-F238E27FC236}">
                <a16:creationId xmlns:a16="http://schemas.microsoft.com/office/drawing/2014/main" id="{9E3AAB1F-AC3E-47A0-AA0E-9BBA9D21533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Same menu, ten choices and 30 searches per strategy.</a:t>
            </a:r>
          </a:p>
        </p:txBody>
      </p:sp>
      <p:sp>
        <p:nvSpPr>
          <p:cNvPr id="4" name="Rettangolo 3">
            <a:extLst xmlns:a="http://schemas.openxmlformats.org/drawingml/2006/main">
              <a:ext uri="{FF2B5EF4-FFF2-40B4-BE49-F238E27FC236}">
                <a16:creationId xmlns:a16="http://schemas.microsoft.com/office/drawing/2014/main" id="{92888144-31F0-487A-BCDA-C4FB5B95688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5CAFE801-080B-4272-831F-5FC1ACFBF9C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03</a:t>
            </a:r>
          </a:p>
        </p:txBody>
      </p:sp>
      <p:graphicFrame>
        <p:nvGraphicFramePr>
          <p:cNvPr id="6" name="Tabella 5">
            <a:extLst xmlns:a="http://schemas.openxmlformats.org/drawingml/2006/main">
              <a:ext uri="{FF2B5EF4-FFF2-40B4-BE49-F238E27FC236}">
                <a16:creationId xmlns:a16="http://schemas.microsoft.com/office/drawing/2014/main" id="{3E0A93B6-06F7-4F0B-8A52-EACD4CC133F2}"/>
              </a:ext>
            </a:extLst>
          </p:cNvPr>
          <p:cNvGraphicFramePr/>
          <p:nvPr/>
        </p:nvGraphicFramePr>
        <p:xfrm>
          <a:off xmlns:a="http://schemas.openxmlformats.org/drawingml/2006/main" x="533400" y="2095500"/>
          <a:ext xmlns:a="http://schemas.openxmlformats.org/drawingml/2006/main" cx="11125200" cy="3162300"/>
        </p:xfrm>
        <a:graphic xmlns:a="http://schemas.openxmlformats.org/drawingml/2006/main">
          <a:graphicData uri="http://schemas.openxmlformats.org/drawingml/2006/table">
            <a:tbl>
              <a:tblPr/>
              <a:tblGrid>
                <a:gridCol w="3238500"/>
                <a:gridCol w="7886700"/>
              </a:tblGrid>
              <a:tr h="527050">
                <a:tc>
                  <a:txBody>
                    <a:bodyPr/>
                    <a:lstStyle/>
                    <a:p>
                      <a:r>
                        <a:rPr sz="1800" b="1">
                          <a:solidFill>
                            <a:srgbClr val="FFFFFF"/>
                          </a:solidFill>
                          <a:latin typeface="Helvetica Neue"/>
                          <a:ea typeface="Helvetica Neue"/>
                          <a:cs typeface="Helvetica Neue"/>
                        </a:rPr>
                        <a:t>Strategy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800" b="1">
                          <a:solidFill>
                            <a:srgbClr val="FFFFFF"/>
                          </a:solidFill>
                          <a:latin typeface="Helvetica Neue"/>
                          <a:ea typeface="Helvetica Neue"/>
                          <a:cs typeface="Helvetica Neue"/>
                        </a:rPr>
                        <a:t>How it chooses</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27050">
                <a:tc>
                  <a:txBody>
                    <a:bodyPr/>
                    <a:lstStyle/>
                    <a:p>
                      <a:r>
                        <a:rPr sz="1875" b="0">
                          <a:solidFill>
                            <a:srgbClr val="172B3A"/>
                          </a:solidFill>
                          <a:latin typeface="Helvetica Neue"/>
                          <a:ea typeface="Helvetica Neue"/>
                          <a:cs typeface="Helvetica Neue"/>
                        </a:rPr>
                        <a:t>Uses results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One choice at a time, with the true result after each test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One at a time, remembering choices but seeing no scores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One at a time, with scores assigned to the wrong materials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One list</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All ten choices together, before seeing any result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Software samples ten materials without repeats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bl>
          </a:graphicData>
        </a:graphic>
      </p:graphicFrame>
      <p:sp>
        <p:nvSpPr>
          <p:cNvPr id="7" name="Rettangolo 6">
            <a:extLst xmlns:a="http://schemas.openxmlformats.org/drawingml/2006/main">
              <a:ext uri="{FF2B5EF4-FFF2-40B4-BE49-F238E27FC236}">
                <a16:creationId xmlns:a16="http://schemas.microsoft.com/office/drawing/2014/main" id="{0025E248-8B5E-4725-BDAC-80D2AEEC4DFC}"/>
              </a:ext>
            </a:extLst>
          </p:cNvPr>
          <p:cNvSpPr>
            <a:spLocks xmlns:a="http://schemas.openxmlformats.org/drawingml/2006/main" noGrp="1"/>
          </p:cNvSpPr>
          <p:nvPr/>
        </p:nvSpPr>
        <p:spPr>
          <a:xfrm xmlns:a="http://schemas.openxmlformats.org/drawingml/2006/main">
            <a:off x="533400" y="54673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F7B"/>
                </a:solidFill>
                <a:latin typeface="Helvetica Neue"/>
                <a:ea typeface="Helvetica Neue"/>
                <a:cs typeface="Helvetica Neue"/>
              </a:defRPr>
            </a:defPPr>
            <a:lvl1pPr>
              <a:buNone/>
              <a:defRPr sz="1875" b="1">
                <a:solidFill>
                  <a:srgbClr val="007F7B"/>
                </a:solidFill>
                <a:latin typeface="Helvetica Neue"/>
                <a:ea typeface="Helvetica Neue"/>
                <a:cs typeface="Helvetica Neue"/>
              </a:defRPr>
            </a:lvl1pPr>
            <a:lvl2pPr>
              <a:buNone/>
              <a:defRPr sz="1875" b="1">
                <a:solidFill>
                  <a:srgbClr val="007F7B"/>
                </a:solidFill>
                <a:latin typeface="Helvetica Neue"/>
                <a:ea typeface="Helvetica Neue"/>
                <a:cs typeface="Helvetica Neue"/>
              </a:defRPr>
            </a:lvl2pPr>
            <a:lvl3pPr>
              <a:buNone/>
              <a:defRPr sz="1875" b="1">
                <a:solidFill>
                  <a:srgbClr val="007F7B"/>
                </a:solidFill>
                <a:latin typeface="Helvetica Neue"/>
                <a:ea typeface="Helvetica Neue"/>
                <a:cs typeface="Helvetica Neue"/>
              </a:defRPr>
            </a:lvl3pPr>
            <a:lvl4pPr>
              <a:buNone/>
              <a:defRPr sz="1875" b="1">
                <a:solidFill>
                  <a:srgbClr val="007F7B"/>
                </a:solidFill>
                <a:latin typeface="Helvetica Neue"/>
                <a:ea typeface="Helvetica Neue"/>
                <a:cs typeface="Helvetica Neue"/>
              </a:defRPr>
            </a:lvl4pPr>
            <a:lvl5pPr>
              <a:buNone/>
              <a:defRPr sz="1875" b="1">
                <a:solidFill>
                  <a:srgbClr val="007F7B"/>
                </a:solidFill>
                <a:latin typeface="Helvetica Neue"/>
                <a:ea typeface="Helvetica Neue"/>
                <a:cs typeface="Helvetica Neue"/>
              </a:defRPr>
            </a:lvl5pPr>
            <a:lvl6pPr>
              <a:buNone/>
              <a:defRPr sz="1875" b="1">
                <a:solidFill>
                  <a:srgbClr val="007F7B"/>
                </a:solidFill>
                <a:latin typeface="Helvetica Neue"/>
                <a:ea typeface="Helvetica Neue"/>
                <a:cs typeface="Helvetica Neue"/>
              </a:defRPr>
            </a:lvl6pPr>
            <a:lvl7pPr>
              <a:buNone/>
              <a:defRPr sz="1875" b="1">
                <a:solidFill>
                  <a:srgbClr val="007F7B"/>
                </a:solidFill>
                <a:latin typeface="Helvetica Neue"/>
                <a:ea typeface="Helvetica Neue"/>
                <a:cs typeface="Helvetica Neue"/>
              </a:defRPr>
            </a:lvl7pPr>
            <a:lvl8pPr>
              <a:buNone/>
              <a:defRPr sz="1875" b="1">
                <a:solidFill>
                  <a:srgbClr val="007F7B"/>
                </a:solidFill>
                <a:latin typeface="Helvetica Neue"/>
                <a:ea typeface="Helvetica Neue"/>
                <a:cs typeface="Helvetica Neue"/>
              </a:defRPr>
            </a:lvl8pPr>
            <a:lvl9pPr>
              <a:buNone/>
              <a:defRPr sz="1875" b="1">
                <a:solidFill>
                  <a:srgbClr val="007F7B"/>
                </a:solidFill>
                <a:latin typeface="Helvetica Neue"/>
                <a:ea typeface="Helvetica Neue"/>
                <a:cs typeface="Helvetica Neue"/>
              </a:defRPr>
            </a:lvl9pPr>
          </a:lstStyle>
          <a:p xmlns:a="http://schemas.openxmlformats.org/drawingml/2006/main">
            <a:pPr>
              <a:buNone/>
              <a:defRPr sz="1875" b="1">
                <a:solidFill>
                  <a:srgbClr val="007F7B"/>
                </a:solidFill>
                <a:latin typeface="Helvetica Neue"/>
                <a:ea typeface="Helvetica Neue"/>
                <a:cs typeface="Helvetica Neue"/>
              </a:defRPr>
            </a:pPr>
            <a:r>
              <a:rPr sz="1875" b="1">
                <a:solidFill>
                  <a:srgbClr val="007F7B"/>
                </a:solidFill>
                <a:latin typeface="Helvetica Neue"/>
                <a:ea typeface="Helvetica Neue"/>
                <a:cs typeface="Helvetica Neue"/>
              </a:rPr>
              <a:t>Pass = penalty ≤ 0.050 eV/non-Li atom AND band gap ≥ 2 eV.</a:t>
            </a:r>
          </a:p>
        </p:txBody>
      </p:sp>
      <p:sp>
        <p:nvSpPr>
          <p:cNvPr id="8" name="Rettangolo 7">
            <a:extLst xmlns:a="http://schemas.openxmlformats.org/drawingml/2006/main">
              <a:ext uri="{FF2B5EF4-FFF2-40B4-BE49-F238E27FC236}">
                <a16:creationId xmlns:a16="http://schemas.microsoft.com/office/drawing/2014/main" id="{B47E6840-E096-4C4D-BD49-AD3683210E98}"/>
              </a:ext>
            </a:extLst>
          </p:cNvPr>
          <p:cNvSpPr>
            <a:spLocks xmlns:a="http://schemas.openxmlformats.org/drawingml/2006/main" noGrp="1"/>
          </p:cNvSpPr>
          <p:nvPr/>
        </p:nvSpPr>
        <p:spPr>
          <a:xfrm xmlns:a="http://schemas.openxmlformats.org/drawingml/2006/main">
            <a:off x="533400" y="59340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B3A"/>
                </a:solidFill>
                <a:latin typeface="Helvetica Neue"/>
                <a:ea typeface="Helvetica Neue"/>
                <a:cs typeface="Helvetica Neue"/>
              </a:defRPr>
            </a:defPPr>
            <a:lvl1pPr>
              <a:buNone/>
              <a:defRPr sz="1950" b="1">
                <a:solidFill>
                  <a:srgbClr val="172B3A"/>
                </a:solidFill>
                <a:latin typeface="Helvetica Neue"/>
                <a:ea typeface="Helvetica Neue"/>
                <a:cs typeface="Helvetica Neue"/>
              </a:defRPr>
            </a:lvl1pPr>
            <a:lvl2pPr>
              <a:buNone/>
              <a:defRPr sz="1950" b="1">
                <a:solidFill>
                  <a:srgbClr val="172B3A"/>
                </a:solidFill>
                <a:latin typeface="Helvetica Neue"/>
                <a:ea typeface="Helvetica Neue"/>
                <a:cs typeface="Helvetica Neue"/>
              </a:defRPr>
            </a:lvl2pPr>
            <a:lvl3pPr>
              <a:buNone/>
              <a:defRPr sz="1950" b="1">
                <a:solidFill>
                  <a:srgbClr val="172B3A"/>
                </a:solidFill>
                <a:latin typeface="Helvetica Neue"/>
                <a:ea typeface="Helvetica Neue"/>
                <a:cs typeface="Helvetica Neue"/>
              </a:defRPr>
            </a:lvl3pPr>
            <a:lvl4pPr>
              <a:buNone/>
              <a:defRPr sz="1950" b="1">
                <a:solidFill>
                  <a:srgbClr val="172B3A"/>
                </a:solidFill>
                <a:latin typeface="Helvetica Neue"/>
                <a:ea typeface="Helvetica Neue"/>
                <a:cs typeface="Helvetica Neue"/>
              </a:defRPr>
            </a:lvl4pPr>
            <a:lvl5pPr>
              <a:buNone/>
              <a:defRPr sz="1950" b="1">
                <a:solidFill>
                  <a:srgbClr val="172B3A"/>
                </a:solidFill>
                <a:latin typeface="Helvetica Neue"/>
                <a:ea typeface="Helvetica Neue"/>
                <a:cs typeface="Helvetica Neue"/>
              </a:defRPr>
            </a:lvl5pPr>
            <a:lvl6pPr>
              <a:buNone/>
              <a:defRPr sz="1950" b="1">
                <a:solidFill>
                  <a:srgbClr val="172B3A"/>
                </a:solidFill>
                <a:latin typeface="Helvetica Neue"/>
                <a:ea typeface="Helvetica Neue"/>
                <a:cs typeface="Helvetica Neue"/>
              </a:defRPr>
            </a:lvl6pPr>
            <a:lvl7pPr>
              <a:buNone/>
              <a:defRPr sz="1950" b="1">
                <a:solidFill>
                  <a:srgbClr val="172B3A"/>
                </a:solidFill>
                <a:latin typeface="Helvetica Neue"/>
                <a:ea typeface="Helvetica Neue"/>
                <a:cs typeface="Helvetica Neue"/>
              </a:defRPr>
            </a:lvl7pPr>
            <a:lvl8pPr>
              <a:buNone/>
              <a:defRPr sz="1950" b="1">
                <a:solidFill>
                  <a:srgbClr val="172B3A"/>
                </a:solidFill>
                <a:latin typeface="Helvetica Neue"/>
                <a:ea typeface="Helvetica Neue"/>
                <a:cs typeface="Helvetica Neue"/>
              </a:defRPr>
            </a:lvl8pPr>
            <a:lvl9pPr>
              <a:buNone/>
              <a:defRPr sz="1950" b="1">
                <a:solidFill>
                  <a:srgbClr val="172B3A"/>
                </a:solidFill>
                <a:latin typeface="Helvetica Neue"/>
                <a:ea typeface="Helvetica Neue"/>
                <a:cs typeface="Helvetica Neue"/>
              </a:defRPr>
            </a:lvl9pPr>
          </a:lstStyle>
          <a:p xmlns:a="http://schemas.openxmlformats.org/drawingml/2006/main">
            <a:pPr>
              <a:buNone/>
              <a:defRPr sz="1950" b="1">
                <a:solidFill>
                  <a:srgbClr val="172B3A"/>
                </a:solidFill>
                <a:latin typeface="Helvetica Neue"/>
                <a:ea typeface="Helvetica Neue"/>
                <a:cs typeface="Helvetica Neue"/>
              </a:defRPr>
            </a:pPr>
            <a:r>
              <a:rPr sz="1950" b="1">
                <a:solidFill>
                  <a:srgbClr val="172B3A"/>
                </a:solidFill>
                <a:latin typeface="Helvetica Neue"/>
                <a:ea typeface="Helvetica Neue"/>
                <a:cs typeface="Helvetica Neue"/>
              </a:rPr>
              <a:t>Search success = at least one pass within ten choices.</a:t>
            </a:r>
          </a:p>
        </p:txBody>
      </p:sp>
      <p:pic>
        <p:nvPicPr>
          <p:cNvPr id="10" name="Immagine 9">
            <a:extLst xmlns:a="http://schemas.openxmlformats.org/drawingml/2006/main">
              <a:ext uri="{FF2B5EF4-FFF2-40B4-BE49-F238E27FC236}">
                <a16:creationId xmlns:a16="http://schemas.microsoft.com/office/drawing/2014/main" id="{BBB875F0-C43C-4BF1-AC5A-D44DCC8541E3}"/>
              </a:ext>
            </a:extLst>
          </p:cNvPr>
          <p:cNvPicPr>
            <a:picLocks xmlns:a="http://schemas.openxmlformats.org/drawingml/2006/main" noChangeAspect="1"/>
          </p:cNvPicPr>
          <p:nvPr/>
        </p:nvPicPr>
        <p:blipFill>
          <a:blip xmlns:r="http://schemas.openxmlformats.org/officeDocument/2006/relationships" xmlns:a="http://schemas.openxmlformats.org/drawingml/2006/main" r:embed="Rc60a6e5fcf2b4495"/>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2065156266"/>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20C8662D-2D27-4D55-AD2E-80DC378DC7F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1 / STRONGEST EVIDENCE</a:t>
            </a:r>
          </a:p>
        </p:txBody>
      </p:sp>
      <p:sp>
        <p:nvSpPr>
          <p:cNvPr id="2" name="Rettangolo 1">
            <a:extLst xmlns:a="http://schemas.openxmlformats.org/drawingml/2006/main">
              <a:ext uri="{FF2B5EF4-FFF2-40B4-BE49-F238E27FC236}">
                <a16:creationId xmlns:a16="http://schemas.microsoft.com/office/drawing/2014/main" id="{B9E10B2E-7200-411A-B280-59D29129F15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correct feedback helps Haiku</a:t>
            </a:r>
          </a:p>
        </p:txBody>
      </p:sp>
      <p:sp>
        <p:nvSpPr>
          <p:cNvPr id="3" name="Rettangolo 2">
            <a:extLst xmlns:a="http://schemas.openxmlformats.org/drawingml/2006/main">
              <a:ext uri="{FF2B5EF4-FFF2-40B4-BE49-F238E27FC236}">
                <a16:creationId xmlns:a16="http://schemas.microsoft.com/office/drawing/2014/main" id="{8B48AB5C-1C64-450E-A845-2FBCA7CB65A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Rettangolo 3">
            <a:extLst xmlns:a="http://schemas.openxmlformats.org/drawingml/2006/main">
              <a:ext uri="{FF2B5EF4-FFF2-40B4-BE49-F238E27FC236}">
                <a16:creationId xmlns:a16="http://schemas.microsoft.com/office/drawing/2014/main" id="{550FEF11-F151-4183-85A8-D828001C57D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FA298DA2-D5BE-4CD0-B222-AA4EC6F647D3}"/>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04</a:t>
            </a:r>
          </a:p>
        </p:txBody>
      </p:sp>
      <p:pic>
        <p:nvPicPr>
          <p:cNvPr id="10" name="Immagine 9">
            <a:extLst xmlns:a="http://schemas.openxmlformats.org/drawingml/2006/main">
              <a:ext uri="{FF2B5EF4-FFF2-40B4-BE49-F238E27FC236}">
                <a16:creationId xmlns:a16="http://schemas.microsoft.com/office/drawing/2014/main" id="{B281A2BB-C9AD-4B22-B59B-DF00D23EF897}"/>
              </a:ext>
            </a:extLst>
          </p:cNvPr>
          <p:cNvPicPr>
            <a:picLocks xmlns:a="http://schemas.openxmlformats.org/drawingml/2006/main" noChangeAspect="1"/>
          </p:cNvPicPr>
          <p:nvPr/>
        </p:nvPicPr>
        <p:blipFill>
          <a:blip xmlns:r="http://schemas.openxmlformats.org/officeDocument/2006/relationships" xmlns:a="http://schemas.openxmlformats.org/drawingml/2006/main" r:embed="R972ba999bea9423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40310CEA-448C-44F9-80F5-21F28B7B1DBA}"/>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c3202cefb72f4ca3"/>
          </a:graphicData>
        </a:graphic>
      </p:graphicFrame>
      <p:sp>
        <p:nvSpPr>
          <p:cNvPr id="12" name="random-baseline-8-of-30">
            <a:extLst xmlns:a="http://schemas.openxmlformats.org/drawingml/2006/main">
              <a:ext uri="{FF2B5EF4-FFF2-40B4-BE49-F238E27FC236}">
                <a16:creationId xmlns:a16="http://schemas.microsoft.com/office/drawing/2014/main" id="{804B7E15-A713-481B-AF12-841E8AAB9B95}"/>
              </a:ext>
            </a:extLst>
          </p:cNvPr>
          <p:cNvSpPr>
            <a:spLocks xmlns:a="http://schemas.openxmlformats.org/drawingml/2006/main" noGrp="1"/>
          </p:cNvSpPr>
          <p:nvPr/>
        </p:nvSpPr>
        <p:spPr>
          <a:xfrm xmlns:a="http://schemas.openxmlformats.org/drawingml/2006/main">
            <a:off x="4615927"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A9607814-B893-47CE-8082-EA57E2069593}"/>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D7A48764-0F95-474A-AA26-3CCF30A4B72E}"/>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8/30</a:t>
            </a:r>
          </a:p>
        </p:txBody>
      </p:sp>
      <p:sp>
        <p:nvSpPr>
          <p:cNvPr id="15" name="">
            <a:extLst xmlns:a="http://schemas.openxmlformats.org/drawingml/2006/main">
              <a:ext uri="{FF2B5EF4-FFF2-40B4-BE49-F238E27FC236}">
                <a16:creationId xmlns:a16="http://schemas.microsoft.com/office/drawing/2014/main" id="{6B40C6C5-6237-44C1-AD47-706F038A9601}"/>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defRPr sz="2100" b="1">
                <a:solidFill>
                  <a:srgbClr val="007F7B"/>
                </a:solidFill>
                <a:latin typeface="Helvetica Neue"/>
                <a:ea typeface="Helvetica Neue"/>
                <a:cs typeface="Helvetica Neue"/>
              </a:defRPr>
            </a:lvl1pPr>
            <a:lvl2pPr>
              <a:defRPr sz="2100" b="1">
                <a:solidFill>
                  <a:srgbClr val="007F7B"/>
                </a:solidFill>
                <a:latin typeface="Helvetica Neue"/>
                <a:ea typeface="Helvetica Neue"/>
                <a:cs typeface="Helvetica Neue"/>
              </a:defRPr>
            </a:lvl2pPr>
            <a:lvl3pPr>
              <a:defRPr sz="2100" b="1">
                <a:solidFill>
                  <a:srgbClr val="007F7B"/>
                </a:solidFill>
                <a:latin typeface="Helvetica Neue"/>
                <a:ea typeface="Helvetica Neue"/>
                <a:cs typeface="Helvetica Neue"/>
              </a:defRPr>
            </a:lvl3pPr>
            <a:lvl4pPr>
              <a:defRPr sz="2100" b="1">
                <a:solidFill>
                  <a:srgbClr val="007F7B"/>
                </a:solidFill>
                <a:latin typeface="Helvetica Neue"/>
                <a:ea typeface="Helvetica Neue"/>
                <a:cs typeface="Helvetica Neue"/>
              </a:defRPr>
            </a:lvl4pPr>
            <a:lvl5pPr>
              <a:defRPr sz="2100" b="1">
                <a:solidFill>
                  <a:srgbClr val="007F7B"/>
                </a:solidFill>
                <a:latin typeface="Helvetica Neue"/>
                <a:ea typeface="Helvetica Neue"/>
                <a:cs typeface="Helvetica Neue"/>
              </a:defRPr>
            </a:lvl5pPr>
            <a:lvl6pPr>
              <a:defRPr sz="2100" b="1">
                <a:solidFill>
                  <a:srgbClr val="007F7B"/>
                </a:solidFill>
                <a:latin typeface="Helvetica Neue"/>
                <a:ea typeface="Helvetica Neue"/>
                <a:cs typeface="Helvetica Neue"/>
              </a:defRPr>
            </a:lvl6pPr>
            <a:lvl7pPr>
              <a:defRPr sz="2100" b="1">
                <a:solidFill>
                  <a:srgbClr val="007F7B"/>
                </a:solidFill>
                <a:latin typeface="Helvetica Neue"/>
                <a:ea typeface="Helvetica Neue"/>
                <a:cs typeface="Helvetica Neue"/>
              </a:defRPr>
            </a:lvl7pPr>
            <a:lvl8pPr>
              <a:defRPr sz="2100" b="1">
                <a:solidFill>
                  <a:srgbClr val="007F7B"/>
                </a:solidFill>
                <a:latin typeface="Helvetica Neue"/>
                <a:ea typeface="Helvetica Neue"/>
                <a:cs typeface="Helvetica Neue"/>
              </a:defRPr>
            </a:lvl8pPr>
            <a:lvl9pPr>
              <a:defRPr sz="2100" b="1">
                <a:solidFill>
                  <a:srgbClr val="007F7B"/>
                </a:solidFill>
                <a:latin typeface="Helvetica Neue"/>
                <a:ea typeface="Helvetica Neue"/>
                <a:cs typeface="Helvetica Neue"/>
              </a:defRPr>
            </a:lvl9pPr>
          </a:lstStyle>
          <a:p xmlns:a="http://schemas.openxmlformats.org/drawingml/2006/main">
            <a:pPr>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Correct feedback: Haiku 20 and DeepSeek 12, compared with random 8.</a:t>
            </a:r>
          </a:p>
        </p:txBody>
      </p:sp>
      <p:sp>
        <p:nvSpPr>
          <p:cNvPr id="16" name="">
            <a:extLst xmlns:a="http://schemas.openxmlformats.org/drawingml/2006/main">
              <a:ext uri="{FF2B5EF4-FFF2-40B4-BE49-F238E27FC236}">
                <a16:creationId xmlns:a16="http://schemas.microsoft.com/office/drawing/2014/main" id="{B9B56485-67C8-47BF-8C73-EBAA64073F78}"/>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Haiku beats both feedback controls in planned tests. DeepSeek remains inconclusive.</a:t>
            </a:r>
          </a:p>
        </p:txBody>
      </p:sp>
    </p:spTree>
    <p:extLst>
      <p:ext uri="{BB962C8B-B14F-4D97-AF65-F5344CB8AC3E}">
        <p14:creationId xmlns:p14="http://schemas.microsoft.com/office/powerpoint/2010/main" val="2038096319"/>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AF5856D9-3693-49CB-ABBE-8FB104C76D99}"/>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CHOICE AND PHYSICAL RESULT</a:t>
            </a:r>
          </a:p>
        </p:txBody>
      </p:sp>
      <p:sp>
        <p:nvSpPr>
          <p:cNvPr id="2" name="Rettangolo 1">
            <a:extLst xmlns:a="http://schemas.openxmlformats.org/drawingml/2006/main">
              <a:ext uri="{FF2B5EF4-FFF2-40B4-BE49-F238E27FC236}">
                <a16:creationId xmlns:a16="http://schemas.microsoft.com/office/drawing/2014/main" id="{F5CCD8D0-993A-480F-8E0F-4661619D579A}"/>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follow-up: why these coatings?</a:t>
            </a:r>
          </a:p>
        </p:txBody>
      </p:sp>
      <p:sp>
        <p:nvSpPr>
          <p:cNvPr id="3" name="Rettangolo 2">
            <a:extLst xmlns:a="http://schemas.openxmlformats.org/drawingml/2006/main">
              <a:ext uri="{FF2B5EF4-FFF2-40B4-BE49-F238E27FC236}">
                <a16:creationId xmlns:a16="http://schemas.microsoft.com/office/drawing/2014/main" id="{356A020F-4463-4930-8584-ADCA34ECB22E}"/>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All three pass the chemical screen. Higher adhesion means stronger attachment.</a:t>
            </a:r>
          </a:p>
        </p:txBody>
      </p:sp>
      <p:sp>
        <p:nvSpPr>
          <p:cNvPr id="4" name="Rettangolo 3">
            <a:extLst xmlns:a="http://schemas.openxmlformats.org/drawingml/2006/main">
              <a:ext uri="{FF2B5EF4-FFF2-40B4-BE49-F238E27FC236}">
                <a16:creationId xmlns:a16="http://schemas.microsoft.com/office/drawing/2014/main" id="{ADEFD513-1C1B-4704-8875-54B1972DB60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175D42B1-2BF5-4A0E-BC47-41FEDDB7968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05</a:t>
            </a:r>
          </a:p>
        </p:txBody>
      </p:sp>
      <p:graphicFrame>
        <p:nvGraphicFramePr>
          <p:cNvPr id="6" name="Tabella 5">
            <a:extLst xmlns:a="http://schemas.openxmlformats.org/drawingml/2006/main">
              <a:ext uri="{FF2B5EF4-FFF2-40B4-BE49-F238E27FC236}">
                <a16:creationId xmlns:a16="http://schemas.microsoft.com/office/drawing/2014/main" id="{A4672014-59E4-4FAE-929A-3B358CC8D6E9}"/>
              </a:ext>
            </a:extLst>
          </p:cNvPr>
          <p:cNvGraphicFramePr/>
          <p:nvPr/>
        </p:nvGraphicFramePr>
        <p:xfrm>
          <a:off xmlns:a="http://schemas.openxmlformats.org/drawingml/2006/main" x="533400" y="2143125"/>
          <a:ext xmlns:a="http://schemas.openxmlformats.org/drawingml/2006/main" cx="11125200" cy="2857500"/>
        </p:xfrm>
        <a:graphic xmlns:a="http://schemas.openxmlformats.org/drawingml/2006/main">
          <a:graphicData uri="http://schemas.openxmlformats.org/drawingml/2006/table">
            <a:tbl>
              <a:tblPr/>
              <a:tblGrid>
                <a:gridCol w="2381250"/>
                <a:gridCol w="5762625"/>
                <a:gridCol w="2981325"/>
              </a:tblGrid>
              <a:tr h="714375">
                <a:tc>
                  <a:txBody>
                    <a:bodyPr/>
                    <a:lstStyle/>
                    <a:p>
                      <a:r>
                        <a:rPr sz="1725" b="1">
                          <a:solidFill>
                            <a:srgbClr val="FFFFFF"/>
                          </a:solidFill>
                          <a:latin typeface="Helvetica Neue"/>
                          <a:ea typeface="Helvetica Neue"/>
                          <a:cs typeface="Helvetica Neue"/>
                        </a:rPr>
                        <a:t>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725" b="1">
                          <a:solidFill>
                            <a:srgbClr val="FFFFFF"/>
                          </a:solidFill>
                          <a:latin typeface="Helvetica Neue"/>
                          <a:ea typeface="Helvetica Neue"/>
                          <a:cs typeface="Helvetica Neue"/>
                        </a:rPr>
                        <a:t>Why it was chosen</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725" b="1">
                          <a:solidFill>
                            <a:srgbClr val="FFFFFF"/>
                          </a:solidFill>
                          <a:latin typeface="Helvetica Neue"/>
                          <a:ea typeface="Helvetica Neue"/>
                          <a:cs typeface="Helvetica Neue"/>
                        </a:rPr>
                        <a:t>Weaker-contact</a:t>
                      </a:r>
                    </a:p>
                    <a:p>
                      <a:r>
                        <a:rPr sz="1725" b="1">
                          <a:solidFill>
                            <a:srgbClr val="FFFFFF"/>
                          </a:solidFill>
                          <a:latin typeface="Helvetica Neue"/>
                          <a:ea typeface="Helvetica Neue"/>
                          <a:cs typeface="Helvetica Neue"/>
                        </a:rPr>
                        <a:t>adhesion (J/m²)</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a:lstStyle/>
                    <a:p>
                      <a:r>
                        <a:rPr sz="2025" b="0">
                          <a:solidFill>
                            <a:srgbClr val="172B3A"/>
                          </a:solidFill>
                          <a:latin typeface="Helvetica Neue"/>
                          <a:ea typeface="Helvetica Neue"/>
                          <a:cs typeface="Helvetica Neue"/>
                        </a:rPr>
                        <a:t>LiNbF₆</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Existing acceptable reference</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1.633</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14375">
                <a:tc>
                  <a:txBody>
                    <a:bodyPr/>
                    <a:lstStyle/>
                    <a:p>
                      <a:r>
                        <a:rPr sz="2025" b="0">
                          <a:solidFill>
                            <a:srgbClr val="172B3A"/>
                          </a:solidFill>
                          <a:latin typeface="Helvetica Neue"/>
                          <a:ea typeface="Helvetica Neue"/>
                          <a:cs typeface="Helvetica Neue"/>
                        </a:rPr>
                        <a:t>LiTaF₆</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Acceptable, close Nb analogue</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1.577</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14375">
                <a:tc>
                  <a:txBody>
                    <a:bodyPr/>
                    <a:lstStyle/>
                    <a:p>
                      <a:r>
                        <a:rPr sz="2025" b="0">
                          <a:solidFill>
                            <a:srgbClr val="172B3A"/>
                          </a:solidFill>
                          <a:latin typeface="Helvetica Neue"/>
                          <a:ea typeface="Helvetica Neue"/>
                          <a:cs typeface="Helvetica Neue"/>
                        </a:rPr>
                        <a:t>LiCaAlF₆</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Only acceptable option left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0.744</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bl>
          </a:graphicData>
        </a:graphic>
      </p:graphicFrame>
      <p:sp>
        <p:nvSpPr>
          <p:cNvPr id="7" name="Rettangolo 6">
            <a:extLst xmlns:a="http://schemas.openxmlformats.org/drawingml/2006/main">
              <a:ext uri="{FF2B5EF4-FFF2-40B4-BE49-F238E27FC236}">
                <a16:creationId xmlns:a16="http://schemas.microsoft.com/office/drawing/2014/main" id="{82C4F47F-4AC8-41E7-8D6C-5D0201757376}"/>
              </a:ext>
            </a:extLst>
          </p:cNvPr>
          <p:cNvSpPr>
            <a:spLocks xmlns:a="http://schemas.openxmlformats.org/drawingml/2006/main" noGrp="1"/>
          </p:cNvSpPr>
          <p:nvPr/>
        </p:nvSpPr>
        <p:spPr>
          <a:xfrm xmlns:a="http://schemas.openxmlformats.org/drawingml/2006/main">
            <a:off x="533400" y="5314950"/>
            <a:ext cx="111252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Ta forecasts held. Ca–Al forecasts failed. Nb/Ta remain a follow-up pair.</a:t>
            </a:r>
          </a:p>
        </p:txBody>
      </p:sp>
      <p:sp>
        <p:nvSpPr>
          <p:cNvPr id="8" name="Rettangolo 7">
            <a:extLst xmlns:a="http://schemas.openxmlformats.org/drawingml/2006/main">
              <a:ext uri="{FF2B5EF4-FFF2-40B4-BE49-F238E27FC236}">
                <a16:creationId xmlns:a16="http://schemas.microsoft.com/office/drawing/2014/main" id="{BE5526BB-9470-4860-902F-881E85222AC8}"/>
              </a:ext>
            </a:extLst>
          </p:cNvPr>
          <p:cNvSpPr>
            <a:spLocks xmlns:a="http://schemas.openxmlformats.org/drawingml/2006/main" noGrp="1"/>
          </p:cNvSpPr>
          <p:nvPr/>
        </p:nvSpPr>
        <p:spPr>
          <a:xfrm xmlns:a="http://schemas.openxmlformats.org/drawingml/2006/main">
            <a:off x="533400" y="61150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Only</a:t>
            </a:r>
            <a:r>
              <a:rPr sz="1800" b="0">
                <a:solidFill>
                  <a:srgbClr val="526472"/>
                </a:solidFill>
                <a:latin typeface="Helvetica Neue"/>
                <a:ea typeface="Helvetica Neue"/>
                <a:cs typeface="Helvetica Neue"/>
              </a:rPr>
              <a:t> </a:t>
            </a:r>
            <a:r>
              <a:rPr sz="1800" b="0">
                <a:solidFill>
                  <a:srgbClr val="526472"/>
                </a:solidFill>
                <a:latin typeface="Helvetica Neue"/>
                <a:ea typeface="Helvetica Neue"/>
                <a:cs typeface="Helvetica Neue"/>
              </a:rPr>
              <a:t>thermodynamics</a:t>
            </a:r>
            <a:r>
              <a:rPr sz="1800" b="0">
                <a:solidFill>
                  <a:srgbClr val="526472"/>
                </a:solidFill>
                <a:latin typeface="Helvetica Neue"/>
                <a:ea typeface="Helvetica Neue"/>
                <a:cs typeface="Helvetica Neue"/>
              </a:rPr>
              <a:t>. </a:t>
            </a:r>
            <a:r>
              <a:rPr sz="1800" b="0">
                <a:solidFill>
                  <a:srgbClr val="526472"/>
                </a:solidFill>
                <a:latin typeface="Helvetica Neue"/>
                <a:ea typeface="Helvetica Neue"/>
                <a:cs typeface="Helvetica Neue"/>
              </a:rPr>
              <a:t>Lithium transport remains untested.</a:t>
            </a:r>
          </a:p>
        </p:txBody>
      </p:sp>
      <p:pic>
        <p:nvPicPr>
          <p:cNvPr id="10" name="Immagine 9">
            <a:extLst xmlns:a="http://schemas.openxmlformats.org/drawingml/2006/main">
              <a:ext uri="{FF2B5EF4-FFF2-40B4-BE49-F238E27FC236}">
                <a16:creationId xmlns:a16="http://schemas.microsoft.com/office/drawing/2014/main" id="{B7E99E69-EBFE-4F9D-9A1F-38CE58A9577F}"/>
              </a:ext>
            </a:extLst>
          </p:cNvPr>
          <p:cNvPicPr>
            <a:picLocks xmlns:a="http://schemas.openxmlformats.org/drawingml/2006/main" noChangeAspect="1"/>
          </p:cNvPicPr>
          <p:nvPr/>
        </p:nvPicPr>
        <p:blipFill>
          <a:blip xmlns:r="http://schemas.openxmlformats.org/officeDocument/2006/relationships" xmlns:a="http://schemas.openxmlformats.org/drawingml/2006/main" r:embed="R288d2644b4ae48be"/>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64600484"/>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Rettangolo 12">
            <a:extLst xmlns:a="http://schemas.openxmlformats.org/drawingml/2006/main">
              <a:ext uri="{FF2B5EF4-FFF2-40B4-BE49-F238E27FC236}">
                <a16:creationId xmlns:a16="http://schemas.microsoft.com/office/drawing/2014/main" id="{D039E019-61B5-47B0-BB08-0B7B5D35E54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2 / AN EASY SCREEN</a:t>
            </a:r>
          </a:p>
        </p:txBody>
      </p:sp>
      <p:sp>
        <p:nvSpPr>
          <p:cNvPr id="2" name="Rettangolo 1">
            <a:extLst xmlns:a="http://schemas.openxmlformats.org/drawingml/2006/main">
              <a:ext uri="{FF2B5EF4-FFF2-40B4-BE49-F238E27FC236}">
                <a16:creationId xmlns:a16="http://schemas.microsoft.com/office/drawing/2014/main" id="{1FD06480-B99F-4ADE-9C3E-CF8CC07FC51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Chloride: almost every strategy succeeds</a:t>
            </a:r>
          </a:p>
        </p:txBody>
      </p:sp>
      <p:sp>
        <p:nvSpPr>
          <p:cNvPr id="3" name="Rettangolo 2">
            <a:extLst xmlns:a="http://schemas.openxmlformats.org/drawingml/2006/main">
              <a:ext uri="{FF2B5EF4-FFF2-40B4-BE49-F238E27FC236}">
                <a16:creationId xmlns:a16="http://schemas.microsoft.com/office/drawing/2014/main" id="{153653DB-7A9E-468A-BB70-858697555DDF}"/>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Rettangolo 3">
            <a:extLst xmlns:a="http://schemas.openxmlformats.org/drawingml/2006/main">
              <a:ext uri="{FF2B5EF4-FFF2-40B4-BE49-F238E27FC236}">
                <a16:creationId xmlns:a16="http://schemas.microsoft.com/office/drawing/2014/main" id="{394BB7D9-9993-43C1-BBAD-785CA94E78A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E1976D91-18F1-46E8-8766-4637EE1F105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06</a:t>
            </a:r>
          </a:p>
        </p:txBody>
      </p:sp>
      <p:pic>
        <p:nvPicPr>
          <p:cNvPr id="14" name="Immagine 13">
            <a:extLst xmlns:a="http://schemas.openxmlformats.org/drawingml/2006/main">
              <a:ext uri="{FF2B5EF4-FFF2-40B4-BE49-F238E27FC236}">
                <a16:creationId xmlns:a16="http://schemas.microsoft.com/office/drawing/2014/main" id="{492BDE65-9686-4438-BCAF-8263D372A1C6}"/>
              </a:ext>
            </a:extLst>
          </p:cNvPr>
          <p:cNvPicPr>
            <a:picLocks xmlns:a="http://schemas.openxmlformats.org/drawingml/2006/main" noChangeAspect="1"/>
          </p:cNvPicPr>
          <p:nvPr/>
        </p:nvPicPr>
        <p:blipFill>
          <a:blip xmlns:r="http://schemas.openxmlformats.org/officeDocument/2006/relationships" xmlns:a="http://schemas.openxmlformats.org/drawingml/2006/main" r:embed="R5a6c953a501e42c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08F9F39E-5713-4210-8B5F-5BE348218CD6}"/>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366979690fdb491e"/>
          </a:graphicData>
        </a:graphic>
      </p:graphicFrame>
      <p:sp>
        <p:nvSpPr>
          <p:cNvPr id="16" name="random-baseline-29-of-30">
            <a:extLst xmlns:a="http://schemas.openxmlformats.org/drawingml/2006/main">
              <a:ext uri="{FF2B5EF4-FFF2-40B4-BE49-F238E27FC236}">
                <a16:creationId xmlns:a16="http://schemas.microsoft.com/office/drawing/2014/main" id="{C4E0A97C-ACE8-4BC4-ACEC-69E295945946}"/>
              </a:ext>
            </a:extLst>
          </p:cNvPr>
          <p:cNvSpPr>
            <a:spLocks xmlns:a="http://schemas.openxmlformats.org/drawingml/2006/main" noGrp="1"/>
          </p:cNvSpPr>
          <p:nvPr/>
        </p:nvSpPr>
        <p:spPr>
          <a:xfrm xmlns:a="http://schemas.openxmlformats.org/drawingml/2006/main">
            <a:off x="10123910"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7" name="random-baseline-legend">
            <a:extLst xmlns:a="http://schemas.openxmlformats.org/drawingml/2006/main">
              <a:ext uri="{FF2B5EF4-FFF2-40B4-BE49-F238E27FC236}">
                <a16:creationId xmlns:a16="http://schemas.microsoft.com/office/drawing/2014/main" id="{FEA1E0CA-8BBF-4A31-8AA2-783A7587DDC7}"/>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8" name="">
            <a:extLst xmlns:a="http://schemas.openxmlformats.org/drawingml/2006/main">
              <a:ext uri="{FF2B5EF4-FFF2-40B4-BE49-F238E27FC236}">
                <a16:creationId xmlns:a16="http://schemas.microsoft.com/office/drawing/2014/main" id="{51E88457-C088-4BAC-AA2A-C53D68512BB8}"/>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29/30</a:t>
            </a:r>
          </a:p>
        </p:txBody>
      </p:sp>
      <p:sp>
        <p:nvSpPr>
          <p:cNvPr id="19" name="">
            <a:extLst xmlns:a="http://schemas.openxmlformats.org/drawingml/2006/main">
              <a:ext uri="{FF2B5EF4-FFF2-40B4-BE49-F238E27FC236}">
                <a16:creationId xmlns:a16="http://schemas.microsoft.com/office/drawing/2014/main" id="{A0B1DD73-4E85-4981-9515-27675FAEF161}"/>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defRPr sz="2100" b="1">
                <a:solidFill>
                  <a:srgbClr val="007F7B"/>
                </a:solidFill>
                <a:latin typeface="Helvetica Neue"/>
                <a:ea typeface="Helvetica Neue"/>
                <a:cs typeface="Helvetica Neue"/>
              </a:defRPr>
            </a:lvl1pPr>
            <a:lvl2pPr>
              <a:defRPr sz="2100" b="1">
                <a:solidFill>
                  <a:srgbClr val="007F7B"/>
                </a:solidFill>
                <a:latin typeface="Helvetica Neue"/>
                <a:ea typeface="Helvetica Neue"/>
                <a:cs typeface="Helvetica Neue"/>
              </a:defRPr>
            </a:lvl2pPr>
            <a:lvl3pPr>
              <a:defRPr sz="2100" b="1">
                <a:solidFill>
                  <a:srgbClr val="007F7B"/>
                </a:solidFill>
                <a:latin typeface="Helvetica Neue"/>
                <a:ea typeface="Helvetica Neue"/>
                <a:cs typeface="Helvetica Neue"/>
              </a:defRPr>
            </a:lvl3pPr>
            <a:lvl4pPr>
              <a:defRPr sz="2100" b="1">
                <a:solidFill>
                  <a:srgbClr val="007F7B"/>
                </a:solidFill>
                <a:latin typeface="Helvetica Neue"/>
                <a:ea typeface="Helvetica Neue"/>
                <a:cs typeface="Helvetica Neue"/>
              </a:defRPr>
            </a:lvl4pPr>
            <a:lvl5pPr>
              <a:defRPr sz="2100" b="1">
                <a:solidFill>
                  <a:srgbClr val="007F7B"/>
                </a:solidFill>
                <a:latin typeface="Helvetica Neue"/>
                <a:ea typeface="Helvetica Neue"/>
                <a:cs typeface="Helvetica Neue"/>
              </a:defRPr>
            </a:lvl5pPr>
            <a:lvl6pPr>
              <a:defRPr sz="2100" b="1">
                <a:solidFill>
                  <a:srgbClr val="007F7B"/>
                </a:solidFill>
                <a:latin typeface="Helvetica Neue"/>
                <a:ea typeface="Helvetica Neue"/>
                <a:cs typeface="Helvetica Neue"/>
              </a:defRPr>
            </a:lvl6pPr>
            <a:lvl7pPr>
              <a:defRPr sz="2100" b="1">
                <a:solidFill>
                  <a:srgbClr val="007F7B"/>
                </a:solidFill>
                <a:latin typeface="Helvetica Neue"/>
                <a:ea typeface="Helvetica Neue"/>
                <a:cs typeface="Helvetica Neue"/>
              </a:defRPr>
            </a:lvl7pPr>
            <a:lvl8pPr>
              <a:defRPr sz="2100" b="1">
                <a:solidFill>
                  <a:srgbClr val="007F7B"/>
                </a:solidFill>
                <a:latin typeface="Helvetica Neue"/>
                <a:ea typeface="Helvetica Neue"/>
                <a:cs typeface="Helvetica Neue"/>
              </a:defRPr>
            </a:lvl8pPr>
            <a:lvl9pPr>
              <a:defRPr sz="2100" b="1">
                <a:solidFill>
                  <a:srgbClr val="007F7B"/>
                </a:solidFill>
                <a:latin typeface="Helvetica Neue"/>
                <a:ea typeface="Helvetica Neue"/>
                <a:cs typeface="Helvetica Neue"/>
              </a:defRPr>
            </a:lvl9pPr>
          </a:lstStyle>
          <a:p xmlns:a="http://schemas.openxmlformats.org/drawingml/2006/main">
            <a:pPr>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All LLM strategies: 30/30. Random choice: 29/30.</a:t>
            </a:r>
          </a:p>
        </p:txBody>
      </p:sp>
      <p:sp>
        <p:nvSpPr>
          <p:cNvPr id="20" name="">
            <a:extLst xmlns:a="http://schemas.openxmlformats.org/drawingml/2006/main">
              <a:ext uri="{FF2B5EF4-FFF2-40B4-BE49-F238E27FC236}">
                <a16:creationId xmlns:a16="http://schemas.microsoft.com/office/drawing/2014/main" id="{EA869475-57D0-451F-81D2-F5E29E61F8F4}"/>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55 of 141 structures pass. This easy screen leaves little room for a feedback advantage.</a:t>
            </a:r>
          </a:p>
        </p:txBody>
      </p:sp>
    </p:spTree>
    <p:extLst>
      <p:ext uri="{BB962C8B-B14F-4D97-AF65-F5344CB8AC3E}">
        <p14:creationId xmlns:p14="http://schemas.microsoft.com/office/powerpoint/2010/main" val="1443295539"/>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C1B9A4E9-33E2-43ED-BB29-4B79B26849E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3 / THE FAILURE CASE</a:t>
            </a:r>
          </a:p>
        </p:txBody>
      </p:sp>
      <p:sp>
        <p:nvSpPr>
          <p:cNvPr id="2" name="Rettangolo 1">
            <a:extLst xmlns:a="http://schemas.openxmlformats.org/drawingml/2006/main">
              <a:ext uri="{FF2B5EF4-FFF2-40B4-BE49-F238E27FC236}">
                <a16:creationId xmlns:a16="http://schemas.microsoft.com/office/drawing/2014/main" id="{2B24F43C-2A88-48C1-A352-84A1FC297D2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the feedback loop falls short</a:t>
            </a:r>
          </a:p>
        </p:txBody>
      </p:sp>
      <p:sp>
        <p:nvSpPr>
          <p:cNvPr id="3" name="Rettangolo 2">
            <a:extLst xmlns:a="http://schemas.openxmlformats.org/drawingml/2006/main">
              <a:ext uri="{FF2B5EF4-FFF2-40B4-BE49-F238E27FC236}">
                <a16:creationId xmlns:a16="http://schemas.microsoft.com/office/drawing/2014/main" id="{56370CC3-BD3F-4372-98B3-E33F9710DA2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Rettangolo 3">
            <a:extLst xmlns:a="http://schemas.openxmlformats.org/drawingml/2006/main">
              <a:ext uri="{FF2B5EF4-FFF2-40B4-BE49-F238E27FC236}">
                <a16:creationId xmlns:a16="http://schemas.microsoft.com/office/drawing/2014/main" id="{B0A9009A-DC2C-4EE1-8864-0FB6CC190EF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A60C23FF-BAEA-4BE1-B3D5-0619FF0B4FD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07</a:t>
            </a:r>
          </a:p>
        </p:txBody>
      </p:sp>
      <p:pic>
        <p:nvPicPr>
          <p:cNvPr id="10" name="Immagine 9">
            <a:extLst xmlns:a="http://schemas.openxmlformats.org/drawingml/2006/main">
              <a:ext uri="{FF2B5EF4-FFF2-40B4-BE49-F238E27FC236}">
                <a16:creationId xmlns:a16="http://schemas.microsoft.com/office/drawing/2014/main" id="{56996470-B368-4E71-A3EF-2278D80F86C1}"/>
              </a:ext>
            </a:extLst>
          </p:cNvPr>
          <p:cNvPicPr>
            <a:picLocks xmlns:a="http://schemas.openxmlformats.org/drawingml/2006/main" noChangeAspect="1"/>
          </p:cNvPicPr>
          <p:nvPr/>
        </p:nvPicPr>
        <p:blipFill>
          <a:blip xmlns:r="http://schemas.openxmlformats.org/officeDocument/2006/relationships" xmlns:a="http://schemas.openxmlformats.org/drawingml/2006/main" r:embed="R2c43f05f42864fb9"/>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3E9B94F0-7CC1-4E5E-9629-6EB808F98E3B}"/>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284991edc9814c64"/>
          </a:graphicData>
        </a:graphic>
      </p:graphicFrame>
      <p:sp>
        <p:nvSpPr>
          <p:cNvPr id="12" name="random-baseline-24-of-30">
            <a:extLst xmlns:a="http://schemas.openxmlformats.org/drawingml/2006/main">
              <a:ext uri="{FF2B5EF4-FFF2-40B4-BE49-F238E27FC236}">
                <a16:creationId xmlns:a16="http://schemas.microsoft.com/office/drawing/2014/main" id="{7B650426-10BB-4919-9D6F-B7A515B80AB6}"/>
              </a:ext>
            </a:extLst>
          </p:cNvPr>
          <p:cNvSpPr>
            <a:spLocks xmlns:a="http://schemas.openxmlformats.org/drawingml/2006/main" noGrp="1"/>
          </p:cNvSpPr>
          <p:nvPr/>
        </p:nvSpPr>
        <p:spPr>
          <a:xfrm xmlns:a="http://schemas.openxmlformats.org/drawingml/2006/main">
            <a:off x="8812485"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87809109-43E5-45C0-B79C-8F87D498A27E}"/>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A0ED283B-B40C-4488-961A-2DBAEA0A6FEF}"/>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24/30</a:t>
            </a:r>
          </a:p>
        </p:txBody>
      </p:sp>
      <p:sp>
        <p:nvSpPr>
          <p:cNvPr id="15" name="">
            <a:extLst xmlns:a="http://schemas.openxmlformats.org/drawingml/2006/main">
              <a:ext uri="{FF2B5EF4-FFF2-40B4-BE49-F238E27FC236}">
                <a16:creationId xmlns:a16="http://schemas.microsoft.com/office/drawing/2014/main" id="{A7F1D6D6-7D00-4285-8A17-543489835F32}"/>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A713A"/>
                </a:solidFill>
                <a:latin typeface="Helvetica Neue"/>
                <a:ea typeface="Helvetica Neue"/>
                <a:cs typeface="Helvetica Neue"/>
              </a:defRPr>
            </a:defPPr>
            <a:lvl1pPr>
              <a:defRPr sz="2100" b="1">
                <a:solidFill>
                  <a:srgbClr val="CA713A"/>
                </a:solidFill>
                <a:latin typeface="Helvetica Neue"/>
                <a:ea typeface="Helvetica Neue"/>
                <a:cs typeface="Helvetica Neue"/>
              </a:defRPr>
            </a:lvl1pPr>
            <a:lvl2pPr>
              <a:defRPr sz="2100" b="1">
                <a:solidFill>
                  <a:srgbClr val="CA713A"/>
                </a:solidFill>
                <a:latin typeface="Helvetica Neue"/>
                <a:ea typeface="Helvetica Neue"/>
                <a:cs typeface="Helvetica Neue"/>
              </a:defRPr>
            </a:lvl2pPr>
            <a:lvl3pPr>
              <a:defRPr sz="2100" b="1">
                <a:solidFill>
                  <a:srgbClr val="CA713A"/>
                </a:solidFill>
                <a:latin typeface="Helvetica Neue"/>
                <a:ea typeface="Helvetica Neue"/>
                <a:cs typeface="Helvetica Neue"/>
              </a:defRPr>
            </a:lvl3pPr>
            <a:lvl4pPr>
              <a:defRPr sz="2100" b="1">
                <a:solidFill>
                  <a:srgbClr val="CA713A"/>
                </a:solidFill>
                <a:latin typeface="Helvetica Neue"/>
                <a:ea typeface="Helvetica Neue"/>
                <a:cs typeface="Helvetica Neue"/>
              </a:defRPr>
            </a:lvl4pPr>
            <a:lvl5pPr>
              <a:defRPr sz="2100" b="1">
                <a:solidFill>
                  <a:srgbClr val="CA713A"/>
                </a:solidFill>
                <a:latin typeface="Helvetica Neue"/>
                <a:ea typeface="Helvetica Neue"/>
                <a:cs typeface="Helvetica Neue"/>
              </a:defRPr>
            </a:lvl5pPr>
            <a:lvl6pPr>
              <a:defRPr sz="2100" b="1">
                <a:solidFill>
                  <a:srgbClr val="CA713A"/>
                </a:solidFill>
                <a:latin typeface="Helvetica Neue"/>
                <a:ea typeface="Helvetica Neue"/>
                <a:cs typeface="Helvetica Neue"/>
              </a:defRPr>
            </a:lvl6pPr>
            <a:lvl7pPr>
              <a:defRPr sz="2100" b="1">
                <a:solidFill>
                  <a:srgbClr val="CA713A"/>
                </a:solidFill>
                <a:latin typeface="Helvetica Neue"/>
                <a:ea typeface="Helvetica Neue"/>
                <a:cs typeface="Helvetica Neue"/>
              </a:defRPr>
            </a:lvl7pPr>
            <a:lvl8pPr>
              <a:defRPr sz="2100" b="1">
                <a:solidFill>
                  <a:srgbClr val="CA713A"/>
                </a:solidFill>
                <a:latin typeface="Helvetica Neue"/>
                <a:ea typeface="Helvetica Neue"/>
                <a:cs typeface="Helvetica Neue"/>
              </a:defRPr>
            </a:lvl8pPr>
            <a:lvl9pPr>
              <a:defRPr sz="2100" b="1">
                <a:solidFill>
                  <a:srgbClr val="CA713A"/>
                </a:solidFill>
                <a:latin typeface="Helvetica Neue"/>
                <a:ea typeface="Helvetica Neue"/>
                <a:cs typeface="Helvetica Neue"/>
              </a:defRPr>
            </a:lvl9pPr>
          </a:lstStyle>
          <a:p xmlns:a="http://schemas.openxmlformats.org/drawingml/2006/main">
            <a:pPr>
              <a:defRPr sz="2100" b="1">
                <a:solidFill>
                  <a:srgbClr val="CA713A"/>
                </a:solidFill>
                <a:latin typeface="Helvetica Neue"/>
                <a:ea typeface="Helvetica Neue"/>
                <a:cs typeface="Helvetica Neue"/>
              </a:defRPr>
            </a:pPr>
            <a:r>
              <a:rPr sz="2100" b="1">
                <a:solidFill>
                  <a:srgbClr val="CA713A"/>
                </a:solidFill>
                <a:latin typeface="Helvetica Neue"/>
                <a:ea typeface="Helvetica Neue"/>
                <a:cs typeface="Helvetica Neue"/>
              </a:rPr>
              <a:t>Every LLM strategy trails random choice on the observed success count.</a:t>
            </a:r>
          </a:p>
        </p:txBody>
      </p:sp>
      <p:sp>
        <p:nvSpPr>
          <p:cNvPr id="16" name="">
            <a:extLst xmlns:a="http://schemas.openxmlformats.org/drawingml/2006/main">
              <a:ext uri="{FF2B5EF4-FFF2-40B4-BE49-F238E27FC236}">
                <a16:creationId xmlns:a16="http://schemas.microsoft.com/office/drawing/2014/main" id="{720A1649-D83B-4572-B8D3-A02F78A155D2}"/>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DeepSeek: 20 upfront, 10 with correct feedback. No clear benefit in the planned feedback tests.</a:t>
            </a:r>
          </a:p>
        </p:txBody>
      </p:sp>
    </p:spTree>
    <p:extLst>
      <p:ext uri="{BB962C8B-B14F-4D97-AF65-F5344CB8AC3E}">
        <p14:creationId xmlns:p14="http://schemas.microsoft.com/office/powerpoint/2010/main" val="2059486378"/>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Rettangolo 9">
            <a:extLst xmlns:a="http://schemas.openxmlformats.org/drawingml/2006/main">
              <a:ext uri="{FF2B5EF4-FFF2-40B4-BE49-F238E27FC236}">
                <a16:creationId xmlns:a16="http://schemas.microsoft.com/office/drawing/2014/main" id="{66F74205-C240-4B1F-9A17-A7C8C97CFB4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WHAT COMES NEXT</a:t>
            </a:r>
          </a:p>
        </p:txBody>
      </p:sp>
      <p:sp>
        <p:nvSpPr>
          <p:cNvPr id="2" name="Rettangolo 1">
            <a:extLst xmlns:a="http://schemas.openxmlformats.org/drawingml/2006/main">
              <a:ext uri="{FF2B5EF4-FFF2-40B4-BE49-F238E27FC236}">
                <a16:creationId xmlns:a16="http://schemas.microsoft.com/office/drawing/2014/main" id="{30A9251A-7F04-4BD5-9A6A-4486AD46D41E}"/>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Next: can lithium cross the protective layer?</a:t>
            </a:r>
          </a:p>
        </p:txBody>
      </p:sp>
      <p:sp>
        <p:nvSpPr>
          <p:cNvPr id="3" name="Rettangolo 2">
            <a:extLst xmlns:a="http://schemas.openxmlformats.org/drawingml/2006/main">
              <a:ext uri="{FF2B5EF4-FFF2-40B4-BE49-F238E27FC236}">
                <a16:creationId xmlns:a16="http://schemas.microsoft.com/office/drawing/2014/main" id="{1E423417-0053-4801-8F6A-2E3DCB9C15D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4" name="Rettangolo 3">
            <a:extLst xmlns:a="http://schemas.openxmlformats.org/drawingml/2006/main">
              <a:ext uri="{FF2B5EF4-FFF2-40B4-BE49-F238E27FC236}">
                <a16:creationId xmlns:a16="http://schemas.microsoft.com/office/drawing/2014/main" id="{12CAE65C-E1F1-4F0B-BCA1-846140A39CF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08</a:t>
            </a:r>
          </a:p>
        </p:txBody>
      </p:sp>
      <p:sp>
        <p:nvSpPr>
          <p:cNvPr id="5" name="Rettangolo 4">
            <a:extLst xmlns:a="http://schemas.openxmlformats.org/drawingml/2006/main">
              <a:ext uri="{FF2B5EF4-FFF2-40B4-BE49-F238E27FC236}">
                <a16:creationId xmlns:a16="http://schemas.microsoft.com/office/drawing/2014/main" id="{2D5985CD-D04C-457F-800B-EE32E83139EF}"/>
              </a:ext>
            </a:extLst>
          </p:cNvPr>
          <p:cNvSpPr>
            <a:spLocks xmlns:a="http://schemas.openxmlformats.org/drawingml/2006/main" noGrp="1"/>
          </p:cNvSpPr>
          <p:nvPr/>
        </p:nvSpPr>
        <p:spPr>
          <a:xfrm xmlns:a="http://schemas.openxmlformats.org/drawingml/2006/main">
            <a:off x="533400" y="2028825"/>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07F7B"/>
                </a:solidFill>
                <a:latin typeface="Helvetica Neue"/>
                <a:ea typeface="Helvetica Neue"/>
                <a:cs typeface="Helvetica Neue"/>
              </a:defRPr>
            </a:defPPr>
            <a:lvl1pPr>
              <a:buNone/>
              <a:defRPr sz="2775" b="1">
                <a:solidFill>
                  <a:srgbClr val="007F7B"/>
                </a:solidFill>
                <a:latin typeface="Helvetica Neue"/>
                <a:ea typeface="Helvetica Neue"/>
                <a:cs typeface="Helvetica Neue"/>
              </a:defRPr>
            </a:lvl1pPr>
            <a:lvl2pPr>
              <a:buNone/>
              <a:defRPr sz="2775" b="1">
                <a:solidFill>
                  <a:srgbClr val="007F7B"/>
                </a:solidFill>
                <a:latin typeface="Helvetica Neue"/>
                <a:ea typeface="Helvetica Neue"/>
                <a:cs typeface="Helvetica Neue"/>
              </a:defRPr>
            </a:lvl2pPr>
            <a:lvl3pPr>
              <a:buNone/>
              <a:defRPr sz="2775" b="1">
                <a:solidFill>
                  <a:srgbClr val="007F7B"/>
                </a:solidFill>
                <a:latin typeface="Helvetica Neue"/>
                <a:ea typeface="Helvetica Neue"/>
                <a:cs typeface="Helvetica Neue"/>
              </a:defRPr>
            </a:lvl3pPr>
            <a:lvl4pPr>
              <a:buNone/>
              <a:defRPr sz="2775" b="1">
                <a:solidFill>
                  <a:srgbClr val="007F7B"/>
                </a:solidFill>
                <a:latin typeface="Helvetica Neue"/>
                <a:ea typeface="Helvetica Neue"/>
                <a:cs typeface="Helvetica Neue"/>
              </a:defRPr>
            </a:lvl4pPr>
            <a:lvl5pPr>
              <a:buNone/>
              <a:defRPr sz="2775" b="1">
                <a:solidFill>
                  <a:srgbClr val="007F7B"/>
                </a:solidFill>
                <a:latin typeface="Helvetica Neue"/>
                <a:ea typeface="Helvetica Neue"/>
                <a:cs typeface="Helvetica Neue"/>
              </a:defRPr>
            </a:lvl5pPr>
            <a:lvl6pPr>
              <a:buNone/>
              <a:defRPr sz="2775" b="1">
                <a:solidFill>
                  <a:srgbClr val="007F7B"/>
                </a:solidFill>
                <a:latin typeface="Helvetica Neue"/>
                <a:ea typeface="Helvetica Neue"/>
                <a:cs typeface="Helvetica Neue"/>
              </a:defRPr>
            </a:lvl6pPr>
            <a:lvl7pPr>
              <a:buNone/>
              <a:defRPr sz="2775" b="1">
                <a:solidFill>
                  <a:srgbClr val="007F7B"/>
                </a:solidFill>
                <a:latin typeface="Helvetica Neue"/>
                <a:ea typeface="Helvetica Neue"/>
                <a:cs typeface="Helvetica Neue"/>
              </a:defRPr>
            </a:lvl7pPr>
            <a:lvl8pPr>
              <a:buNone/>
              <a:defRPr sz="2775" b="1">
                <a:solidFill>
                  <a:srgbClr val="007F7B"/>
                </a:solidFill>
                <a:latin typeface="Helvetica Neue"/>
                <a:ea typeface="Helvetica Neue"/>
                <a:cs typeface="Helvetica Neue"/>
              </a:defRPr>
            </a:lvl8pPr>
            <a:lvl9pPr>
              <a:buNone/>
              <a:defRPr sz="2775" b="1">
                <a:solidFill>
                  <a:srgbClr val="007F7B"/>
                </a:solidFill>
                <a:latin typeface="Helvetica Neue"/>
                <a:ea typeface="Helvetica Neue"/>
                <a:cs typeface="Helvetica Neue"/>
              </a:defRPr>
            </a:lvl9pPr>
          </a:lstStyle>
          <a:p xmlns:a="http://schemas.openxmlformats.org/drawingml/2006/main">
            <a:pPr>
              <a:buNone/>
              <a:defRPr sz="2775" b="1">
                <a:solidFill>
                  <a:srgbClr val="007F7B"/>
                </a:solidFill>
                <a:latin typeface="Helvetica Neue"/>
                <a:ea typeface="Helvetica Neue"/>
                <a:cs typeface="Helvetica Neue"/>
              </a:defRPr>
            </a:pPr>
            <a:r>
              <a:rPr sz="2775" b="1">
                <a:solidFill>
                  <a:srgbClr val="007F7B"/>
                </a:solidFill>
                <a:latin typeface="Helvetica Neue"/>
                <a:ea typeface="Helvetica Neue"/>
                <a:cs typeface="Helvetica Neue"/>
              </a:rPr>
              <a:t>Test ionic mobility across the interphases</a:t>
            </a:r>
          </a:p>
        </p:txBody>
      </p:sp>
      <p:sp>
        <p:nvSpPr>
          <p:cNvPr id="6" name="Rettangolo 5">
            <a:extLst xmlns:a="http://schemas.openxmlformats.org/drawingml/2006/main">
              <a:ext uri="{FF2B5EF4-FFF2-40B4-BE49-F238E27FC236}">
                <a16:creationId xmlns:a16="http://schemas.microsoft.com/office/drawing/2014/main" id="{E8A47510-31C0-4813-BC5C-7EC85D8EE274}"/>
              </a:ext>
            </a:extLst>
          </p:cNvPr>
          <p:cNvSpPr>
            <a:spLocks xmlns:a="http://schemas.openxmlformats.org/drawingml/2006/main" noGrp="1"/>
          </p:cNvSpPr>
          <p:nvPr/>
        </p:nvSpPr>
        <p:spPr>
          <a:xfrm xmlns:a="http://schemas.openxmlformats.org/drawingml/2006/main">
            <a:off x="533400" y="2838450"/>
            <a:ext cx="11125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B3A"/>
                </a:solidFill>
                <a:latin typeface="Helvetica Neue"/>
                <a:ea typeface="Helvetica Neue"/>
                <a:cs typeface="Helvetica Neue"/>
              </a:defRPr>
            </a:defPPr>
            <a:lvl1pPr>
              <a:buNone/>
              <a:defRPr sz="2325" b="0">
                <a:solidFill>
                  <a:srgbClr val="172B3A"/>
                </a:solidFill>
                <a:latin typeface="Helvetica Neue"/>
                <a:ea typeface="Helvetica Neue"/>
                <a:cs typeface="Helvetica Neue"/>
              </a:defRPr>
            </a:lvl1pPr>
            <a:lvl2pPr>
              <a:buNone/>
              <a:defRPr sz="2325" b="0">
                <a:solidFill>
                  <a:srgbClr val="172B3A"/>
                </a:solidFill>
                <a:latin typeface="Helvetica Neue"/>
                <a:ea typeface="Helvetica Neue"/>
                <a:cs typeface="Helvetica Neue"/>
              </a:defRPr>
            </a:lvl2pPr>
            <a:lvl3pPr>
              <a:buNone/>
              <a:defRPr sz="2325" b="0">
                <a:solidFill>
                  <a:srgbClr val="172B3A"/>
                </a:solidFill>
                <a:latin typeface="Helvetica Neue"/>
                <a:ea typeface="Helvetica Neue"/>
                <a:cs typeface="Helvetica Neue"/>
              </a:defRPr>
            </a:lvl3pPr>
            <a:lvl4pPr>
              <a:buNone/>
              <a:defRPr sz="2325" b="0">
                <a:solidFill>
                  <a:srgbClr val="172B3A"/>
                </a:solidFill>
                <a:latin typeface="Helvetica Neue"/>
                <a:ea typeface="Helvetica Neue"/>
                <a:cs typeface="Helvetica Neue"/>
              </a:defRPr>
            </a:lvl4pPr>
            <a:lvl5pPr>
              <a:buNone/>
              <a:defRPr sz="2325" b="0">
                <a:solidFill>
                  <a:srgbClr val="172B3A"/>
                </a:solidFill>
                <a:latin typeface="Helvetica Neue"/>
                <a:ea typeface="Helvetica Neue"/>
                <a:cs typeface="Helvetica Neue"/>
              </a:defRPr>
            </a:lvl5pPr>
            <a:lvl6pPr>
              <a:buNone/>
              <a:defRPr sz="2325" b="0">
                <a:solidFill>
                  <a:srgbClr val="172B3A"/>
                </a:solidFill>
                <a:latin typeface="Helvetica Neue"/>
                <a:ea typeface="Helvetica Neue"/>
                <a:cs typeface="Helvetica Neue"/>
              </a:defRPr>
            </a:lvl6pPr>
            <a:lvl7pPr>
              <a:buNone/>
              <a:defRPr sz="2325" b="0">
                <a:solidFill>
                  <a:srgbClr val="172B3A"/>
                </a:solidFill>
                <a:latin typeface="Helvetica Neue"/>
                <a:ea typeface="Helvetica Neue"/>
                <a:cs typeface="Helvetica Neue"/>
              </a:defRPr>
            </a:lvl7pPr>
            <a:lvl8pPr>
              <a:buNone/>
              <a:defRPr sz="2325" b="0">
                <a:solidFill>
                  <a:srgbClr val="172B3A"/>
                </a:solidFill>
                <a:latin typeface="Helvetica Neue"/>
                <a:ea typeface="Helvetica Neue"/>
                <a:cs typeface="Helvetica Neue"/>
              </a:defRPr>
            </a:lvl8pPr>
            <a:lvl9pPr>
              <a:buNone/>
              <a:defRPr sz="2325" b="0">
                <a:solidFill>
                  <a:srgbClr val="172B3A"/>
                </a:solidFill>
                <a:latin typeface="Helvetica Neue"/>
                <a:ea typeface="Helvetica Neue"/>
                <a:cs typeface="Helvetica Neue"/>
              </a:defRPr>
            </a:lvl9pPr>
          </a:lstStyle>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Use longer simulations to track lithium through the coating</a:t>
            </a:r>
          </a:p>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and through the layers formed at its contacts.</a:t>
            </a:r>
          </a:p>
        </p:txBody>
      </p:sp>
      <p:sp>
        <p:nvSpPr>
          <p:cNvPr id="7" name="Rettangolo 6">
            <a:extLst xmlns:a="http://schemas.openxmlformats.org/drawingml/2006/main">
              <a:ext uri="{FF2B5EF4-FFF2-40B4-BE49-F238E27FC236}">
                <a16:creationId xmlns:a16="http://schemas.microsoft.com/office/drawing/2014/main" id="{7EB49141-1365-4128-9D76-3B52372D6697}"/>
              </a:ext>
            </a:extLst>
          </p:cNvPr>
          <p:cNvSpPr>
            <a:spLocks xmlns:a="http://schemas.openxmlformats.org/drawingml/2006/main" noGrp="1"/>
          </p:cNvSpPr>
          <p:nvPr/>
        </p:nvSpPr>
        <p:spPr>
          <a:xfrm xmlns:a="http://schemas.openxmlformats.org/drawingml/2006/main">
            <a:off x="533400" y="43243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2B3A"/>
                </a:solidFill>
                <a:latin typeface="Helvetica Neue"/>
                <a:ea typeface="Helvetica Neue"/>
                <a:cs typeface="Helvetica Neue"/>
              </a:defRPr>
            </a:defPPr>
            <a:lvl1pPr>
              <a:buNone/>
              <a:defRPr sz="2400" b="1">
                <a:solidFill>
                  <a:srgbClr val="172B3A"/>
                </a:solidFill>
                <a:latin typeface="Helvetica Neue"/>
                <a:ea typeface="Helvetica Neue"/>
                <a:cs typeface="Helvetica Neue"/>
              </a:defRPr>
            </a:lvl1pPr>
            <a:lvl2pPr>
              <a:buNone/>
              <a:defRPr sz="2400" b="1">
                <a:solidFill>
                  <a:srgbClr val="172B3A"/>
                </a:solidFill>
                <a:latin typeface="Helvetica Neue"/>
                <a:ea typeface="Helvetica Neue"/>
                <a:cs typeface="Helvetica Neue"/>
              </a:defRPr>
            </a:lvl2pPr>
            <a:lvl3pPr>
              <a:buNone/>
              <a:defRPr sz="2400" b="1">
                <a:solidFill>
                  <a:srgbClr val="172B3A"/>
                </a:solidFill>
                <a:latin typeface="Helvetica Neue"/>
                <a:ea typeface="Helvetica Neue"/>
                <a:cs typeface="Helvetica Neue"/>
              </a:defRPr>
            </a:lvl3pPr>
            <a:lvl4pPr>
              <a:buNone/>
              <a:defRPr sz="2400" b="1">
                <a:solidFill>
                  <a:srgbClr val="172B3A"/>
                </a:solidFill>
                <a:latin typeface="Helvetica Neue"/>
                <a:ea typeface="Helvetica Neue"/>
                <a:cs typeface="Helvetica Neue"/>
              </a:defRPr>
            </a:lvl4pPr>
            <a:lvl5pPr>
              <a:buNone/>
              <a:defRPr sz="2400" b="1">
                <a:solidFill>
                  <a:srgbClr val="172B3A"/>
                </a:solidFill>
                <a:latin typeface="Helvetica Neue"/>
                <a:ea typeface="Helvetica Neue"/>
                <a:cs typeface="Helvetica Neue"/>
              </a:defRPr>
            </a:lvl5pPr>
            <a:lvl6pPr>
              <a:buNone/>
              <a:defRPr sz="2400" b="1">
                <a:solidFill>
                  <a:srgbClr val="172B3A"/>
                </a:solidFill>
                <a:latin typeface="Helvetica Neue"/>
                <a:ea typeface="Helvetica Neue"/>
                <a:cs typeface="Helvetica Neue"/>
              </a:defRPr>
            </a:lvl6pPr>
            <a:lvl7pPr>
              <a:buNone/>
              <a:defRPr sz="2400" b="1">
                <a:solidFill>
                  <a:srgbClr val="172B3A"/>
                </a:solidFill>
                <a:latin typeface="Helvetica Neue"/>
                <a:ea typeface="Helvetica Neue"/>
                <a:cs typeface="Helvetica Neue"/>
              </a:defRPr>
            </a:lvl7pPr>
            <a:lvl8pPr>
              <a:buNone/>
              <a:defRPr sz="2400" b="1">
                <a:solidFill>
                  <a:srgbClr val="172B3A"/>
                </a:solidFill>
                <a:latin typeface="Helvetica Neue"/>
                <a:ea typeface="Helvetica Neue"/>
                <a:cs typeface="Helvetica Neue"/>
              </a:defRPr>
            </a:lvl8pPr>
            <a:lvl9pPr>
              <a:buNone/>
              <a:defRPr sz="2400" b="1">
                <a:solidFill>
                  <a:srgbClr val="172B3A"/>
                </a:solidFill>
                <a:latin typeface="Helvetica Neue"/>
                <a:ea typeface="Helvetica Neue"/>
                <a:cs typeface="Helvetica Neue"/>
              </a:defRPr>
            </a:lvl9pPr>
          </a:lstStyle>
          <a:p xmlns:a="http://schemas.openxmlformats.org/drawingml/2006/main">
            <a:pPr>
              <a:buNone/>
              <a:defRPr sz="2400" b="1">
                <a:solidFill>
                  <a:srgbClr val="172B3A"/>
                </a:solidFill>
                <a:latin typeface="Helvetica Neue"/>
                <a:ea typeface="Helvetica Neue"/>
                <a:cs typeface="Helvetica Neue"/>
              </a:defRPr>
            </a:pPr>
            <a:r>
              <a:rPr sz="2400" b="1">
                <a:solidFill>
                  <a:srgbClr val="172B3A"/>
                </a:solidFill>
                <a:latin typeface="Helvetica Neue"/>
                <a:ea typeface="Helvetica Neue"/>
                <a:cs typeface="Helvetica Neue"/>
              </a:rPr>
              <a:t>Combine mobility with chemical compatibility and adhesion.</a:t>
            </a:r>
          </a:p>
        </p:txBody>
      </p:sp>
      <p:sp>
        <p:nvSpPr>
          <p:cNvPr id="8" name="Rettangolo 7">
            <a:extLst xmlns:a="http://schemas.openxmlformats.org/drawingml/2006/main">
              <a:ext uri="{FF2B5EF4-FFF2-40B4-BE49-F238E27FC236}">
                <a16:creationId xmlns:a16="http://schemas.microsoft.com/office/drawing/2014/main" id="{2A21C31E-B621-4772-9C17-E705B4B88626}"/>
              </a:ext>
            </a:extLst>
          </p:cNvPr>
          <p:cNvSpPr>
            <a:spLocks xmlns:a="http://schemas.openxmlformats.org/drawingml/2006/main" noGrp="1"/>
          </p:cNvSpPr>
          <p:nvPr/>
        </p:nvSpPr>
        <p:spPr>
          <a:xfrm xmlns:a="http://schemas.openxmlformats.org/drawingml/2006/main">
            <a:off x="533400" y="508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472"/>
                </a:solidFill>
                <a:latin typeface="Helvetica Neue"/>
                <a:ea typeface="Helvetica Neue"/>
                <a:cs typeface="Helvetica Neue"/>
              </a:defRPr>
            </a:defPPr>
            <a:lvl1pPr>
              <a:buNone/>
              <a:defRPr sz="2175" b="0">
                <a:solidFill>
                  <a:srgbClr val="526472"/>
                </a:solidFill>
                <a:latin typeface="Helvetica Neue"/>
                <a:ea typeface="Helvetica Neue"/>
                <a:cs typeface="Helvetica Neue"/>
              </a:defRPr>
            </a:lvl1pPr>
            <a:lvl2pPr>
              <a:buNone/>
              <a:defRPr sz="2175" b="0">
                <a:solidFill>
                  <a:srgbClr val="526472"/>
                </a:solidFill>
                <a:latin typeface="Helvetica Neue"/>
                <a:ea typeface="Helvetica Neue"/>
                <a:cs typeface="Helvetica Neue"/>
              </a:defRPr>
            </a:lvl2pPr>
            <a:lvl3pPr>
              <a:buNone/>
              <a:defRPr sz="2175" b="0">
                <a:solidFill>
                  <a:srgbClr val="526472"/>
                </a:solidFill>
                <a:latin typeface="Helvetica Neue"/>
                <a:ea typeface="Helvetica Neue"/>
                <a:cs typeface="Helvetica Neue"/>
              </a:defRPr>
            </a:lvl3pPr>
            <a:lvl4pPr>
              <a:buNone/>
              <a:defRPr sz="2175" b="0">
                <a:solidFill>
                  <a:srgbClr val="526472"/>
                </a:solidFill>
                <a:latin typeface="Helvetica Neue"/>
                <a:ea typeface="Helvetica Neue"/>
                <a:cs typeface="Helvetica Neue"/>
              </a:defRPr>
            </a:lvl4pPr>
            <a:lvl5pPr>
              <a:buNone/>
              <a:defRPr sz="2175" b="0">
                <a:solidFill>
                  <a:srgbClr val="526472"/>
                </a:solidFill>
                <a:latin typeface="Helvetica Neue"/>
                <a:ea typeface="Helvetica Neue"/>
                <a:cs typeface="Helvetica Neue"/>
              </a:defRPr>
            </a:lvl5pPr>
            <a:lvl6pPr>
              <a:buNone/>
              <a:defRPr sz="2175" b="0">
                <a:solidFill>
                  <a:srgbClr val="526472"/>
                </a:solidFill>
                <a:latin typeface="Helvetica Neue"/>
                <a:ea typeface="Helvetica Neue"/>
                <a:cs typeface="Helvetica Neue"/>
              </a:defRPr>
            </a:lvl6pPr>
            <a:lvl7pPr>
              <a:buNone/>
              <a:defRPr sz="2175" b="0">
                <a:solidFill>
                  <a:srgbClr val="526472"/>
                </a:solidFill>
                <a:latin typeface="Helvetica Neue"/>
                <a:ea typeface="Helvetica Neue"/>
                <a:cs typeface="Helvetica Neue"/>
              </a:defRPr>
            </a:lvl7pPr>
            <a:lvl8pPr>
              <a:buNone/>
              <a:defRPr sz="2175" b="0">
                <a:solidFill>
                  <a:srgbClr val="526472"/>
                </a:solidFill>
                <a:latin typeface="Helvetica Neue"/>
                <a:ea typeface="Helvetica Neue"/>
                <a:cs typeface="Helvetica Neue"/>
              </a:defRPr>
            </a:lvl8pPr>
            <a:lvl9pPr>
              <a:buNone/>
              <a:defRPr sz="2175" b="0">
                <a:solidFill>
                  <a:srgbClr val="526472"/>
                </a:solidFill>
                <a:latin typeface="Helvetica Neue"/>
                <a:ea typeface="Helvetica Neue"/>
                <a:cs typeface="Helvetica Neue"/>
              </a:defRPr>
            </a:lvl9pPr>
          </a:lstStyle>
          <a:p xmlns:a="http://schemas.openxmlformats.org/drawingml/2006/main">
            <a:pPr>
              <a:buNone/>
              <a:defRPr sz="2175" b="0">
                <a:solidFill>
                  <a:srgbClr val="526472"/>
                </a:solidFill>
                <a:latin typeface="Helvetica Neue"/>
                <a:ea typeface="Helvetica Neue"/>
                <a:cs typeface="Helvetica Neue"/>
              </a:defRPr>
            </a:pPr>
            <a:r>
              <a:rPr sz="2175" b="0">
                <a:solidFill>
                  <a:srgbClr val="526472"/>
                </a:solidFill>
                <a:latin typeface="Helvetica Neue"/>
                <a:ea typeface="Helvetica Neue"/>
                <a:cs typeface="Helvetica Neue"/>
              </a:rPr>
              <a:t>Then validate the leading candidates with stronger models and experiments.</a:t>
            </a:r>
          </a:p>
        </p:txBody>
      </p:sp>
      <p:sp>
        <p:nvSpPr>
          <p:cNvPr id="9" name="Rettangolo 8">
            <a:extLst xmlns:a="http://schemas.openxmlformats.org/drawingml/2006/main">
              <a:ext uri="{FF2B5EF4-FFF2-40B4-BE49-F238E27FC236}">
                <a16:creationId xmlns:a16="http://schemas.microsoft.com/office/drawing/2014/main" id="{5A904139-46B6-4B71-8CBA-93BE1FD8CF3A}"/>
              </a:ext>
            </a:extLst>
          </p:cNvPr>
          <p:cNvSpPr>
            <a:spLocks xmlns:a="http://schemas.openxmlformats.org/drawingml/2006/main" noGrp="1"/>
          </p:cNvSpPr>
          <p:nvPr/>
        </p:nvSpPr>
        <p:spPr>
          <a:xfrm xmlns:a="http://schemas.openxmlformats.org/drawingml/2006/main">
            <a:off x="533400" y="5953125"/>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F7B"/>
                </a:solidFill>
                <a:latin typeface="Helvetica Neue"/>
                <a:ea typeface="Helvetica Neue"/>
                <a:cs typeface="Helvetica Neue"/>
              </a:defRPr>
            </a:defPPr>
            <a:lvl1pPr>
              <a:buNone/>
              <a:defRPr sz="1875" b="0">
                <a:solidFill>
                  <a:srgbClr val="007F7B"/>
                </a:solidFill>
                <a:latin typeface="Helvetica Neue"/>
                <a:ea typeface="Helvetica Neue"/>
                <a:cs typeface="Helvetica Neue"/>
              </a:defRPr>
            </a:lvl1pPr>
            <a:lvl2pPr>
              <a:buNone/>
              <a:defRPr sz="1875" b="0">
                <a:solidFill>
                  <a:srgbClr val="007F7B"/>
                </a:solidFill>
                <a:latin typeface="Helvetica Neue"/>
                <a:ea typeface="Helvetica Neue"/>
                <a:cs typeface="Helvetica Neue"/>
              </a:defRPr>
            </a:lvl2pPr>
            <a:lvl3pPr>
              <a:buNone/>
              <a:defRPr sz="1875" b="0">
                <a:solidFill>
                  <a:srgbClr val="007F7B"/>
                </a:solidFill>
                <a:latin typeface="Helvetica Neue"/>
                <a:ea typeface="Helvetica Neue"/>
                <a:cs typeface="Helvetica Neue"/>
              </a:defRPr>
            </a:lvl3pPr>
            <a:lvl4pPr>
              <a:buNone/>
              <a:defRPr sz="1875" b="0">
                <a:solidFill>
                  <a:srgbClr val="007F7B"/>
                </a:solidFill>
                <a:latin typeface="Helvetica Neue"/>
                <a:ea typeface="Helvetica Neue"/>
                <a:cs typeface="Helvetica Neue"/>
              </a:defRPr>
            </a:lvl4pPr>
            <a:lvl5pPr>
              <a:buNone/>
              <a:defRPr sz="1875" b="0">
                <a:solidFill>
                  <a:srgbClr val="007F7B"/>
                </a:solidFill>
                <a:latin typeface="Helvetica Neue"/>
                <a:ea typeface="Helvetica Neue"/>
                <a:cs typeface="Helvetica Neue"/>
              </a:defRPr>
            </a:lvl5pPr>
            <a:lvl6pPr>
              <a:buNone/>
              <a:defRPr sz="1875" b="0">
                <a:solidFill>
                  <a:srgbClr val="007F7B"/>
                </a:solidFill>
                <a:latin typeface="Helvetica Neue"/>
                <a:ea typeface="Helvetica Neue"/>
                <a:cs typeface="Helvetica Neue"/>
              </a:defRPr>
            </a:lvl6pPr>
            <a:lvl7pPr>
              <a:buNone/>
              <a:defRPr sz="1875" b="0">
                <a:solidFill>
                  <a:srgbClr val="007F7B"/>
                </a:solidFill>
                <a:latin typeface="Helvetica Neue"/>
                <a:ea typeface="Helvetica Neue"/>
                <a:cs typeface="Helvetica Neue"/>
              </a:defRPr>
            </a:lvl7pPr>
            <a:lvl8pPr>
              <a:buNone/>
              <a:defRPr sz="1875" b="0">
                <a:solidFill>
                  <a:srgbClr val="007F7B"/>
                </a:solidFill>
                <a:latin typeface="Helvetica Neue"/>
                <a:ea typeface="Helvetica Neue"/>
                <a:cs typeface="Helvetica Neue"/>
              </a:defRPr>
            </a:lvl8pPr>
            <a:lvl9pPr>
              <a:buNone/>
              <a:defRPr sz="1875" b="0">
                <a:solidFill>
                  <a:srgbClr val="007F7B"/>
                </a:solidFill>
                <a:latin typeface="Helvetica Neue"/>
                <a:ea typeface="Helvetica Neue"/>
                <a:cs typeface="Helvetica Neue"/>
              </a:defRPr>
            </a:lvl9pPr>
          </a:lstStyle>
          <a:p xmlns:a="http://schemas.openxmlformats.org/drawingml/2006/main">
            <a:pPr>
              <a:buNone/>
              <a:defRPr sz="1875" b="0">
                <a:solidFill>
                  <a:srgbClr val="007F7B"/>
                </a:solidFill>
                <a:latin typeface="Helvetica Neue"/>
                <a:ea typeface="Helvetica Neue"/>
                <a:cs typeface="Helvetica Neue"/>
              </a:defRPr>
            </a:pPr>
            <a:r>
              <a:rPr sz="1875" b="0">
                <a:solidFill>
                  <a:srgbClr val="007F7B"/>
                </a:solidFill>
                <a:latin typeface="Helvetica Neue"/>
                <a:ea typeface="Helvetica Neue"/>
                <a:cs typeface="Helvetica Neue"/>
              </a:rPr>
              <a:t>Transport calculations were beyond the two-day computation window.</a:t>
            </a:r>
          </a:p>
        </p:txBody>
      </p:sp>
      <p:pic>
        <p:nvPicPr>
          <p:cNvPr id="11" name="Immagine 10">
            <a:extLst xmlns:a="http://schemas.openxmlformats.org/drawingml/2006/main">
              <a:ext uri="{FF2B5EF4-FFF2-40B4-BE49-F238E27FC236}">
                <a16:creationId xmlns:a16="http://schemas.microsoft.com/office/drawing/2014/main" id="{E4A7071B-7F57-4D9C-ACC9-8EC5055995C3}"/>
              </a:ext>
            </a:extLst>
          </p:cNvPr>
          <p:cNvPicPr>
            <a:picLocks xmlns:a="http://schemas.openxmlformats.org/drawingml/2006/main" noChangeAspect="1"/>
          </p:cNvPicPr>
          <p:nvPr/>
        </p:nvPicPr>
        <p:blipFill>
          <a:blip xmlns:r="http://schemas.openxmlformats.org/officeDocument/2006/relationships" xmlns:a="http://schemas.openxmlformats.org/drawingml/2006/main" r:embed="R3c6fe9c83311465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57197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2026-10-22T20:04:51.0580000Z</dcterms:created>
  <dcterms:modified xsi:type="dcterms:W3CDTF">2026-10-22T20:04:51.0580000Z</dcterms:modified>
</coreProperties>
</file>