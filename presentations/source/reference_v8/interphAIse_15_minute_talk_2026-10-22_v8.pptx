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3.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d483c7dfb734875" /><Relationship Type="http://schemas.openxmlformats.org/officeDocument/2006/relationships/extended-properties" Target="/docProps/app.xml" Id="R22d3b94973524294" /><Relationship Type="http://schemas.openxmlformats.org/officeDocument/2006/relationships/officeDocument" Target="/ppt/presentation.xml" Id="R34ac2efd021647c0" /></Relationships>
</file>

<file path=ppt/presentation.xml><?xml version="1.0" encoding="utf-8"?>
<p:presentation xmlns:p="http://schemas.openxmlformats.org/presentationml/2006/main">
  <p:sldMasterIdLst>
    <p:sldMasterId xmlns:r="http://schemas.openxmlformats.org/officeDocument/2006/relationships" id="2147483648" r:id="Rf8bb8e5680094339"/>
  </p:sldMasterIdLst>
  <p:notesMasterIdLst>
    <p:notesMasterId xmlns:r="http://schemas.openxmlformats.org/officeDocument/2006/relationships" r:id="R6d78959276814527"/>
  </p:notesMasterIdLst>
  <p:sldIdLst>
    <p:sldId xmlns:r="http://schemas.openxmlformats.org/officeDocument/2006/relationships" id="256" r:id="Rad9b32977fdc4ea7"/>
    <p:sldId xmlns:r="http://schemas.openxmlformats.org/officeDocument/2006/relationships" id="257" r:id="R33600ee9da3a46fd"/>
    <p:sldId xmlns:r="http://schemas.openxmlformats.org/officeDocument/2006/relationships" id="258" r:id="R670b12e908b24538"/>
    <p:sldId xmlns:r="http://schemas.openxmlformats.org/officeDocument/2006/relationships" id="259" r:id="Rb068116aced4436e"/>
    <p:sldId xmlns:r="http://schemas.openxmlformats.org/officeDocument/2006/relationships" id="260" r:id="Re7345da778e44f8a"/>
    <p:sldId xmlns:r="http://schemas.openxmlformats.org/officeDocument/2006/relationships" id="261" r:id="R183aaac61d4f41ba"/>
    <p:sldId xmlns:r="http://schemas.openxmlformats.org/officeDocument/2006/relationships" id="262" r:id="R575a9be9ad054f2a"/>
    <p:sldId xmlns:r="http://schemas.openxmlformats.org/officeDocument/2006/relationships" id="263" r:id="R4c0192ab8df148a9"/>
    <p:sldId xmlns:r="http://schemas.openxmlformats.org/officeDocument/2006/relationships" id="264" r:id="R9581dce291db455d"/>
    <p:sldId xmlns:r="http://schemas.openxmlformats.org/officeDocument/2006/relationships" id="265" r:id="Rfff4ff675fa54cc6"/>
    <p:sldId xmlns:r="http://schemas.openxmlformats.org/officeDocument/2006/relationships" id="266" r:id="R35d76a2d1e794155"/>
    <p:sldId xmlns:r="http://schemas.openxmlformats.org/officeDocument/2006/relationships" id="267" r:id="R2847fe910cde4162"/>
    <p:sldId xmlns:r="http://schemas.openxmlformats.org/officeDocument/2006/relationships" id="268" r:id="R01f575a7ca324d3b"/>
    <p:sldId xmlns:r="http://schemas.openxmlformats.org/officeDocument/2006/relationships" id="269" r:id="Rd4e0b04627c34807"/>
    <p:sldId xmlns:r="http://schemas.openxmlformats.org/officeDocument/2006/relationships" id="270" r:id="R5876e79aa02f47c1"/>
    <p:sldId xmlns:r="http://schemas.openxmlformats.org/officeDocument/2006/relationships" id="271" r:id="Rf1197d722fd44ff0"/>
    <p:sldId xmlns:r="http://schemas.openxmlformats.org/officeDocument/2006/relationships" id="272" r:id="R8805ccb87a334d64"/>
    <p:sldId xmlns:r="http://schemas.openxmlformats.org/officeDocument/2006/relationships" id="273" r:id="Rc8f7cc4d523b47b7"/>
    <p:sldId xmlns:r="http://schemas.openxmlformats.org/officeDocument/2006/relationships" id="274" r:id="Rd257506729e6497c"/>
    <p:sldId xmlns:r="http://schemas.openxmlformats.org/officeDocument/2006/relationships" id="275" r:id="R4bdf7185f2fd4524"/>
    <p:sldId xmlns:r="http://schemas.openxmlformats.org/officeDocument/2006/relationships" id="276" r:id="R9de78e054aa0430d"/>
    <p:sldId xmlns:r="http://schemas.openxmlformats.org/officeDocument/2006/relationships" id="277" r:id="R1e11288ac2894562"/>
    <p:sldId xmlns:r="http://schemas.openxmlformats.org/officeDocument/2006/relationships" id="278" r:id="Rc165f0abe1934cb4"/>
    <p:sldId xmlns:r="http://schemas.openxmlformats.org/officeDocument/2006/relationships" id="279" r:id="R0f6da45ff9ac4c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d32785a37c43ac" /><Relationship Type="http://schemas.openxmlformats.org/officeDocument/2006/relationships/slideMaster" Target="/ppt/slideMasters/slideMaster1.xml" Id="Rf8bb8e5680094339" /><Relationship Type="http://schemas.openxmlformats.org/officeDocument/2006/relationships/notesMaster" Target="/ppt/notesMasters/notesMaster1.xml" Id="R6d78959276814527" /><Relationship Type="http://schemas.openxmlformats.org/officeDocument/2006/relationships/presProps" Target="/ppt/presProps.xml" Id="R9f599149497d49eb" /><Relationship Type="http://schemas.openxmlformats.org/officeDocument/2006/relationships/tableStyles" Target="/ppt/tableStyles.xml" Id="R7279182687e7439f" /><Relationship Type="http://schemas.openxmlformats.org/officeDocument/2006/relationships/slide" Target="/ppt/slides/slide1.xml" Id="Rad9b32977fdc4ea7" /><Relationship Type="http://schemas.openxmlformats.org/officeDocument/2006/relationships/slide" Target="/ppt/slides/slide2.xml" Id="R33600ee9da3a46fd" /><Relationship Type="http://schemas.openxmlformats.org/officeDocument/2006/relationships/slide" Target="/ppt/slides/slide3.xml" Id="R670b12e908b24538" /><Relationship Type="http://schemas.openxmlformats.org/officeDocument/2006/relationships/slide" Target="/ppt/slides/slide4.xml" Id="Rb068116aced4436e" /><Relationship Type="http://schemas.openxmlformats.org/officeDocument/2006/relationships/slide" Target="/ppt/slides/slide5.xml" Id="Re7345da778e44f8a" /><Relationship Type="http://schemas.openxmlformats.org/officeDocument/2006/relationships/slide" Target="/ppt/slides/slide6.xml" Id="R183aaac61d4f41ba" /><Relationship Type="http://schemas.openxmlformats.org/officeDocument/2006/relationships/slide" Target="/ppt/slides/slide7.xml" Id="R575a9be9ad054f2a" /><Relationship Type="http://schemas.openxmlformats.org/officeDocument/2006/relationships/slide" Target="/ppt/slides/slide8.xml" Id="R4c0192ab8df148a9" /><Relationship Type="http://schemas.openxmlformats.org/officeDocument/2006/relationships/slide" Target="/ppt/slides/slide9.xml" Id="R9581dce291db455d" /><Relationship Type="http://schemas.openxmlformats.org/officeDocument/2006/relationships/slide" Target="/ppt/slides/slide10.xml" Id="Rfff4ff675fa54cc6" /><Relationship Type="http://schemas.openxmlformats.org/officeDocument/2006/relationships/slide" Target="/ppt/slides/slide11.xml" Id="R35d76a2d1e794155" /><Relationship Type="http://schemas.openxmlformats.org/officeDocument/2006/relationships/slide" Target="/ppt/slides/slide12.xml" Id="R2847fe910cde4162" /><Relationship Type="http://schemas.openxmlformats.org/officeDocument/2006/relationships/slide" Target="/ppt/slides/slide13.xml" Id="R01f575a7ca324d3b" /><Relationship Type="http://schemas.openxmlformats.org/officeDocument/2006/relationships/slide" Target="/ppt/slides/slide14.xml" Id="Rd4e0b04627c34807" /><Relationship Type="http://schemas.openxmlformats.org/officeDocument/2006/relationships/slide" Target="/ppt/slides/slide15.xml" Id="R5876e79aa02f47c1" /><Relationship Type="http://schemas.openxmlformats.org/officeDocument/2006/relationships/slide" Target="/ppt/slides/slide16.xml" Id="Rf1197d722fd44ff0" /><Relationship Type="http://schemas.openxmlformats.org/officeDocument/2006/relationships/slide" Target="/ppt/slides/slide17.xml" Id="R8805ccb87a334d64" /><Relationship Type="http://schemas.openxmlformats.org/officeDocument/2006/relationships/slide" Target="/ppt/slides/slide18.xml" Id="Rc8f7cc4d523b47b7" /><Relationship Type="http://schemas.openxmlformats.org/officeDocument/2006/relationships/slide" Target="/ppt/slides/slide19.xml" Id="Rd257506729e6497c" /><Relationship Type="http://schemas.openxmlformats.org/officeDocument/2006/relationships/slide" Target="/ppt/slides/slide20.xml" Id="R4bdf7185f2fd4524" /><Relationship Type="http://schemas.openxmlformats.org/officeDocument/2006/relationships/slide" Target="/ppt/slides/slide21.xml" Id="R9de78e054aa0430d" /><Relationship Type="http://schemas.openxmlformats.org/officeDocument/2006/relationships/slide" Target="/ppt/slides/slide22.xml" Id="R1e11288ac2894562" /><Relationship Type="http://schemas.openxmlformats.org/officeDocument/2006/relationships/slide" Target="/ppt/slides/slide23.xml" Id="Rc165f0abe1934cb4" /><Relationship Type="http://schemas.openxmlformats.org/officeDocument/2006/relationships/slide" Target="/ppt/slides/slide24.xml" Id="R0f6da45ff9ac4c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d3af0a14004f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5932c92c864501" /><Relationship Type="http://schemas.openxmlformats.org/officeDocument/2006/relationships/notesMaster" Target="/ppt/notesMasters/notesMaster1.xml" Id="R3a4d901ffb3145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06f4e3d2cc4ac2" /><Relationship Type="http://schemas.openxmlformats.org/officeDocument/2006/relationships/notesMaster" Target="/ppt/notesMasters/notesMaster1.xml" Id="R38be615f058c42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b64a59dad148b7" /><Relationship Type="http://schemas.openxmlformats.org/officeDocument/2006/relationships/notesMaster" Target="/ppt/notesMasters/notesMaster1.xml" Id="R0a7b7de3cc8149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c78d765f3f429e" /><Relationship Type="http://schemas.openxmlformats.org/officeDocument/2006/relationships/notesMaster" Target="/ppt/notesMasters/notesMaster1.xml" Id="Rf4aaafd19b2a48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80ae0150894af4" /><Relationship Type="http://schemas.openxmlformats.org/officeDocument/2006/relationships/notesMaster" Target="/ppt/notesMasters/notesMaster1.xml" Id="R215250807cc44b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54e02878f74626" /><Relationship Type="http://schemas.openxmlformats.org/officeDocument/2006/relationships/notesMaster" Target="/ppt/notesMasters/notesMaster1.xml" Id="Rab75899501ea43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838cec47cf4a5f" /><Relationship Type="http://schemas.openxmlformats.org/officeDocument/2006/relationships/notesMaster" Target="/ppt/notesMasters/notesMaster1.xml" Id="R55a1f6b772a34e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3a4a891a6c4f34" /><Relationship Type="http://schemas.openxmlformats.org/officeDocument/2006/relationships/notesMaster" Target="/ppt/notesMasters/notesMaster1.xml" Id="R904d7c23189d4d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fa7104cf33459f" /><Relationship Type="http://schemas.openxmlformats.org/officeDocument/2006/relationships/notesMaster" Target="/ppt/notesMasters/notesMaster1.xml" Id="R9dfad464f5904f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d747c47a654555" /><Relationship Type="http://schemas.openxmlformats.org/officeDocument/2006/relationships/notesMaster" Target="/ppt/notesMasters/notesMaster1.xml" Id="R7cbe13bb6ece4a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558c94a6ea487c" /><Relationship Type="http://schemas.openxmlformats.org/officeDocument/2006/relationships/notesMaster" Target="/ppt/notesMasters/notesMaster1.xml" Id="R48ee40b5dde84b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3f42cf604445bb" /><Relationship Type="http://schemas.openxmlformats.org/officeDocument/2006/relationships/notesMaster" Target="/ppt/notesMasters/notesMaster1.xml" Id="Rca33822bad324f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e15453bb2424804" /><Relationship Type="http://schemas.openxmlformats.org/officeDocument/2006/relationships/notesMaster" Target="/ppt/notesMasters/notesMaster1.xml" Id="Rf7152d6f7da14a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78066416b44fa0" /><Relationship Type="http://schemas.openxmlformats.org/officeDocument/2006/relationships/notesMaster" Target="/ppt/notesMasters/notesMaster1.xml" Id="R122bd1c133474bf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5725bc88214d7c" /><Relationship Type="http://schemas.openxmlformats.org/officeDocument/2006/relationships/notesMaster" Target="/ppt/notesMasters/notesMaster1.xml" Id="R83809766c3e245d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5dc990f74a4737" /><Relationship Type="http://schemas.openxmlformats.org/officeDocument/2006/relationships/notesMaster" Target="/ppt/notesMasters/notesMaster1.xml" Id="R8dba81933aac441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2a94e7f087441a" /><Relationship Type="http://schemas.openxmlformats.org/officeDocument/2006/relationships/notesMaster" Target="/ppt/notesMasters/notesMaster1.xml" Id="R922f218da61d49d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bdbb87dfa843a0" /><Relationship Type="http://schemas.openxmlformats.org/officeDocument/2006/relationships/notesMaster" Target="/ppt/notesMasters/notesMaster1.xml" Id="R4bab1031581846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84edcad5b24be8" /><Relationship Type="http://schemas.openxmlformats.org/officeDocument/2006/relationships/notesMaster" Target="/ppt/notesMasters/notesMaster1.xml" Id="R627e8d546787406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897cd8311b34f9f" /><Relationship Type="http://schemas.openxmlformats.org/officeDocument/2006/relationships/notesMaster" Target="/ppt/notesMasters/notesMaster1.xml" Id="R02d71124a6754ba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34b4d2487b54452" /><Relationship Type="http://schemas.openxmlformats.org/officeDocument/2006/relationships/notesMaster" Target="/ppt/notesMasters/notesMaster1.xml" Id="Rcd8d23c9136d404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beaa351216647ba" /><Relationship Type="http://schemas.openxmlformats.org/officeDocument/2006/relationships/notesMaster" Target="/ppt/notesMasters/notesMaster1.xml" Id="R82e017abdada4b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fe6925ac4c94750" /><Relationship Type="http://schemas.openxmlformats.org/officeDocument/2006/relationships/notesMaster" Target="/ppt/notesMasters/notesMaster1.xml" Id="R593d9725b38c4e1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b8a15c0418f4817" /><Relationship Type="http://schemas.openxmlformats.org/officeDocument/2006/relationships/notesMaster" Target="/ppt/notesMasters/notesMaster1.xml" Id="R8a92a56a275b4d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1/20 • 0:00–0:35</a:t>
            </a:r>
          </a:p>
          <a:p xmlns:a="http://schemas.openxmlformats.org/drawingml/2006/main">
            <a:r>
              <a:t>Solid-state batteries need stable contact between the cathode, which stores lithium, and the solid electrolyte, which carries lithium ions. A protective coating can help at this boundary. But we cannot choose it from one attractive property alone: it must limit unwanted reactions, block electrons, remain attached and let lithium cross. interphAIse asks whether an AI language model can help a researcher decide which coating to test next. I will show the objective, how we tested the decision process, where it worked, and where it failed.</a:t>
            </a:r>
          </a:p>
          <a:p xmlns:a="http://schemas.openxmlformats.org/drawingml/2006/main">
            <a:r>
              <a:t/>
            </a:r>
          </a:p>
          <a:p xmlns:a="http://schemas.openxmlformats.org/drawingml/2006/main">
            <a:r>
              <a:t>SCIENTIFIC DETAIL</a:t>
            </a:r>
          </a:p>
          <a:p xmlns:a="http://schemas.openxmlformats.org/drawingml/2006/main">
            <a:r>
              <a:t>The cathode stores lithium and the solid electrolyte carries ions. The coating is intended to protect their boundary while retaining contact and lithium transport. The project delegates selection from known structures and tests the resulting choices. Potential impact is faster or more useful candidate triage for battery researchers, not a measured acceleration or improved battery. The contribution is combining controlled feedback comparisons with prospective atomistic forecast checks and an auditable record. The illustration is conceptual, AI-generated and not to scale; it is not a simulated or measured structure. The event judges impact, innovativeness, novelty and relevance to physical sciences. Its public page, read on 22 October 2026, limits optional videos to four minutes.</a:t>
            </a:r>
          </a:p>
          <a:p xmlns:a="http://schemas.openxmlformats.org/drawingml/2006/main">
            <a:r>
              <a:t/>
            </a:r>
          </a:p>
          <a:p xmlns:a="http://schemas.openxmlformats.org/drawingml/2006/main">
            <a:r>
              <a:t>Sources:</a:t>
            </a:r>
          </a:p>
          <a:p xmlns:a="http://schemas.openxmlformats.org/drawingml/2006/main">
            <a:r>
              <a:t>/Users/davidetisi/Documents/Work/DTU/OSI_Hackathon/interphAIse-integration/RESULTS_SYNTHESIS_2026-10-22.md</a:t>
            </a:r>
          </a:p>
          <a:p xmlns:a="http://schemas.openxmlformats.org/drawingml/2006/main">
            <a:r>
              <a:t>https://scientificintelligence.org/campaigns/osi-hackathon-2026</a:t>
            </a:r>
          </a:p>
          <a:p xmlns:a="http://schemas.openxmlformats.org/drawingml/2006/main">
            <a:r>
              <a:t>/Users/davidetisi/Documents/Work/DTU/OSI_Hackathon/interphAIse/presentations/source/nonexpert_assets/provenance.json</a:t>
            </a:r>
          </a:p>
          <a:p xmlns:a="http://schemas.openxmlformats.org/drawingml/2006/main">
            <a:r>
              <a:t/>
            </a:r>
          </a:p>
          <a:p xmlns:a="http://schemas.openxmlformats.org/drawingml/2006/main">
            <a:r>
              <a:t>COATING DEFINITION</a:t>
            </a:r>
          </a:p>
          <a:p xmlns:a="http://schemas.openxmlformats.org/drawingml/2006/main">
            <a:r>
              <a:t>The frozen equilibrated-reference objective uses all energies in eV per non-Li atom at 4 V. P = max(self-decomposition penalty, max(0,-DeltaG_extra_cathode), max(0,-DeltaG_extra_electrolyte)). Extra contact reactions are referenced to the equilibrium product assemblages of each material separately. The coating self-decomposition penalty remains explicit. This is not proof that either original endpoint is absolutely stable or that a finite real interface does not react. Acceptance requires known band gap &gt;=2 eV and P &lt;=0.050. Lower is better; ranking uses fixed 0.020-eV bins, without raw-energy tie-breaking inside a bin. Success is at least one acceptable candidate within ten charged queries. It is not a best-candidate or useful-battery endpoint. Physical adhesion is evaluated separately with PET-MAD; higher weaker-contact W_adh is used for comparison, without a validated universal pass/fail cutoff. The published search success counts do not include adhesion or transport. Band gap is an electronic-insulation proxy, not a measurement of leakage. Ionic mobility and full device/process validation remain open.</a:t>
            </a:r>
          </a:p>
          <a:p xmlns:a="http://schemas.openxmlformats.org/drawingml/2006/main">
            <a:r>
              <a:t>Sources:</a:t>
            </a:r>
          </a:p>
          <a:p xmlns:a="http://schemas.openxmlformats.org/drawingml/2006/main">
            <a:r>
              <a:t>/Users/davidetisi/Documents/Work/DTU/OSI_Hackathon/interphAIse-integration/interphaise/discovery_evaluator.py</a:t>
            </a:r>
          </a:p>
          <a:p xmlns:a="http://schemas.openxmlformats.org/drawingml/2006/main">
            <a:r>
              <a:t>/Users/davidetisi/Documents/Work/DTU/OSI_Hackathon/interphAIse-integration/EVALUATOR_HANDOFF.md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/Users/davidetisi/Documents/Work/DTU/OSI_Hackathon/interphAIse-integration/LLM_PETMAD_PILOT_PLAN.md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2/20 • 0:35–1:30</a:t>
            </a:r>
          </a:p>
          <a:p xmlns:a="http://schemas.openxmlformats.org/drawingml/2006/main">
            <a:r>
              <a:t>Our scientific goal is to identify useful protective coatings. The measurable objective in this study is narrower: within ten choices, can an LLM use numerical feedback to find at least one chemically acceptable candidate more reliably? We compare that policy with controls that remove or scramble the results, an upfront list, and random search. Separately, we ask whether the model can make a physical forecast before seeing the calculation. This distinction matters: finding a candidate that passes our screen is progress toward a useful coating, but it is not yet a working battery.</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3/20 • 1:30–2:15</a:t>
            </a:r>
          </a:p>
          <a:p xmlns:a="http://schemas.openxmlformats.org/drawingml/2006/main">
            <a:r>
              <a:t>A useful coating has four jobs. It must limit unwanted decomposition and reactions at both contacts. It should block electronic leakage while still allowing lithium ions to pass. And it must keep the solid layers attached. Our search screen checks chemical compatibility and an electronic-insulation proxy. The physical follow-up compares adhesion for three coatings, but does not set a universal adhesion pass mark. Lithium-ion mobility has not yet been tested. This is why a screening success is a candidate for further work, rather than a validated battery coating.</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
            </a:r>
          </a:p>
          <a:p xmlns:a="http://schemas.openxmlformats.org/drawingml/2006/main">
            <a:r>
              <a:t>COATING DEFINITION</a:t>
            </a:r>
          </a:p>
          <a:p xmlns:a="http://schemas.openxmlformats.org/drawingml/2006/main">
            <a:r>
              <a:t>The frozen equilibrated-reference objective uses all energies in eV per non-Li atom at 4 V. P = max(self-decomposition penalty, max(0,-DeltaG_extra_cathode), max(0,-DeltaG_extra_electrolyte)). Extra contact reactions are referenced to the equilibrium product assemblages of each material separately. The coating self-decomposition penalty remains explicit. This is not proof that either original endpoint is absolutely stable or that a finite real interface does not react. Acceptance requires known band gap &gt;=2 eV and P &lt;=0.050. Lower is better; ranking uses fixed 0.020-eV bins, without raw-energy tie-breaking inside a bin. Success is at least one acceptable candidate within ten charged queries. It is not a best-candidate or useful-battery endpoint. Physical adhesion is evaluated separately with PET-MAD; higher weaker-contact W_adh is used for comparison, without a validated universal pass/fail cutoff. The published search success counts do not include adhesion or transport. Band gap is an electronic-insulation proxy, not a measurement of leakage. Ionic mobility and full device/process validation remain open.</a:t>
            </a:r>
          </a:p>
          <a:p xmlns:a="http://schemas.openxmlformats.org/drawingml/2006/main">
            <a:r>
              <a:t>Sources:</a:t>
            </a:r>
          </a:p>
          <a:p xmlns:a="http://schemas.openxmlformats.org/drawingml/2006/main">
            <a:r>
              <a:t>/Users/davidetisi/Documents/Work/DTU/OSI_Hackathon/interphAIse-integration/interphaise/discovery_evaluator.py</a:t>
            </a:r>
          </a:p>
          <a:p xmlns:a="http://schemas.openxmlformats.org/drawingml/2006/main">
            <a:r>
              <a:t>/Users/davidetisi/Documents/Work/DTU/OSI_Hackathon/interphAIse-integration/EVALUATOR_HANDOFF.md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/Users/davidetisi/Documents/Work/DTU/OSI_Hackathon/interphAIse-integration/LLM_PETMAD_PILOT_PLAN.md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4/20 • 2:15–3:05</a:t>
            </a:r>
          </a:p>
          <a:p xmlns:a="http://schemas.openxmlformats.org/drawingml/2006/main">
            <a:r>
              <a:t>The LLM is central because the delegated task is scientific selection. It reads the available materials, explains why one looks promising, receives a numerical result and decides what to investigate next. In the physical follow-up it also gives a numerical prediction that can be wrong. Human researchers define the candidate menu, objective and calculation rules. Deterministic software enforces the budget and archives the evidence. The scientific tools calculate the properties. So we can test the consequences of the LLM’s decisions while keeping the numerical evaluation fixed.</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5/20 • 3:05–3:50</a:t>
            </a:r>
          </a:p>
          <a:p xmlns:a="http://schemas.openxmlformats.org/drawingml/2006/main">
            <a:r>
              <a:t>Here are the tools behind that division of work. Haiku and DeepSeek select candidates and write explanations. Materials Project supplies reference structures and energies. pymatgen and SciPy support the chemical compatibility calculations, which are precomputed for this benchmark. For the physical follow-up, ASE and PET-MAD work with explicit atoms to calculate energies and attachment. Python manages the workflow and its records, while Niflheim GPUs and Slurm execute the atomic jobs. The two models use the same search task and query budget, but different reasoning configurations.</a:t>
            </a:r>
          </a:p>
          <a:p xmlns:a="http://schemas.openxmlformats.org/drawingml/2006/main">
            <a:r>
              <a:t/>
            </a:r>
          </a:p>
          <a:p xmlns:a="http://schemas.openxmlformats.org/drawingml/2006/main">
            <a:r>
              <a:t>SCIENTIFIC DETAIL</a:t>
            </a:r>
          </a:p>
          <a:p xmlns:a="http://schemas.openxmlformats.org/drawingml/2006/main">
            <a:r>
              <a:t>Completed evidence only: 450 Haiku-study runs (360 LLM + 90 random) plus 360 DeepSeek LLM runs = 810 unique runs and 8,100 charged queries. The shared random runs are not repeated or counted twice. All environment menus contain the same 141 structure IDs representing 100 formulas. The screening rule uses penalty ≤0.050 eV/non-Li atom and band gap ≥2 eV at LiCoO2 / electrolyte, 4 V, with equilibrated endpoints. Cheap precomputed tables give exhaustive benchmark truth; query counts do not establish saved expensive compute.</a:t>
            </a:r>
          </a:p>
          <a:p xmlns:a="http://schemas.openxmlformats.org/drawingml/2006/main">
            <a:r>
              <a:t/>
            </a:r>
          </a:p>
          <a:p xmlns:a="http://schemas.openxmlformats.org/drawingml/2006/main">
            <a:r>
              <a:t>Haiku 5.5 uses the direct Anthropic route. DeepSeek V3.2 uses OpenRouter, SiliconFlow fp8, no fallbacks, reasoning cap 3,072 and total output cap 4,096. Both use temperature 1.0. Actual reasoning use differs. Cross-model comparisons are descriptive. PET-MAD S 1.6.0 (r²SCAN) is a separate atomic model accessed through UPET. pymatgen builds matched interfaces, ASE relaxes them, and PET-MAD predicts energies/forces. Python validates budgets and archives results; Niflheim GPUs and Slurm execute atomic jobs. The 3D viewer supports human inspection. DeepSeek did not run the physical forecast pilot.</a:t>
            </a:r>
          </a:p>
          <a:p xmlns:a="http://schemas.openxmlformats.org/drawingml/2006/main">
            <a:r>
              <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/Users/davidetisi/Documents/Work/DTU/OSI_Hackathon/interphAIse-integration/interphaise/discovery_evaluator.py</a:t>
            </a:r>
          </a:p>
          <a:p xmlns:a="http://schemas.openxmlformats.org/drawingml/2006/main">
            <a:r>
              <a:t>/Users/davidetisi/Documents/Work/DTU/OSI_Hackathon/interphAIse-integration/interphaise/tools/mlip.py</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6/20 • 3:50–4:35</a:t>
            </a:r>
          </a:p>
          <a:p xmlns:a="http://schemas.openxmlformats.org/drawingml/2006/main">
            <a:r>
              <a:t>We keep lithium cobalt oxide and the imposed four-volt setting fixed so that changing the electrolyte is the main comparison. Lithium phosphorus sulfide chloride is our established sulfide setting. Lithium indium chloride adds a chloride chemistry using an ordered structure available in our database cache. LLZO adds an oxide challenge: does a direction that works for sulfide still work here? The specific endpoint structures were fixed before the new scores. The LLZO model is ordered tetragonal, so it does not represent every practical LLZO composition.</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
            </a:r>
          </a:p>
          <a:p xmlns:a="http://schemas.openxmlformats.org/drawingml/2006/main">
            <a:r>
              <a:t>MATERIAL SELECTION</a:t>
            </a:r>
          </a:p>
          <a:p xmlns:a="http://schemas.openxmlformats.org/drawingml/2006/main">
            <a:r>
              <a:t>Materials were selected to vary electrolyte chemistry while holding LiCoO2 (mp-22526) and imposed Li potential at 4 V fixed. Li6PS5Cl is the established sulfide setting. Li3InCl6 adds a chloride and was available as an ordered cached alternative; Li3YCl6 was absent from that prefiltered cache. LLZO adds an oxide challenge to test whether the sulfide-compatible direction remains useful. The endpoint records were selected by the lowest summary hull energy among ordered matching records in the available cache, before the new environment scores; this is not an unrestricted polymorph search. The chosen LLZO model is ordered tetragonal, not disordered/doped cubic LLZO.</a:t>
            </a:r>
          </a:p>
          <a:p xmlns:a="http://schemas.openxmlformats.org/drawingml/2006/main">
            <a:r>
              <a:t>Sources:</a:t>
            </a:r>
          </a:p>
          <a:p xmlns:a="http://schemas.openxmlformats.org/drawingml/2006/main">
            <a:r>
              <a:t>/Users/davidetisi/Documents/Work/DTU/OSI_Hackathon/interphAIse-integration/ENVIRONMENT_EXPANSION.md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7/20 • 4:35–5:20</a:t>
            </a:r>
          </a:p>
          <a:p xmlns:a="http://schemas.openxmlformats.org/drawingml/2006/main">
            <a:r>
              <a:t>Here is the exact acceptance rule used for all reported search results. The reaction penalty must be at most 0.050 electronvolts per non-lithium atom, and the band gap must be at least two electronvolts. The penalty takes the worst of three terms: decomposition of the coating itself, extra reaction at the cathode contact, and extra reaction at the electrolyte contact. Extra contact reaction is measured relative to the separately equilibrated materials. This is a screening proxy, not proof of absolute stability. A search succeeds when it finds at least one passing candidate within ten choices; adhesion and lithium mobility are separate checks.</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
            </a:r>
          </a:p>
          <a:p xmlns:a="http://schemas.openxmlformats.org/drawingml/2006/main">
            <a:r>
              <a:t>COATING DEFINITION</a:t>
            </a:r>
          </a:p>
          <a:p xmlns:a="http://schemas.openxmlformats.org/drawingml/2006/main">
            <a:r>
              <a:t>The frozen equilibrated-reference objective uses all energies in eV per non-Li atom at 4 V. P = max(self-decomposition penalty, max(0,-DeltaG_extra_cathode), max(0,-DeltaG_extra_electrolyte)). Extra contact reactions are referenced to the equilibrium product assemblages of each material separately. The coating self-decomposition penalty remains explicit. This is not proof that either original endpoint is absolutely stable or that a finite real interface does not react. Acceptance requires known band gap &gt;=2 eV and P &lt;=0.050. Lower is better; ranking uses fixed 0.020-eV bins, without raw-energy tie-breaking inside a bin. Success is at least one acceptable candidate within ten charged queries. It is not a best-candidate or useful-battery endpoint. Physical adhesion is evaluated separately with PET-MAD; higher weaker-contact W_adh is used for comparison, without a validated universal pass/fail cutoff. The published search success counts do not include adhesion or transport. Band gap is an electronic-insulation proxy, not a measurement of leakage. Ionic mobility and full device/process validation remain open.</a:t>
            </a:r>
          </a:p>
          <a:p xmlns:a="http://schemas.openxmlformats.org/drawingml/2006/main">
            <a:r>
              <a:t>Sources:</a:t>
            </a:r>
          </a:p>
          <a:p xmlns:a="http://schemas.openxmlformats.org/drawingml/2006/main">
            <a:r>
              <a:t>/Users/davidetisi/Documents/Work/DTU/OSI_Hackathon/interphAIse-integration/interphaise/discovery_evaluator.py</a:t>
            </a:r>
          </a:p>
          <a:p xmlns:a="http://schemas.openxmlformats.org/drawingml/2006/main">
            <a:r>
              <a:t>/Users/davidetisi/Documents/Work/DTU/OSI_Hackathon/interphAIse-integration/EVALUATOR_HANDOFF.md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/Users/davidetisi/Documents/Work/DTU/OSI_Hackathon/interphAIse-integration/LLM_PETMAD_PILOT_PLAN.md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8/20 • 5:20–6:05</a:t>
            </a:r>
          </a:p>
          <a:p xmlns:a="http://schemas.openxmlformats.org/drawingml/2006/main">
            <a:r>
              <a:t>The five strategies separate several possible sources of success. Uses results chooses one material at a time and receives its true outcome. No results remembers previous choices but sees no scores. Mixed-up results receives scores assigned to the wrong materials. One list chooses all ten before seeing any outcome. Random samples ten candidates without repeats. The four LLM strategies are run for both models. Invalid, duplicate and failed queries consume the same budget. This gives each policy a constrained and auditable task.</a:t>
            </a:r>
          </a:p>
          <a:p xmlns:a="http://schemas.openxmlformats.org/drawingml/2006/main">
            <a:r>
              <a:t/>
            </a:r>
          </a:p>
          <a:p xmlns:a="http://schemas.openxmlformats.org/drawingml/2006/main">
            <a:r>
              <a:t>SCIENTIFIC DETAIL</a:t>
            </a:r>
          </a:p>
          <a:p xmlns:a="http://schemas.openxmlformats.org/drawingml/2006/main">
            <a:r>
              <a:t>The chart labels correspond to iterative, sequential, shuffled, upfront and random. Each model is tested in all four LLM arms; random is shared. Sequential still has earlier choices and rationales, so it controls access to numerical results. Shuffled reassigns historical outcomes, testing whether correct attribution matters. This control is imperfect because some assignments remain correct and earlier rationales can conflict with shuffled outcomes. Upfront tests initial shortlist quality, but it also changes batch versus sequential choice. An upfront–iterative difference therefore does not isolate a causal effect of feedback. Invalid, duplicate and failed queries consume the budget. Success is a proxy-screen hit, not a working battery.</a:t>
            </a:r>
          </a:p>
          <a:p xmlns:a="http://schemas.openxmlformats.org/drawingml/2006/main">
            <a:r>
              <a:t/>
            </a:r>
          </a:p>
          <a:p xmlns:a="http://schemas.openxmlformats.org/drawingml/2006/main">
            <a:r>
              <a:t>Sources:</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/Users/davidetisi/Documents/Work/DTU/OSI_Hackathon/interphAIse/presentations/source/four_minute_evidence_2026-10-22.json</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9/20 • 6:05–6:50</a:t>
            </a:r>
          </a:p>
          <a:p xmlns:a="http://schemas.openxmlformats.org/drawingml/2006/main">
            <a:r>
              <a:t>Each control answers a different question. Comparing true results with no results tests whether access to numerical outcomes helps. Comparing with mixed-up results asks whether linking the outcome to the correct material matters. The upfront list reveals the quality of initial candidate selection, but it also changes batch versus sequential choice. Random supplies a simple baseline. We use planned paired tests for the two feedback controls and correct for multiple comparisons. These controls probe observable behavior; they do not prove how reasoning happens inside a model.</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10/20 • 6:50–7:40</a:t>
            </a:r>
          </a:p>
          <a:p xmlns:a="http://schemas.openxmlformats.org/drawingml/2006/main">
            <a:r>
              <a:t>Sulfide is the strongest result. Haiku finds an acceptable candidate in twenty of thirty searches when it receives correct feedback. That falls to two without results and six with mixed-up results; random succeeds eight times. Both planned feedback-control comparisons survive statistical correction. DeepSeek moves in the same direction: twelve successes with feedback, compared with two and three in the controls. However, its improvement does not survive the planned correction. The clearest evidence is therefore a feedback benefit for Haiku in this sulfide setting.</a:t>
            </a:r>
          </a:p>
          <a:p xmlns:a="http://schemas.openxmlformats.org/drawingml/2006/main">
            <a:r>
              <a:t/>
            </a:r>
          </a:p>
          <a:p xmlns:a="http://schemas.openxmlformats.org/drawingml/2006/main">
            <a:r>
              <a:t>SCIENTIFIC DETAIL</a:t>
            </a:r>
          </a:p>
          <a:p xmlns:a="http://schemas.openxmlformats.org/drawingml/2006/main">
            <a:r>
              <a:t>Sulfide electrolyte: Li6PS5Cl. Only four of 141 structures pass. Counts in iterative/sequential/shuffled/upfront order are Haiku 20/2/6/0, DeepSeek 12/2/3/2, shared random 8. Paired exact McNemar tests with a separate six-test Holm family for each model: Haiku vs sequential p=0.0000457764 and vs shuffled p=0.00244140625; DeepSeek 0.07763671875 and 0.1123046875. Both Haiku contrasts pass 0.05, neither DeepSeek contrast does. Differences in significance are not a cross-model significance test. Random comparisons here are descriptive. Individual 95% Wilson success-probability intervals and full counts are in slide 21. Planned tests are in slide 22. A concrete Haiku trace is in slide 11.</a:t>
            </a:r>
          </a:p>
          <a:p xmlns:a="http://schemas.openxmlformats.org/drawingml/2006/main">
            <a:r>
              <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/Users/davidetisi/Documents/Work/DTU/OSI_Hackathon/interphAIse-integration/data/reviews/deepseek_results_review_20261022.json</a:t>
            </a:r>
          </a:p>
          <a:p xmlns:a="http://schemas.openxmlformats.org/drawingml/2006/main">
            <a:r>
              <a:t>/Users/davidetisi/Documents/Work/DTU/OSI_Hackathon/interphAIse-integration/RESULTS_SYNTHESIS_2026-10-22.md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8/30. All three panels use the same 0–34 axis range, with labelled ticks 0, 10, 20 and 30. Comparisons with random and between models are descriptive. Planned significance tests concern the feedback controls. The shared random runs are counted once. Visual reference: /Users/davidetisi/Documents/Work/DTU/OSI_Hackathon/interphAIse-integration/presentations/results_2026-10-22/interphaise_submission_2026-10-22.docx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11/20 • 7:40–8:25</a:t>
            </a:r>
          </a:p>
          <a:p xmlns:a="http://schemas.openxmlformats.org/drawingml/2006/main">
            <a:r>
              <a:t>This is one real Haiku search from the full sulfide study. At choice six, lithium aluminium fluoride has a penalty of 0.160, well above the acceptance threshold. At choice seven, a magnesium aluminium fluoride is a near miss at 0.057. Haiku then tries the calcium aluminium fluoride, which scores 0.048 and passes at choice eight. This makes the proposed role concrete: use a result to choose a related chemistry for the next test. The trace illustrates a successful sequence, while the thirty-run comparison supplies the evidence that it is not the only successful run.</a:t>
            </a:r>
          </a:p>
          <a:p xmlns:a="http://schemas.openxmlformats.org/drawingml/2006/main">
            <a:r>
              <a:t/>
            </a:r>
          </a:p>
          <a:p xmlns:a="http://schemas.openxmlformats.org/drawingml/2006/main">
            <a:r>
              <a:t>SCIENTIFIC DETAIL</a:t>
            </a:r>
          </a:p>
          <a:p xmlns:a="http://schemas.openxmlformats.org/drawingml/2006/main">
            <a:r>
              <a:t>This is sulfide seed 202. The trace was chosen in the earlier analysis using the lowest seed with a typical first-hit position, before reading the rationales. The model tried familiar oxides and LiF unsuccessfully, then explored mixed-cation fluorides. It interpreted the 0.057 result as a near miss and chose the Ca analogue. The values are recorded scores in eV per non-Li atom, rounded to three decimals. Its proposed chemical explanation is a hypothesis, not a verified reaction mechanism. The observed sequence makes the delegated judgment concrete without treating one attractive example as proof. Source archive: agent commit, data/experiments/environment_v1/lpscl/iterative_r202.json.</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12/20 • 8:25–9:05</a:t>
            </a:r>
          </a:p>
          <a:p xmlns:a="http://schemas.openxmlformats.org/drawingml/2006/main">
            <a:r>
              <a:t>The 141 candidates were not hand-picked because they later won. They are all the eligible known lithium-containing structures in our cached Materials Project snapshot. We use fixed filters for near-stability, ordered structures, limited elemental complexity and small primitive cells to keep the calculations manageable. The menu spans oxides, halides, silicates, phosphates and borates. After the full sulfide screen, four structures pass: one niobium fluoride, two tantalum fluoride polymorphs and one calcium aluminium fluoride. A polymorph means the same formula with a different crystal arrangement.</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The four passing structure IDs and penalties are in the saved evidence passing_sulfide array. A polymorph has the same chemical formula with a different crystal arrangement. All formulas are known Materials Project entries. Screening is exhaustive reference truth; the LLM is not given hidden outcome scores.</a:t>
            </a:r>
          </a:p>
          <a:p xmlns:a="http://schemas.openxmlformats.org/drawingml/2006/main">
            <a:r>
              <a:t/>
            </a:r>
          </a:p>
          <a:p xmlns:a="http://schemas.openxmlformats.org/drawingml/2006/main">
            <a:r>
              <a:t>MATERIAL SELECTION</a:t>
            </a:r>
          </a:p>
          <a:p xmlns:a="http://schemas.openxmlformats.org/drawingml/2006/main">
            <a:r>
              <a:t>The menu retains all 141 eligible structures (100 formulas) from 3,770 cached Materials Project records. Fixed filters require Li, no more than four elements from the declared chemical scope, summary energy above hull ≤0.025 eV/atom, ordered structures and no more than 40 primitive sites. The restriction keeps phase diagrams and the two-day task manageable. All eligible records are retained, without choosing by the new environment scores. Five families: 61 other oxides, 29 halides, 23 silicates, 16 phosphates, 12 borates. Band gap was not a pool prefilter; it is used in the acceptance gate. Near-hull does not establish synthesis or transport quality.</a:t>
            </a:r>
          </a:p>
          <a:p xmlns:a="http://schemas.openxmlformats.org/drawingml/2006/main">
            <a:r>
              <a:t>Sources:</a:t>
            </a:r>
          </a:p>
          <a:p xmlns:a="http://schemas.openxmlformats.org/drawingml/2006/main">
            <a:r>
              <a:t>/Users/davidetisi/Documents/Work/DTU/OSI_Hackathon/interphAIse-integration/ENVIRONMENT_EXPANSION.md</a:t>
            </a:r>
          </a:p>
          <a:p xmlns:a="http://schemas.openxmlformats.org/drawingml/2006/main">
            <a:r>
              <a:t>/Users/davidetisi/Documents/Work/DTU/OSI_Hackathon/interphAIse-integration/data/exploration/environment_expansion_v1/pool.json</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13/20 • 9:05–9:50</a:t>
            </a:r>
          </a:p>
          <a:p xmlns:a="http://schemas.openxmlformats.org/drawingml/2006/main">
            <a:r>
              <a:t>Niobium fluoride was our existing acceptable reference, with completed contact calculations. Haiku selected tantalum fluoride next because it passed the chemistry and insulation screen, and looked like a close chemical analogue of the niobium material. It used that analogy to predict similar adhesion before the new calculation. Calcium aluminium fluoride was already next on its shortlist and became the only acceptable unevaluated choice left. Its mixed calcium and aluminium framework made the analogy less close. These are the recorded reasons for testing; the following slide shows which predictions actually held.</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
            </a:r>
          </a:p>
          <a:p xmlns:a="http://schemas.openxmlformats.org/drawingml/2006/main">
            <a:r>
              <a:t>MATERIAL SELECTION</a:t>
            </a:r>
          </a:p>
          <a:p xmlns:a="http://schemas.openxmlformats.org/drawingml/2006/main">
            <a:r>
              <a:t>LiNbF6 is the acceptable, already evaluated reference supplied to Haiku, rather than one of its two new physical choices. Haiku chose LiTaF6 with known frozen chemical acceptance and a 5.9 eV gap, then forecast adhesion by analogy to LiNbF6 (same fluoride framework and similar cation size in its rationale). The archived explanation also cites rounded penalties 0.027 for Ta and 0.029 for Nb, both in bin 1; these do not establish a robust winner within that bin. LiCaAlF6 (penalty 0.048, bin 2, gap 7.6 eV) was already second on the initial shortlist and was the only acceptable, feasible, unevaluated candidate after Ta. The mixed Ca/Al framework was a less-close analogy, and the forecasts subsequently failed. LiF remained unevaluated because it failed the chemical screen. The physical feasible menu contains one Ta polymorph, while two Ta polymorphs pass the full chemical screen. These are recorded selection reasons and model hypotheses, not a demonstrated causal mechanism or transport validation.</a:t>
            </a:r>
          </a:p>
          <a:p xmlns:a="http://schemas.openxmlformats.org/drawingml/2006/main">
            <a:r>
              <a:t>Sources:</a:t>
            </a:r>
          </a:p>
          <a:p xmlns:a="http://schemas.openxmlformats.org/drawingml/2006/main">
            <a:r>
              <a:t>/Users/davidetisi/Documents/Work/DTU/OSI_Hackathon/interphAIse-integration/data/experiments/llm_petmad_pilot_v1/state.json</a:t>
            </a:r>
          </a:p>
          <a:p xmlns:a="http://schemas.openxmlformats.org/drawingml/2006/main">
            <a:r>
              <a:t>/Users/davidetisi/Documents/Work/DTU/OSI_Hackathon/interphAIse-integration/data/petmad/coating_comparison_v1/manifest.json</a:t>
            </a:r>
          </a:p>
          <a:p xmlns:a="http://schemas.openxmlformats.org/drawingml/2006/main">
            <a:r>
              <a:t>/Users/davidetisi/Documents/Work/DTU/OSI_Hackathon/interphAIse-integration/data/experiments/llm_petmad_pilot_v1/INTERPRETATION.md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14/20 • 9:50–10:40</a:t>
            </a:r>
          </a:p>
          <a:p xmlns:a="http://schemas.openxmlformats.org/drawingml/2006/main">
            <a:r>
              <a:t>The tantalum forecasts hold at both contacts: about 3.339 joules per square metre at the cathode and 1.577 at the electrolyte, within the recorded ranges. The calcium aluminium forecasts fail at both contacts. Its calculated values are about 1.427 and 0.744, well below what Haiku expected. The model correctly identifies the electrolyte as the weaker contact in both choices. The useful result here is a testable chemical analogy that succeeds once and fails once, rather than a claim that every explanation is reliable.</a:t>
            </a:r>
          </a:p>
          <a:p xmlns:a="http://schemas.openxmlformats.org/drawingml/2006/main">
            <a:r>
              <a:t/>
            </a:r>
          </a:p>
          <a:p xmlns:a="http://schemas.openxmlformats.org/drawingml/2006/main">
            <a:r>
              <a:t>SCIENTIFIC DETAIL</a:t>
            </a:r>
          </a:p>
          <a:p xmlns:a="http://schemas.openxmlformats.org/drawingml/2006/main">
            <a:r>
              <a:t>Final selected-primary numerical outcomes and archived prospective ranges. Ta analogy: replacing Nb with Ta preserved similar primary adhesion. Ca–Al was overestimated at both contacts. The LLM acknowledged this failure but its final summary misread a weaker-contact minimum as a registry minimum; the archive remains unchanged and the review documents the correction. Reference Nb was supplied, Ta was chosen next and Ca–Al was already next in the initial shortlist and the only remaining acceptable option. Three registry positions were tested per contact, with primary selection by the lowest joined-interface energy rather than maximum adhesion. No DeepSeek physical pilot was run.</a:t>
            </a:r>
          </a:p>
          <a:p xmlns:a="http://schemas.openxmlformats.org/drawingml/2006/main">
            <a:r>
              <a:t/>
            </a:r>
          </a:p>
          <a:p xmlns:a="http://schemas.openxmlformats.org/drawingml/2006/main">
            <a:r>
              <a:t>Sources:</a:t>
            </a:r>
          </a:p>
          <a:p xmlns:a="http://schemas.openxmlformats.org/drawingml/2006/main">
            <a:r>
              <a:t>/Users/davidetisi/Documents/Work/DTU/OSI_Hackathon/interphAIse-integration/FINAL_PILOT_REVIEW.md</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15/20 • 10:40–11:25</a:t>
            </a:r>
          </a:p>
          <a:p xmlns:a="http://schemas.openxmlformats.org/drawingml/2006/main">
            <a:r>
              <a:t>Looking at the weaker contact gives a compact candidate comparison. Niobium and tantalum have similar calculated adhesion, around 1.63 and 1.58 joules per square metre. Calcium aluminium is lower, around 0.74. We therefore keep the evaluated niobium and tantalum structures as a pair for further testing. Their difference is smaller than known construction and reference sensitivities, so we cannot name a reliable winner. These calculations still need stronger physical validation, and none tells us whether lithium can move through the layer.</a:t>
            </a:r>
          </a:p>
          <a:p xmlns:a="http://schemas.openxmlformats.org/drawingml/2006/main">
            <a:r>
              <a:t/>
            </a:r>
          </a:p>
          <a:p xmlns:a="http://schemas.openxmlformats.org/drawingml/2006/main">
            <a:r>
              <a:t>SCIENTIFIC DETAIL</a:t>
            </a:r>
          </a:p>
          <a:p xmlns:a="http://schemas.openxmlformats.org/drawingml/2006/main">
            <a:r>
              <a:t>The sulfide screen accepts four crystal structures representing three formulas: LiNbF6, LiCaAlF6 and two LiTaF6 polymorphs. All are known Materials Project structures. The physical study evaluates one Ta polymorph plus Nb and Ca–Al. The reference Nb data are supplied first, then Haiku chooses Ta followed by Ca–Al. No DeepSeek physical forecast or interface calculation exists. The table gives selected-primary relaxed adhesion at the electrolyte contact, the weaker contact for all three materials. The Nb/Ta pair is an interpretation for follow-up, not a global optimum or validated coating.</a:t>
            </a:r>
          </a:p>
          <a:p xmlns:a="http://schemas.openxmlformats.org/drawingml/2006/main">
            <a:r>
              <a:t/>
            </a:r>
          </a:p>
          <a:p xmlns:a="http://schemas.openxmlformats.org/drawingml/2006/main">
            <a:r>
              <a:t>Ta forecasts: cathode 3.2–3.9 gives 3.3387484128, electrolyte 1.4–1.9 gives 1.5773585444 J/m². Ca–Al forecasts: 3.0–3.8 gives 1.4267104455, and 1.4–1.9 gives 0.7435735866. Both Ca–Al forecasts fail. Haiku predicts the weaker contact correctly twice. Choice order remains unchanged; the second choice is the only acceptable remaining feasible candidate. This bounded pilot cannot establish adaptive expensive-search gain. The Nb/Ta weaker-contact gap is about 0.056 J/m², below known reference/construction sensitivities of about 0.121/0.114. All contacts are formally polar. Ca–Al electrolyte thickness/reference sensitivities remain unquantified. Exact forecasts are in slide 14 and physical definitions/values in slide 24.</a:t>
            </a:r>
          </a:p>
          <a:p xmlns:a="http://schemas.openxmlformats.org/drawingml/2006/main">
            <a:r>
              <a:t/>
            </a:r>
          </a:p>
          <a:p xmlns:a="http://schemas.openxmlformats.org/drawingml/2006/main">
            <a:r>
              <a:t>Sources:</a:t>
            </a:r>
          </a:p>
          <a:p xmlns:a="http://schemas.openxmlformats.org/drawingml/2006/main">
            <a:r>
              <a:t>/Users/davidetisi/Documents/Work/DTU/OSI_Hackathon/interphAIse-integration/FINAL_PILOT_REVIEW.md</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16/20 • 11:25–11:55</a:t>
            </a:r>
          </a:p>
          <a:p xmlns:a="http://schemas.openxmlformats.org/drawingml/2006/main">
            <a:r>
              <a:t>Chloride provides a different test. Here 55 of the 141 structures pass the chemical screen. Every LLM strategy succeeds in all thirty searches for both models, while random succeeds in twenty-nine. This is a ceiling condition: the task leaves very little room for feedback to improve the success metric. It shows that the screening task is easy at this budget. It does not distinguish intelligent feedback use from a good starting list or broad sampling.</a:t>
            </a:r>
          </a:p>
          <a:p xmlns:a="http://schemas.openxmlformats.org/drawingml/2006/main">
            <a:r>
              <a:t/>
            </a:r>
          </a:p>
          <a:p xmlns:a="http://schemas.openxmlformats.org/drawingml/2006/main">
            <a:r>
              <a:t>SCIENTIFIC DETAIL</a:t>
            </a:r>
          </a:p>
          <a:p xmlns:a="http://schemas.openxmlformats.org/drawingml/2006/main">
            <a:r>
              <a:t>Chloride electrolyte: Li3InCl6. All four LLM strategies succeed in 30/30 runs for each model. Shared random succeeds in 29/30. The finite-pool exact random success probability in ten samples is about 99.4%, consistent with the ceiling. Both models have p=1 for both planned comparisons. This condition is part of the declared full study and remains in the pitch. It is not a failure of finding acceptable candidates and does not establish a model/feedback advantage.</a:t>
            </a:r>
          </a:p>
          <a:p xmlns:a="http://schemas.openxmlformats.org/drawingml/2006/main">
            <a:r>
              <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29/30. All three panels use the same 0–34 axis range, with labelled ticks 0, 10, 20 and 30. Comparisons with random and between models are descriptive. Planned significance tests concern the feedback controls. The shared random runs are counted once. Visual reference: /Users/davidetisi/Documents/Work/DTU/OSI_Hackathon/interphAIse-integration/presentations/results_2026-10-22/interphaise_submission_2026-10-22.docx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17/20 • 11:55–12:45</a:t>
            </a:r>
          </a:p>
          <a:p xmlns:a="http://schemas.openxmlformats.org/drawingml/2006/main">
            <a:r>
              <a:t>LLZO is the failure case. DeepSeek’s upfront list succeeds in twenty searches, but correct feedback gives ten and mixed-up feedback gives twelve. Random succeeds twenty-four times. Haiku’s feedback search also trails random, with twelve successes. The planned DeepSeek comparisons show no clear benefit from correctly attributed results. This is why we must distinguish knowing useful candidate chemistry from adapting well after feedback. A model can produce a useful starting list and still fail to improve through this particular loop.</a:t>
            </a:r>
          </a:p>
          <a:p xmlns:a="http://schemas.openxmlformats.org/drawingml/2006/main">
            <a:r>
              <a:t/>
            </a:r>
          </a:p>
          <a:p xmlns:a="http://schemas.openxmlformats.org/drawingml/2006/main">
            <a:r>
              <a:t>SCIENTIFIC DETAIL</a:t>
            </a:r>
          </a:p>
          <a:p xmlns:a="http://schemas.openxmlformats.org/drawingml/2006/main">
            <a:r>
              <a:t>LLZO is Li7La3Zr2O12. Seventeen of 141 structures pass the frozen proxy. Counts iterative/sequential/shuffled/upfront: Haiku 12/0/4/1 and DeepSeek 10/4/12/20. Shared random is 24/30. DeepSeek iterative vs sequential has Holm p=0.4375 and vs shuffled p=1. Thus correctly attributed feedback has no demonstrated benefit in these planned contrasts. The result supports a failure of the tested feedback-guided selection policy, not proof that the model cannot reason or that feedback has exactly zero effect. Upfront–iterative changes selection policy as well as feedback, so the 20-to-10 difference is not a causal feedback-harm estimate. Cross-model comparisons are descriptive with different reasoning compute.</a:t>
            </a:r>
          </a:p>
          <a:p xmlns:a="http://schemas.openxmlformats.org/drawingml/2006/main">
            <a:r>
              <a:t/>
            </a:r>
          </a:p>
          <a:p xmlns:a="http://schemas.openxmlformats.org/drawingml/2006/main">
            <a:r>
              <a:t>DeepSeek upfront finds 22 acceptable picks across 20 successful runs: LiAlSiO4 18, LiMgPO4 3, LiAl(SiO3)2 1. All lie outside the predefined oxyhalogen review set. This shows useful initial candidate knowledge and qualifies the earlier Haiku-only explanation. It does not establish practical coating quality. Random retains 24/30 on the frozen endpoint, including 18 runs with an unflagged acceptable hit. DeepSeek iterative has nine unflagged-hit and one flagged-only success. Audit is post-hoc, in slide 23.</a:t>
            </a:r>
          </a:p>
          <a:p xmlns:a="http://schemas.openxmlformats.org/drawingml/2006/main">
            <a:r>
              <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/Users/davidetisi/Documents/Work/DTU/OSI_Hackathon/interphAIse-integration/data/reviews/deepseek_results_review_20261022.json</a:t>
            </a:r>
          </a:p>
          <a:p xmlns:a="http://schemas.openxmlformats.org/drawingml/2006/main">
            <a:r>
              <a:t>/Users/davidetisi/Documents/Work/DTU/OSI_Hackathon/interphAIse-integration/data/experiments/deepseek_v1/llzo_audit.md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/Users/davidetisi/Documents/Work/DTU/OSI_Hackathon/interphAIse-integration/RESULTS_SYNTHESIS_2026-10-22.md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24/30. All three panels use the same 0–34 axis range, with labelled ticks 0, 10, 20 and 30. Comparisons with random and between models are descriptive. Planned significance tests concern the feedback controls. The shared random runs are counted once. Visual reference: /Users/davidetisi/Documents/Work/DTU/OSI_Hackathon/interphAIse-integration/presentations/results_2026-10-22/interphaise_submission_2026-10-22.docx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18/20 • 12:45–13:30</a:t>
            </a:r>
          </a:p>
          <a:p xmlns:a="http://schemas.openxmlformats.org/drawingml/2006/main">
            <a:r>
              <a:t>The LLZO audit makes that distinction sharper. DeepSeek’s upfront lists find useful candidates under the frozen screen, including lithium aluminium silicate and lithium magnesium phosphate. Its twenty successful upfront runs all include candidates outside the specific chemical review set used in the audit. Yet the iterative policy does not convert feedback into a clear advantage. We should not call the twenty-to-ten change a causal effect of feedback alone, because the policies also differ. Nor do these data prove a general inability to reason. They identify a concrete strategy that needs improvement.</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All 20 DeepSeek upfront successes include a candidate outside the defined oxyhalogen review set. This post-hoc annotation is not a comprehensive safety, synthesis or transport screen. It does not replace the frozen primary outcome. No causal feedback-harm estimate or general incapacity to reason is inferred.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19/20 • 13:30–14:10</a:t>
            </a:r>
          </a:p>
          <a:p xmlns:a="http://schemas.openxmlformats.org/drawingml/2006/main">
            <a:r>
              <a:t>What has the project established? We built an auditable loop in which an LLM makes choices and scientific tools judge them. We found a clear Haiku feedback benefit in sulfide, an easy chloride condition and an LLZO failure shared by the iterative policies. The physical follow-up yielded a small candidate pair and exposed a failed forecast. The objective was a bounded test of scientific decision-making. We have not measured general compute savings, demonstrated superiority to a human expert or validated an optimal battery coating.</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/Users/davidetisi/Documents/Work/DTU/OSI_Hackathon/interphAIse-integration/FINAL_PILOT_REVIEW.md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20/20 • 14:10–15:00</a:t>
            </a:r>
          </a:p>
          <a:p xmlns:a="http://schemas.openxmlformats.org/drawingml/2006/main">
            <a:r>
              <a:t>The next step is ionic mobility across the coating and the interphases, meaning the layers formed at its contacts. A coating can pass our chemical screen and stay attached, yet block the lithium current. We need longer simulations that track lithium motion through those regions with adequate sampling and validation. Those transport calculations were beyond the two-day hackathon window. We would combine mobility with compatibility and adhesion, revisit the physical models, and then validate the leading candidates with higher-fidelity calculations and experiments.</a:t>
            </a:r>
          </a:p>
          <a:p xmlns:a="http://schemas.openxmlformats.org/drawingml/2006/main">
            <a:r>
              <a:t/>
            </a:r>
          </a:p>
          <a:p xmlns:a="http://schemas.openxmlformats.org/drawingml/2006/main">
            <a:r>
              <a:t>SCIENTIFIC DETAIL</a:t>
            </a:r>
          </a:p>
          <a:p xmlns:a="http://schemas.openxmlformats.org/drawingml/2006/main">
            <a:r>
              <a:t>Proposed future work, not a completed mobility result. The user identifies the two-day hackathon computation window as the reason transport was not included. Atomic relaxation and adhesion are not diffusion simulations. Future work should test Li motion through the coating and near both contacts, including any reaction/interphase layer, over adequate trajectories and temperatures. Adequate sampling and validation of the potential are needed before reporting transport properties. Combine this with compatibility, adhesion and practical processability, then refine polar-interface models and perform higher-fidelity/experimental checks. An initial test should include the Nb/Ta follow-up pair; no optimal conducting coating has yet been established.</a:t>
            </a:r>
          </a:p>
          <a:p xmlns:a="http://schemas.openxmlformats.org/drawingml/2006/main">
            <a:r>
              <a:t/>
            </a:r>
          </a:p>
          <a:p xmlns:a="http://schemas.openxmlformats.org/drawingml/2006/main">
            <a:r>
              <a:t>The main presentation ends here. Public structure viewer: https://davidetisi.github.io/interphAIse/ . The viewer illustrates computed interfaces, not ion trajectories.</a:t>
            </a:r>
          </a:p>
          <a:p xmlns:a="http://schemas.openxmlformats.org/drawingml/2006/main">
            <a:r>
              <a:t/>
            </a:r>
          </a:p>
          <a:p xmlns:a="http://schemas.openxmlformats.org/drawingml/2006/main">
            <a:r>
              <a:t>Sources:</a:t>
            </a:r>
          </a:p>
          <a:p xmlns:a="http://schemas.openxmlformats.org/drawingml/2006/main">
            <a:r>
              <a:t>/Users/davidetisi/Documents/Work/DTU/OSI_Hackathon/interphAIse-integration/RESULTS_SYNTHESIS_2026-10-22.md</a:t>
            </a:r>
          </a:p>
          <a:p xmlns:a="http://schemas.openxmlformats.org/drawingml/2006/main">
            <a:r>
              <a:t>/Users/davidetisi/Documents/Work/DTU/OSI_Hackathon/interphAIse-integration/FINAL_PILOT_REVIEW.md</a:t>
            </a:r>
          </a:p>
          <a:p xmlns:a="http://schemas.openxmlformats.org/drawingml/2006/main">
            <a:r>
              <a:t>https://scientificintelligence.org/campaigns/osi-hackathon-2026</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BACKUP</a:t>
            </a:r>
          </a:p>
          <a:p xmlns:a="http://schemas.openxmlformats.org/drawingml/2006/main">
            <a:r>
              <a:t>The complete production data comprise 450 original environment runs plus 360 DeepSeek runs. No smoke, incomplete interim output, aborted duplicate or earlier small-pool benchmark is included. Intervals describe each single success probability; their overlap is not the paired test. Paired tests are in slide 22. Independent run outcomes were recounted from all 810 archives; DeepSeek file hashes match the earlier independent review. Wilson intervals use z=1.959963984540054 and n=30. All score thresholds and candidate pools remain frozen.</a:t>
            </a:r>
          </a:p>
          <a:p xmlns:a="http://schemas.openxmlformats.org/drawingml/2006/main">
            <a:r>
              <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/Users/davidetisi/Documents/Work/DTU/OSI_Hackathon/interphAIse-integration/data/reviews/deepseek_results_review_20261022.json</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BACKUP</a:t>
            </a:r>
          </a:p>
          <a:p xmlns:a="http://schemas.openxmlformats.org/drawingml/2006/main">
            <a:r>
              <a:t>The six prespecified tests per model pair each run by display-order seed 200–229, comparing iterative with sequential and shuffled in each environment. The exact McNemar p-value conditions on discordant pairs; Holm correction is applied separately to each six-test family. Model-to-model, upfront-to-iterative and random comparisons are descriptive relative to these families. Failure to reject does not prove equality or absence of an effect. The report’s stronger wording is based on these tests rather than uncorrected DeepSeek p-values.</a:t>
            </a:r>
          </a:p>
          <a:p xmlns:a="http://schemas.openxmlformats.org/drawingml/2006/main">
            <a:r>
              <a:t/>
            </a:r>
          </a:p>
          <a:p xmlns:a="http://schemas.openxmlformats.org/drawingml/2006/main">
            <a:r>
              <a:t>Sources:</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/Users/davidetisi/Documents/Work/DTU/OSI_Hackathon/interphAIse-integration/data/reviews/deepseek_results_review_20261022.json</a:t>
            </a:r>
          </a:p>
          <a:p xmlns:a="http://schemas.openxmlformats.org/drawingml/2006/main">
            <a:r>
              <a:t>/Users/davidetisi/Documents/Work/DTU/OSI_Hackathon/interphAIse-integration/ENVIRONMENT_PROTOCOL.md</a:t>
            </a:r>
          </a:p>
          <a:p xmlns:a="http://schemas.openxmlformats.org/drawingml/2006/main">
            <a:r>
              <a:t>/Users/davidetisi/Documents/Work/DTU/OSI_Hackathon/interphAIse-integration/DEEPSEEK_PROTOCOL.md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BACKUP</a:t>
            </a:r>
          </a:p>
          <a:p xmlns:a="http://schemas.openxmlformats.org/drawingml/2006/main">
            <a:r>
              <a:t>The explicit review set contains LiIO3, LiClO4 and Li5IO6. Random retains 24/30 on the frozen score, while 18 runs also find at least one unflagged acceptable candidate. DeepSeek upfront has 18 acceptable LiAlSiO4 picks, three LiMgPO4 picks and one LiAl(SiO3)2 pick, across 20 runs. It never selected a flagged compound in this arm. This qualifies explanations that relied on oxyhalogen loopholes, but does not establish safe, synthesizable or ion-conducting coatings. DeepSeek iterative has five flagged picks and one flagged-only successful run. Exploration statistics alone do not identify the causal mechanism of the LLZO loss.</a:t>
            </a:r>
          </a:p>
          <a:p xmlns:a="http://schemas.openxmlformats.org/drawingml/2006/main">
            <a:r>
              <a:t/>
            </a:r>
          </a:p>
          <a:p xmlns:a="http://schemas.openxmlformats.org/drawingml/2006/main">
            <a:r>
              <a:t>Sources:</a:t>
            </a:r>
          </a:p>
          <a:p xmlns:a="http://schemas.openxmlformats.org/drawingml/2006/main">
            <a:r>
              <a:t>/Users/davidetisi/Documents/Work/DTU/OSI_Hackathon/interphAIse-integration/data/experiments/deepseek_v1/llzo_audit.md</a:t>
            </a:r>
          </a:p>
          <a:p xmlns:a="http://schemas.openxmlformats.org/drawingml/2006/main">
            <a:r>
              <a:t>/Users/davidetisi/Documents/Work/DTU/OSI_Hackathon/interphAIse-integration/data/reviews/deepseek_results_review_20261022.json</a:t>
            </a:r>
          </a:p>
          <a:p xmlns:a="http://schemas.openxmlformats.org/drawingml/2006/main">
            <a:r>
              <a:t>/Users/davidetisi/Documents/Work/DTU/OSI_Hackathon/interphAIse/presentations/source/four_minute_evidence_2026-10-22.json</a:t>
            </a:r>
          </a:p>
          <a:p xmlns:a="http://schemas.openxmlformats.org/drawingml/2006/main">
            <a:r>
              <a:t>/Users/davidetisi/Documents/Work/DTU/OSI_Hackathon/interphAIse-integration/RESULTS_SYNTHESIS_2026-10-22.md</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BACKUP</a:t>
            </a:r>
          </a:p>
          <a:p xmlns:a="http://schemas.openxmlformats.org/drawingml/2006/main">
            <a:r>
              <a:t>Source: final index; Wadh = (relaxed constrained separated slab energies − relaxed joined interface energy)/area, same model and reference conventions. Wsep uses separated fragments frozen at the joined geometry. It is not an experimental fracture toughness. Large Wsep−Wadh indicates relaxation of freed surfaces within this protocol. Chosen registry minimizes joined energy, not max Wadh.</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a:p xmlns:a="http://schemas.openxmlformats.org/drawingml/2006/main">
            <a:r>
              <a:t/>
            </a:r>
          </a:p>
          <a:p xmlns:a="http://schemas.openxmlformats.org/drawingml/2006/main">
            <a:r>
              <a:t>BRANDING SOURCE</a:t>
            </a:r>
          </a:p>
          <a:p xmlns:a="http://schemas.openxmlformats.org/drawingml/2006/main">
            <a:r>
              <a:t>/Users/davidetisi/Documents/Work/DTU/OSI_Hackathon/interphAIse/presentations/source/branding/interphaise-logo-battery-v2.png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a3ddb9828d46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bee9c5f20748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c6a61376b94f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7951116ce54b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c608dca0b74c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206f4af257044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EC5DAB-9995-4D61-9E6B-B14C99645E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777E90-E3F1-4723-98E7-529EBE05AD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A11827-643C-4147-A4C5-8A44C4E2B6A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1D20C4-86B4-4A86-8E31-BFC12A8582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79A389-7F42-4B5D-A0C2-09D973F5B2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E71DF9-63C6-4671-A446-E6888E9504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89925F-FD08-433F-BA61-C71EF40695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4DF3B0-4068-4904-804A-774C445D7A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318C1-58ED-4A92-9FD4-878669DDAA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36E71E-FF2A-487A-B4C3-54F3C22F12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204bb6264a49c3" /><Relationship Type="http://schemas.openxmlformats.org/officeDocument/2006/relationships/slideLayout" Target="/ppt/slideLayouts/slideLayout1.xml" Id="R035a7b97e68f4994" /><Relationship Type="http://schemas.openxmlformats.org/officeDocument/2006/relationships/slideLayout" Target="/ppt/slideLayouts/slideLayout2.xml" Id="R0be101d1218940b7" /><Relationship Type="http://schemas.openxmlformats.org/officeDocument/2006/relationships/slideLayout" Target="/ppt/slideLayouts/slideLayout3.xml" Id="R9c8982d88ea54318" /><Relationship Type="http://schemas.openxmlformats.org/officeDocument/2006/relationships/slideLayout" Target="/ppt/slideLayouts/slideLayout4.xml" Id="R24d04e0b6cfa4584" /><Relationship Type="http://schemas.openxmlformats.org/officeDocument/2006/relationships/slideLayout" Target="/ppt/slideLayouts/slideLayout5.xml" Id="Re1389fb7975c483d" /><Relationship Type="http://schemas.openxmlformats.org/officeDocument/2006/relationships/slideLayout" Target="/ppt/slideLayouts/slideLayout6.xml" Id="R355db4846e054d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5a7b97e68f4994"/>
    <p:sldLayoutId xmlns:r="http://schemas.openxmlformats.org/officeDocument/2006/relationships" id="2147483650" r:id="R0be101d1218940b7"/>
    <p:sldLayoutId xmlns:r="http://schemas.openxmlformats.org/officeDocument/2006/relationships" id="2147483651" r:id="R9c8982d88ea54318"/>
    <p:sldLayoutId xmlns:r="http://schemas.openxmlformats.org/officeDocument/2006/relationships" id="2147483652" r:id="R24d04e0b6cfa4584"/>
    <p:sldLayoutId xmlns:r="http://schemas.openxmlformats.org/officeDocument/2006/relationships" id="2147483653" r:id="Re1389fb7975c483d"/>
    <p:sldLayoutId xmlns:r="http://schemas.openxmlformats.org/officeDocument/2006/relationships" id="2147483654" r:id="R355db4846e054d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7e3ccc233d473f" /><Relationship Type="http://schemas.openxmlformats.org/officeDocument/2006/relationships/image" Target="/ppt/media/image.png" Id="Rc516e9bf7eed446d" /><Relationship Type="http://schemas.openxmlformats.org/officeDocument/2006/relationships/image" Target="/ppt/media/image2.png" Id="R0ad35586798d4c36" /><Relationship Type="http://schemas.openxmlformats.org/officeDocument/2006/relationships/notesSlide" Target="/ppt/notesSlides/notesSlide1.xml" Id="R5ddd8a5453d141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05e381591e44f05" /><Relationship Type="http://schemas.openxmlformats.org/officeDocument/2006/relationships/image" Target="/ppt/media/image3.png" Id="R987062ff1a094d02" /><Relationship Type="http://schemas.openxmlformats.org/officeDocument/2006/relationships/notesSlide" Target="/ppt/notesSlides/notesSlide2.xml" Id="R76c0722dcc6b44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5efdd9f614f4bca" /><Relationship Type="http://schemas.openxmlformats.org/officeDocument/2006/relationships/image" Target="/ppt/media/image4.png" Id="R546aaef363e04722" /><Relationship Type="http://schemas.openxmlformats.org/officeDocument/2006/relationships/notesSlide" Target="/ppt/notesSlides/notesSlide3.xml" Id="R382836f28bd042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a0420cba974672" /><Relationship Type="http://schemas.openxmlformats.org/officeDocument/2006/relationships/image" Target="/ppt/media/image5.png" Id="Ra459170dada649fd" /><Relationship Type="http://schemas.openxmlformats.org/officeDocument/2006/relationships/notesSlide" Target="/ppt/notesSlides/notesSlide4.xml" Id="Rdd2e2d32a9324e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90d93713e754152" /><Relationship Type="http://schemas.openxmlformats.org/officeDocument/2006/relationships/image" Target="/ppt/media/image6.png" Id="R36b4fba4c79042dd" /><Relationship Type="http://schemas.openxmlformats.org/officeDocument/2006/relationships/notesSlide" Target="/ppt/notesSlides/notesSlide5.xml" Id="R710281c346c84d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c1590f2de84825" /><Relationship Type="http://schemas.openxmlformats.org/officeDocument/2006/relationships/image" Target="/ppt/media/image7.png" Id="R2ee8da2e05a04cfe" /><Relationship Type="http://schemas.openxmlformats.org/officeDocument/2006/relationships/notesSlide" Target="/ppt/notesSlides/notesSlide6.xml" Id="Rfd80b2c4c9dd4b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53376ca02c64f7b" /><Relationship Type="http://schemas.openxmlformats.org/officeDocument/2006/relationships/image" Target="/ppt/media/image8.png" Id="R84e7c57d257d4a22" /><Relationship Type="http://schemas.openxmlformats.org/officeDocument/2006/relationships/notesSlide" Target="/ppt/notesSlides/notesSlide7.xml" Id="R7737c6dff7b045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de7a5dab63c4c0b" /><Relationship Type="http://schemas.openxmlformats.org/officeDocument/2006/relationships/image" Target="/ppt/media/image9.png" Id="Rd27e2689bd524ade" /><Relationship Type="http://schemas.openxmlformats.org/officeDocument/2006/relationships/notesSlide" Target="/ppt/notesSlides/notesSlide8.xml" Id="Raad3a3892fc749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f955a8c4e6f4003" /><Relationship Type="http://schemas.openxmlformats.org/officeDocument/2006/relationships/image" Target="/ppt/media/image10.png" Id="R4a59a9e8233340cc" /><Relationship Type="http://schemas.openxmlformats.org/officeDocument/2006/relationships/notesSlide" Target="/ppt/notesSlides/notesSlide9.xml" Id="R8cddb429b0244c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97077952804851" /><Relationship Type="http://schemas.openxmlformats.org/officeDocument/2006/relationships/image" Target="/ppt/media/image11.png" Id="R1b6da117320743fc" /><Relationship Type="http://schemas.openxmlformats.org/officeDocument/2006/relationships/chart" Target="/ppt/slides/charts/chart1.xml" Id="R2a1f265b082540dd" /><Relationship Type="http://schemas.openxmlformats.org/officeDocument/2006/relationships/notesSlide" Target="/ppt/notesSlides/notesSlide10.xml" Id="Refa2884413004e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45c0595914d42f6" /><Relationship Type="http://schemas.openxmlformats.org/officeDocument/2006/relationships/image" Target="/ppt/media/image12.png" Id="R88503a5c0b4240f0" /><Relationship Type="http://schemas.openxmlformats.org/officeDocument/2006/relationships/notesSlide" Target="/ppt/notesSlides/notesSlide11.xml" Id="R3fbce759a79b46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169b9a03aa4672" /><Relationship Type="http://schemas.openxmlformats.org/officeDocument/2006/relationships/image" Target="/ppt/media/image13.png" Id="R4f72ef57dd1e46bf" /><Relationship Type="http://schemas.openxmlformats.org/officeDocument/2006/relationships/notesSlide" Target="/ppt/notesSlides/notesSlide12.xml" Id="R49b464afc16146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e7ca2aa88a64b6e" /><Relationship Type="http://schemas.openxmlformats.org/officeDocument/2006/relationships/image" Target="/ppt/media/image14.png" Id="Rf602dda9246a49cf" /><Relationship Type="http://schemas.openxmlformats.org/officeDocument/2006/relationships/notesSlide" Target="/ppt/notesSlides/notesSlide13.xml" Id="R1728cec9f96a48f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f0ed62b756d44f0" /><Relationship Type="http://schemas.openxmlformats.org/officeDocument/2006/relationships/image" Target="/ppt/media/image15.png" Id="Rb36600dffbfa452a" /><Relationship Type="http://schemas.openxmlformats.org/officeDocument/2006/relationships/notesSlide" Target="/ppt/notesSlides/notesSlide14.xml" Id="R8cda4998e71240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9859420366d4fa7" /><Relationship Type="http://schemas.openxmlformats.org/officeDocument/2006/relationships/image" Target="/ppt/media/image16.png" Id="R83d952c300f84778" /><Relationship Type="http://schemas.openxmlformats.org/officeDocument/2006/relationships/notesSlide" Target="/ppt/notesSlides/notesSlide15.xml" Id="R1353cc05d78640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db863ef12da4bb1" /><Relationship Type="http://schemas.openxmlformats.org/officeDocument/2006/relationships/image" Target="/ppt/media/image17.png" Id="Reacbcdf73f764051" /><Relationship Type="http://schemas.openxmlformats.org/officeDocument/2006/relationships/chart" Target="/ppt/slides/charts/chart2.xml" Id="R3e8e4e9ce84c4a7f" /><Relationship Type="http://schemas.openxmlformats.org/officeDocument/2006/relationships/notesSlide" Target="/ppt/notesSlides/notesSlide16.xml" Id="Rdfe71f7347ce400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6593c41e3084f9c" /><Relationship Type="http://schemas.openxmlformats.org/officeDocument/2006/relationships/image" Target="/ppt/media/image18.png" Id="R8c619f7e443b49da" /><Relationship Type="http://schemas.openxmlformats.org/officeDocument/2006/relationships/chart" Target="/ppt/slides/charts/chart3.xml" Id="Rf67eeced226743c2" /><Relationship Type="http://schemas.openxmlformats.org/officeDocument/2006/relationships/notesSlide" Target="/ppt/notesSlides/notesSlide17.xml" Id="R2547cbd2c2dd48c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ad6161f01de448b" /><Relationship Type="http://schemas.openxmlformats.org/officeDocument/2006/relationships/image" Target="/ppt/media/image19.png" Id="Rbe0087c3cc284771" /><Relationship Type="http://schemas.openxmlformats.org/officeDocument/2006/relationships/notesSlide" Target="/ppt/notesSlides/notesSlide18.xml" Id="Rc8ac7d1e629c491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6e7281629444a8d" /><Relationship Type="http://schemas.openxmlformats.org/officeDocument/2006/relationships/image" Target="/ppt/media/image20.png" Id="Ra26b49fa19404fdd" /><Relationship Type="http://schemas.openxmlformats.org/officeDocument/2006/relationships/notesSlide" Target="/ppt/notesSlides/notesSlide19.xml" Id="R4ccb68adabf14ec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772624108344522" /><Relationship Type="http://schemas.openxmlformats.org/officeDocument/2006/relationships/image" Target="/ppt/media/image21.png" Id="Rec9e71e456cd4c90" /><Relationship Type="http://schemas.openxmlformats.org/officeDocument/2006/relationships/notesSlide" Target="/ppt/notesSlides/notesSlide20.xml" Id="R08e44af7482144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728851093524bf4" /><Relationship Type="http://schemas.openxmlformats.org/officeDocument/2006/relationships/image" Target="/ppt/media/image22.png" Id="R7c39a10351874f91" /><Relationship Type="http://schemas.openxmlformats.org/officeDocument/2006/relationships/notesSlide" Target="/ppt/notesSlides/notesSlide21.xml" Id="Re2c36aa18d7d443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d313cc26f0345be" /><Relationship Type="http://schemas.openxmlformats.org/officeDocument/2006/relationships/image" Target="/ppt/media/image23.png" Id="R3785127add9a4dd5" /><Relationship Type="http://schemas.openxmlformats.org/officeDocument/2006/relationships/notesSlide" Target="/ppt/notesSlides/notesSlide22.xml" Id="Rf2dab52b9dbe41a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f852b542beb4e33" /><Relationship Type="http://schemas.openxmlformats.org/officeDocument/2006/relationships/image" Target="/ppt/media/image24.png" Id="R6b6c2511053a4661" /><Relationship Type="http://schemas.openxmlformats.org/officeDocument/2006/relationships/notesSlide" Target="/ppt/notesSlides/notesSlide23.xml" Id="R373945d69d80403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7d4d596890d4c66" /><Relationship Type="http://schemas.openxmlformats.org/officeDocument/2006/relationships/image" Target="/ppt/media/image25.png" Id="Ra21b114ffdf1441b" /><Relationship Type="http://schemas.openxmlformats.org/officeDocument/2006/relationships/notesSlide" Target="/ppt/notesSlides/notesSlide24.xml" Id="R891febddf7014d6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0</c:v>
                </c:pt>
                <c:pt idx="1">
                  <c:v>6</c:v>
                </c:pt>
                <c:pt idx="2">
                  <c:v>2</c:v>
                </c:pt>
                <c:pt idx="3">
                  <c:v>20</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2</c:v>
                </c:pt>
                <c:pt idx="1">
                  <c:v>3</c:v>
                </c:pt>
                <c:pt idx="2">
                  <c:v>2</c:v>
                </c:pt>
                <c:pt idx="3">
                  <c:v>12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30</c:v>
                </c:pt>
                <c:pt idx="1">
                  <c:v>30</c:v>
                </c:pt>
                <c:pt idx="2">
                  <c:v>30</c:v>
                </c:pt>
                <c:pt idx="3">
                  <c:v>30</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30</c:v>
                </c:pt>
                <c:pt idx="1">
                  <c:v>30</c:v>
                </c:pt>
                <c:pt idx="2">
                  <c:v>30</c:v>
                </c:pt>
                <c:pt idx="3">
                  <c:v>30</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1</c:v>
                </c:pt>
                <c:pt idx="1">
                  <c:v>4</c:v>
                </c:pt>
                <c:pt idx="2">
                  <c:v>0</c:v>
                </c:pt>
                <c:pt idx="3">
                  <c:v>12</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20</c:v>
                </c:pt>
                <c:pt idx="1">
                  <c:v>12</c:v>
                </c:pt>
                <c:pt idx="2">
                  <c:v>4</c:v>
                </c:pt>
                <c:pt idx="3">
                  <c:v>10</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471AB6D0-7CD0-4033-80DB-8F948C8DF0B6}"/>
              </a:ext>
            </a:extLst>
          </p:cNvPr>
          <p:cNvPicPr>
            <a:picLocks xmlns:a="http://schemas.openxmlformats.org/drawingml/2006/main" noChangeAspect="1"/>
          </p:cNvPicPr>
          <p:nvPr/>
        </p:nvPicPr>
        <p:blipFill>
          <a:blip xmlns:r="http://schemas.openxmlformats.org/officeDocument/2006/relationships" xmlns:a="http://schemas.openxmlformats.org/drawingml/2006/main" r:embed="Rc516e9bf7eed446d"/>
          <a:stretch xmlns:a="http://schemas.openxmlformats.org/drawingml/2006/main"/>
        </p:blipFill>
        <p:spPr>
          <a:xfrm xmlns:a="http://schemas.openxmlformats.org/drawingml/2006/main">
            <a:off x="640556" y="1952625"/>
            <a:ext cx="6500813" cy="4333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851F08A-2C41-46D3-A553-FFBFA84F3785}"/>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IDEA AND WHY IT MATTERS</a:t>
            </a:r>
          </a:p>
        </p:txBody>
      </p:sp>
      <p:sp>
        <p:nvSpPr>
          <p:cNvPr id="8" name="">
            <a:extLst xmlns:a="http://schemas.openxmlformats.org/drawingml/2006/main">
              <a:ext uri="{FF2B5EF4-FFF2-40B4-BE49-F238E27FC236}">
                <a16:creationId xmlns:a16="http://schemas.microsoft.com/office/drawing/2014/main" id="{CE25A196-E941-4A7B-9F64-A5CF23B0E044}"/>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interphAIse: choosing protective battery layers</a:t>
            </a:r>
          </a:p>
        </p:txBody>
      </p:sp>
      <p:sp>
        <p:nvSpPr>
          <p:cNvPr id="9" name="">
            <a:extLst xmlns:a="http://schemas.openxmlformats.org/drawingml/2006/main">
              <a:ext uri="{FF2B5EF4-FFF2-40B4-BE49-F238E27FC236}">
                <a16:creationId xmlns:a16="http://schemas.microsoft.com/office/drawing/2014/main" id="{4DEAAEC5-8E79-4BF5-8CB6-BB76C5FD1331}"/>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An AI language model chooses what to test. Scientific tools check its choices.</a:t>
            </a:r>
          </a:p>
        </p:txBody>
      </p:sp>
      <p:sp>
        <p:nvSpPr>
          <p:cNvPr id="10" name="">
            <a:extLst xmlns:a="http://schemas.openxmlformats.org/drawingml/2006/main">
              <a:ext uri="{FF2B5EF4-FFF2-40B4-BE49-F238E27FC236}">
                <a16:creationId xmlns:a16="http://schemas.microsoft.com/office/drawing/2014/main" id="{404866D4-754C-4DA4-AD18-E9EAD0310BE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11" name="">
            <a:extLst xmlns:a="http://schemas.openxmlformats.org/drawingml/2006/main">
              <a:ext uri="{FF2B5EF4-FFF2-40B4-BE49-F238E27FC236}">
                <a16:creationId xmlns:a16="http://schemas.microsoft.com/office/drawing/2014/main" id="{792B0EB4-A9BC-4228-A6A7-F029C3B0566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01</a:t>
            </a:r>
          </a:p>
        </p:txBody>
      </p:sp>
      <p:sp>
        <p:nvSpPr>
          <p:cNvPr id="12" name="">
            <a:extLst xmlns:a="http://schemas.openxmlformats.org/drawingml/2006/main">
              <a:ext uri="{FF2B5EF4-FFF2-40B4-BE49-F238E27FC236}">
                <a16:creationId xmlns:a16="http://schemas.microsoft.com/office/drawing/2014/main" id="{662092EA-5327-449B-B806-F1D6D58A0462}"/>
              </a:ext>
            </a:extLst>
          </p:cNvPr>
          <p:cNvSpPr>
            <a:spLocks xmlns:a="http://schemas.openxmlformats.org/drawingml/2006/main" noGrp="1"/>
          </p:cNvSpPr>
          <p:nvPr/>
        </p:nvSpPr>
        <p:spPr>
          <a:xfrm xmlns:a="http://schemas.openxmlformats.org/drawingml/2006/main">
            <a:off x="7572375" y="2190750"/>
            <a:ext cx="4086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A coating must</a:t>
            </a:r>
          </a:p>
        </p:txBody>
      </p:sp>
      <p:sp>
        <p:nvSpPr>
          <p:cNvPr id="13" name="">
            <a:extLst xmlns:a="http://schemas.openxmlformats.org/drawingml/2006/main">
              <a:ext uri="{FF2B5EF4-FFF2-40B4-BE49-F238E27FC236}">
                <a16:creationId xmlns:a16="http://schemas.microsoft.com/office/drawing/2014/main" id="{4F17F637-1D7F-4B1E-BD52-06BEF44A6ACF}"/>
              </a:ext>
            </a:extLst>
          </p:cNvPr>
          <p:cNvSpPr>
            <a:spLocks xmlns:a="http://schemas.openxmlformats.org/drawingml/2006/main" noGrp="1"/>
          </p:cNvSpPr>
          <p:nvPr/>
        </p:nvSpPr>
        <p:spPr>
          <a:xfrm xmlns:a="http://schemas.openxmlformats.org/drawingml/2006/main">
            <a:off x="7572375" y="2943225"/>
            <a:ext cx="40862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7F7B"/>
                </a:solidFill>
                <a:latin typeface="Helvetica Neue"/>
                <a:ea typeface="Helvetica Neue"/>
                <a:cs typeface="Helvetica Neue"/>
              </a:defRPr>
            </a:defPPr>
            <a:lvl1pPr>
              <a:buNone/>
              <a:defRPr sz="2325" b="1">
                <a:solidFill>
                  <a:srgbClr val="007F7B"/>
                </a:solidFill>
                <a:latin typeface="Helvetica Neue"/>
                <a:ea typeface="Helvetica Neue"/>
                <a:cs typeface="Helvetica Neue"/>
              </a:defRPr>
            </a:lvl1pPr>
            <a:lvl2pPr>
              <a:buNone/>
              <a:defRPr sz="2325" b="1">
                <a:solidFill>
                  <a:srgbClr val="007F7B"/>
                </a:solidFill>
                <a:latin typeface="Helvetica Neue"/>
                <a:ea typeface="Helvetica Neue"/>
                <a:cs typeface="Helvetica Neue"/>
              </a:defRPr>
            </a:lvl2pPr>
            <a:lvl3pPr>
              <a:buNone/>
              <a:defRPr sz="2325" b="1">
                <a:solidFill>
                  <a:srgbClr val="007F7B"/>
                </a:solidFill>
                <a:latin typeface="Helvetica Neue"/>
                <a:ea typeface="Helvetica Neue"/>
                <a:cs typeface="Helvetica Neue"/>
              </a:defRPr>
            </a:lvl3pPr>
            <a:lvl4pPr>
              <a:buNone/>
              <a:defRPr sz="2325" b="1">
                <a:solidFill>
                  <a:srgbClr val="007F7B"/>
                </a:solidFill>
                <a:latin typeface="Helvetica Neue"/>
                <a:ea typeface="Helvetica Neue"/>
                <a:cs typeface="Helvetica Neue"/>
              </a:defRPr>
            </a:lvl4pPr>
            <a:lvl5pPr>
              <a:buNone/>
              <a:defRPr sz="2325" b="1">
                <a:solidFill>
                  <a:srgbClr val="007F7B"/>
                </a:solidFill>
                <a:latin typeface="Helvetica Neue"/>
                <a:ea typeface="Helvetica Neue"/>
                <a:cs typeface="Helvetica Neue"/>
              </a:defRPr>
            </a:lvl5pPr>
            <a:lvl6pPr>
              <a:buNone/>
              <a:defRPr sz="2325" b="1">
                <a:solidFill>
                  <a:srgbClr val="007F7B"/>
                </a:solidFill>
                <a:latin typeface="Helvetica Neue"/>
                <a:ea typeface="Helvetica Neue"/>
                <a:cs typeface="Helvetica Neue"/>
              </a:defRPr>
            </a:lvl6pPr>
            <a:lvl7pPr>
              <a:buNone/>
              <a:defRPr sz="2325" b="1">
                <a:solidFill>
                  <a:srgbClr val="007F7B"/>
                </a:solidFill>
                <a:latin typeface="Helvetica Neue"/>
                <a:ea typeface="Helvetica Neue"/>
                <a:cs typeface="Helvetica Neue"/>
              </a:defRPr>
            </a:lvl7pPr>
            <a:lvl8pPr>
              <a:buNone/>
              <a:defRPr sz="2325" b="1">
                <a:solidFill>
                  <a:srgbClr val="007F7B"/>
                </a:solidFill>
                <a:latin typeface="Helvetica Neue"/>
                <a:ea typeface="Helvetica Neue"/>
                <a:cs typeface="Helvetica Neue"/>
              </a:defRPr>
            </a:lvl8pPr>
            <a:lvl9pPr>
              <a:buNone/>
              <a:defRPr sz="2325" b="1">
                <a:solidFill>
                  <a:srgbClr val="007F7B"/>
                </a:solidFill>
                <a:latin typeface="Helvetica Neue"/>
                <a:ea typeface="Helvetica Neue"/>
                <a:cs typeface="Helvetica Neue"/>
              </a:defRPr>
            </a:lvl9pPr>
          </a:lstStyle>
          <a:p xmlns:a="http://schemas.openxmlformats.org/drawingml/2006/main">
            <a:pPr>
              <a:buNone/>
              <a:defRPr sz="2325" b="1">
                <a:solidFill>
                  <a:srgbClr val="007F7B"/>
                </a:solidFill>
                <a:latin typeface="Helvetica Neue"/>
                <a:ea typeface="Helvetica Neue"/>
                <a:cs typeface="Helvetica Neue"/>
              </a:defRPr>
            </a:pPr>
            <a:r>
              <a:rPr sz="2325" b="1">
                <a:solidFill>
                  <a:srgbClr val="007F7B"/>
                </a:solidFill>
                <a:latin typeface="Helvetica Neue"/>
                <a:ea typeface="Helvetica Neue"/>
                <a:cs typeface="Helvetica Neue"/>
              </a:rPr>
              <a:t>Limit unwanted reactions</a:t>
            </a:r>
          </a:p>
          <a:p xmlns:a="http://schemas.openxmlformats.org/drawingml/2006/main">
            <a:pPr>
              <a:buNone/>
              <a:defRPr sz="2325" b="1">
                <a:solidFill>
                  <a:srgbClr val="007F7B"/>
                </a:solidFill>
                <a:latin typeface="Helvetica Neue"/>
                <a:ea typeface="Helvetica Neue"/>
                <a:cs typeface="Helvetica Neue"/>
              </a:defRPr>
            </a:pPr>
            <a:r>
              <a:rPr sz="2325" b="1">
                <a:solidFill>
                  <a:srgbClr val="007F7B"/>
                </a:solidFill>
                <a:latin typeface="Helvetica Neue"/>
                <a:ea typeface="Helvetica Neue"/>
                <a:cs typeface="Helvetica Neue"/>
              </a:rPr>
              <a:t>and stay attached.</a:t>
            </a:r>
          </a:p>
        </p:txBody>
      </p:sp>
      <p:sp>
        <p:nvSpPr>
          <p:cNvPr id="14" name="">
            <a:extLst xmlns:a="http://schemas.openxmlformats.org/drawingml/2006/main">
              <a:ext uri="{FF2B5EF4-FFF2-40B4-BE49-F238E27FC236}">
                <a16:creationId xmlns:a16="http://schemas.microsoft.com/office/drawing/2014/main" id="{DEDF4673-FBFA-4026-BF74-7C8A065B350F}"/>
              </a:ext>
            </a:extLst>
          </p:cNvPr>
          <p:cNvSpPr>
            <a:spLocks xmlns:a="http://schemas.openxmlformats.org/drawingml/2006/main" noGrp="1"/>
          </p:cNvSpPr>
          <p:nvPr/>
        </p:nvSpPr>
        <p:spPr>
          <a:xfrm xmlns:a="http://schemas.openxmlformats.org/drawingml/2006/main">
            <a:off x="7572375" y="4133850"/>
            <a:ext cx="4086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66AA8"/>
                </a:solidFill>
                <a:latin typeface="Helvetica Neue"/>
                <a:ea typeface="Helvetica Neue"/>
                <a:cs typeface="Helvetica Neue"/>
              </a:defRPr>
            </a:defPPr>
            <a:lvl1pPr>
              <a:buNone/>
              <a:defRPr sz="2325" b="1">
                <a:solidFill>
                  <a:srgbClr val="366AA8"/>
                </a:solidFill>
                <a:latin typeface="Helvetica Neue"/>
                <a:ea typeface="Helvetica Neue"/>
                <a:cs typeface="Helvetica Neue"/>
              </a:defRPr>
            </a:lvl1pPr>
            <a:lvl2pPr>
              <a:buNone/>
              <a:defRPr sz="2325" b="1">
                <a:solidFill>
                  <a:srgbClr val="366AA8"/>
                </a:solidFill>
                <a:latin typeface="Helvetica Neue"/>
                <a:ea typeface="Helvetica Neue"/>
                <a:cs typeface="Helvetica Neue"/>
              </a:defRPr>
            </a:lvl2pPr>
            <a:lvl3pPr>
              <a:buNone/>
              <a:defRPr sz="2325" b="1">
                <a:solidFill>
                  <a:srgbClr val="366AA8"/>
                </a:solidFill>
                <a:latin typeface="Helvetica Neue"/>
                <a:ea typeface="Helvetica Neue"/>
                <a:cs typeface="Helvetica Neue"/>
              </a:defRPr>
            </a:lvl3pPr>
            <a:lvl4pPr>
              <a:buNone/>
              <a:defRPr sz="2325" b="1">
                <a:solidFill>
                  <a:srgbClr val="366AA8"/>
                </a:solidFill>
                <a:latin typeface="Helvetica Neue"/>
                <a:ea typeface="Helvetica Neue"/>
                <a:cs typeface="Helvetica Neue"/>
              </a:defRPr>
            </a:lvl4pPr>
            <a:lvl5pPr>
              <a:buNone/>
              <a:defRPr sz="2325" b="1">
                <a:solidFill>
                  <a:srgbClr val="366AA8"/>
                </a:solidFill>
                <a:latin typeface="Helvetica Neue"/>
                <a:ea typeface="Helvetica Neue"/>
                <a:cs typeface="Helvetica Neue"/>
              </a:defRPr>
            </a:lvl5pPr>
            <a:lvl6pPr>
              <a:buNone/>
              <a:defRPr sz="2325" b="1">
                <a:solidFill>
                  <a:srgbClr val="366AA8"/>
                </a:solidFill>
                <a:latin typeface="Helvetica Neue"/>
                <a:ea typeface="Helvetica Neue"/>
                <a:cs typeface="Helvetica Neue"/>
              </a:defRPr>
            </a:lvl6pPr>
            <a:lvl7pPr>
              <a:buNone/>
              <a:defRPr sz="2325" b="1">
                <a:solidFill>
                  <a:srgbClr val="366AA8"/>
                </a:solidFill>
                <a:latin typeface="Helvetica Neue"/>
                <a:ea typeface="Helvetica Neue"/>
                <a:cs typeface="Helvetica Neue"/>
              </a:defRPr>
            </a:lvl7pPr>
            <a:lvl8pPr>
              <a:buNone/>
              <a:defRPr sz="2325" b="1">
                <a:solidFill>
                  <a:srgbClr val="366AA8"/>
                </a:solidFill>
                <a:latin typeface="Helvetica Neue"/>
                <a:ea typeface="Helvetica Neue"/>
                <a:cs typeface="Helvetica Neue"/>
              </a:defRPr>
            </a:lvl8pPr>
            <a:lvl9pPr>
              <a:buNone/>
              <a:defRPr sz="2325" b="1">
                <a:solidFill>
                  <a:srgbClr val="366AA8"/>
                </a:solidFill>
                <a:latin typeface="Helvetica Neue"/>
                <a:ea typeface="Helvetica Neue"/>
                <a:cs typeface="Helvetica Neue"/>
              </a:defRPr>
            </a:lvl9pPr>
          </a:lstStyle>
          <a:p xmlns:a="http://schemas.openxmlformats.org/drawingml/2006/main">
            <a:pPr>
              <a:buNone/>
              <a:defRPr sz="2325" b="1">
                <a:solidFill>
                  <a:srgbClr val="366AA8"/>
                </a:solidFill>
                <a:latin typeface="Helvetica Neue"/>
                <a:ea typeface="Helvetica Neue"/>
                <a:cs typeface="Helvetica Neue"/>
              </a:defRPr>
            </a:pPr>
            <a:r>
              <a:rPr sz="2325" b="1">
                <a:solidFill>
                  <a:srgbClr val="366AA8"/>
                </a:solidFill>
                <a:latin typeface="Helvetica Neue"/>
                <a:ea typeface="Helvetica Neue"/>
                <a:cs typeface="Helvetica Neue"/>
              </a:rPr>
              <a:t>Block electrons.</a:t>
            </a:r>
          </a:p>
          <a:p xmlns:a="http://schemas.openxmlformats.org/drawingml/2006/main">
            <a:pPr>
              <a:buNone/>
              <a:defRPr sz="2325" b="1">
                <a:solidFill>
                  <a:srgbClr val="366AA8"/>
                </a:solidFill>
                <a:latin typeface="Helvetica Neue"/>
                <a:ea typeface="Helvetica Neue"/>
                <a:cs typeface="Helvetica Neue"/>
              </a:defRPr>
            </a:pPr>
            <a:r>
              <a:rPr sz="2325" b="1">
                <a:solidFill>
                  <a:srgbClr val="366AA8"/>
                </a:solidFill>
                <a:latin typeface="Helvetica Neue"/>
                <a:ea typeface="Helvetica Neue"/>
                <a:cs typeface="Helvetica Neue"/>
              </a:rPr>
              <a:t>Let lithium ions cross.</a:t>
            </a:r>
          </a:p>
        </p:txBody>
      </p:sp>
      <p:sp>
        <p:nvSpPr>
          <p:cNvPr id="15" name="">
            <a:extLst xmlns:a="http://schemas.openxmlformats.org/drawingml/2006/main">
              <a:ext uri="{FF2B5EF4-FFF2-40B4-BE49-F238E27FC236}">
                <a16:creationId xmlns:a16="http://schemas.microsoft.com/office/drawing/2014/main" id="{B0397D55-FB5B-4D0D-908E-556408E902F7}"/>
              </a:ext>
            </a:extLst>
          </p:cNvPr>
          <p:cNvSpPr>
            <a:spLocks xmlns:a="http://schemas.openxmlformats.org/drawingml/2006/main" noGrp="1"/>
          </p:cNvSpPr>
          <p:nvPr/>
        </p:nvSpPr>
        <p:spPr>
          <a:xfrm xmlns:a="http://schemas.openxmlformats.org/drawingml/2006/main">
            <a:off x="7572375" y="5362575"/>
            <a:ext cx="40862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Goal: test whether feedback</a:t>
            </a:r>
          </a:p>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improves coating selection.</a:t>
            </a:r>
          </a:p>
        </p:txBody>
      </p:sp>
      <p:sp>
        <p:nvSpPr>
          <p:cNvPr id="16" name="">
            <a:extLst xmlns:a="http://schemas.openxmlformats.org/drawingml/2006/main">
              <a:ext uri="{FF2B5EF4-FFF2-40B4-BE49-F238E27FC236}">
                <a16:creationId xmlns:a16="http://schemas.microsoft.com/office/drawing/2014/main" id="{3E80A472-04F5-4CBA-A607-0EAAAC15FC89}"/>
              </a:ext>
            </a:extLst>
          </p:cNvPr>
          <p:cNvSpPr>
            <a:spLocks xmlns:a="http://schemas.openxmlformats.org/drawingml/2006/main" noGrp="1"/>
          </p:cNvSpPr>
          <p:nvPr/>
        </p:nvSpPr>
        <p:spPr>
          <a:xfrm xmlns:a="http://schemas.openxmlformats.org/drawingml/2006/main">
            <a:off x="533400" y="6134100"/>
            <a:ext cx="657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2"/>
                </a:solidFill>
                <a:latin typeface="Helvetica Neue"/>
                <a:ea typeface="Helvetica Neue"/>
                <a:cs typeface="Helvetica Neue"/>
              </a:defRPr>
            </a:defPPr>
            <a:lvl1pPr>
              <a:buNone/>
              <a:defRPr sz="1500" b="0">
                <a:solidFill>
                  <a:srgbClr val="526472"/>
                </a:solidFill>
                <a:latin typeface="Helvetica Neue"/>
                <a:ea typeface="Helvetica Neue"/>
                <a:cs typeface="Helvetica Neue"/>
              </a:defRPr>
            </a:lvl1pPr>
            <a:lvl2pPr>
              <a:buNone/>
              <a:defRPr sz="1500" b="0">
                <a:solidFill>
                  <a:srgbClr val="526472"/>
                </a:solidFill>
                <a:latin typeface="Helvetica Neue"/>
                <a:ea typeface="Helvetica Neue"/>
                <a:cs typeface="Helvetica Neue"/>
              </a:defRPr>
            </a:lvl2pPr>
            <a:lvl3pPr>
              <a:buNone/>
              <a:defRPr sz="1500" b="0">
                <a:solidFill>
                  <a:srgbClr val="526472"/>
                </a:solidFill>
                <a:latin typeface="Helvetica Neue"/>
                <a:ea typeface="Helvetica Neue"/>
                <a:cs typeface="Helvetica Neue"/>
              </a:defRPr>
            </a:lvl3pPr>
            <a:lvl4pPr>
              <a:buNone/>
              <a:defRPr sz="1500" b="0">
                <a:solidFill>
                  <a:srgbClr val="526472"/>
                </a:solidFill>
                <a:latin typeface="Helvetica Neue"/>
                <a:ea typeface="Helvetica Neue"/>
                <a:cs typeface="Helvetica Neue"/>
              </a:defRPr>
            </a:lvl4pPr>
            <a:lvl5pPr>
              <a:buNone/>
              <a:defRPr sz="1500" b="0">
                <a:solidFill>
                  <a:srgbClr val="526472"/>
                </a:solidFill>
                <a:latin typeface="Helvetica Neue"/>
                <a:ea typeface="Helvetica Neue"/>
                <a:cs typeface="Helvetica Neue"/>
              </a:defRPr>
            </a:lvl5pPr>
            <a:lvl6pPr>
              <a:buNone/>
              <a:defRPr sz="1500" b="0">
                <a:solidFill>
                  <a:srgbClr val="526472"/>
                </a:solidFill>
                <a:latin typeface="Helvetica Neue"/>
                <a:ea typeface="Helvetica Neue"/>
                <a:cs typeface="Helvetica Neue"/>
              </a:defRPr>
            </a:lvl6pPr>
            <a:lvl7pPr>
              <a:buNone/>
              <a:defRPr sz="1500" b="0">
                <a:solidFill>
                  <a:srgbClr val="526472"/>
                </a:solidFill>
                <a:latin typeface="Helvetica Neue"/>
                <a:ea typeface="Helvetica Neue"/>
                <a:cs typeface="Helvetica Neue"/>
              </a:defRPr>
            </a:lvl7pPr>
            <a:lvl8pPr>
              <a:buNone/>
              <a:defRPr sz="1500" b="0">
                <a:solidFill>
                  <a:srgbClr val="526472"/>
                </a:solidFill>
                <a:latin typeface="Helvetica Neue"/>
                <a:ea typeface="Helvetica Neue"/>
                <a:cs typeface="Helvetica Neue"/>
              </a:defRPr>
            </a:lvl8pPr>
            <a:lvl9pPr>
              <a:buNone/>
              <a:defRPr sz="1500" b="0">
                <a:solidFill>
                  <a:srgbClr val="526472"/>
                </a:solidFill>
                <a:latin typeface="Helvetica Neue"/>
                <a:ea typeface="Helvetica Neue"/>
                <a:cs typeface="Helvetica Neue"/>
              </a:defRPr>
            </a:lvl9pPr>
          </a:lstStyle>
          <a:p xmlns:a="http://schemas.openxmlformats.org/drawingml/2006/main">
            <a:pPr>
              <a:buNone/>
              <a:defRPr sz="1500" b="0">
                <a:solidFill>
                  <a:srgbClr val="526472"/>
                </a:solidFill>
                <a:latin typeface="Helvetica Neue"/>
                <a:ea typeface="Helvetica Neue"/>
                <a:cs typeface="Helvetica Neue"/>
              </a:defRPr>
            </a:pPr>
            <a:r>
              <a:rPr sz="1500" b="0">
                <a:solidFill>
                  <a:srgbClr val="526472"/>
                </a:solidFill>
                <a:latin typeface="Helvetica Neue"/>
                <a:ea typeface="Helvetica Neue"/>
                <a:cs typeface="Helvetica Neue"/>
              </a:rPr>
              <a:t>Davide Tisi and Adem R. N. Aouichaoui</a:t>
            </a:r>
          </a:p>
        </p:txBody>
      </p:sp>
      <p:pic>
        <p:nvPicPr>
          <p:cNvPr id="17" name="">
            <a:extLst xmlns:a="http://schemas.openxmlformats.org/drawingml/2006/main">
              <a:ext uri="{FF2B5EF4-FFF2-40B4-BE49-F238E27FC236}">
                <a16:creationId xmlns:a16="http://schemas.microsoft.com/office/drawing/2014/main" id="{8CB3CA20-D5F2-4572-99CD-4E0AF3710A9B}"/>
              </a:ext>
            </a:extLst>
          </p:cNvPr>
          <p:cNvPicPr>
            <a:picLocks xmlns:a="http://schemas.openxmlformats.org/drawingml/2006/main" noChangeAspect="1"/>
          </p:cNvPicPr>
          <p:nvPr/>
        </p:nvPicPr>
        <p:blipFill>
          <a:blip xmlns:r="http://schemas.openxmlformats.org/officeDocument/2006/relationships" xmlns:a="http://schemas.openxmlformats.org/drawingml/2006/main" r:embed="R0ad35586798d4c36"/>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924646047"/>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C16E62-8908-428D-8BBC-81E6FBECE663}"/>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QUESTION WE TEST</a:t>
            </a:r>
          </a:p>
        </p:txBody>
      </p:sp>
      <p:sp>
        <p:nvSpPr>
          <p:cNvPr id="2" name="">
            <a:extLst xmlns:a="http://schemas.openxmlformats.org/drawingml/2006/main">
              <a:ext uri="{FF2B5EF4-FFF2-40B4-BE49-F238E27FC236}">
                <a16:creationId xmlns:a16="http://schemas.microsoft.com/office/drawing/2014/main" id="{E0EAF236-1CE7-4378-9976-AF783CA0EA76}"/>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Our objective: better choices within a fixed budget</a:t>
            </a:r>
          </a:p>
        </p:txBody>
      </p:sp>
      <p:sp>
        <p:nvSpPr>
          <p:cNvPr id="3" name="">
            <a:extLst xmlns:a="http://schemas.openxmlformats.org/drawingml/2006/main">
              <a:ext uri="{FF2B5EF4-FFF2-40B4-BE49-F238E27FC236}">
                <a16:creationId xmlns:a16="http://schemas.microsoft.com/office/drawing/2014/main" id="{7D2FA68B-1D15-4C83-B5E1-9407C7EF393C}"/>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Can calculation feedback help an LLM find acceptable coatings?</a:t>
            </a:r>
          </a:p>
        </p:txBody>
      </p:sp>
      <p:sp>
        <p:nvSpPr>
          <p:cNvPr id="4" name="">
            <a:extLst xmlns:a="http://schemas.openxmlformats.org/drawingml/2006/main">
              <a:ext uri="{FF2B5EF4-FFF2-40B4-BE49-F238E27FC236}">
                <a16:creationId xmlns:a16="http://schemas.microsoft.com/office/drawing/2014/main" id="{34BE62E5-F524-4F72-8DAE-ADCEB0E2756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BF912C91-0224-4089-A2BC-4AF4F01FE6A1}"/>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F3BB2BF2-AA4B-4A30-BD94-FDBC5EAEF41D}"/>
              </a:ext>
            </a:extLst>
          </p:cNvPr>
          <p:cNvSpPr>
            <a:spLocks xmlns:a="http://schemas.openxmlformats.org/drawingml/2006/main" noGrp="1"/>
          </p:cNvSpPr>
          <p:nvPr/>
        </p:nvSpPr>
        <p:spPr>
          <a:xfrm xmlns:a="http://schemas.openxmlformats.org/drawingml/2006/main">
            <a:off x="533400" y="226695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Scientific goal</a:t>
            </a:r>
          </a:p>
        </p:txBody>
      </p:sp>
      <p:sp>
        <p:nvSpPr>
          <p:cNvPr id="7" name="">
            <a:extLst xmlns:a="http://schemas.openxmlformats.org/drawingml/2006/main">
              <a:ext uri="{FF2B5EF4-FFF2-40B4-BE49-F238E27FC236}">
                <a16:creationId xmlns:a16="http://schemas.microsoft.com/office/drawing/2014/main" id="{3106C606-A21E-4FAF-87F9-517419AA0980}"/>
              </a:ext>
            </a:extLst>
          </p:cNvPr>
          <p:cNvSpPr>
            <a:spLocks xmlns:a="http://schemas.openxmlformats.org/drawingml/2006/main" noGrp="1"/>
          </p:cNvSpPr>
          <p:nvPr/>
        </p:nvSpPr>
        <p:spPr>
          <a:xfrm xmlns:a="http://schemas.openxmlformats.org/drawingml/2006/main">
            <a:off x="3381375" y="226695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Find protective coatings that are compatible,</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attached and able to carry lithium ions.</a:t>
            </a:r>
          </a:p>
        </p:txBody>
      </p:sp>
      <p:sp>
        <p:nvSpPr>
          <p:cNvPr id="8" name="">
            <a:extLst xmlns:a="http://schemas.openxmlformats.org/drawingml/2006/main">
              <a:ext uri="{FF2B5EF4-FFF2-40B4-BE49-F238E27FC236}">
                <a16:creationId xmlns:a16="http://schemas.microsoft.com/office/drawing/2014/main" id="{63D9DFCD-14A2-4499-B282-46C1CE990B33}"/>
              </a:ext>
            </a:extLst>
          </p:cNvPr>
          <p:cNvSpPr>
            <a:spLocks xmlns:a="http://schemas.openxmlformats.org/drawingml/2006/main" noGrp="1"/>
          </p:cNvSpPr>
          <p:nvPr/>
        </p:nvSpPr>
        <p:spPr>
          <a:xfrm xmlns:a="http://schemas.openxmlformats.org/drawingml/2006/main">
            <a:off x="533400" y="3533775"/>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Testable question</a:t>
            </a:r>
          </a:p>
        </p:txBody>
      </p:sp>
      <p:sp>
        <p:nvSpPr>
          <p:cNvPr id="9" name="">
            <a:extLst xmlns:a="http://schemas.openxmlformats.org/drawingml/2006/main">
              <a:ext uri="{FF2B5EF4-FFF2-40B4-BE49-F238E27FC236}">
                <a16:creationId xmlns:a16="http://schemas.microsoft.com/office/drawing/2014/main" id="{6D8E2892-CCBF-4866-ADFE-B6EE1C0C35EA}"/>
              </a:ext>
            </a:extLst>
          </p:cNvPr>
          <p:cNvSpPr>
            <a:spLocks xmlns:a="http://schemas.openxmlformats.org/drawingml/2006/main" noGrp="1"/>
          </p:cNvSpPr>
          <p:nvPr/>
        </p:nvSpPr>
        <p:spPr>
          <a:xfrm xmlns:a="http://schemas.openxmlformats.org/drawingml/2006/main">
            <a:off x="3381375" y="3533775"/>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Does using the true result improve the next</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material choice, compared with the controls?</a:t>
            </a:r>
          </a:p>
        </p:txBody>
      </p:sp>
      <p:sp>
        <p:nvSpPr>
          <p:cNvPr id="10" name="">
            <a:extLst xmlns:a="http://schemas.openxmlformats.org/drawingml/2006/main">
              <a:ext uri="{FF2B5EF4-FFF2-40B4-BE49-F238E27FC236}">
                <a16:creationId xmlns:a16="http://schemas.microsoft.com/office/drawing/2014/main" id="{DBD90BE5-EA6F-4413-BA49-A48095781EC0}"/>
              </a:ext>
            </a:extLst>
          </p:cNvPr>
          <p:cNvSpPr>
            <a:spLocks xmlns:a="http://schemas.openxmlformats.org/drawingml/2006/main" noGrp="1"/>
          </p:cNvSpPr>
          <p:nvPr/>
        </p:nvSpPr>
        <p:spPr>
          <a:xfrm xmlns:a="http://schemas.openxmlformats.org/drawingml/2006/main">
            <a:off x="533400" y="480060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Measured outcome</a:t>
            </a:r>
          </a:p>
        </p:txBody>
      </p:sp>
      <p:sp>
        <p:nvSpPr>
          <p:cNvPr id="11" name="">
            <a:extLst xmlns:a="http://schemas.openxmlformats.org/drawingml/2006/main">
              <a:ext uri="{FF2B5EF4-FFF2-40B4-BE49-F238E27FC236}">
                <a16:creationId xmlns:a16="http://schemas.microsoft.com/office/drawing/2014/main" id="{3E33F65B-62F9-4944-864C-84F9315CF244}"/>
              </a:ext>
            </a:extLst>
          </p:cNvPr>
          <p:cNvSpPr>
            <a:spLocks xmlns:a="http://schemas.openxmlformats.org/drawingml/2006/main" noGrp="1"/>
          </p:cNvSpPr>
          <p:nvPr/>
        </p:nvSpPr>
        <p:spPr>
          <a:xfrm xmlns:a="http://schemas.openxmlformats.org/drawingml/2006/main">
            <a:off x="3381375" y="480060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Find at least one acceptable candidate</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within ten choices.</a:t>
            </a:r>
          </a:p>
        </p:txBody>
      </p:sp>
      <p:pic>
        <p:nvPicPr>
          <p:cNvPr id="13" name="">
            <a:extLst xmlns:a="http://schemas.openxmlformats.org/drawingml/2006/main">
              <a:ext uri="{FF2B5EF4-FFF2-40B4-BE49-F238E27FC236}">
                <a16:creationId xmlns:a16="http://schemas.microsoft.com/office/drawing/2014/main" id="{C75BEE10-B719-4EC7-A711-6CE36F525128}"/>
              </a:ext>
            </a:extLst>
          </p:cNvPr>
          <p:cNvPicPr>
            <a:picLocks xmlns:a="http://schemas.openxmlformats.org/drawingml/2006/main" noChangeAspect="1"/>
          </p:cNvPicPr>
          <p:nvPr/>
        </p:nvPicPr>
        <p:blipFill>
          <a:blip xmlns:r="http://schemas.openxmlformats.org/officeDocument/2006/relationships" xmlns:a="http://schemas.openxmlformats.org/drawingml/2006/main" r:embed="R987062ff1a094d02"/>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088538115"/>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9841C9-C6A2-46E9-B73C-7E0BEF6151A2}"/>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WHAT A GOOD COATING MUST DO</a:t>
            </a:r>
          </a:p>
        </p:txBody>
      </p:sp>
      <p:sp>
        <p:nvSpPr>
          <p:cNvPr id="2" name="">
            <a:extLst xmlns:a="http://schemas.openxmlformats.org/drawingml/2006/main">
              <a:ext uri="{FF2B5EF4-FFF2-40B4-BE49-F238E27FC236}">
                <a16:creationId xmlns:a16="http://schemas.microsoft.com/office/drawing/2014/main" id="{848D7E1E-B848-4CFD-8D74-6474759A68AD}"/>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Four requirements for a useful coating</a:t>
            </a:r>
          </a:p>
        </p:txBody>
      </p:sp>
      <p:sp>
        <p:nvSpPr>
          <p:cNvPr id="3" name="">
            <a:extLst xmlns:a="http://schemas.openxmlformats.org/drawingml/2006/main">
              <a:ext uri="{FF2B5EF4-FFF2-40B4-BE49-F238E27FC236}">
                <a16:creationId xmlns:a16="http://schemas.microsoft.com/office/drawing/2014/main" id="{E8875AC4-9B37-4C00-B659-9511A270634A}"/>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Chemical acceptance is one part of the physical problem.</a:t>
            </a:r>
          </a:p>
        </p:txBody>
      </p:sp>
      <p:sp>
        <p:nvSpPr>
          <p:cNvPr id="4" name="">
            <a:extLst xmlns:a="http://schemas.openxmlformats.org/drawingml/2006/main">
              <a:ext uri="{FF2B5EF4-FFF2-40B4-BE49-F238E27FC236}">
                <a16:creationId xmlns:a16="http://schemas.microsoft.com/office/drawing/2014/main" id="{13D3269E-21CF-41B7-8D43-679459EB0623}"/>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1F2B12AE-F553-49A7-8082-5B5E3625F5AE}"/>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03</a:t>
            </a:r>
          </a:p>
        </p:txBody>
      </p:sp>
      <p:graphicFrame>
        <p:nvGraphicFramePr>
          <p:cNvPr id="6" name="">
            <a:extLst xmlns:a="http://schemas.openxmlformats.org/drawingml/2006/main">
              <a:ext uri="{FF2B5EF4-FFF2-40B4-BE49-F238E27FC236}">
                <a16:creationId xmlns:a16="http://schemas.microsoft.com/office/drawing/2014/main" id="{57E0521F-89CB-41B6-B63E-F8E90C46B294}"/>
              </a:ext>
            </a:extLst>
          </p:cNvPr>
          <p:cNvGraphicFramePr/>
          <p:nvPr/>
        </p:nvGraphicFramePr>
        <p:xfrm>
          <a:off xmlns:a="http://schemas.openxmlformats.org/drawingml/2006/main" x="533400" y="2133600"/>
          <a:ext xmlns:a="http://schemas.openxmlformats.org/drawingml/2006/main" cx="11125200" cy="3238500"/>
        </p:xfrm>
        <a:graphic xmlns:a="http://schemas.openxmlformats.org/drawingml/2006/main">
          <a:graphicData uri="http://schemas.openxmlformats.org/drawingml/2006/table">
            <a:tbl>
              <a:tblPr firstRow="0" bandRow="0"/>
              <a:tblGrid>
                <a:gridCol w="2667000"/>
                <a:gridCol w="4286250"/>
                <a:gridCol w="4171950"/>
              </a:tblGrid>
              <a:tr h="647700">
                <a:tc>
                  <a:txBody>
                    <a:bodyPr lIns="0" tIns="0" rIns="0" bIns="0">
                      <a:noAutofit/>
                    </a:bodyPr>
                    <a:lstStyle/>
                    <a:p>
                      <a:r>
                        <a:rPr sz="1800" b="1">
                          <a:solidFill>
                            <a:srgbClr val="FFFFFF"/>
                          </a:solidFill>
                          <a:latin typeface="Helvetica Neue"/>
                          <a:ea typeface="Helvetica Neue"/>
                          <a:cs typeface="Helvetica Neue"/>
                        </a:rPr>
                        <a:t>Requirement</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What it means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What this study checks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47700">
                <a:tc>
                  <a:txBody>
                    <a:bodyPr lIns="0" tIns="0" rIns="0" bIns="0">
                      <a:noAutofit/>
                    </a:bodyPr>
                    <a:lstStyle/>
                    <a:p>
                      <a:r>
                        <a:rPr sz="1950" b="0">
                          <a:solidFill>
                            <a:srgbClr val="172B3A"/>
                          </a:solidFill>
                          <a:latin typeface="Helvetica Neue"/>
                          <a:ea typeface="Helvetica Neue"/>
                          <a:cs typeface="Helvetica Neue"/>
                        </a:rPr>
                        <a:t>Compatibility</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Limit decomposition and reactions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Fixed reaction-score gate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Electronic insulation</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Block electronic leakage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Band-gap gate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Adhesion</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Keep the layers attached</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Three coatings compared</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Ion transport</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Let lithium ions cross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Not yet tested</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B292787C-949E-42F9-B649-1618994104D2}"/>
              </a:ext>
            </a:extLst>
          </p:cNvPr>
          <p:cNvSpPr>
            <a:spLocks xmlns:a="http://schemas.openxmlformats.org/drawingml/2006/main" noGrp="1"/>
          </p:cNvSpPr>
          <p:nvPr/>
        </p:nvSpPr>
        <p:spPr>
          <a:xfrm xmlns:a="http://schemas.openxmlformats.org/drawingml/2006/main">
            <a:off x="533400" y="5724525"/>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Helvetica Neue"/>
                <a:ea typeface="Helvetica Neue"/>
                <a:cs typeface="Helvetica Neue"/>
              </a:defRPr>
            </a:defPPr>
            <a:lvl1pPr>
              <a:buNone/>
              <a:defRPr sz="2250" b="1">
                <a:solidFill>
                  <a:srgbClr val="007F7B"/>
                </a:solidFill>
                <a:latin typeface="Helvetica Neue"/>
                <a:ea typeface="Helvetica Neue"/>
                <a:cs typeface="Helvetica Neue"/>
              </a:defRPr>
            </a:lvl1pPr>
            <a:lvl2pPr>
              <a:buNone/>
              <a:defRPr sz="2250" b="1">
                <a:solidFill>
                  <a:srgbClr val="007F7B"/>
                </a:solidFill>
                <a:latin typeface="Helvetica Neue"/>
                <a:ea typeface="Helvetica Neue"/>
                <a:cs typeface="Helvetica Neue"/>
              </a:defRPr>
            </a:lvl2pPr>
            <a:lvl3pPr>
              <a:buNone/>
              <a:defRPr sz="2250" b="1">
                <a:solidFill>
                  <a:srgbClr val="007F7B"/>
                </a:solidFill>
                <a:latin typeface="Helvetica Neue"/>
                <a:ea typeface="Helvetica Neue"/>
                <a:cs typeface="Helvetica Neue"/>
              </a:defRPr>
            </a:lvl3pPr>
            <a:lvl4pPr>
              <a:buNone/>
              <a:defRPr sz="2250" b="1">
                <a:solidFill>
                  <a:srgbClr val="007F7B"/>
                </a:solidFill>
                <a:latin typeface="Helvetica Neue"/>
                <a:ea typeface="Helvetica Neue"/>
                <a:cs typeface="Helvetica Neue"/>
              </a:defRPr>
            </a:lvl4pPr>
            <a:lvl5pPr>
              <a:buNone/>
              <a:defRPr sz="2250" b="1">
                <a:solidFill>
                  <a:srgbClr val="007F7B"/>
                </a:solidFill>
                <a:latin typeface="Helvetica Neue"/>
                <a:ea typeface="Helvetica Neue"/>
                <a:cs typeface="Helvetica Neue"/>
              </a:defRPr>
            </a:lvl5pPr>
            <a:lvl6pPr>
              <a:buNone/>
              <a:defRPr sz="2250" b="1">
                <a:solidFill>
                  <a:srgbClr val="007F7B"/>
                </a:solidFill>
                <a:latin typeface="Helvetica Neue"/>
                <a:ea typeface="Helvetica Neue"/>
                <a:cs typeface="Helvetica Neue"/>
              </a:defRPr>
            </a:lvl6pPr>
            <a:lvl7pPr>
              <a:buNone/>
              <a:defRPr sz="2250" b="1">
                <a:solidFill>
                  <a:srgbClr val="007F7B"/>
                </a:solidFill>
                <a:latin typeface="Helvetica Neue"/>
                <a:ea typeface="Helvetica Neue"/>
                <a:cs typeface="Helvetica Neue"/>
              </a:defRPr>
            </a:lvl7pPr>
            <a:lvl8pPr>
              <a:buNone/>
              <a:defRPr sz="2250" b="1">
                <a:solidFill>
                  <a:srgbClr val="007F7B"/>
                </a:solidFill>
                <a:latin typeface="Helvetica Neue"/>
                <a:ea typeface="Helvetica Neue"/>
                <a:cs typeface="Helvetica Neue"/>
              </a:defRPr>
            </a:lvl8pPr>
            <a:lvl9pPr>
              <a:buNone/>
              <a:defRPr sz="2250" b="1">
                <a:solidFill>
                  <a:srgbClr val="007F7B"/>
                </a:solidFill>
                <a:latin typeface="Helvetica Neue"/>
                <a:ea typeface="Helvetica Neue"/>
                <a:cs typeface="Helvetica Neue"/>
              </a:defRPr>
            </a:lvl9pPr>
          </a:lstStyle>
          <a:p xmlns:a="http://schemas.openxmlformats.org/drawingml/2006/main">
            <a:pPr>
              <a:buNone/>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The search screen checks the first two. A useful coating needs all four.</a:t>
            </a:r>
          </a:p>
        </p:txBody>
      </p:sp>
      <p:pic>
        <p:nvPicPr>
          <p:cNvPr id="9" name="">
            <a:extLst xmlns:a="http://schemas.openxmlformats.org/drawingml/2006/main">
              <a:ext uri="{FF2B5EF4-FFF2-40B4-BE49-F238E27FC236}">
                <a16:creationId xmlns:a16="http://schemas.microsoft.com/office/drawing/2014/main" id="{BF425ECD-CB62-4680-8F8A-0B5B705BA648}"/>
              </a:ext>
            </a:extLst>
          </p:cNvPr>
          <p:cNvPicPr>
            <a:picLocks xmlns:a="http://schemas.openxmlformats.org/drawingml/2006/main" noChangeAspect="1"/>
          </p:cNvPicPr>
          <p:nvPr/>
        </p:nvPicPr>
        <p:blipFill>
          <a:blip xmlns:r="http://schemas.openxmlformats.org/officeDocument/2006/relationships" xmlns:a="http://schemas.openxmlformats.org/drawingml/2006/main" r:embed="R546aaef363e04722"/>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983936677"/>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38314D-40DA-4D36-A22F-FE1F7B468AEA}"/>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SCIENTIFIC DECISIONS</a:t>
            </a:r>
          </a:p>
        </p:txBody>
      </p:sp>
      <p:sp>
        <p:nvSpPr>
          <p:cNvPr id="2" name="">
            <a:extLst xmlns:a="http://schemas.openxmlformats.org/drawingml/2006/main">
              <a:ext uri="{FF2B5EF4-FFF2-40B4-BE49-F238E27FC236}">
                <a16:creationId xmlns:a16="http://schemas.microsoft.com/office/drawing/2014/main" id="{68043A9B-BCEC-45A4-A149-4956C55F2D1C}"/>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Why the LLM is central</a:t>
            </a:r>
          </a:p>
        </p:txBody>
      </p:sp>
      <p:sp>
        <p:nvSpPr>
          <p:cNvPr id="3" name="">
            <a:extLst xmlns:a="http://schemas.openxmlformats.org/drawingml/2006/main">
              <a:ext uri="{FF2B5EF4-FFF2-40B4-BE49-F238E27FC236}">
                <a16:creationId xmlns:a16="http://schemas.microsoft.com/office/drawing/2014/main" id="{C482CD39-CE53-492D-9E81-80DF96AB5BA4}"/>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The question is which material deserves the next test.</a:t>
            </a:r>
          </a:p>
        </p:txBody>
      </p:sp>
      <p:sp>
        <p:nvSpPr>
          <p:cNvPr id="4" name="">
            <a:extLst xmlns:a="http://schemas.openxmlformats.org/drawingml/2006/main">
              <a:ext uri="{FF2B5EF4-FFF2-40B4-BE49-F238E27FC236}">
                <a16:creationId xmlns:a16="http://schemas.microsoft.com/office/drawing/2014/main" id="{504B0495-F22E-40D7-8B4A-7938390E973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4B6D6156-5D36-4D27-AF2D-87A7EE79A1D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3A840742-621E-4E58-A398-38101DBFF8A7}"/>
              </a:ext>
            </a:extLst>
          </p:cNvPr>
          <p:cNvSpPr>
            <a:spLocks xmlns:a="http://schemas.openxmlformats.org/drawingml/2006/main" noGrp="1"/>
          </p:cNvSpPr>
          <p:nvPr/>
        </p:nvSpPr>
        <p:spPr>
          <a:xfrm xmlns:a="http://schemas.openxmlformats.org/drawingml/2006/main">
            <a:off x="533400" y="228600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Propose</a:t>
            </a:r>
          </a:p>
        </p:txBody>
      </p:sp>
      <p:sp>
        <p:nvSpPr>
          <p:cNvPr id="7" name="">
            <a:extLst xmlns:a="http://schemas.openxmlformats.org/drawingml/2006/main">
              <a:ext uri="{FF2B5EF4-FFF2-40B4-BE49-F238E27FC236}">
                <a16:creationId xmlns:a16="http://schemas.microsoft.com/office/drawing/2014/main" id="{74E062B9-50F3-4CE9-BEF2-BF9901B59561}"/>
              </a:ext>
            </a:extLst>
          </p:cNvPr>
          <p:cNvSpPr>
            <a:spLocks xmlns:a="http://schemas.openxmlformats.org/drawingml/2006/main" noGrp="1"/>
          </p:cNvSpPr>
          <p:nvPr/>
        </p:nvSpPr>
        <p:spPr>
          <a:xfrm xmlns:a="http://schemas.openxmlformats.org/drawingml/2006/main">
            <a:off x="3381375" y="228600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Connect chemical knowledge to a candidate</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and explain why it is worth testing.</a:t>
            </a:r>
          </a:p>
        </p:txBody>
      </p:sp>
      <p:sp>
        <p:nvSpPr>
          <p:cNvPr id="8" name="">
            <a:extLst xmlns:a="http://schemas.openxmlformats.org/drawingml/2006/main">
              <a:ext uri="{FF2B5EF4-FFF2-40B4-BE49-F238E27FC236}">
                <a16:creationId xmlns:a16="http://schemas.microsoft.com/office/drawing/2014/main" id="{2D260088-5BF7-4DE8-B8EB-7E0C2587B6D0}"/>
              </a:ext>
            </a:extLst>
          </p:cNvPr>
          <p:cNvSpPr>
            <a:spLocks xmlns:a="http://schemas.openxmlformats.org/drawingml/2006/main" noGrp="1"/>
          </p:cNvSpPr>
          <p:nvPr/>
        </p:nvSpPr>
        <p:spPr>
          <a:xfrm xmlns:a="http://schemas.openxmlformats.org/drawingml/2006/main">
            <a:off x="533400" y="356235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Use the result</a:t>
            </a:r>
          </a:p>
        </p:txBody>
      </p:sp>
      <p:sp>
        <p:nvSpPr>
          <p:cNvPr id="9" name="">
            <a:extLst xmlns:a="http://schemas.openxmlformats.org/drawingml/2006/main">
              <a:ext uri="{FF2B5EF4-FFF2-40B4-BE49-F238E27FC236}">
                <a16:creationId xmlns:a16="http://schemas.microsoft.com/office/drawing/2014/main" id="{0A673441-077F-4E0B-90A4-661159ABA1BD}"/>
              </a:ext>
            </a:extLst>
          </p:cNvPr>
          <p:cNvSpPr>
            <a:spLocks xmlns:a="http://schemas.openxmlformats.org/drawingml/2006/main" noGrp="1"/>
          </p:cNvSpPr>
          <p:nvPr/>
        </p:nvSpPr>
        <p:spPr>
          <a:xfrm xmlns:a="http://schemas.openxmlformats.org/drawingml/2006/main">
            <a:off x="3381375" y="356235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Read the numerical feedback and choose</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where to spend the next query.</a:t>
            </a:r>
          </a:p>
        </p:txBody>
      </p:sp>
      <p:sp>
        <p:nvSpPr>
          <p:cNvPr id="10" name="">
            <a:extLst xmlns:a="http://schemas.openxmlformats.org/drawingml/2006/main">
              <a:ext uri="{FF2B5EF4-FFF2-40B4-BE49-F238E27FC236}">
                <a16:creationId xmlns:a16="http://schemas.microsoft.com/office/drawing/2014/main" id="{A8E1268A-83C3-42AF-909E-940615127453}"/>
              </a:ext>
            </a:extLst>
          </p:cNvPr>
          <p:cNvSpPr>
            <a:spLocks xmlns:a="http://schemas.openxmlformats.org/drawingml/2006/main" noGrp="1"/>
          </p:cNvSpPr>
          <p:nvPr/>
        </p:nvSpPr>
        <p:spPr>
          <a:xfrm xmlns:a="http://schemas.openxmlformats.org/drawingml/2006/main">
            <a:off x="533400" y="483870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Make a forecast</a:t>
            </a:r>
          </a:p>
        </p:txBody>
      </p:sp>
      <p:sp>
        <p:nvSpPr>
          <p:cNvPr id="11" name="">
            <a:extLst xmlns:a="http://schemas.openxmlformats.org/drawingml/2006/main">
              <a:ext uri="{FF2B5EF4-FFF2-40B4-BE49-F238E27FC236}">
                <a16:creationId xmlns:a16="http://schemas.microsoft.com/office/drawing/2014/main" id="{88EC0978-A795-4A25-96A3-F05280304C87}"/>
              </a:ext>
            </a:extLst>
          </p:cNvPr>
          <p:cNvSpPr>
            <a:spLocks xmlns:a="http://schemas.openxmlformats.org/drawingml/2006/main" noGrp="1"/>
          </p:cNvSpPr>
          <p:nvPr/>
        </p:nvSpPr>
        <p:spPr>
          <a:xfrm xmlns:a="http://schemas.openxmlformats.org/drawingml/2006/main">
            <a:off x="3381375" y="483870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Predict a physical result before the calculation</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so the explanation can be challenged.</a:t>
            </a:r>
          </a:p>
        </p:txBody>
      </p:sp>
      <p:pic>
        <p:nvPicPr>
          <p:cNvPr id="13" name="">
            <a:extLst xmlns:a="http://schemas.openxmlformats.org/drawingml/2006/main">
              <a:ext uri="{FF2B5EF4-FFF2-40B4-BE49-F238E27FC236}">
                <a16:creationId xmlns:a16="http://schemas.microsoft.com/office/drawing/2014/main" id="{692AE061-111D-4192-B1D7-EA320E20391D}"/>
              </a:ext>
            </a:extLst>
          </p:cNvPr>
          <p:cNvPicPr>
            <a:picLocks xmlns:a="http://schemas.openxmlformats.org/drawingml/2006/main" noChangeAspect="1"/>
          </p:cNvPicPr>
          <p:nvPr/>
        </p:nvPicPr>
        <p:blipFill>
          <a:blip xmlns:r="http://schemas.openxmlformats.org/officeDocument/2006/relationships" xmlns:a="http://schemas.openxmlformats.org/drawingml/2006/main" r:embed="Ra459170dada649fd"/>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147899109"/>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55C22F-CC20-4436-BD94-8C3A6DDEC70F}"/>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HOW IT WORKS</a:t>
            </a:r>
          </a:p>
        </p:txBody>
      </p:sp>
      <p:sp>
        <p:nvSpPr>
          <p:cNvPr id="2" name="">
            <a:extLst xmlns:a="http://schemas.openxmlformats.org/drawingml/2006/main">
              <a:ext uri="{FF2B5EF4-FFF2-40B4-BE49-F238E27FC236}">
                <a16:creationId xmlns:a16="http://schemas.microsoft.com/office/drawing/2014/main" id="{200117FA-36CF-495D-AD8B-1D48C84B9BFA}"/>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LLM and its scientific tools</a:t>
            </a:r>
          </a:p>
        </p:txBody>
      </p:sp>
      <p:sp>
        <p:nvSpPr>
          <p:cNvPr id="3" name="">
            <a:extLst xmlns:a="http://schemas.openxmlformats.org/drawingml/2006/main">
              <a:ext uri="{FF2B5EF4-FFF2-40B4-BE49-F238E27FC236}">
                <a16:creationId xmlns:a16="http://schemas.microsoft.com/office/drawing/2014/main" id="{1878814E-6E88-4B6D-BAD7-720E757F4A3E}"/>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Choose a candidate, calculate its properties, read the result, choose again.</a:t>
            </a:r>
          </a:p>
        </p:txBody>
      </p:sp>
      <p:sp>
        <p:nvSpPr>
          <p:cNvPr id="4" name="">
            <a:extLst xmlns:a="http://schemas.openxmlformats.org/drawingml/2006/main">
              <a:ext uri="{FF2B5EF4-FFF2-40B4-BE49-F238E27FC236}">
                <a16:creationId xmlns:a16="http://schemas.microsoft.com/office/drawing/2014/main" id="{5F197F97-E141-4718-91AD-F9EB2F228203}"/>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714498F0-7034-4A35-89E2-596350CA046F}"/>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05</a:t>
            </a:r>
          </a:p>
        </p:txBody>
      </p:sp>
      <p:graphicFrame>
        <p:nvGraphicFramePr>
          <p:cNvPr id="6" name="">
            <a:extLst xmlns:a="http://schemas.openxmlformats.org/drawingml/2006/main">
              <a:ext uri="{FF2B5EF4-FFF2-40B4-BE49-F238E27FC236}">
                <a16:creationId xmlns:a16="http://schemas.microsoft.com/office/drawing/2014/main" id="{EF9BA9F6-8D27-4F2C-856F-B24425E9A622}"/>
              </a:ext>
            </a:extLst>
          </p:cNvPr>
          <p:cNvGraphicFramePr/>
          <p:nvPr/>
        </p:nvGraphicFramePr>
        <p:xfrm>
          <a:off xmlns:a="http://schemas.openxmlformats.org/drawingml/2006/main" x="533400" y="2133600"/>
          <a:ext xmlns:a="http://schemas.openxmlformats.org/drawingml/2006/main" cx="11125200" cy="2809875"/>
        </p:xfrm>
        <a:graphic xmlns:a="http://schemas.openxmlformats.org/drawingml/2006/main">
          <a:graphicData uri="http://schemas.openxmlformats.org/drawingml/2006/table">
            <a:tbl>
              <a:tblPr firstRow="0" bandRow="0"/>
              <a:tblGrid>
                <a:gridCol w="3143250"/>
                <a:gridCol w="7981950"/>
              </a:tblGrid>
              <a:tr h="702469">
                <a:tc>
                  <a:txBody>
                    <a:bodyPr lIns="0" tIns="0" rIns="0" bIns="0">
                      <a:noAutofit/>
                    </a:bodyPr>
                    <a:lstStyle/>
                    <a:p>
                      <a:r>
                        <a:rPr sz="1800" b="1">
                          <a:solidFill>
                            <a:srgbClr val="FFFFFF"/>
                          </a:solidFill>
                          <a:latin typeface="Helvetica Neue"/>
                          <a:ea typeface="Helvetica Neue"/>
                          <a:cs typeface="Helvetica Neue"/>
                        </a:rPr>
                        <a:t>Part of the workflow</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Tool and role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02469">
                <a:tc>
                  <a:txBody>
                    <a:bodyPr lIns="0" tIns="0" rIns="0" bIns="0">
                      <a:noAutofit/>
                    </a:bodyPr>
                    <a:lstStyle/>
                    <a:p>
                      <a:r>
                        <a:rPr sz="2025" b="0">
                          <a:solidFill>
                            <a:srgbClr val="172B3A"/>
                          </a:solidFill>
                          <a:latin typeface="Helvetica Neue"/>
                          <a:ea typeface="Helvetica Neue"/>
                          <a:cs typeface="Helvetica Neue"/>
                        </a:rPr>
                        <a:t>Scientific choices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Haiku 5.5 / DeepSeek V3.2</a:t>
                      </a:r>
                    </a:p>
                    <a:p>
                      <a:r>
                        <a:rPr sz="2025" b="0">
                          <a:solidFill>
                            <a:srgbClr val="172B3A"/>
                          </a:solidFill>
                          <a:latin typeface="Helvetica Neue"/>
                          <a:ea typeface="Helvetica Neue"/>
                          <a:cs typeface="Helvetica Neue"/>
                        </a:rPr>
                        <a:t>Select a known material and explain the choice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02469">
                <a:tc>
                  <a:txBody>
                    <a:bodyPr lIns="0" tIns="0" rIns="0" bIns="0">
                      <a:noAutofit/>
                    </a:bodyPr>
                    <a:lstStyle/>
                    <a:p>
                      <a:r>
                        <a:rPr sz="2025" b="0">
                          <a:solidFill>
                            <a:srgbClr val="172B3A"/>
                          </a:solidFill>
                          <a:latin typeface="Helvetica Neue"/>
                          <a:ea typeface="Helvetica Neue"/>
                          <a:cs typeface="Helvetica Neue"/>
                        </a:rPr>
                        <a:t>Chemical screening</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Materials Project + pymatgen / SciPy</a:t>
                      </a:r>
                    </a:p>
                    <a:p>
                      <a:r>
                        <a:rPr sz="2025" b="0">
                          <a:solidFill>
                            <a:srgbClr val="172B3A"/>
                          </a:solidFill>
                          <a:latin typeface="Helvetica Neue"/>
                          <a:ea typeface="Helvetica Neue"/>
                          <a:cs typeface="Helvetica Neue"/>
                        </a:rPr>
                        <a:t>Supply reference data and precompute reaction scores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02469">
                <a:tc>
                  <a:txBody>
                    <a:bodyPr lIns="0" tIns="0" rIns="0" bIns="0">
                      <a:noAutofit/>
                    </a:bodyPr>
                    <a:lstStyle/>
                    <a:p>
                      <a:r>
                        <a:rPr sz="2025" b="0">
                          <a:solidFill>
                            <a:srgbClr val="172B3A"/>
                          </a:solidFill>
                          <a:latin typeface="Helvetica Neue"/>
                          <a:ea typeface="Helvetica Neue"/>
                          <a:cs typeface="Helvetica Neue"/>
                        </a:rPr>
                        <a:t>Physical follow-up</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ASE + PET-MAD</a:t>
                      </a:r>
                    </a:p>
                    <a:p>
                      <a:r>
                        <a:rPr sz="2025" b="0">
                          <a:solidFill>
                            <a:srgbClr val="172B3A"/>
                          </a:solidFill>
                          <a:latin typeface="Helvetica Neue"/>
                          <a:ea typeface="Helvetica Neue"/>
                          <a:cs typeface="Helvetica Neue"/>
                        </a:rPr>
                        <a:t>Model the atoms and calculate attachment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CB92BA62-63F9-4343-8456-3B8A134712FF}"/>
              </a:ext>
            </a:extLst>
          </p:cNvPr>
          <p:cNvSpPr>
            <a:spLocks xmlns:a="http://schemas.openxmlformats.org/drawingml/2006/main" noGrp="1"/>
          </p:cNvSpPr>
          <p:nvPr/>
        </p:nvSpPr>
        <p:spPr>
          <a:xfrm xmlns:a="http://schemas.openxmlformats.org/drawingml/2006/main">
            <a:off x="533400" y="523875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7F7B"/>
                </a:solidFill>
                <a:latin typeface="Helvetica Neue"/>
                <a:ea typeface="Helvetica Neue"/>
                <a:cs typeface="Helvetica Neue"/>
              </a:defRPr>
            </a:defPPr>
            <a:lvl1pPr>
              <a:buNone/>
              <a:defRPr sz="2325" b="1">
                <a:solidFill>
                  <a:srgbClr val="007F7B"/>
                </a:solidFill>
                <a:latin typeface="Helvetica Neue"/>
                <a:ea typeface="Helvetica Neue"/>
                <a:cs typeface="Helvetica Neue"/>
              </a:defRPr>
            </a:lvl1pPr>
            <a:lvl2pPr>
              <a:buNone/>
              <a:defRPr sz="2325" b="1">
                <a:solidFill>
                  <a:srgbClr val="007F7B"/>
                </a:solidFill>
                <a:latin typeface="Helvetica Neue"/>
                <a:ea typeface="Helvetica Neue"/>
                <a:cs typeface="Helvetica Neue"/>
              </a:defRPr>
            </a:lvl2pPr>
            <a:lvl3pPr>
              <a:buNone/>
              <a:defRPr sz="2325" b="1">
                <a:solidFill>
                  <a:srgbClr val="007F7B"/>
                </a:solidFill>
                <a:latin typeface="Helvetica Neue"/>
                <a:ea typeface="Helvetica Neue"/>
                <a:cs typeface="Helvetica Neue"/>
              </a:defRPr>
            </a:lvl3pPr>
            <a:lvl4pPr>
              <a:buNone/>
              <a:defRPr sz="2325" b="1">
                <a:solidFill>
                  <a:srgbClr val="007F7B"/>
                </a:solidFill>
                <a:latin typeface="Helvetica Neue"/>
                <a:ea typeface="Helvetica Neue"/>
                <a:cs typeface="Helvetica Neue"/>
              </a:defRPr>
            </a:lvl4pPr>
            <a:lvl5pPr>
              <a:buNone/>
              <a:defRPr sz="2325" b="1">
                <a:solidFill>
                  <a:srgbClr val="007F7B"/>
                </a:solidFill>
                <a:latin typeface="Helvetica Neue"/>
                <a:ea typeface="Helvetica Neue"/>
                <a:cs typeface="Helvetica Neue"/>
              </a:defRPr>
            </a:lvl5pPr>
            <a:lvl6pPr>
              <a:buNone/>
              <a:defRPr sz="2325" b="1">
                <a:solidFill>
                  <a:srgbClr val="007F7B"/>
                </a:solidFill>
                <a:latin typeface="Helvetica Neue"/>
                <a:ea typeface="Helvetica Neue"/>
                <a:cs typeface="Helvetica Neue"/>
              </a:defRPr>
            </a:lvl6pPr>
            <a:lvl7pPr>
              <a:buNone/>
              <a:defRPr sz="2325" b="1">
                <a:solidFill>
                  <a:srgbClr val="007F7B"/>
                </a:solidFill>
                <a:latin typeface="Helvetica Neue"/>
                <a:ea typeface="Helvetica Neue"/>
                <a:cs typeface="Helvetica Neue"/>
              </a:defRPr>
            </a:lvl7pPr>
            <a:lvl8pPr>
              <a:buNone/>
              <a:defRPr sz="2325" b="1">
                <a:solidFill>
                  <a:srgbClr val="007F7B"/>
                </a:solidFill>
                <a:latin typeface="Helvetica Neue"/>
                <a:ea typeface="Helvetica Neue"/>
                <a:cs typeface="Helvetica Neue"/>
              </a:defRPr>
            </a:lvl8pPr>
            <a:lvl9pPr>
              <a:buNone/>
              <a:defRPr sz="2325" b="1">
                <a:solidFill>
                  <a:srgbClr val="007F7B"/>
                </a:solidFill>
                <a:latin typeface="Helvetica Neue"/>
                <a:ea typeface="Helvetica Neue"/>
                <a:cs typeface="Helvetica Neue"/>
              </a:defRPr>
            </a:lvl9pPr>
          </a:lstStyle>
          <a:p xmlns:a="http://schemas.openxmlformats.org/drawingml/2006/main">
            <a:pPr>
              <a:buNone/>
              <a:defRPr sz="2325" b="1">
                <a:solidFill>
                  <a:srgbClr val="007F7B"/>
                </a:solidFill>
                <a:latin typeface="Helvetica Neue"/>
                <a:ea typeface="Helvetica Neue"/>
                <a:cs typeface="Helvetica Neue"/>
              </a:defRPr>
            </a:pPr>
            <a:r>
              <a:rPr sz="2325" b="1">
                <a:solidFill>
                  <a:srgbClr val="007F7B"/>
                </a:solidFill>
                <a:latin typeface="Helvetica Neue"/>
                <a:ea typeface="Helvetica Neue"/>
                <a:cs typeface="Helvetica Neue"/>
              </a:rPr>
              <a:t>141 structures. Three electrolytes. Ten choices per search.</a:t>
            </a:r>
          </a:p>
        </p:txBody>
      </p:sp>
      <p:sp>
        <p:nvSpPr>
          <p:cNvPr id="8" name="">
            <a:extLst xmlns:a="http://schemas.openxmlformats.org/drawingml/2006/main">
              <a:ext uri="{FF2B5EF4-FFF2-40B4-BE49-F238E27FC236}">
                <a16:creationId xmlns:a16="http://schemas.microsoft.com/office/drawing/2014/main" id="{9846E666-0BC9-4AB5-A335-27F6CFF0B36C}"/>
              </a:ext>
            </a:extLst>
          </p:cNvPr>
          <p:cNvSpPr>
            <a:spLocks xmlns:a="http://schemas.openxmlformats.org/drawingml/2006/main" noGrp="1"/>
          </p:cNvSpPr>
          <p:nvPr/>
        </p:nvSpPr>
        <p:spPr>
          <a:xfrm xmlns:a="http://schemas.openxmlformats.org/drawingml/2006/main">
            <a:off x="533400" y="5819775"/>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472"/>
                </a:solidFill>
                <a:latin typeface="Helvetica Neue"/>
                <a:ea typeface="Helvetica Neue"/>
                <a:cs typeface="Helvetica Neue"/>
              </a:defRPr>
            </a:defPPr>
            <a:lvl1pPr>
              <a:buNone/>
              <a:defRPr sz="1950" b="0">
                <a:solidFill>
                  <a:srgbClr val="526472"/>
                </a:solidFill>
                <a:latin typeface="Helvetica Neue"/>
                <a:ea typeface="Helvetica Neue"/>
                <a:cs typeface="Helvetica Neue"/>
              </a:defRPr>
            </a:lvl1pPr>
            <a:lvl2pPr>
              <a:buNone/>
              <a:defRPr sz="1950" b="0">
                <a:solidFill>
                  <a:srgbClr val="526472"/>
                </a:solidFill>
                <a:latin typeface="Helvetica Neue"/>
                <a:ea typeface="Helvetica Neue"/>
                <a:cs typeface="Helvetica Neue"/>
              </a:defRPr>
            </a:lvl2pPr>
            <a:lvl3pPr>
              <a:buNone/>
              <a:defRPr sz="1950" b="0">
                <a:solidFill>
                  <a:srgbClr val="526472"/>
                </a:solidFill>
                <a:latin typeface="Helvetica Neue"/>
                <a:ea typeface="Helvetica Neue"/>
                <a:cs typeface="Helvetica Neue"/>
              </a:defRPr>
            </a:lvl3pPr>
            <a:lvl4pPr>
              <a:buNone/>
              <a:defRPr sz="1950" b="0">
                <a:solidFill>
                  <a:srgbClr val="526472"/>
                </a:solidFill>
                <a:latin typeface="Helvetica Neue"/>
                <a:ea typeface="Helvetica Neue"/>
                <a:cs typeface="Helvetica Neue"/>
              </a:defRPr>
            </a:lvl4pPr>
            <a:lvl5pPr>
              <a:buNone/>
              <a:defRPr sz="1950" b="0">
                <a:solidFill>
                  <a:srgbClr val="526472"/>
                </a:solidFill>
                <a:latin typeface="Helvetica Neue"/>
                <a:ea typeface="Helvetica Neue"/>
                <a:cs typeface="Helvetica Neue"/>
              </a:defRPr>
            </a:lvl5pPr>
            <a:lvl6pPr>
              <a:buNone/>
              <a:defRPr sz="1950" b="0">
                <a:solidFill>
                  <a:srgbClr val="526472"/>
                </a:solidFill>
                <a:latin typeface="Helvetica Neue"/>
                <a:ea typeface="Helvetica Neue"/>
                <a:cs typeface="Helvetica Neue"/>
              </a:defRPr>
            </a:lvl6pPr>
            <a:lvl7pPr>
              <a:buNone/>
              <a:defRPr sz="1950" b="0">
                <a:solidFill>
                  <a:srgbClr val="526472"/>
                </a:solidFill>
                <a:latin typeface="Helvetica Neue"/>
                <a:ea typeface="Helvetica Neue"/>
                <a:cs typeface="Helvetica Neue"/>
              </a:defRPr>
            </a:lvl7pPr>
            <a:lvl8pPr>
              <a:buNone/>
              <a:defRPr sz="1950" b="0">
                <a:solidFill>
                  <a:srgbClr val="526472"/>
                </a:solidFill>
                <a:latin typeface="Helvetica Neue"/>
                <a:ea typeface="Helvetica Neue"/>
                <a:cs typeface="Helvetica Neue"/>
              </a:defRPr>
            </a:lvl8pPr>
            <a:lvl9pPr>
              <a:buNone/>
              <a:defRPr sz="1950" b="0">
                <a:solidFill>
                  <a:srgbClr val="526472"/>
                </a:solidFill>
                <a:latin typeface="Helvetica Neue"/>
                <a:ea typeface="Helvetica Neue"/>
                <a:cs typeface="Helvetica Neue"/>
              </a:defRPr>
            </a:lvl9pPr>
          </a:lstStyle>
          <a:p xmlns:a="http://schemas.openxmlformats.org/drawingml/2006/main">
            <a:pPr>
              <a:buNone/>
              <a:defRPr sz="1950" b="0">
                <a:solidFill>
                  <a:srgbClr val="526472"/>
                </a:solidFill>
                <a:latin typeface="Helvetica Neue"/>
                <a:ea typeface="Helvetica Neue"/>
                <a:cs typeface="Helvetica Neue"/>
              </a:defRPr>
            </a:pPr>
            <a:r>
              <a:rPr sz="1950" b="0">
                <a:solidFill>
                  <a:srgbClr val="526472"/>
                </a:solidFill>
                <a:latin typeface="Helvetica Neue"/>
                <a:ea typeface="Helvetica Neue"/>
                <a:cs typeface="Helvetica Neue"/>
              </a:rPr>
              <a:t>810 completed searches. Same task and budget, different model configurations.</a:t>
            </a:r>
          </a:p>
        </p:txBody>
      </p:sp>
      <p:pic>
        <p:nvPicPr>
          <p:cNvPr id="10" name="">
            <a:extLst xmlns:a="http://schemas.openxmlformats.org/drawingml/2006/main">
              <a:ext uri="{FF2B5EF4-FFF2-40B4-BE49-F238E27FC236}">
                <a16:creationId xmlns:a16="http://schemas.microsoft.com/office/drawing/2014/main" id="{D7637E53-C027-4E59-8BA5-3F5099118534}"/>
              </a:ext>
            </a:extLst>
          </p:cNvPr>
          <p:cNvPicPr>
            <a:picLocks xmlns:a="http://schemas.openxmlformats.org/drawingml/2006/main" noChangeAspect="1"/>
          </p:cNvPicPr>
          <p:nvPr/>
        </p:nvPicPr>
        <p:blipFill>
          <a:blip xmlns:r="http://schemas.openxmlformats.org/officeDocument/2006/relationships" xmlns:a="http://schemas.openxmlformats.org/drawingml/2006/main" r:embed="R36b4fba4c79042dd"/>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834391441"/>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FF8D2D-88D5-4CD5-AA3B-6CA6BA496208}"/>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CHOICE OF ENVIRONMENTS</a:t>
            </a:r>
          </a:p>
        </p:txBody>
      </p:sp>
      <p:sp>
        <p:nvSpPr>
          <p:cNvPr id="2" name="">
            <a:extLst xmlns:a="http://schemas.openxmlformats.org/drawingml/2006/main">
              <a:ext uri="{FF2B5EF4-FFF2-40B4-BE49-F238E27FC236}">
                <a16:creationId xmlns:a16="http://schemas.microsoft.com/office/drawing/2014/main" id="{C43F7937-6ECA-4BC0-978D-749FED5DE003}"/>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Why these battery materials?</a:t>
            </a:r>
          </a:p>
        </p:txBody>
      </p:sp>
      <p:sp>
        <p:nvSpPr>
          <p:cNvPr id="3" name="">
            <a:extLst xmlns:a="http://schemas.openxmlformats.org/drawingml/2006/main">
              <a:ext uri="{FF2B5EF4-FFF2-40B4-BE49-F238E27FC236}">
                <a16:creationId xmlns:a16="http://schemas.microsoft.com/office/drawing/2014/main" id="{3BA0DCF8-AC9F-40E1-8682-17542B940C71}"/>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Keep LiCoO₂ at 4 V fixed so the electrolyte chemistry is the variable.</a:t>
            </a:r>
          </a:p>
        </p:txBody>
      </p:sp>
      <p:sp>
        <p:nvSpPr>
          <p:cNvPr id="4" name="">
            <a:extLst xmlns:a="http://schemas.openxmlformats.org/drawingml/2006/main">
              <a:ext uri="{FF2B5EF4-FFF2-40B4-BE49-F238E27FC236}">
                <a16:creationId xmlns:a16="http://schemas.microsoft.com/office/drawing/2014/main" id="{D8A1FD61-D45C-4786-B901-D032ADD361E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7A2F521B-3C6B-4E43-97FC-D5497A2572BC}"/>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06</a:t>
            </a:r>
          </a:p>
        </p:txBody>
      </p:sp>
      <p:graphicFrame>
        <p:nvGraphicFramePr>
          <p:cNvPr id="6" name="">
            <a:extLst xmlns:a="http://schemas.openxmlformats.org/drawingml/2006/main">
              <a:ext uri="{FF2B5EF4-FFF2-40B4-BE49-F238E27FC236}">
                <a16:creationId xmlns:a16="http://schemas.microsoft.com/office/drawing/2014/main" id="{00390623-E45E-4A90-8BC8-63706C1C2598}"/>
              </a:ext>
            </a:extLst>
          </p:cNvPr>
          <p:cNvGraphicFramePr/>
          <p:nvPr/>
        </p:nvGraphicFramePr>
        <p:xfrm>
          <a:off xmlns:a="http://schemas.openxmlformats.org/drawingml/2006/main" x="533400" y="2143125"/>
          <a:ext xmlns:a="http://schemas.openxmlformats.org/drawingml/2006/main" cx="11125200" cy="3105150"/>
        </p:xfrm>
        <a:graphic xmlns:a="http://schemas.openxmlformats.org/drawingml/2006/main">
          <a:graphicData uri="http://schemas.openxmlformats.org/drawingml/2006/table">
            <a:tbl>
              <a:tblPr firstRow="0" bandRow="0"/>
              <a:tblGrid>
                <a:gridCol w="3714750"/>
                <a:gridCol w="7410450"/>
              </a:tblGrid>
              <a:tr h="776288">
                <a:tc>
                  <a:txBody>
                    <a:bodyPr lIns="0" tIns="0" rIns="0" bIns="0">
                      <a:noAutofit/>
                    </a:bodyPr>
                    <a:lstStyle/>
                    <a:p>
                      <a:r>
                        <a:rPr sz="1800" b="1">
                          <a:solidFill>
                            <a:srgbClr val="FFFFFF"/>
                          </a:solidFill>
                          <a:latin typeface="Helvetica Neue"/>
                          <a:ea typeface="Helvetica Neue"/>
                          <a:cs typeface="Helvetica Neue"/>
                        </a:rPr>
                        <a:t>Electrolyte</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Why it was included</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76288">
                <a:tc>
                  <a:txBody>
                    <a:bodyPr lIns="0" tIns="0" rIns="0" bIns="0">
                      <a:noAutofit/>
                    </a:bodyPr>
                    <a:lstStyle/>
                    <a:p>
                      <a:r>
                        <a:rPr sz="2025" b="0">
                          <a:solidFill>
                            <a:srgbClr val="172B3A"/>
                          </a:solidFill>
                          <a:latin typeface="Helvetica Neue"/>
                          <a:ea typeface="Helvetica Neue"/>
                          <a:cs typeface="Helvetica Neue"/>
                        </a:rPr>
                        <a:t>Li₆PS₅Cl / 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Established reference for the coating search</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76288">
                <a:tc>
                  <a:txBody>
                    <a:bodyPr lIns="0" tIns="0" rIns="0" bIns="0">
                      <a:noAutofit/>
                    </a:bodyPr>
                    <a:lstStyle/>
                    <a:p>
                      <a:r>
                        <a:rPr sz="2025" b="0">
                          <a:solidFill>
                            <a:srgbClr val="172B3A"/>
                          </a:solidFill>
                          <a:latin typeface="Helvetica Neue"/>
                          <a:ea typeface="Helvetica Neue"/>
                          <a:cs typeface="Helvetica Neue"/>
                        </a:rPr>
                        <a:t>Li₃InCl₆ / 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Tests a different anion chemistry</a:t>
                      </a:r>
                    </a:p>
                    <a:p>
                      <a:r>
                        <a:rPr sz="2025" b="0">
                          <a:solidFill>
                            <a:srgbClr val="172B3A"/>
                          </a:solidFill>
                          <a:latin typeface="Helvetica Neue"/>
                          <a:ea typeface="Helvetica Neue"/>
                          <a:cs typeface="Helvetica Neue"/>
                        </a:rPr>
                        <a:t>An ordered structure was available in the cache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76288">
                <a:tc>
                  <a:txBody>
                    <a:bodyPr lIns="0" tIns="0" rIns="0" bIns="0">
                      <a:noAutofit/>
                    </a:bodyPr>
                    <a:lstStyle/>
                    <a:p>
                      <a:r>
                        <a:rPr sz="2025" b="0">
                          <a:solidFill>
                            <a:srgbClr val="172B3A"/>
                          </a:solidFill>
                          <a:latin typeface="Helvetica Neue"/>
                          <a:ea typeface="Helvetica Neue"/>
                          <a:cs typeface="Helvetica Neue"/>
                        </a:rPr>
                        <a:t>LLZO / oxide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Tests whether a useful chemical direction</a:t>
                      </a:r>
                    </a:p>
                    <a:p>
                      <a:r>
                        <a:rPr sz="2025" b="0">
                          <a:solidFill>
                            <a:srgbClr val="172B3A"/>
                          </a:solidFill>
                          <a:latin typeface="Helvetica Neue"/>
                          <a:ea typeface="Helvetica Neue"/>
                          <a:cs typeface="Helvetica Neue"/>
                        </a:rPr>
                        <a:t>still works in an oxide environment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D20680CA-1E88-4978-9223-4B877733081F}"/>
              </a:ext>
            </a:extLst>
          </p:cNvPr>
          <p:cNvSpPr>
            <a:spLocks xmlns:a="http://schemas.openxmlformats.org/drawingml/2006/main" noGrp="1"/>
          </p:cNvSpPr>
          <p:nvPr/>
        </p:nvSpPr>
        <p:spPr>
          <a:xfrm xmlns:a="http://schemas.openxmlformats.org/drawingml/2006/main">
            <a:off x="533400" y="554355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Helvetica Neue"/>
                <a:ea typeface="Helvetica Neue"/>
                <a:cs typeface="Helvetica Neue"/>
              </a:defRPr>
            </a:defPPr>
            <a:lvl1pPr>
              <a:buNone/>
              <a:defRPr sz="2250" b="1">
                <a:solidFill>
                  <a:srgbClr val="007F7B"/>
                </a:solidFill>
                <a:latin typeface="Helvetica Neue"/>
                <a:ea typeface="Helvetica Neue"/>
                <a:cs typeface="Helvetica Neue"/>
              </a:defRPr>
            </a:lvl1pPr>
            <a:lvl2pPr>
              <a:buNone/>
              <a:defRPr sz="2250" b="1">
                <a:solidFill>
                  <a:srgbClr val="007F7B"/>
                </a:solidFill>
                <a:latin typeface="Helvetica Neue"/>
                <a:ea typeface="Helvetica Neue"/>
                <a:cs typeface="Helvetica Neue"/>
              </a:defRPr>
            </a:lvl2pPr>
            <a:lvl3pPr>
              <a:buNone/>
              <a:defRPr sz="2250" b="1">
                <a:solidFill>
                  <a:srgbClr val="007F7B"/>
                </a:solidFill>
                <a:latin typeface="Helvetica Neue"/>
                <a:ea typeface="Helvetica Neue"/>
                <a:cs typeface="Helvetica Neue"/>
              </a:defRPr>
            </a:lvl3pPr>
            <a:lvl4pPr>
              <a:buNone/>
              <a:defRPr sz="2250" b="1">
                <a:solidFill>
                  <a:srgbClr val="007F7B"/>
                </a:solidFill>
                <a:latin typeface="Helvetica Neue"/>
                <a:ea typeface="Helvetica Neue"/>
                <a:cs typeface="Helvetica Neue"/>
              </a:defRPr>
            </a:lvl4pPr>
            <a:lvl5pPr>
              <a:buNone/>
              <a:defRPr sz="2250" b="1">
                <a:solidFill>
                  <a:srgbClr val="007F7B"/>
                </a:solidFill>
                <a:latin typeface="Helvetica Neue"/>
                <a:ea typeface="Helvetica Neue"/>
                <a:cs typeface="Helvetica Neue"/>
              </a:defRPr>
            </a:lvl5pPr>
            <a:lvl6pPr>
              <a:buNone/>
              <a:defRPr sz="2250" b="1">
                <a:solidFill>
                  <a:srgbClr val="007F7B"/>
                </a:solidFill>
                <a:latin typeface="Helvetica Neue"/>
                <a:ea typeface="Helvetica Neue"/>
                <a:cs typeface="Helvetica Neue"/>
              </a:defRPr>
            </a:lvl6pPr>
            <a:lvl7pPr>
              <a:buNone/>
              <a:defRPr sz="2250" b="1">
                <a:solidFill>
                  <a:srgbClr val="007F7B"/>
                </a:solidFill>
                <a:latin typeface="Helvetica Neue"/>
                <a:ea typeface="Helvetica Neue"/>
                <a:cs typeface="Helvetica Neue"/>
              </a:defRPr>
            </a:lvl7pPr>
            <a:lvl8pPr>
              <a:buNone/>
              <a:defRPr sz="2250" b="1">
                <a:solidFill>
                  <a:srgbClr val="007F7B"/>
                </a:solidFill>
                <a:latin typeface="Helvetica Neue"/>
                <a:ea typeface="Helvetica Neue"/>
                <a:cs typeface="Helvetica Neue"/>
              </a:defRPr>
            </a:lvl8pPr>
            <a:lvl9pPr>
              <a:buNone/>
              <a:defRPr sz="2250" b="1">
                <a:solidFill>
                  <a:srgbClr val="007F7B"/>
                </a:solidFill>
                <a:latin typeface="Helvetica Neue"/>
                <a:ea typeface="Helvetica Neue"/>
                <a:cs typeface="Helvetica Neue"/>
              </a:defRPr>
            </a:lvl9pPr>
          </a:lstStyle>
          <a:p xmlns:a="http://schemas.openxmlformats.org/drawingml/2006/main">
            <a:pPr>
              <a:buNone/>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Three contrasting chemistries test how broadly the selection strategy works.</a:t>
            </a:r>
          </a:p>
        </p:txBody>
      </p:sp>
      <p:pic>
        <p:nvPicPr>
          <p:cNvPr id="9" name="">
            <a:extLst xmlns:a="http://schemas.openxmlformats.org/drawingml/2006/main">
              <a:ext uri="{FF2B5EF4-FFF2-40B4-BE49-F238E27FC236}">
                <a16:creationId xmlns:a16="http://schemas.microsoft.com/office/drawing/2014/main" id="{6BF80992-980A-48C8-BF31-39E4F6B46324}"/>
              </a:ext>
            </a:extLst>
          </p:cNvPr>
          <p:cNvPicPr>
            <a:picLocks xmlns:a="http://schemas.openxmlformats.org/drawingml/2006/main" noChangeAspect="1"/>
          </p:cNvPicPr>
          <p:nvPr/>
        </p:nvPicPr>
        <p:blipFill>
          <a:blip xmlns:r="http://schemas.openxmlformats.org/officeDocument/2006/relationships" xmlns:a="http://schemas.openxmlformats.org/drawingml/2006/main" r:embed="R2ee8da2e05a04cfe"/>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170035694"/>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9F5F14-0710-424F-87F3-8A0CC3D51DED}"/>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FIXED ACCEPTANCE RULE</a:t>
            </a:r>
          </a:p>
        </p:txBody>
      </p:sp>
      <p:sp>
        <p:nvSpPr>
          <p:cNvPr id="2" name="">
            <a:extLst xmlns:a="http://schemas.openxmlformats.org/drawingml/2006/main">
              <a:ext uri="{FF2B5EF4-FFF2-40B4-BE49-F238E27FC236}">
                <a16:creationId xmlns:a16="http://schemas.microsoft.com/office/drawing/2014/main" id="{E6C9A928-887B-42C3-8776-8A8B1747F075}"/>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Our screening definition of a good coating</a:t>
            </a:r>
          </a:p>
        </p:txBody>
      </p:sp>
      <p:sp>
        <p:nvSpPr>
          <p:cNvPr id="3" name="">
            <a:extLst xmlns:a="http://schemas.openxmlformats.org/drawingml/2006/main">
              <a:ext uri="{FF2B5EF4-FFF2-40B4-BE49-F238E27FC236}">
                <a16:creationId xmlns:a16="http://schemas.microsoft.com/office/drawing/2014/main" id="{6FA251BD-CA99-4D4A-A86E-692887DFB7F3}"/>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 candidate passes only if it meets both criteria.</a:t>
            </a:r>
          </a:p>
        </p:txBody>
      </p:sp>
      <p:sp>
        <p:nvSpPr>
          <p:cNvPr id="4" name="">
            <a:extLst xmlns:a="http://schemas.openxmlformats.org/drawingml/2006/main">
              <a:ext uri="{FF2B5EF4-FFF2-40B4-BE49-F238E27FC236}">
                <a16:creationId xmlns:a16="http://schemas.microsoft.com/office/drawing/2014/main" id="{1DC3A67B-1295-4028-BB5B-64D65CD00F43}"/>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846F6A3F-B184-442E-8345-6C99C1B4AE5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07</a:t>
            </a:r>
          </a:p>
        </p:txBody>
      </p:sp>
      <p:graphicFrame>
        <p:nvGraphicFramePr>
          <p:cNvPr id="6" name="">
            <a:extLst xmlns:a="http://schemas.openxmlformats.org/drawingml/2006/main">
              <a:ext uri="{FF2B5EF4-FFF2-40B4-BE49-F238E27FC236}">
                <a16:creationId xmlns:a16="http://schemas.microsoft.com/office/drawing/2014/main" id="{33A3FA29-9C9F-4714-8E1C-C060EF7051E8}"/>
              </a:ext>
            </a:extLst>
          </p:cNvPr>
          <p:cNvGraphicFramePr/>
          <p:nvPr/>
        </p:nvGraphicFramePr>
        <p:xfrm>
          <a:off xmlns:a="http://schemas.openxmlformats.org/drawingml/2006/main" x="533400" y="2143125"/>
          <a:ext xmlns:a="http://schemas.openxmlformats.org/drawingml/2006/main" cx="11125200" cy="1943100"/>
        </p:xfrm>
        <a:graphic xmlns:a="http://schemas.openxmlformats.org/drawingml/2006/main">
          <a:graphicData uri="http://schemas.openxmlformats.org/drawingml/2006/table">
            <a:tbl>
              <a:tblPr firstRow="0" bandRow="0"/>
              <a:tblGrid>
                <a:gridCol w="4000500"/>
                <a:gridCol w="7124700"/>
              </a:tblGrid>
              <a:tr h="647700">
                <a:tc>
                  <a:txBody>
                    <a:bodyPr lIns="0" tIns="0" rIns="0" bIns="0">
                      <a:noAutofit/>
                    </a:bodyPr>
                    <a:lstStyle/>
                    <a:p>
                      <a:r>
                        <a:rPr sz="1875" b="1">
                          <a:solidFill>
                            <a:srgbClr val="FFFFFF"/>
                          </a:solidFill>
                          <a:latin typeface="Helvetica Neue"/>
                          <a:ea typeface="Helvetica Neue"/>
                          <a:cs typeface="Helvetica Neue"/>
                        </a:rPr>
                        <a:t>Requirement</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Acceptance rule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47700">
                <a:tc>
                  <a:txBody>
                    <a:bodyPr lIns="0" tIns="0" rIns="0" bIns="0">
                      <a:noAutofit/>
                    </a:bodyPr>
                    <a:lstStyle/>
                    <a:p>
                      <a:r>
                        <a:rPr sz="2250" b="0">
                          <a:solidFill>
                            <a:srgbClr val="172B3A"/>
                          </a:solidFill>
                          <a:latin typeface="Helvetica Neue"/>
                          <a:ea typeface="Helvetica Neue"/>
                          <a:cs typeface="Helvetica Neue"/>
                        </a:rPr>
                        <a:t>Chemical compatibility</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Penalty ≤ 0.050 eV per non-Li atom</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2250" b="0">
                          <a:solidFill>
                            <a:srgbClr val="172B3A"/>
                          </a:solidFill>
                          <a:latin typeface="Helvetica Neue"/>
                          <a:ea typeface="Helvetica Neue"/>
                          <a:cs typeface="Helvetica Neue"/>
                        </a:rPr>
                        <a:t>Electronic insulation</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Band gap ≥ 2 eV</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8E3B9519-1CE6-414D-84CE-7BAB1CF190EE}"/>
              </a:ext>
            </a:extLst>
          </p:cNvPr>
          <p:cNvSpPr>
            <a:spLocks xmlns:a="http://schemas.openxmlformats.org/drawingml/2006/main" noGrp="1"/>
          </p:cNvSpPr>
          <p:nvPr/>
        </p:nvSpPr>
        <p:spPr>
          <a:xfrm xmlns:a="http://schemas.openxmlformats.org/drawingml/2006/main">
            <a:off x="533400" y="4305300"/>
            <a:ext cx="1112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B3A"/>
                </a:solidFill>
                <a:latin typeface="Helvetica Neue"/>
                <a:ea typeface="Helvetica Neue"/>
                <a:cs typeface="Helvetica Neue"/>
              </a:defRPr>
            </a:defPPr>
            <a:lvl1pPr>
              <a:buNone/>
              <a:defRPr sz="2100" b="0">
                <a:solidFill>
                  <a:srgbClr val="172B3A"/>
                </a:solidFill>
                <a:latin typeface="Helvetica Neue"/>
                <a:ea typeface="Helvetica Neue"/>
                <a:cs typeface="Helvetica Neue"/>
              </a:defRPr>
            </a:lvl1pPr>
            <a:lvl2pPr>
              <a:buNone/>
              <a:defRPr sz="2100" b="0">
                <a:solidFill>
                  <a:srgbClr val="172B3A"/>
                </a:solidFill>
                <a:latin typeface="Helvetica Neue"/>
                <a:ea typeface="Helvetica Neue"/>
                <a:cs typeface="Helvetica Neue"/>
              </a:defRPr>
            </a:lvl2pPr>
            <a:lvl3pPr>
              <a:buNone/>
              <a:defRPr sz="2100" b="0">
                <a:solidFill>
                  <a:srgbClr val="172B3A"/>
                </a:solidFill>
                <a:latin typeface="Helvetica Neue"/>
                <a:ea typeface="Helvetica Neue"/>
                <a:cs typeface="Helvetica Neue"/>
              </a:defRPr>
            </a:lvl3pPr>
            <a:lvl4pPr>
              <a:buNone/>
              <a:defRPr sz="2100" b="0">
                <a:solidFill>
                  <a:srgbClr val="172B3A"/>
                </a:solidFill>
                <a:latin typeface="Helvetica Neue"/>
                <a:ea typeface="Helvetica Neue"/>
                <a:cs typeface="Helvetica Neue"/>
              </a:defRPr>
            </a:lvl4pPr>
            <a:lvl5pPr>
              <a:buNone/>
              <a:defRPr sz="2100" b="0">
                <a:solidFill>
                  <a:srgbClr val="172B3A"/>
                </a:solidFill>
                <a:latin typeface="Helvetica Neue"/>
                <a:ea typeface="Helvetica Neue"/>
                <a:cs typeface="Helvetica Neue"/>
              </a:defRPr>
            </a:lvl5pPr>
            <a:lvl6pPr>
              <a:buNone/>
              <a:defRPr sz="2100" b="0">
                <a:solidFill>
                  <a:srgbClr val="172B3A"/>
                </a:solidFill>
                <a:latin typeface="Helvetica Neue"/>
                <a:ea typeface="Helvetica Neue"/>
                <a:cs typeface="Helvetica Neue"/>
              </a:defRPr>
            </a:lvl6pPr>
            <a:lvl7pPr>
              <a:buNone/>
              <a:defRPr sz="2100" b="0">
                <a:solidFill>
                  <a:srgbClr val="172B3A"/>
                </a:solidFill>
                <a:latin typeface="Helvetica Neue"/>
                <a:ea typeface="Helvetica Neue"/>
                <a:cs typeface="Helvetica Neue"/>
              </a:defRPr>
            </a:lvl7pPr>
            <a:lvl8pPr>
              <a:buNone/>
              <a:defRPr sz="2100" b="0">
                <a:solidFill>
                  <a:srgbClr val="172B3A"/>
                </a:solidFill>
                <a:latin typeface="Helvetica Neue"/>
                <a:ea typeface="Helvetica Neue"/>
                <a:cs typeface="Helvetica Neue"/>
              </a:defRPr>
            </a:lvl8pPr>
            <a:lvl9pPr>
              <a:buNone/>
              <a:defRPr sz="2100" b="0">
                <a:solidFill>
                  <a:srgbClr val="172B3A"/>
                </a:solidFill>
                <a:latin typeface="Helvetica Neue"/>
                <a:ea typeface="Helvetica Neue"/>
                <a:cs typeface="Helvetica Neue"/>
              </a:defRPr>
            </a:lvl9pPr>
          </a:lstStyle>
          <a:p xmlns:a="http://schemas.openxmlformats.org/drawingml/2006/main">
            <a:pPr>
              <a:buNone/>
              <a:defRPr sz="2100" b="0">
                <a:solidFill>
                  <a:srgbClr val="172B3A"/>
                </a:solidFill>
                <a:latin typeface="Helvetica Neue"/>
                <a:ea typeface="Helvetica Neue"/>
                <a:cs typeface="Helvetica Neue"/>
              </a:defRPr>
            </a:pPr>
            <a:r>
              <a:rPr sz="2100" b="0">
                <a:solidFill>
                  <a:srgbClr val="172B3A"/>
                </a:solidFill>
                <a:latin typeface="Helvetica Neue"/>
                <a:ea typeface="Helvetica Neue"/>
                <a:cs typeface="Helvetica Neue"/>
              </a:rPr>
              <a:t>Penalty uses the worst of coating self-decomposition</a:t>
            </a:r>
          </a:p>
          <a:p xmlns:a="http://schemas.openxmlformats.org/drawingml/2006/main">
            <a:pPr>
              <a:buNone/>
              <a:defRPr sz="2100" b="0">
                <a:solidFill>
                  <a:srgbClr val="172B3A"/>
                </a:solidFill>
                <a:latin typeface="Helvetica Neue"/>
                <a:ea typeface="Helvetica Neue"/>
                <a:cs typeface="Helvetica Neue"/>
              </a:defRPr>
            </a:pPr>
            <a:r>
              <a:rPr sz="2100" b="0">
                <a:solidFill>
                  <a:srgbClr val="172B3A"/>
                </a:solidFill>
                <a:latin typeface="Helvetica Neue"/>
                <a:ea typeface="Helvetica Neue"/>
                <a:cs typeface="Helvetica Neue"/>
              </a:rPr>
              <a:t>and the extra reaction at either contact.</a:t>
            </a:r>
          </a:p>
        </p:txBody>
      </p:sp>
      <p:sp>
        <p:nvSpPr>
          <p:cNvPr id="8" name="">
            <a:extLst xmlns:a="http://schemas.openxmlformats.org/drawingml/2006/main">
              <a:ext uri="{FF2B5EF4-FFF2-40B4-BE49-F238E27FC236}">
                <a16:creationId xmlns:a16="http://schemas.microsoft.com/office/drawing/2014/main" id="{CEBF98CF-4742-4AB9-9C8D-7E4D3EC0F45E}"/>
              </a:ext>
            </a:extLst>
          </p:cNvPr>
          <p:cNvSpPr>
            <a:spLocks xmlns:a="http://schemas.openxmlformats.org/drawingml/2006/main" noGrp="1"/>
          </p:cNvSpPr>
          <p:nvPr/>
        </p:nvSpPr>
        <p:spPr>
          <a:xfrm xmlns:a="http://schemas.openxmlformats.org/drawingml/2006/main">
            <a:off x="533400" y="51911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Contact reactions use separately equilibrated reference materials.</a:t>
            </a:r>
          </a:p>
        </p:txBody>
      </p:sp>
      <p:sp>
        <p:nvSpPr>
          <p:cNvPr id="9" name="">
            <a:extLst xmlns:a="http://schemas.openxmlformats.org/drawingml/2006/main">
              <a:ext uri="{FF2B5EF4-FFF2-40B4-BE49-F238E27FC236}">
                <a16:creationId xmlns:a16="http://schemas.microsoft.com/office/drawing/2014/main" id="{0F58FF64-D714-4F17-A4B5-CE6E75B1E90A}"/>
              </a:ext>
            </a:extLst>
          </p:cNvPr>
          <p:cNvSpPr>
            <a:spLocks xmlns:a="http://schemas.openxmlformats.org/drawingml/2006/main" noGrp="1"/>
          </p:cNvSpPr>
          <p:nvPr/>
        </p:nvSpPr>
        <p:spPr>
          <a:xfrm xmlns:a="http://schemas.openxmlformats.org/drawingml/2006/main">
            <a:off x="533400" y="581025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Search success: at least one passing candidate within ten choices.</a:t>
            </a:r>
          </a:p>
        </p:txBody>
      </p:sp>
      <p:pic>
        <p:nvPicPr>
          <p:cNvPr id="11" name="">
            <a:extLst xmlns:a="http://schemas.openxmlformats.org/drawingml/2006/main">
              <a:ext uri="{FF2B5EF4-FFF2-40B4-BE49-F238E27FC236}">
                <a16:creationId xmlns:a16="http://schemas.microsoft.com/office/drawing/2014/main" id="{7CA20BB1-DF08-4426-BF64-5AD17ECEBD5B}"/>
              </a:ext>
            </a:extLst>
          </p:cNvPr>
          <p:cNvPicPr>
            <a:picLocks xmlns:a="http://schemas.openxmlformats.org/drawingml/2006/main" noChangeAspect="1"/>
          </p:cNvPicPr>
          <p:nvPr/>
        </p:nvPicPr>
        <p:blipFill>
          <a:blip xmlns:r="http://schemas.openxmlformats.org/officeDocument/2006/relationships" xmlns:a="http://schemas.openxmlformats.org/drawingml/2006/main" r:embed="R84e7c57d257d4a22"/>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48954886"/>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AE1A2C-B0E9-4740-B11A-81683BC7E8AE}"/>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COMPARISON</a:t>
            </a:r>
          </a:p>
        </p:txBody>
      </p:sp>
      <p:sp>
        <p:nvSpPr>
          <p:cNvPr id="2" name="">
            <a:extLst xmlns:a="http://schemas.openxmlformats.org/drawingml/2006/main">
              <a:ext uri="{FF2B5EF4-FFF2-40B4-BE49-F238E27FC236}">
                <a16:creationId xmlns:a16="http://schemas.microsoft.com/office/drawing/2014/main" id="{BD26D461-2893-4DFC-ABC0-FAD68D38AD01}"/>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Five strategies test the value of feedback</a:t>
            </a:r>
          </a:p>
        </p:txBody>
      </p:sp>
      <p:sp>
        <p:nvSpPr>
          <p:cNvPr id="3" name="">
            <a:extLst xmlns:a="http://schemas.openxmlformats.org/drawingml/2006/main">
              <a:ext uri="{FF2B5EF4-FFF2-40B4-BE49-F238E27FC236}">
                <a16:creationId xmlns:a16="http://schemas.microsoft.com/office/drawing/2014/main" id="{C5A2B9EB-7BE2-4676-A72F-E88FBADBD971}"/>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Same menu, ten choices and 30 searches per strategy.</a:t>
            </a:r>
          </a:p>
        </p:txBody>
      </p:sp>
      <p:sp>
        <p:nvSpPr>
          <p:cNvPr id="4" name="">
            <a:extLst xmlns:a="http://schemas.openxmlformats.org/drawingml/2006/main">
              <a:ext uri="{FF2B5EF4-FFF2-40B4-BE49-F238E27FC236}">
                <a16:creationId xmlns:a16="http://schemas.microsoft.com/office/drawing/2014/main" id="{EDF12A86-B772-4FF7-B3DC-F2B8FEA0715A}"/>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AF548FFD-6B49-4124-9A7B-F2C52600876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08</a:t>
            </a:r>
          </a:p>
        </p:txBody>
      </p:sp>
      <p:graphicFrame>
        <p:nvGraphicFramePr>
          <p:cNvPr id="6" name="">
            <a:extLst xmlns:a="http://schemas.openxmlformats.org/drawingml/2006/main">
              <a:ext uri="{FF2B5EF4-FFF2-40B4-BE49-F238E27FC236}">
                <a16:creationId xmlns:a16="http://schemas.microsoft.com/office/drawing/2014/main" id="{719828D5-E6E8-4514-901E-0BE0018BB8CA}"/>
              </a:ext>
            </a:extLst>
          </p:cNvPr>
          <p:cNvGraphicFramePr/>
          <p:nvPr/>
        </p:nvGraphicFramePr>
        <p:xfrm>
          <a:off xmlns:a="http://schemas.openxmlformats.org/drawingml/2006/main" x="533400" y="2133600"/>
          <a:ext xmlns:a="http://schemas.openxmlformats.org/drawingml/2006/main" cx="11125200" cy="3486150"/>
        </p:xfrm>
        <a:graphic xmlns:a="http://schemas.openxmlformats.org/drawingml/2006/main">
          <a:graphicData uri="http://schemas.openxmlformats.org/drawingml/2006/table">
            <a:tbl>
              <a:tblPr firstRow="0" bandRow="0"/>
              <a:tblGrid>
                <a:gridCol w="3238500"/>
                <a:gridCol w="7886700"/>
              </a:tblGrid>
              <a:tr h="581025">
                <a:tc>
                  <a:txBody>
                    <a:bodyPr lIns="0" tIns="0" rIns="0" bIns="0">
                      <a:noAutofit/>
                    </a:bodyPr>
                    <a:lstStyle/>
                    <a:p>
                      <a:r>
                        <a:rPr sz="1875" b="1">
                          <a:solidFill>
                            <a:srgbClr val="FFFFFF"/>
                          </a:solidFill>
                          <a:latin typeface="Helvetica Neue"/>
                          <a:ea typeface="Helvetica Neue"/>
                          <a:cs typeface="Helvetica Neue"/>
                        </a:rPr>
                        <a:t>Strategy</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How it chooses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581025">
                <a:tc>
                  <a:txBody>
                    <a:bodyPr lIns="0" tIns="0" rIns="0" bIns="0">
                      <a:noAutofit/>
                    </a:bodyPr>
                    <a:lstStyle/>
                    <a:p>
                      <a:r>
                        <a:rPr sz="2025" b="0">
                          <a:solidFill>
                            <a:srgbClr val="172B3A"/>
                          </a:solidFill>
                          <a:latin typeface="Helvetica Neue"/>
                          <a:ea typeface="Helvetica Neue"/>
                          <a:cs typeface="Helvetica Neue"/>
                        </a:rPr>
                        <a:t>Uses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One choice at a time, with the true result after each test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No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One at a time, remembering choices but seeing no scores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Mixed-up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One at a time, with scores assigned to the wrong materials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One list</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All ten choices together, before seeing any result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Random</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Software samples ten materials without repeats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E300509E-26AE-4945-BC2D-ECCFB386A508}"/>
              </a:ext>
            </a:extLst>
          </p:cNvPr>
          <p:cNvSpPr>
            <a:spLocks xmlns:a="http://schemas.openxmlformats.org/drawingml/2006/main" noGrp="1"/>
          </p:cNvSpPr>
          <p:nvPr/>
        </p:nvSpPr>
        <p:spPr>
          <a:xfrm xmlns:a="http://schemas.openxmlformats.org/drawingml/2006/main">
            <a:off x="533400" y="58769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Helvetica Neue"/>
                <a:ea typeface="Helvetica Neue"/>
                <a:cs typeface="Helvetica Neue"/>
              </a:defRPr>
            </a:defPPr>
            <a:lvl1pPr>
              <a:buNone/>
              <a:defRPr sz="1950" b="1">
                <a:solidFill>
                  <a:srgbClr val="007F7B"/>
                </a:solidFill>
                <a:latin typeface="Helvetica Neue"/>
                <a:ea typeface="Helvetica Neue"/>
                <a:cs typeface="Helvetica Neue"/>
              </a:defRPr>
            </a:lvl1pPr>
            <a:lvl2pPr>
              <a:buNone/>
              <a:defRPr sz="1950" b="1">
                <a:solidFill>
                  <a:srgbClr val="007F7B"/>
                </a:solidFill>
                <a:latin typeface="Helvetica Neue"/>
                <a:ea typeface="Helvetica Neue"/>
                <a:cs typeface="Helvetica Neue"/>
              </a:defRPr>
            </a:lvl2pPr>
            <a:lvl3pPr>
              <a:buNone/>
              <a:defRPr sz="1950" b="1">
                <a:solidFill>
                  <a:srgbClr val="007F7B"/>
                </a:solidFill>
                <a:latin typeface="Helvetica Neue"/>
                <a:ea typeface="Helvetica Neue"/>
                <a:cs typeface="Helvetica Neue"/>
              </a:defRPr>
            </a:lvl3pPr>
            <a:lvl4pPr>
              <a:buNone/>
              <a:defRPr sz="1950" b="1">
                <a:solidFill>
                  <a:srgbClr val="007F7B"/>
                </a:solidFill>
                <a:latin typeface="Helvetica Neue"/>
                <a:ea typeface="Helvetica Neue"/>
                <a:cs typeface="Helvetica Neue"/>
              </a:defRPr>
            </a:lvl4pPr>
            <a:lvl5pPr>
              <a:buNone/>
              <a:defRPr sz="1950" b="1">
                <a:solidFill>
                  <a:srgbClr val="007F7B"/>
                </a:solidFill>
                <a:latin typeface="Helvetica Neue"/>
                <a:ea typeface="Helvetica Neue"/>
                <a:cs typeface="Helvetica Neue"/>
              </a:defRPr>
            </a:lvl5pPr>
            <a:lvl6pPr>
              <a:buNone/>
              <a:defRPr sz="1950" b="1">
                <a:solidFill>
                  <a:srgbClr val="007F7B"/>
                </a:solidFill>
                <a:latin typeface="Helvetica Neue"/>
                <a:ea typeface="Helvetica Neue"/>
                <a:cs typeface="Helvetica Neue"/>
              </a:defRPr>
            </a:lvl6pPr>
            <a:lvl7pPr>
              <a:buNone/>
              <a:defRPr sz="1950" b="1">
                <a:solidFill>
                  <a:srgbClr val="007F7B"/>
                </a:solidFill>
                <a:latin typeface="Helvetica Neue"/>
                <a:ea typeface="Helvetica Neue"/>
                <a:cs typeface="Helvetica Neue"/>
              </a:defRPr>
            </a:lvl7pPr>
            <a:lvl8pPr>
              <a:buNone/>
              <a:defRPr sz="1950" b="1">
                <a:solidFill>
                  <a:srgbClr val="007F7B"/>
                </a:solidFill>
                <a:latin typeface="Helvetica Neue"/>
                <a:ea typeface="Helvetica Neue"/>
                <a:cs typeface="Helvetica Neue"/>
              </a:defRPr>
            </a:lvl8pPr>
            <a:lvl9pPr>
              <a:buNone/>
              <a:defRPr sz="1950" b="1">
                <a:solidFill>
                  <a:srgbClr val="007F7B"/>
                </a:solidFill>
                <a:latin typeface="Helvetica Neue"/>
                <a:ea typeface="Helvetica Neue"/>
                <a:cs typeface="Helvetica Neue"/>
              </a:defRPr>
            </a:lvl9pPr>
          </a:lstStyle>
          <a:p xmlns:a="http://schemas.openxmlformats.org/drawingml/2006/main">
            <a:pPr>
              <a:buNone/>
              <a:defRPr sz="1950" b="1">
                <a:solidFill>
                  <a:srgbClr val="007F7B"/>
                </a:solidFill>
                <a:latin typeface="Helvetica Neue"/>
                <a:ea typeface="Helvetica Neue"/>
                <a:cs typeface="Helvetica Neue"/>
              </a:defRPr>
            </a:pPr>
            <a:r>
              <a:rPr sz="1950" b="1">
                <a:solidFill>
                  <a:srgbClr val="007F7B"/>
                </a:solidFill>
                <a:latin typeface="Helvetica Neue"/>
                <a:ea typeface="Helvetica Neue"/>
                <a:cs typeface="Helvetica Neue"/>
              </a:rPr>
              <a:t>Success = finding at least one material that passes the fixed chemical screen.</a:t>
            </a:r>
          </a:p>
        </p:txBody>
      </p:sp>
      <p:pic>
        <p:nvPicPr>
          <p:cNvPr id="9" name="">
            <a:extLst xmlns:a="http://schemas.openxmlformats.org/drawingml/2006/main">
              <a:ext uri="{FF2B5EF4-FFF2-40B4-BE49-F238E27FC236}">
                <a16:creationId xmlns:a16="http://schemas.microsoft.com/office/drawing/2014/main" id="{CA6C99E8-CC91-4E25-82D6-EB78741FD419}"/>
              </a:ext>
            </a:extLst>
          </p:cNvPr>
          <p:cNvPicPr>
            <a:picLocks xmlns:a="http://schemas.openxmlformats.org/drawingml/2006/main" noChangeAspect="1"/>
          </p:cNvPicPr>
          <p:nvPr/>
        </p:nvPicPr>
        <p:blipFill>
          <a:blip xmlns:r="http://schemas.openxmlformats.org/officeDocument/2006/relationships" xmlns:a="http://schemas.openxmlformats.org/drawingml/2006/main" r:embed="Rd27e2689bd524ade"/>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2065156266"/>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C8F8A6-A8AF-44A3-8AF7-2FEE19F752E7}"/>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INTERPRETING THE CONTROLS</a:t>
            </a:r>
          </a:p>
        </p:txBody>
      </p:sp>
      <p:sp>
        <p:nvSpPr>
          <p:cNvPr id="2" name="">
            <a:extLst xmlns:a="http://schemas.openxmlformats.org/drawingml/2006/main">
              <a:ext uri="{FF2B5EF4-FFF2-40B4-BE49-F238E27FC236}">
                <a16:creationId xmlns:a16="http://schemas.microsoft.com/office/drawing/2014/main" id="{FB1E03ED-C1E4-460E-AE0A-E8B999C75930}"/>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each comparison can tell us</a:t>
            </a:r>
          </a:p>
        </p:txBody>
      </p:sp>
      <p:sp>
        <p:nvSpPr>
          <p:cNvPr id="3" name="">
            <a:extLst xmlns:a="http://schemas.openxmlformats.org/drawingml/2006/main">
              <a:ext uri="{FF2B5EF4-FFF2-40B4-BE49-F238E27FC236}">
                <a16:creationId xmlns:a16="http://schemas.microsoft.com/office/drawing/2014/main" id="{58CD85A8-A093-403F-9B07-762EB6061D24}"/>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The strongest feedback tests keep the one-at-a-time choice policy.</a:t>
            </a:r>
          </a:p>
        </p:txBody>
      </p:sp>
      <p:sp>
        <p:nvSpPr>
          <p:cNvPr id="4" name="">
            <a:extLst xmlns:a="http://schemas.openxmlformats.org/drawingml/2006/main">
              <a:ext uri="{FF2B5EF4-FFF2-40B4-BE49-F238E27FC236}">
                <a16:creationId xmlns:a16="http://schemas.microsoft.com/office/drawing/2014/main" id="{B433ED74-23B4-44B8-BCD7-14C03525416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81CDA5B0-03B6-473D-914D-A14D1FAD3AFC}"/>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09</a:t>
            </a:r>
          </a:p>
        </p:txBody>
      </p:sp>
      <p:graphicFrame>
        <p:nvGraphicFramePr>
          <p:cNvPr id="6" name="">
            <a:extLst xmlns:a="http://schemas.openxmlformats.org/drawingml/2006/main">
              <a:ext uri="{FF2B5EF4-FFF2-40B4-BE49-F238E27FC236}">
                <a16:creationId xmlns:a16="http://schemas.microsoft.com/office/drawing/2014/main" id="{BE40F4F4-DB5A-4485-9AF0-5143F08CCD73}"/>
              </a:ext>
            </a:extLst>
          </p:cNvPr>
          <p:cNvGraphicFramePr/>
          <p:nvPr/>
        </p:nvGraphicFramePr>
        <p:xfrm>
          <a:off xmlns:a="http://schemas.openxmlformats.org/drawingml/2006/main" x="533400" y="2143125"/>
          <a:ext xmlns:a="http://schemas.openxmlformats.org/drawingml/2006/main" cx="11125200" cy="3238500"/>
        </p:xfrm>
        <a:graphic xmlns:a="http://schemas.openxmlformats.org/drawingml/2006/main">
          <a:graphicData uri="http://schemas.openxmlformats.org/drawingml/2006/table">
            <a:tbl>
              <a:tblPr firstRow="0" bandRow="0"/>
              <a:tblGrid>
                <a:gridCol w="3714750"/>
                <a:gridCol w="7410450"/>
              </a:tblGrid>
              <a:tr h="647700">
                <a:tc>
                  <a:txBody>
                    <a:bodyPr lIns="0" tIns="0" rIns="0" bIns="0">
                      <a:noAutofit/>
                    </a:bodyPr>
                    <a:lstStyle/>
                    <a:p>
                      <a:r>
                        <a:rPr sz="1800" b="1">
                          <a:solidFill>
                            <a:srgbClr val="FFFFFF"/>
                          </a:solidFill>
                          <a:latin typeface="Helvetica Neue"/>
                          <a:ea typeface="Helvetica Neue"/>
                          <a:cs typeface="Helvetica Neue"/>
                        </a:rPr>
                        <a:t>Compare true results with</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Question answered</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47700">
                <a:tc>
                  <a:txBody>
                    <a:bodyPr lIns="0" tIns="0" rIns="0" bIns="0">
                      <a:noAutofit/>
                    </a:bodyPr>
                    <a:lstStyle/>
                    <a:p>
                      <a:r>
                        <a:rPr sz="1950" b="0">
                          <a:solidFill>
                            <a:srgbClr val="172B3A"/>
                          </a:solidFill>
                          <a:latin typeface="Helvetica Neue"/>
                          <a:ea typeface="Helvetica Neue"/>
                          <a:cs typeface="Helvetica Neue"/>
                        </a:rPr>
                        <a:t>No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Does seeing numerical outcomes help?</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Mixed-up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Does correct material–result attribution matter?</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One upfront list</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How useful is initial candidate selection?</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Random</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How does the observed success compare with simple sampling?</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2BD94300-C268-4727-823C-97DE4AEF5DDB}"/>
              </a:ext>
            </a:extLst>
          </p:cNvPr>
          <p:cNvSpPr>
            <a:spLocks xmlns:a="http://schemas.openxmlformats.org/drawingml/2006/main" noGrp="1"/>
          </p:cNvSpPr>
          <p:nvPr/>
        </p:nvSpPr>
        <p:spPr>
          <a:xfrm xmlns:a="http://schemas.openxmlformats.org/drawingml/2006/main">
            <a:off x="533400" y="5724525"/>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A713A"/>
                </a:solidFill>
                <a:latin typeface="Helvetica Neue"/>
                <a:ea typeface="Helvetica Neue"/>
                <a:cs typeface="Helvetica Neue"/>
              </a:defRPr>
            </a:defPPr>
            <a:lvl1pPr>
              <a:buNone/>
              <a:defRPr sz="2175" b="1">
                <a:solidFill>
                  <a:srgbClr val="CA713A"/>
                </a:solidFill>
                <a:latin typeface="Helvetica Neue"/>
                <a:ea typeface="Helvetica Neue"/>
                <a:cs typeface="Helvetica Neue"/>
              </a:defRPr>
            </a:lvl1pPr>
            <a:lvl2pPr>
              <a:buNone/>
              <a:defRPr sz="2175" b="1">
                <a:solidFill>
                  <a:srgbClr val="CA713A"/>
                </a:solidFill>
                <a:latin typeface="Helvetica Neue"/>
                <a:ea typeface="Helvetica Neue"/>
                <a:cs typeface="Helvetica Neue"/>
              </a:defRPr>
            </a:lvl2pPr>
            <a:lvl3pPr>
              <a:buNone/>
              <a:defRPr sz="2175" b="1">
                <a:solidFill>
                  <a:srgbClr val="CA713A"/>
                </a:solidFill>
                <a:latin typeface="Helvetica Neue"/>
                <a:ea typeface="Helvetica Neue"/>
                <a:cs typeface="Helvetica Neue"/>
              </a:defRPr>
            </a:lvl3pPr>
            <a:lvl4pPr>
              <a:buNone/>
              <a:defRPr sz="2175" b="1">
                <a:solidFill>
                  <a:srgbClr val="CA713A"/>
                </a:solidFill>
                <a:latin typeface="Helvetica Neue"/>
                <a:ea typeface="Helvetica Neue"/>
                <a:cs typeface="Helvetica Neue"/>
              </a:defRPr>
            </a:lvl4pPr>
            <a:lvl5pPr>
              <a:buNone/>
              <a:defRPr sz="2175" b="1">
                <a:solidFill>
                  <a:srgbClr val="CA713A"/>
                </a:solidFill>
                <a:latin typeface="Helvetica Neue"/>
                <a:ea typeface="Helvetica Neue"/>
                <a:cs typeface="Helvetica Neue"/>
              </a:defRPr>
            </a:lvl5pPr>
            <a:lvl6pPr>
              <a:buNone/>
              <a:defRPr sz="2175" b="1">
                <a:solidFill>
                  <a:srgbClr val="CA713A"/>
                </a:solidFill>
                <a:latin typeface="Helvetica Neue"/>
                <a:ea typeface="Helvetica Neue"/>
                <a:cs typeface="Helvetica Neue"/>
              </a:defRPr>
            </a:lvl6pPr>
            <a:lvl7pPr>
              <a:buNone/>
              <a:defRPr sz="2175" b="1">
                <a:solidFill>
                  <a:srgbClr val="CA713A"/>
                </a:solidFill>
                <a:latin typeface="Helvetica Neue"/>
                <a:ea typeface="Helvetica Neue"/>
                <a:cs typeface="Helvetica Neue"/>
              </a:defRPr>
            </a:lvl7pPr>
            <a:lvl8pPr>
              <a:buNone/>
              <a:defRPr sz="2175" b="1">
                <a:solidFill>
                  <a:srgbClr val="CA713A"/>
                </a:solidFill>
                <a:latin typeface="Helvetica Neue"/>
                <a:ea typeface="Helvetica Neue"/>
                <a:cs typeface="Helvetica Neue"/>
              </a:defRPr>
            </a:lvl8pPr>
            <a:lvl9pPr>
              <a:buNone/>
              <a:defRPr sz="2175" b="1">
                <a:solidFill>
                  <a:srgbClr val="CA713A"/>
                </a:solidFill>
                <a:latin typeface="Helvetica Neue"/>
                <a:ea typeface="Helvetica Neue"/>
                <a:cs typeface="Helvetica Neue"/>
              </a:defRPr>
            </a:lvl9pPr>
          </a:lstStyle>
          <a:p xmlns:a="http://schemas.openxmlformats.org/drawingml/2006/main">
            <a:pPr>
              <a:buNone/>
              <a:defRPr sz="2175" b="1">
                <a:solidFill>
                  <a:srgbClr val="CA713A"/>
                </a:solidFill>
                <a:latin typeface="Helvetica Neue"/>
                <a:ea typeface="Helvetica Neue"/>
                <a:cs typeface="Helvetica Neue"/>
              </a:defRPr>
            </a:pPr>
            <a:r>
              <a:rPr sz="2175" b="1">
                <a:solidFill>
                  <a:srgbClr val="CA713A"/>
                </a:solidFill>
                <a:latin typeface="Helvetica Neue"/>
                <a:ea typeface="Helvetica Neue"/>
                <a:cs typeface="Helvetica Neue"/>
              </a:rPr>
              <a:t>Upfront also changes the choice policy. It cannot isolate feedback alone.</a:t>
            </a:r>
          </a:p>
        </p:txBody>
      </p:sp>
      <p:pic>
        <p:nvPicPr>
          <p:cNvPr id="9" name="">
            <a:extLst xmlns:a="http://schemas.openxmlformats.org/drawingml/2006/main">
              <a:ext uri="{FF2B5EF4-FFF2-40B4-BE49-F238E27FC236}">
                <a16:creationId xmlns:a16="http://schemas.microsoft.com/office/drawing/2014/main" id="{0E2B968F-4EBB-4411-B1E0-DDF98E5EBC31}"/>
              </a:ext>
            </a:extLst>
          </p:cNvPr>
          <p:cNvPicPr>
            <a:picLocks xmlns:a="http://schemas.openxmlformats.org/drawingml/2006/main" noChangeAspect="1"/>
          </p:cNvPicPr>
          <p:nvPr/>
        </p:nvPicPr>
        <p:blipFill>
          <a:blip xmlns:r="http://schemas.openxmlformats.org/officeDocument/2006/relationships" xmlns:a="http://schemas.openxmlformats.org/drawingml/2006/main" r:embed="R4a59a9e8233340cc"/>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812938325"/>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C8662D-2D27-4D55-AD2E-80DC378DC7F9}"/>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1 / STRONGEST EVIDENCE</a:t>
            </a:r>
          </a:p>
        </p:txBody>
      </p:sp>
      <p:sp>
        <p:nvSpPr>
          <p:cNvPr id="2" name="">
            <a:extLst xmlns:a="http://schemas.openxmlformats.org/drawingml/2006/main">
              <a:ext uri="{FF2B5EF4-FFF2-40B4-BE49-F238E27FC236}">
                <a16:creationId xmlns:a16="http://schemas.microsoft.com/office/drawing/2014/main" id="{B9E10B2E-7200-411A-B280-59D29129F153}"/>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Sulfide: correct feedback helps Haiku</a:t>
            </a:r>
          </a:p>
        </p:txBody>
      </p:sp>
      <p:sp>
        <p:nvSpPr>
          <p:cNvPr id="3" name="">
            <a:extLst xmlns:a="http://schemas.openxmlformats.org/drawingml/2006/main">
              <a:ext uri="{FF2B5EF4-FFF2-40B4-BE49-F238E27FC236}">
                <a16:creationId xmlns:a16="http://schemas.microsoft.com/office/drawing/2014/main" id="{8B48AB5C-1C64-450E-A845-2FBCA7CB65A9}"/>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
            <a:extLst xmlns:a="http://schemas.openxmlformats.org/drawingml/2006/main">
              <a:ext uri="{FF2B5EF4-FFF2-40B4-BE49-F238E27FC236}">
                <a16:creationId xmlns:a16="http://schemas.microsoft.com/office/drawing/2014/main" id="{550FEF11-F151-4183-85A8-D828001C57DE}"/>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FA298DA2-D5BE-4CD0-B222-AA4EC6F647D3}"/>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10</a:t>
            </a:r>
          </a:p>
        </p:txBody>
      </p:sp>
      <p:pic>
        <p:nvPicPr>
          <p:cNvPr id="10" name="">
            <a:extLst xmlns:a="http://schemas.openxmlformats.org/drawingml/2006/main">
              <a:ext uri="{FF2B5EF4-FFF2-40B4-BE49-F238E27FC236}">
                <a16:creationId xmlns:a16="http://schemas.microsoft.com/office/drawing/2014/main" id="{C199C639-1E36-484B-90A3-EFCCA4DB50FA}"/>
              </a:ext>
            </a:extLst>
          </p:cNvPr>
          <p:cNvPicPr>
            <a:picLocks xmlns:a="http://schemas.openxmlformats.org/drawingml/2006/main" noChangeAspect="1"/>
          </p:cNvPicPr>
          <p:nvPr/>
        </p:nvPicPr>
        <p:blipFill>
          <a:blip xmlns:r="http://schemas.openxmlformats.org/officeDocument/2006/relationships" xmlns:a="http://schemas.openxmlformats.org/drawingml/2006/main" r:embed="R1b6da117320743fc"/>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1" name="Chart">
            <a:extLst xmlns:a="http://schemas.openxmlformats.org/drawingml/2006/main">
              <a:ext uri="{FF2B5EF4-FFF2-40B4-BE49-F238E27FC236}">
                <a16:creationId xmlns:a16="http://schemas.microsoft.com/office/drawing/2014/main" id="{9FEA031E-84D4-4C52-AE55-83D03E8E8A2D}"/>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2a1f265b082540dd"/>
          </a:graphicData>
        </a:graphic>
      </p:graphicFrame>
      <p:sp>
        <p:nvSpPr>
          <p:cNvPr id="12" name="random-baseline-8-of-30">
            <a:extLst xmlns:a="http://schemas.openxmlformats.org/drawingml/2006/main">
              <a:ext uri="{FF2B5EF4-FFF2-40B4-BE49-F238E27FC236}">
                <a16:creationId xmlns:a16="http://schemas.microsoft.com/office/drawing/2014/main" id="{3F3327B1-3CE8-4564-A115-AFA890615E66}"/>
              </a:ext>
            </a:extLst>
          </p:cNvPr>
          <p:cNvSpPr>
            <a:spLocks xmlns:a="http://schemas.openxmlformats.org/drawingml/2006/main" noGrp="1"/>
          </p:cNvSpPr>
          <p:nvPr/>
        </p:nvSpPr>
        <p:spPr>
          <a:xfrm xmlns:a="http://schemas.openxmlformats.org/drawingml/2006/main">
            <a:off x="4615927"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3" name="random-baseline-legend">
            <a:extLst xmlns:a="http://schemas.openxmlformats.org/drawingml/2006/main">
              <a:ext uri="{FF2B5EF4-FFF2-40B4-BE49-F238E27FC236}">
                <a16:creationId xmlns:a16="http://schemas.microsoft.com/office/drawing/2014/main" id="{6EE88836-8FE2-4FFC-A9F4-F2A3CC223B2B}"/>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4" name="">
            <a:extLst xmlns:a="http://schemas.openxmlformats.org/drawingml/2006/main">
              <a:ext uri="{FF2B5EF4-FFF2-40B4-BE49-F238E27FC236}">
                <a16:creationId xmlns:a16="http://schemas.microsoft.com/office/drawing/2014/main" id="{814161FE-931B-4CA9-A420-421F69C7A4E3}"/>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8/30</a:t>
            </a:r>
          </a:p>
        </p:txBody>
      </p:sp>
      <p:sp>
        <p:nvSpPr>
          <p:cNvPr id="15" name="">
            <a:extLst xmlns:a="http://schemas.openxmlformats.org/drawingml/2006/main">
              <a:ext uri="{FF2B5EF4-FFF2-40B4-BE49-F238E27FC236}">
                <a16:creationId xmlns:a16="http://schemas.microsoft.com/office/drawing/2014/main" id="{7665FA17-F8CC-45D3-99E9-64C78FDB494C}"/>
              </a:ext>
            </a:extLst>
          </p:cNvPr>
          <p:cNvSpPr>
            <a:spLocks xmlns:a="http://schemas.openxmlformats.org/drawingml/2006/main" noGrp="1"/>
          </p:cNvSpPr>
          <p:nvPr/>
        </p:nvSpPr>
        <p:spPr>
          <a:xfrm xmlns:a="http://schemas.openxmlformats.org/drawingml/2006/main">
            <a:off x="533400" y="56769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defRPr sz="2100" b="1">
                <a:solidFill>
                  <a:srgbClr val="007F7B"/>
                </a:solidFill>
                <a:latin typeface="Helvetica Neue"/>
                <a:ea typeface="Helvetica Neue"/>
                <a:cs typeface="Helvetica Neue"/>
              </a:defRPr>
            </a:lvl1pPr>
            <a:lvl2pPr>
              <a:defRPr sz="2100" b="1">
                <a:solidFill>
                  <a:srgbClr val="007F7B"/>
                </a:solidFill>
                <a:latin typeface="Helvetica Neue"/>
                <a:ea typeface="Helvetica Neue"/>
                <a:cs typeface="Helvetica Neue"/>
              </a:defRPr>
            </a:lvl2pPr>
            <a:lvl3pPr>
              <a:defRPr sz="2100" b="1">
                <a:solidFill>
                  <a:srgbClr val="007F7B"/>
                </a:solidFill>
                <a:latin typeface="Helvetica Neue"/>
                <a:ea typeface="Helvetica Neue"/>
                <a:cs typeface="Helvetica Neue"/>
              </a:defRPr>
            </a:lvl3pPr>
            <a:lvl4pPr>
              <a:defRPr sz="2100" b="1">
                <a:solidFill>
                  <a:srgbClr val="007F7B"/>
                </a:solidFill>
                <a:latin typeface="Helvetica Neue"/>
                <a:ea typeface="Helvetica Neue"/>
                <a:cs typeface="Helvetica Neue"/>
              </a:defRPr>
            </a:lvl4pPr>
            <a:lvl5pPr>
              <a:defRPr sz="2100" b="1">
                <a:solidFill>
                  <a:srgbClr val="007F7B"/>
                </a:solidFill>
                <a:latin typeface="Helvetica Neue"/>
                <a:ea typeface="Helvetica Neue"/>
                <a:cs typeface="Helvetica Neue"/>
              </a:defRPr>
            </a:lvl5pPr>
            <a:lvl6pPr>
              <a:defRPr sz="2100" b="1">
                <a:solidFill>
                  <a:srgbClr val="007F7B"/>
                </a:solidFill>
                <a:latin typeface="Helvetica Neue"/>
                <a:ea typeface="Helvetica Neue"/>
                <a:cs typeface="Helvetica Neue"/>
              </a:defRPr>
            </a:lvl6pPr>
            <a:lvl7pPr>
              <a:defRPr sz="2100" b="1">
                <a:solidFill>
                  <a:srgbClr val="007F7B"/>
                </a:solidFill>
                <a:latin typeface="Helvetica Neue"/>
                <a:ea typeface="Helvetica Neue"/>
                <a:cs typeface="Helvetica Neue"/>
              </a:defRPr>
            </a:lvl7pPr>
            <a:lvl8pPr>
              <a:defRPr sz="2100" b="1">
                <a:solidFill>
                  <a:srgbClr val="007F7B"/>
                </a:solidFill>
                <a:latin typeface="Helvetica Neue"/>
                <a:ea typeface="Helvetica Neue"/>
                <a:cs typeface="Helvetica Neue"/>
              </a:defRPr>
            </a:lvl8pPr>
            <a:lvl9pPr>
              <a:defRPr sz="2100" b="1">
                <a:solidFill>
                  <a:srgbClr val="007F7B"/>
                </a:solidFill>
                <a:latin typeface="Helvetica Neue"/>
                <a:ea typeface="Helvetica Neue"/>
                <a:cs typeface="Helvetica Neue"/>
              </a:defRPr>
            </a:lvl9pPr>
          </a:lstStyle>
          <a:p xmlns:a="http://schemas.openxmlformats.org/drawingml/2006/main">
            <a:pPr>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Correct feedback: Haiku 20 and DeepSeek 12, compared with random 8.</a:t>
            </a:r>
          </a:p>
        </p:txBody>
      </p:sp>
      <p:sp>
        <p:nvSpPr>
          <p:cNvPr id="16" name="">
            <a:extLst xmlns:a="http://schemas.openxmlformats.org/drawingml/2006/main">
              <a:ext uri="{FF2B5EF4-FFF2-40B4-BE49-F238E27FC236}">
                <a16:creationId xmlns:a16="http://schemas.microsoft.com/office/drawing/2014/main" id="{5792016C-D7A1-43B8-9A96-B3EB9561907A}"/>
              </a:ext>
            </a:extLst>
          </p:cNvPr>
          <p:cNvSpPr>
            <a:spLocks xmlns:a="http://schemas.openxmlformats.org/drawingml/2006/main" noGrp="1"/>
          </p:cNvSpPr>
          <p:nvPr/>
        </p:nvSpPr>
        <p:spPr>
          <a:xfrm xmlns:a="http://schemas.openxmlformats.org/drawingml/2006/main">
            <a:off x="533400" y="611505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Haiku beats both feedback controls in planned tests. DeepSeek remains inconclusive.</a:t>
            </a:r>
          </a:p>
        </p:txBody>
      </p:sp>
    </p:spTree>
    <p:extLst>
      <p:ext uri="{BB962C8B-B14F-4D97-AF65-F5344CB8AC3E}">
        <p14:creationId xmlns:p14="http://schemas.microsoft.com/office/powerpoint/2010/main" val="2038096319"/>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95089A-B89C-4D78-8EA2-A36C3ABA16B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SULFIDE / OBSERVED DECISION SEQUENCE</a:t>
            </a:r>
          </a:p>
        </p:txBody>
      </p:sp>
      <p:sp>
        <p:nvSpPr>
          <p:cNvPr id="2" name="">
            <a:extLst xmlns:a="http://schemas.openxmlformats.org/drawingml/2006/main">
              <a:ext uri="{FF2B5EF4-FFF2-40B4-BE49-F238E27FC236}">
                <a16:creationId xmlns:a16="http://schemas.microsoft.com/office/drawing/2014/main" id="{FF3B6BFA-EF9A-4143-85C0-AC4DC82922E6}"/>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 real example: refining a near miss</a:t>
            </a:r>
          </a:p>
        </p:txBody>
      </p:sp>
      <p:sp>
        <p:nvSpPr>
          <p:cNvPr id="3" name="">
            <a:extLst xmlns:a="http://schemas.openxmlformats.org/drawingml/2006/main">
              <a:ext uri="{FF2B5EF4-FFF2-40B4-BE49-F238E27FC236}">
                <a16:creationId xmlns:a16="http://schemas.microsoft.com/office/drawing/2014/main" id="{54D37F7A-4C59-4A0E-937C-A9EFB445D0BE}"/>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Three consecutive choices in one sulfide search. Lower reaction score is better.</a:t>
            </a:r>
          </a:p>
        </p:txBody>
      </p:sp>
      <p:sp>
        <p:nvSpPr>
          <p:cNvPr id="4" name="">
            <a:extLst xmlns:a="http://schemas.openxmlformats.org/drawingml/2006/main">
              <a:ext uri="{FF2B5EF4-FFF2-40B4-BE49-F238E27FC236}">
                <a16:creationId xmlns:a16="http://schemas.microsoft.com/office/drawing/2014/main" id="{DB7D880A-1875-4D3E-8B0A-382D75493D07}"/>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34D3EC88-8159-4966-AED2-A9D209C5DE4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11</a:t>
            </a:r>
          </a:p>
        </p:txBody>
      </p:sp>
      <p:graphicFrame>
        <p:nvGraphicFramePr>
          <p:cNvPr id="6" name="">
            <a:extLst xmlns:a="http://schemas.openxmlformats.org/drawingml/2006/main">
              <a:ext uri="{FF2B5EF4-FFF2-40B4-BE49-F238E27FC236}">
                <a16:creationId xmlns:a16="http://schemas.microsoft.com/office/drawing/2014/main" id="{6A06CC44-47C6-470C-A760-257A2A95D7F1}"/>
              </a:ext>
            </a:extLst>
          </p:cNvPr>
          <p:cNvGraphicFramePr/>
          <p:nvPr/>
        </p:nvGraphicFramePr>
        <p:xfrm>
          <a:off xmlns:a="http://schemas.openxmlformats.org/drawingml/2006/main" x="533400" y="2143125"/>
          <a:ext xmlns:a="http://schemas.openxmlformats.org/drawingml/2006/main" cx="11125200" cy="2743200"/>
        </p:xfrm>
        <a:graphic xmlns:a="http://schemas.openxmlformats.org/drawingml/2006/main">
          <a:graphicData uri="http://schemas.openxmlformats.org/drawingml/2006/table">
            <a:tbl>
              <a:tblPr firstRow="0" bandRow="0"/>
              <a:tblGrid>
                <a:gridCol w="1143000"/>
                <a:gridCol w="2667000"/>
                <a:gridCol w="2524125"/>
                <a:gridCol w="4791075"/>
              </a:tblGrid>
              <a:tr h="685800">
                <a:tc>
                  <a:txBody>
                    <a:bodyPr lIns="0" tIns="0" rIns="0" bIns="0">
                      <a:noAutofit/>
                    </a:bodyPr>
                    <a:lstStyle/>
                    <a:p>
                      <a:r>
                        <a:rPr sz="1875" b="1">
                          <a:solidFill>
                            <a:srgbClr val="FFFFFF"/>
                          </a:solidFill>
                          <a:latin typeface="Helvetica Neue"/>
                          <a:ea typeface="Helvetica Neue"/>
                          <a:cs typeface="Helvetica Neue"/>
                        </a:rPr>
                        <a:t>Try</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Material chosen</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Reaction score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What the test said</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85800">
                <a:tc>
                  <a:txBody>
                    <a:bodyPr lIns="0" tIns="0" rIns="0" bIns="0">
                      <a:noAutofit/>
                    </a:bodyPr>
                    <a:lstStyle/>
                    <a:p>
                      <a:r>
                        <a:rPr sz="2175" b="0">
                          <a:solidFill>
                            <a:srgbClr val="172B3A"/>
                          </a:solidFill>
                          <a:latin typeface="Helvetica Neue"/>
                          <a:ea typeface="Helvetica Neue"/>
                          <a:cs typeface="Helvetica Neue"/>
                        </a:rPr>
                        <a:t>6</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Li₃AlF₆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0.160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Does not pass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85800">
                <a:tc>
                  <a:txBody>
                    <a:bodyPr lIns="0" tIns="0" rIns="0" bIns="0">
                      <a:noAutofit/>
                    </a:bodyPr>
                    <a:lstStyle/>
                    <a:p>
                      <a:r>
                        <a:rPr sz="2175" b="0">
                          <a:solidFill>
                            <a:srgbClr val="172B3A"/>
                          </a:solidFill>
                          <a:latin typeface="Helvetica Neue"/>
                          <a:ea typeface="Helvetica Neue"/>
                          <a:cs typeface="Helvetica Neue"/>
                        </a:rPr>
                        <a:t>7</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LiMgAlF₆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0.057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Close, but still above the limit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85800">
                <a:tc>
                  <a:txBody>
                    <a:bodyPr lIns="0" tIns="0" rIns="0" bIns="0">
                      <a:noAutofit/>
                    </a:bodyPr>
                    <a:lstStyle/>
                    <a:p>
                      <a:r>
                        <a:rPr sz="2175" b="0">
                          <a:solidFill>
                            <a:srgbClr val="172B3A"/>
                          </a:solidFill>
                          <a:latin typeface="Helvetica Neue"/>
                          <a:ea typeface="Helvetica Neue"/>
                          <a:cs typeface="Helvetica Neue"/>
                        </a:rPr>
                        <a:t>8</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LiCaAlF₆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0.048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Passes the 0.050 limit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60CBFF44-24A5-4A2F-9B3B-29073FCA26EA}"/>
              </a:ext>
            </a:extLst>
          </p:cNvPr>
          <p:cNvSpPr>
            <a:spLocks xmlns:a="http://schemas.openxmlformats.org/drawingml/2006/main" noGrp="1"/>
          </p:cNvSpPr>
          <p:nvPr/>
        </p:nvSpPr>
        <p:spPr>
          <a:xfrm xmlns:a="http://schemas.openxmlformats.org/drawingml/2006/main">
            <a:off x="533400" y="523875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07F7B"/>
                </a:solidFill>
                <a:latin typeface="Helvetica Neue"/>
                <a:ea typeface="Helvetica Neue"/>
                <a:cs typeface="Helvetica Neue"/>
              </a:defRPr>
            </a:defPPr>
            <a:lvl1pPr>
              <a:buNone/>
              <a:defRPr sz="2475" b="1">
                <a:solidFill>
                  <a:srgbClr val="007F7B"/>
                </a:solidFill>
                <a:latin typeface="Helvetica Neue"/>
                <a:ea typeface="Helvetica Neue"/>
                <a:cs typeface="Helvetica Neue"/>
              </a:defRPr>
            </a:lvl1pPr>
            <a:lvl2pPr>
              <a:buNone/>
              <a:defRPr sz="2475" b="1">
                <a:solidFill>
                  <a:srgbClr val="007F7B"/>
                </a:solidFill>
                <a:latin typeface="Helvetica Neue"/>
                <a:ea typeface="Helvetica Neue"/>
                <a:cs typeface="Helvetica Neue"/>
              </a:defRPr>
            </a:lvl2pPr>
            <a:lvl3pPr>
              <a:buNone/>
              <a:defRPr sz="2475" b="1">
                <a:solidFill>
                  <a:srgbClr val="007F7B"/>
                </a:solidFill>
                <a:latin typeface="Helvetica Neue"/>
                <a:ea typeface="Helvetica Neue"/>
                <a:cs typeface="Helvetica Neue"/>
              </a:defRPr>
            </a:lvl3pPr>
            <a:lvl4pPr>
              <a:buNone/>
              <a:defRPr sz="2475" b="1">
                <a:solidFill>
                  <a:srgbClr val="007F7B"/>
                </a:solidFill>
                <a:latin typeface="Helvetica Neue"/>
                <a:ea typeface="Helvetica Neue"/>
                <a:cs typeface="Helvetica Neue"/>
              </a:defRPr>
            </a:lvl4pPr>
            <a:lvl5pPr>
              <a:buNone/>
              <a:defRPr sz="2475" b="1">
                <a:solidFill>
                  <a:srgbClr val="007F7B"/>
                </a:solidFill>
                <a:latin typeface="Helvetica Neue"/>
                <a:ea typeface="Helvetica Neue"/>
                <a:cs typeface="Helvetica Neue"/>
              </a:defRPr>
            </a:lvl5pPr>
            <a:lvl6pPr>
              <a:buNone/>
              <a:defRPr sz="2475" b="1">
                <a:solidFill>
                  <a:srgbClr val="007F7B"/>
                </a:solidFill>
                <a:latin typeface="Helvetica Neue"/>
                <a:ea typeface="Helvetica Neue"/>
                <a:cs typeface="Helvetica Neue"/>
              </a:defRPr>
            </a:lvl6pPr>
            <a:lvl7pPr>
              <a:buNone/>
              <a:defRPr sz="2475" b="1">
                <a:solidFill>
                  <a:srgbClr val="007F7B"/>
                </a:solidFill>
                <a:latin typeface="Helvetica Neue"/>
                <a:ea typeface="Helvetica Neue"/>
                <a:cs typeface="Helvetica Neue"/>
              </a:defRPr>
            </a:lvl7pPr>
            <a:lvl8pPr>
              <a:buNone/>
              <a:defRPr sz="2475" b="1">
                <a:solidFill>
                  <a:srgbClr val="007F7B"/>
                </a:solidFill>
                <a:latin typeface="Helvetica Neue"/>
                <a:ea typeface="Helvetica Neue"/>
                <a:cs typeface="Helvetica Neue"/>
              </a:defRPr>
            </a:lvl8pPr>
            <a:lvl9pPr>
              <a:buNone/>
              <a:defRPr sz="2475" b="1">
                <a:solidFill>
                  <a:srgbClr val="007F7B"/>
                </a:solidFill>
                <a:latin typeface="Helvetica Neue"/>
                <a:ea typeface="Helvetica Neue"/>
                <a:cs typeface="Helvetica Neue"/>
              </a:defRPr>
            </a:lvl9pPr>
          </a:lstStyle>
          <a:p xmlns:a="http://schemas.openxmlformats.org/drawingml/2006/main">
            <a:pPr>
              <a:buNone/>
              <a:defRPr sz="2475" b="1">
                <a:solidFill>
                  <a:srgbClr val="007F7B"/>
                </a:solidFill>
                <a:latin typeface="Helvetica Neue"/>
                <a:ea typeface="Helvetica Neue"/>
                <a:cs typeface="Helvetica Neue"/>
              </a:defRPr>
            </a:pPr>
            <a:r>
              <a:rPr sz="2475" b="1">
                <a:solidFill>
                  <a:srgbClr val="007F7B"/>
                </a:solidFill>
                <a:latin typeface="Helvetica Neue"/>
                <a:ea typeface="Helvetica Neue"/>
                <a:cs typeface="Helvetica Neue"/>
              </a:rPr>
              <a:t>The LLM kept testing related chemistry after a promising near miss.</a:t>
            </a:r>
          </a:p>
        </p:txBody>
      </p:sp>
      <p:sp>
        <p:nvSpPr>
          <p:cNvPr id="8" name="">
            <a:extLst xmlns:a="http://schemas.openxmlformats.org/drawingml/2006/main">
              <a:ext uri="{FF2B5EF4-FFF2-40B4-BE49-F238E27FC236}">
                <a16:creationId xmlns:a16="http://schemas.microsoft.com/office/drawing/2014/main" id="{BF21CB1F-A42D-4393-8D46-52BA5A3766A8}"/>
              </a:ext>
            </a:extLst>
          </p:cNvPr>
          <p:cNvSpPr>
            <a:spLocks xmlns:a="http://schemas.openxmlformats.org/drawingml/2006/main" noGrp="1"/>
          </p:cNvSpPr>
          <p:nvPr/>
        </p:nvSpPr>
        <p:spPr>
          <a:xfrm xmlns:a="http://schemas.openxmlformats.org/drawingml/2006/main">
            <a:off x="533400" y="60674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One illustrative search. Reaction scores are in eV per non-lithium atom.</a:t>
            </a:r>
          </a:p>
        </p:txBody>
      </p:sp>
      <p:pic>
        <p:nvPicPr>
          <p:cNvPr id="10" name="">
            <a:extLst xmlns:a="http://schemas.openxmlformats.org/drawingml/2006/main">
              <a:ext uri="{FF2B5EF4-FFF2-40B4-BE49-F238E27FC236}">
                <a16:creationId xmlns:a16="http://schemas.microsoft.com/office/drawing/2014/main" id="{985071DE-4520-4F22-937E-53361BB8B87A}"/>
              </a:ext>
            </a:extLst>
          </p:cNvPr>
          <p:cNvPicPr>
            <a:picLocks xmlns:a="http://schemas.openxmlformats.org/drawingml/2006/main" noChangeAspect="1"/>
          </p:cNvPicPr>
          <p:nvPr/>
        </p:nvPicPr>
        <p:blipFill>
          <a:blip xmlns:r="http://schemas.openxmlformats.org/officeDocument/2006/relationships" xmlns:a="http://schemas.openxmlformats.org/drawingml/2006/main" r:embed="R88503a5c0b4240f0"/>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42173479"/>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B7AC3D-BA57-47A4-AD26-220F8F1620E0}"/>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CHOICE OF SEARCH SPACE</a:t>
            </a:r>
          </a:p>
        </p:txBody>
      </p:sp>
      <p:sp>
        <p:nvSpPr>
          <p:cNvPr id="2" name="">
            <a:extLst xmlns:a="http://schemas.openxmlformats.org/drawingml/2006/main">
              <a:ext uri="{FF2B5EF4-FFF2-40B4-BE49-F238E27FC236}">
                <a16:creationId xmlns:a16="http://schemas.microsoft.com/office/drawing/2014/main" id="{571026D0-BC61-4BA6-BFD2-2196C3E13A6F}"/>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Why these 141 coating candidates?</a:t>
            </a:r>
          </a:p>
        </p:txBody>
      </p:sp>
      <p:sp>
        <p:nvSpPr>
          <p:cNvPr id="3" name="">
            <a:extLst xmlns:a="http://schemas.openxmlformats.org/drawingml/2006/main">
              <a:ext uri="{FF2B5EF4-FFF2-40B4-BE49-F238E27FC236}">
                <a16:creationId xmlns:a16="http://schemas.microsoft.com/office/drawing/2014/main" id="{A9084542-4661-4075-B4CB-A53A2C2A92DB}"/>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 broad, reproducible menu of known lithium-containing materials.</a:t>
            </a:r>
          </a:p>
        </p:txBody>
      </p:sp>
      <p:sp>
        <p:nvSpPr>
          <p:cNvPr id="4" name="">
            <a:extLst xmlns:a="http://schemas.openxmlformats.org/drawingml/2006/main">
              <a:ext uri="{FF2B5EF4-FFF2-40B4-BE49-F238E27FC236}">
                <a16:creationId xmlns:a16="http://schemas.microsoft.com/office/drawing/2014/main" id="{C99791AA-171E-4ED4-B642-A67C04EA4818}"/>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8E350EB1-B4AA-48EF-ACE4-B21BE09A09D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12</a:t>
            </a:r>
          </a:p>
        </p:txBody>
      </p:sp>
      <p:graphicFrame>
        <p:nvGraphicFramePr>
          <p:cNvPr id="6" name="">
            <a:extLst xmlns:a="http://schemas.openxmlformats.org/drawingml/2006/main">
              <a:ext uri="{FF2B5EF4-FFF2-40B4-BE49-F238E27FC236}">
                <a16:creationId xmlns:a16="http://schemas.microsoft.com/office/drawing/2014/main" id="{391523B0-BF9B-469E-8F49-6EAD76D7EEA2}"/>
              </a:ext>
            </a:extLst>
          </p:cNvPr>
          <p:cNvGraphicFramePr/>
          <p:nvPr/>
        </p:nvGraphicFramePr>
        <p:xfrm>
          <a:off xmlns:a="http://schemas.openxmlformats.org/drawingml/2006/main" x="533400" y="2143125"/>
          <a:ext xmlns:a="http://schemas.openxmlformats.org/drawingml/2006/main" cx="11125200" cy="2800350"/>
        </p:xfrm>
        <a:graphic xmlns:a="http://schemas.openxmlformats.org/drawingml/2006/main">
          <a:graphicData uri="http://schemas.openxmlformats.org/drawingml/2006/table">
            <a:tbl>
              <a:tblPr firstRow="0" bandRow="0"/>
              <a:tblGrid>
                <a:gridCol w="4953000"/>
                <a:gridCol w="6172200"/>
              </a:tblGrid>
              <a:tr h="700088">
                <a:tc>
                  <a:txBody>
                    <a:bodyPr lIns="0" tIns="0" rIns="0" bIns="0">
                      <a:noAutofit/>
                    </a:bodyPr>
                    <a:lstStyle/>
                    <a:p>
                      <a:r>
                        <a:rPr sz="1800" b="1">
                          <a:solidFill>
                            <a:srgbClr val="FFFFFF"/>
                          </a:solidFill>
                          <a:latin typeface="Helvetica Neue"/>
                          <a:ea typeface="Helvetica Neue"/>
                          <a:cs typeface="Helvetica Neue"/>
                        </a:rPr>
                        <a:t>Selection rule</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Reason</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00088">
                <a:tc>
                  <a:txBody>
                    <a:bodyPr lIns="0" tIns="0" rIns="0" bIns="0">
                      <a:noAutofit/>
                    </a:bodyPr>
                    <a:lstStyle/>
                    <a:p>
                      <a:r>
                        <a:rPr sz="2025" b="0">
                          <a:solidFill>
                            <a:srgbClr val="172B3A"/>
                          </a:solidFill>
                          <a:latin typeface="Helvetica Neue"/>
                          <a:ea typeface="Helvetica Neue"/>
                          <a:cs typeface="Helvetica Neue"/>
                        </a:rPr>
                        <a:t>Known Materials Project structures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Start from reproducible atomic models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00088">
                <a:tc>
                  <a:txBody>
                    <a:bodyPr lIns="0" tIns="0" rIns="0" bIns="0">
                      <a:noAutofit/>
                    </a:bodyPr>
                    <a:lstStyle/>
                    <a:p>
                      <a:r>
                        <a:rPr sz="2025" b="0">
                          <a:solidFill>
                            <a:srgbClr val="172B3A"/>
                          </a:solidFill>
                          <a:latin typeface="Helvetica Neue"/>
                          <a:ea typeface="Helvetica Neue"/>
                          <a:cs typeface="Helvetica Neue"/>
                        </a:rPr>
                        <a:t>Near-stable, ordered, small cells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Keep the chemistry and calculation size manageable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00088">
                <a:tc>
                  <a:txBody>
                    <a:bodyPr lIns="0" tIns="0" rIns="0" bIns="0">
                      <a:noAutofit/>
                    </a:bodyPr>
                    <a:lstStyle/>
                    <a:p>
                      <a:r>
                        <a:rPr sz="2025" b="0">
                          <a:solidFill>
                            <a:srgbClr val="172B3A"/>
                          </a:solidFill>
                          <a:latin typeface="Helvetica Neue"/>
                          <a:ea typeface="Helvetica Neue"/>
                          <a:cs typeface="Helvetica Neue"/>
                        </a:rPr>
                        <a:t>All eligible records retained</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Avoid choosing the menu using the new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12863E8B-DC11-43B0-88E8-D5A361B52BC3}"/>
              </a:ext>
            </a:extLst>
          </p:cNvPr>
          <p:cNvSpPr>
            <a:spLocks xmlns:a="http://schemas.openxmlformats.org/drawingml/2006/main" noGrp="1"/>
          </p:cNvSpPr>
          <p:nvPr/>
        </p:nvSpPr>
        <p:spPr>
          <a:xfrm xmlns:a="http://schemas.openxmlformats.org/drawingml/2006/main">
            <a:off x="533400" y="523875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Oxides, halides, silicates, phosphates and borates provide chemical variety.</a:t>
            </a:r>
          </a:p>
        </p:txBody>
      </p:sp>
      <p:sp>
        <p:nvSpPr>
          <p:cNvPr id="8" name="">
            <a:extLst xmlns:a="http://schemas.openxmlformats.org/drawingml/2006/main">
              <a:ext uri="{FF2B5EF4-FFF2-40B4-BE49-F238E27FC236}">
                <a16:creationId xmlns:a16="http://schemas.microsoft.com/office/drawing/2014/main" id="{CA9AEFC3-4CBA-4F7F-A51A-618AFCAFD0C7}"/>
              </a:ext>
            </a:extLst>
          </p:cNvPr>
          <p:cNvSpPr>
            <a:spLocks xmlns:a="http://schemas.openxmlformats.org/drawingml/2006/main" noGrp="1"/>
          </p:cNvSpPr>
          <p:nvPr/>
        </p:nvSpPr>
        <p:spPr>
          <a:xfrm xmlns:a="http://schemas.openxmlformats.org/drawingml/2006/main">
            <a:off x="533400" y="6010275"/>
            <a:ext cx="11125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buNone/>
              <a:defRPr sz="1875" b="0">
                <a:solidFill>
                  <a:srgbClr val="526472"/>
                </a:solidFill>
                <a:latin typeface="Helvetica Neue"/>
                <a:ea typeface="Helvetica Neue"/>
                <a:cs typeface="Helvetica Neue"/>
              </a:defRPr>
            </a:lvl1pPr>
            <a:lvl2pPr>
              <a:buNone/>
              <a:defRPr sz="1875" b="0">
                <a:solidFill>
                  <a:srgbClr val="526472"/>
                </a:solidFill>
                <a:latin typeface="Helvetica Neue"/>
                <a:ea typeface="Helvetica Neue"/>
                <a:cs typeface="Helvetica Neue"/>
              </a:defRPr>
            </a:lvl2pPr>
            <a:lvl3pPr>
              <a:buNone/>
              <a:defRPr sz="1875" b="0">
                <a:solidFill>
                  <a:srgbClr val="526472"/>
                </a:solidFill>
                <a:latin typeface="Helvetica Neue"/>
                <a:ea typeface="Helvetica Neue"/>
                <a:cs typeface="Helvetica Neue"/>
              </a:defRPr>
            </a:lvl3pPr>
            <a:lvl4pPr>
              <a:buNone/>
              <a:defRPr sz="1875" b="0">
                <a:solidFill>
                  <a:srgbClr val="526472"/>
                </a:solidFill>
                <a:latin typeface="Helvetica Neue"/>
                <a:ea typeface="Helvetica Neue"/>
                <a:cs typeface="Helvetica Neue"/>
              </a:defRPr>
            </a:lvl4pPr>
            <a:lvl5pPr>
              <a:buNone/>
              <a:defRPr sz="1875" b="0">
                <a:solidFill>
                  <a:srgbClr val="526472"/>
                </a:solidFill>
                <a:latin typeface="Helvetica Neue"/>
                <a:ea typeface="Helvetica Neue"/>
                <a:cs typeface="Helvetica Neue"/>
              </a:defRPr>
            </a:lvl5pPr>
            <a:lvl6pPr>
              <a:buNone/>
              <a:defRPr sz="1875" b="0">
                <a:solidFill>
                  <a:srgbClr val="526472"/>
                </a:solidFill>
                <a:latin typeface="Helvetica Neue"/>
                <a:ea typeface="Helvetica Neue"/>
                <a:cs typeface="Helvetica Neue"/>
              </a:defRPr>
            </a:lvl6pPr>
            <a:lvl7pPr>
              <a:buNone/>
              <a:defRPr sz="1875" b="0">
                <a:solidFill>
                  <a:srgbClr val="526472"/>
                </a:solidFill>
                <a:latin typeface="Helvetica Neue"/>
                <a:ea typeface="Helvetica Neue"/>
                <a:cs typeface="Helvetica Neue"/>
              </a:defRPr>
            </a:lvl7pPr>
            <a:lvl8pPr>
              <a:buNone/>
              <a:defRPr sz="1875" b="0">
                <a:solidFill>
                  <a:srgbClr val="526472"/>
                </a:solidFill>
                <a:latin typeface="Helvetica Neue"/>
                <a:ea typeface="Helvetica Neue"/>
                <a:cs typeface="Helvetica Neue"/>
              </a:defRPr>
            </a:lvl8pPr>
            <a:lvl9pPr>
              <a:buNone/>
              <a:defRPr sz="1875" b="0">
                <a:solidFill>
                  <a:srgbClr val="526472"/>
                </a:solidFill>
                <a:latin typeface="Helvetica Neue"/>
                <a:ea typeface="Helvetica Neue"/>
                <a:cs typeface="Helvetica Neue"/>
              </a:defRPr>
            </a:lvl9pPr>
          </a:lstStyle>
          <a:p xmlns:a="http://schemas.openxmlformats.org/drawingml/2006/main">
            <a:pPr>
              <a:buNone/>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The sulfide screen accepts four structures: LiNbF₆, two LiTaF₆ and LiCaAlF₆.</a:t>
            </a:r>
          </a:p>
        </p:txBody>
      </p:sp>
      <p:pic>
        <p:nvPicPr>
          <p:cNvPr id="10" name="">
            <a:extLst xmlns:a="http://schemas.openxmlformats.org/drawingml/2006/main">
              <a:ext uri="{FF2B5EF4-FFF2-40B4-BE49-F238E27FC236}">
                <a16:creationId xmlns:a16="http://schemas.microsoft.com/office/drawing/2014/main" id="{3D392D60-0CA7-4594-BD9E-F159DBBB24FA}"/>
              </a:ext>
            </a:extLst>
          </p:cNvPr>
          <p:cNvPicPr>
            <a:picLocks xmlns:a="http://schemas.openxmlformats.org/drawingml/2006/main" noChangeAspect="1"/>
          </p:cNvPicPr>
          <p:nvPr/>
        </p:nvPicPr>
        <p:blipFill>
          <a:blip xmlns:r="http://schemas.openxmlformats.org/officeDocument/2006/relationships" xmlns:a="http://schemas.openxmlformats.org/drawingml/2006/main" r:embed="R4f72ef57dd1e46bf"/>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075072861"/>
      </p:ext>
    </p:extLst>
  </p:cSld>
</p:sld>
</file>

<file path=ppt/slides/slide1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3998A2-2F14-4DB9-9E57-5F8DA7A5C57B}"/>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CHOICE OF PHYSICAL FOLLOW-UP</a:t>
            </a:r>
          </a:p>
        </p:txBody>
      </p:sp>
      <p:sp>
        <p:nvSpPr>
          <p:cNvPr id="2" name="">
            <a:extLst xmlns:a="http://schemas.openxmlformats.org/drawingml/2006/main">
              <a:ext uri="{FF2B5EF4-FFF2-40B4-BE49-F238E27FC236}">
                <a16:creationId xmlns:a16="http://schemas.microsoft.com/office/drawing/2014/main" id="{05BFDF37-651D-4D30-ABCE-573284E93D86}"/>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Why these three coatings were calculated</a:t>
            </a:r>
          </a:p>
        </p:txBody>
      </p:sp>
      <p:sp>
        <p:nvSpPr>
          <p:cNvPr id="3" name="">
            <a:extLst xmlns:a="http://schemas.openxmlformats.org/drawingml/2006/main">
              <a:ext uri="{FF2B5EF4-FFF2-40B4-BE49-F238E27FC236}">
                <a16:creationId xmlns:a16="http://schemas.microsoft.com/office/drawing/2014/main" id="{4F9F6F7F-B184-4CEF-8B7B-DDFBECC943D2}"/>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All three pass the sulfide chemical screen and have feasible interface models.</a:t>
            </a:r>
          </a:p>
        </p:txBody>
      </p:sp>
      <p:sp>
        <p:nvSpPr>
          <p:cNvPr id="4" name="">
            <a:extLst xmlns:a="http://schemas.openxmlformats.org/drawingml/2006/main">
              <a:ext uri="{FF2B5EF4-FFF2-40B4-BE49-F238E27FC236}">
                <a16:creationId xmlns:a16="http://schemas.microsoft.com/office/drawing/2014/main" id="{D92EACDC-DF2F-4B0C-B703-EE36410240FC}"/>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5368E39F-4E45-4539-B260-9DB828B06B1A}"/>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13</a:t>
            </a:r>
          </a:p>
        </p:txBody>
      </p:sp>
      <p:graphicFrame>
        <p:nvGraphicFramePr>
          <p:cNvPr id="6" name="">
            <a:extLst xmlns:a="http://schemas.openxmlformats.org/drawingml/2006/main">
              <a:ext uri="{FF2B5EF4-FFF2-40B4-BE49-F238E27FC236}">
                <a16:creationId xmlns:a16="http://schemas.microsoft.com/office/drawing/2014/main" id="{4B007148-1C51-4E88-A952-77625D488867}"/>
              </a:ext>
            </a:extLst>
          </p:cNvPr>
          <p:cNvGraphicFramePr/>
          <p:nvPr/>
        </p:nvGraphicFramePr>
        <p:xfrm>
          <a:off xmlns:a="http://schemas.openxmlformats.org/drawingml/2006/main" x="533400" y="2143125"/>
          <a:ext xmlns:a="http://schemas.openxmlformats.org/drawingml/2006/main" cx="11125200" cy="3228975"/>
        </p:xfrm>
        <a:graphic xmlns:a="http://schemas.openxmlformats.org/drawingml/2006/main">
          <a:graphicData uri="http://schemas.openxmlformats.org/drawingml/2006/table">
            <a:tbl>
              <a:tblPr firstRow="0" bandRow="0"/>
              <a:tblGrid>
                <a:gridCol w="3524250"/>
                <a:gridCol w="7600950"/>
              </a:tblGrid>
              <a:tr h="807244">
                <a:tc>
                  <a:txBody>
                    <a:bodyPr lIns="0" tIns="0" rIns="0" bIns="0">
                      <a:noAutofit/>
                    </a:bodyPr>
                    <a:lstStyle/>
                    <a:p>
                      <a:r>
                        <a:rPr sz="1800" b="1">
                          <a:solidFill>
                            <a:srgbClr val="FFFFFF"/>
                          </a:solidFill>
                          <a:latin typeface="Helvetica Neue"/>
                          <a:ea typeface="Helvetica Neue"/>
                          <a:cs typeface="Helvetica Neue"/>
                        </a:rPr>
                        <a:t>Coating</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Reason for the choice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807244">
                <a:tc>
                  <a:txBody>
                    <a:bodyPr lIns="0" tIns="0" rIns="0" bIns="0">
                      <a:noAutofit/>
                    </a:bodyPr>
                    <a:lstStyle/>
                    <a:p>
                      <a:r>
                        <a:rPr sz="1950" b="0">
                          <a:solidFill>
                            <a:srgbClr val="172B3A"/>
                          </a:solidFill>
                          <a:latin typeface="Helvetica Neue"/>
                          <a:ea typeface="Helvetica Neue"/>
                          <a:cs typeface="Helvetica Neue"/>
                        </a:rPr>
                        <a:t>LiNbF₆ / reference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Already calculated and chemically acceptable</a:t>
                      </a:r>
                    </a:p>
                    <a:p>
                      <a:r>
                        <a:rPr sz="1950" b="0">
                          <a:solidFill>
                            <a:srgbClr val="172B3A"/>
                          </a:solidFill>
                          <a:latin typeface="Helvetica Neue"/>
                          <a:ea typeface="Helvetica Neue"/>
                          <a:cs typeface="Helvetica Neue"/>
                        </a:rPr>
                        <a:t>Gives Haiku a physical reference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807244">
                <a:tc>
                  <a:txBody>
                    <a:bodyPr lIns="0" tIns="0" rIns="0" bIns="0">
                      <a:noAutofit/>
                    </a:bodyPr>
                    <a:lstStyle/>
                    <a:p>
                      <a:r>
                        <a:rPr sz="1950" b="0">
                          <a:solidFill>
                            <a:srgbClr val="172B3A"/>
                          </a:solidFill>
                          <a:latin typeface="Helvetica Neue"/>
                          <a:ea typeface="Helvetica Neue"/>
                          <a:cs typeface="Helvetica Neue"/>
                        </a:rPr>
                        <a:t>LiTaF₆ / first choice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Acceptable and insulating</a:t>
                      </a:r>
                    </a:p>
                    <a:p>
                      <a:r>
                        <a:rPr sz="1950" b="0">
                          <a:solidFill>
                            <a:srgbClr val="172B3A"/>
                          </a:solidFill>
                          <a:latin typeface="Helvetica Neue"/>
                          <a:ea typeface="Helvetica Neue"/>
                          <a:cs typeface="Helvetica Neue"/>
                        </a:rPr>
                        <a:t>Haiku expects similar behavior to the Nb analogue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807244">
                <a:tc>
                  <a:txBody>
                    <a:bodyPr lIns="0" tIns="0" rIns="0" bIns="0">
                      <a:noAutofit/>
                    </a:bodyPr>
                    <a:lstStyle/>
                    <a:p>
                      <a:r>
                        <a:rPr sz="1950" b="0">
                          <a:solidFill>
                            <a:srgbClr val="172B3A"/>
                          </a:solidFill>
                          <a:latin typeface="Helvetica Neue"/>
                          <a:ea typeface="Helvetica Neue"/>
                          <a:cs typeface="Helvetica Neue"/>
                        </a:rPr>
                        <a:t>LiCaAlF₆ / second choice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Only acceptable unevaluated option left</a:t>
                      </a:r>
                    </a:p>
                    <a:p>
                      <a:r>
                        <a:rPr sz="1950" b="0">
                          <a:solidFill>
                            <a:srgbClr val="172B3A"/>
                          </a:solidFill>
                          <a:latin typeface="Helvetica Neue"/>
                          <a:ea typeface="Helvetica Neue"/>
                          <a:cs typeface="Helvetica Neue"/>
                        </a:rPr>
                        <a:t>Its Ca/Al chemistry is a less-close analogy</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CD8A0932-5228-4A2D-A8EF-ED8945F2BF1E}"/>
              </a:ext>
            </a:extLst>
          </p:cNvPr>
          <p:cNvSpPr>
            <a:spLocks xmlns:a="http://schemas.openxmlformats.org/drawingml/2006/main" noGrp="1"/>
          </p:cNvSpPr>
          <p:nvPr/>
        </p:nvSpPr>
        <p:spPr>
          <a:xfrm xmlns:a="http://schemas.openxmlformats.org/drawingml/2006/main">
            <a:off x="533400" y="5695950"/>
            <a:ext cx="11125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Helvetica Neue"/>
                <a:ea typeface="Helvetica Neue"/>
                <a:cs typeface="Helvetica Neue"/>
              </a:defRPr>
            </a:defPPr>
            <a:lvl1pPr>
              <a:buNone/>
              <a:defRPr sz="2250" b="1">
                <a:solidFill>
                  <a:srgbClr val="007F7B"/>
                </a:solidFill>
                <a:latin typeface="Helvetica Neue"/>
                <a:ea typeface="Helvetica Neue"/>
                <a:cs typeface="Helvetica Neue"/>
              </a:defRPr>
            </a:lvl1pPr>
            <a:lvl2pPr>
              <a:buNone/>
              <a:defRPr sz="2250" b="1">
                <a:solidFill>
                  <a:srgbClr val="007F7B"/>
                </a:solidFill>
                <a:latin typeface="Helvetica Neue"/>
                <a:ea typeface="Helvetica Neue"/>
                <a:cs typeface="Helvetica Neue"/>
              </a:defRPr>
            </a:lvl2pPr>
            <a:lvl3pPr>
              <a:buNone/>
              <a:defRPr sz="2250" b="1">
                <a:solidFill>
                  <a:srgbClr val="007F7B"/>
                </a:solidFill>
                <a:latin typeface="Helvetica Neue"/>
                <a:ea typeface="Helvetica Neue"/>
                <a:cs typeface="Helvetica Neue"/>
              </a:defRPr>
            </a:lvl3pPr>
            <a:lvl4pPr>
              <a:buNone/>
              <a:defRPr sz="2250" b="1">
                <a:solidFill>
                  <a:srgbClr val="007F7B"/>
                </a:solidFill>
                <a:latin typeface="Helvetica Neue"/>
                <a:ea typeface="Helvetica Neue"/>
                <a:cs typeface="Helvetica Neue"/>
              </a:defRPr>
            </a:lvl4pPr>
            <a:lvl5pPr>
              <a:buNone/>
              <a:defRPr sz="2250" b="1">
                <a:solidFill>
                  <a:srgbClr val="007F7B"/>
                </a:solidFill>
                <a:latin typeface="Helvetica Neue"/>
                <a:ea typeface="Helvetica Neue"/>
                <a:cs typeface="Helvetica Neue"/>
              </a:defRPr>
            </a:lvl5pPr>
            <a:lvl6pPr>
              <a:buNone/>
              <a:defRPr sz="2250" b="1">
                <a:solidFill>
                  <a:srgbClr val="007F7B"/>
                </a:solidFill>
                <a:latin typeface="Helvetica Neue"/>
                <a:ea typeface="Helvetica Neue"/>
                <a:cs typeface="Helvetica Neue"/>
              </a:defRPr>
            </a:lvl6pPr>
            <a:lvl7pPr>
              <a:buNone/>
              <a:defRPr sz="2250" b="1">
                <a:solidFill>
                  <a:srgbClr val="007F7B"/>
                </a:solidFill>
                <a:latin typeface="Helvetica Neue"/>
                <a:ea typeface="Helvetica Neue"/>
                <a:cs typeface="Helvetica Neue"/>
              </a:defRPr>
            </a:lvl7pPr>
            <a:lvl8pPr>
              <a:buNone/>
              <a:defRPr sz="2250" b="1">
                <a:solidFill>
                  <a:srgbClr val="007F7B"/>
                </a:solidFill>
                <a:latin typeface="Helvetica Neue"/>
                <a:ea typeface="Helvetica Neue"/>
                <a:cs typeface="Helvetica Neue"/>
              </a:defRPr>
            </a:lvl8pPr>
            <a:lvl9pPr>
              <a:buNone/>
              <a:defRPr sz="2250" b="1">
                <a:solidFill>
                  <a:srgbClr val="007F7B"/>
                </a:solidFill>
                <a:latin typeface="Helvetica Neue"/>
                <a:ea typeface="Helvetica Neue"/>
                <a:cs typeface="Helvetica Neue"/>
              </a:defRPr>
            </a:lvl9pPr>
          </a:lstStyle>
          <a:p xmlns:a="http://schemas.openxmlformats.org/drawingml/2006/main">
            <a:pPr>
              <a:buNone/>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The reasons are recorded before testing. The forecasts can still fail.</a:t>
            </a:r>
          </a:p>
        </p:txBody>
      </p:sp>
      <p:pic>
        <p:nvPicPr>
          <p:cNvPr id="9" name="">
            <a:extLst xmlns:a="http://schemas.openxmlformats.org/drawingml/2006/main">
              <a:ext uri="{FF2B5EF4-FFF2-40B4-BE49-F238E27FC236}">
                <a16:creationId xmlns:a16="http://schemas.microsoft.com/office/drawing/2014/main" id="{60B471E4-EE24-442D-886B-B3C83EB28D81}"/>
              </a:ext>
            </a:extLst>
          </p:cNvPr>
          <p:cNvPicPr>
            <a:picLocks xmlns:a="http://schemas.openxmlformats.org/drawingml/2006/main" noChangeAspect="1"/>
          </p:cNvPicPr>
          <p:nvPr/>
        </p:nvPicPr>
        <p:blipFill>
          <a:blip xmlns:r="http://schemas.openxmlformats.org/officeDocument/2006/relationships" xmlns:a="http://schemas.openxmlformats.org/drawingml/2006/main" r:embed="Rf602dda9246a49cf"/>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906224435"/>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5A11C1-4D9B-405F-9F03-9926B3DA3BB6}"/>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SULFIDE / PROSPECTIVE PHYSICAL EVIDENCE</a:t>
            </a:r>
          </a:p>
        </p:txBody>
      </p:sp>
      <p:sp>
        <p:nvSpPr>
          <p:cNvPr id="2" name="">
            <a:extLst xmlns:a="http://schemas.openxmlformats.org/drawingml/2006/main">
              <a:ext uri="{FF2B5EF4-FFF2-40B4-BE49-F238E27FC236}">
                <a16:creationId xmlns:a16="http://schemas.microsoft.com/office/drawing/2014/main" id="{71192279-45BB-41DC-8529-7D3766C082BD}"/>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Haiku’s forecasts were recorded before the tests</a:t>
            </a:r>
          </a:p>
        </p:txBody>
      </p:sp>
      <p:sp>
        <p:nvSpPr>
          <p:cNvPr id="3" name="">
            <a:extLst xmlns:a="http://schemas.openxmlformats.org/drawingml/2006/main">
              <a:ext uri="{FF2B5EF4-FFF2-40B4-BE49-F238E27FC236}">
                <a16:creationId xmlns:a16="http://schemas.microsoft.com/office/drawing/2014/main" id="{81A9337E-2558-4D29-A2A3-67C5EC625842}"/>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PET-MAD results in J/m². Forecast ranges are model statements, not confidence intervals.</a:t>
            </a:r>
          </a:p>
        </p:txBody>
      </p:sp>
      <p:sp>
        <p:nvSpPr>
          <p:cNvPr id="4" name="">
            <a:extLst xmlns:a="http://schemas.openxmlformats.org/drawingml/2006/main">
              <a:ext uri="{FF2B5EF4-FFF2-40B4-BE49-F238E27FC236}">
                <a16:creationId xmlns:a16="http://schemas.microsoft.com/office/drawing/2014/main" id="{3296A6D7-7C5D-4171-A9DD-C256E062E10F}"/>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5F6E457A-0A2A-465B-85CC-0771DEF9A7D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14</a:t>
            </a:r>
          </a:p>
        </p:txBody>
      </p:sp>
      <p:graphicFrame>
        <p:nvGraphicFramePr>
          <p:cNvPr id="6" name="">
            <a:extLst xmlns:a="http://schemas.openxmlformats.org/drawingml/2006/main">
              <a:ext uri="{FF2B5EF4-FFF2-40B4-BE49-F238E27FC236}">
                <a16:creationId xmlns:a16="http://schemas.microsoft.com/office/drawing/2014/main" id="{0AFE93F0-8E66-4A4B-BEFF-55A161F718B5}"/>
              </a:ext>
            </a:extLst>
          </p:cNvPr>
          <p:cNvGraphicFramePr/>
          <p:nvPr/>
        </p:nvGraphicFramePr>
        <p:xfrm>
          <a:off xmlns:a="http://schemas.openxmlformats.org/drawingml/2006/main" x="533400" y="2143125"/>
          <a:ext xmlns:a="http://schemas.openxmlformats.org/drawingml/2006/main" cx="11125200" cy="3219450"/>
        </p:xfrm>
        <a:graphic xmlns:a="http://schemas.openxmlformats.org/drawingml/2006/main">
          <a:graphicData uri="http://schemas.openxmlformats.org/drawingml/2006/table">
            <a:tbl>
              <a:tblPr firstRow="0" bandRow="0"/>
              <a:tblGrid>
                <a:gridCol w="3981450"/>
                <a:gridCol w="2381250"/>
                <a:gridCol w="2238375"/>
                <a:gridCol w="2524125"/>
              </a:tblGrid>
              <a:tr h="643890">
                <a:tc>
                  <a:txBody>
                    <a:bodyPr lIns="0" tIns="0" rIns="0" bIns="0">
                      <a:noAutofit/>
                    </a:bodyPr>
                    <a:lstStyle/>
                    <a:p>
                      <a:r>
                        <a:rPr sz="1800" b="1">
                          <a:solidFill>
                            <a:srgbClr val="FFFFFF"/>
                          </a:solidFill>
                          <a:latin typeface="Helvetica Neue"/>
                          <a:ea typeface="Helvetica Neue"/>
                          <a:cs typeface="Helvetica Neue"/>
                        </a:rPr>
                        <a:t>Material / contact</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Haiku forecast</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Calculated</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Outcome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43890">
                <a:tc>
                  <a:txBody>
                    <a:bodyPr lIns="0" tIns="0" rIns="0" bIns="0">
                      <a:noAutofit/>
                    </a:bodyPr>
                    <a:lstStyle/>
                    <a:p>
                      <a:r>
                        <a:rPr sz="2025" b="0">
                          <a:solidFill>
                            <a:srgbClr val="172B3A"/>
                          </a:solidFill>
                          <a:latin typeface="Helvetica Neue"/>
                          <a:ea typeface="Helvetica Neue"/>
                          <a:cs typeface="Helvetica Neue"/>
                        </a:rPr>
                        <a:t>LiTaF₆ / cathode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3.2–3.9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3.339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Within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3890">
                <a:tc>
                  <a:txBody>
                    <a:bodyPr lIns="0" tIns="0" rIns="0" bIns="0">
                      <a:noAutofit/>
                    </a:bodyPr>
                    <a:lstStyle/>
                    <a:p>
                      <a:r>
                        <a:rPr sz="2025" b="0">
                          <a:solidFill>
                            <a:srgbClr val="172B3A"/>
                          </a:solidFill>
                          <a:latin typeface="Helvetica Neue"/>
                          <a:ea typeface="Helvetica Neue"/>
                          <a:cs typeface="Helvetica Neue"/>
                        </a:rPr>
                        <a:t>LiTaF₆ / electrolyte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1.4–1.9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1.577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Within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3890">
                <a:tc>
                  <a:txBody>
                    <a:bodyPr lIns="0" tIns="0" rIns="0" bIns="0">
                      <a:noAutofit/>
                    </a:bodyPr>
                    <a:lstStyle/>
                    <a:p>
                      <a:r>
                        <a:rPr sz="2025" b="0">
                          <a:solidFill>
                            <a:srgbClr val="172B3A"/>
                          </a:solidFill>
                          <a:latin typeface="Helvetica Neue"/>
                          <a:ea typeface="Helvetica Neue"/>
                          <a:cs typeface="Helvetica Neue"/>
                        </a:rPr>
                        <a:t>LiCaAlF₆ / cathode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3.0–3.8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1.427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Below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3890">
                <a:tc>
                  <a:txBody>
                    <a:bodyPr lIns="0" tIns="0" rIns="0" bIns="0">
                      <a:noAutofit/>
                    </a:bodyPr>
                    <a:lstStyle/>
                    <a:p>
                      <a:r>
                        <a:rPr sz="2025" b="0">
                          <a:solidFill>
                            <a:srgbClr val="172B3A"/>
                          </a:solidFill>
                          <a:latin typeface="Helvetica Neue"/>
                          <a:ea typeface="Helvetica Neue"/>
                          <a:cs typeface="Helvetica Neue"/>
                        </a:rPr>
                        <a:t>LiCaAlF₆ / electrolyte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1.4–1.9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0.744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Below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F2E1AB96-D334-47F4-9E67-B3EDF7DC6229}"/>
              </a:ext>
            </a:extLst>
          </p:cNvPr>
          <p:cNvSpPr>
            <a:spLocks xmlns:a="http://schemas.openxmlformats.org/drawingml/2006/main" noGrp="1"/>
          </p:cNvSpPr>
          <p:nvPr/>
        </p:nvSpPr>
        <p:spPr>
          <a:xfrm xmlns:a="http://schemas.openxmlformats.org/drawingml/2006/main">
            <a:off x="533400" y="56292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The electrolyte is the weaker contact in every case, as Haiku predicted.</a:t>
            </a:r>
          </a:p>
        </p:txBody>
      </p:sp>
      <p:sp>
        <p:nvSpPr>
          <p:cNvPr id="8" name="">
            <a:extLst xmlns:a="http://schemas.openxmlformats.org/drawingml/2006/main">
              <a:ext uri="{FF2B5EF4-FFF2-40B4-BE49-F238E27FC236}">
                <a16:creationId xmlns:a16="http://schemas.microsoft.com/office/drawing/2014/main" id="{29A326AE-A5FC-40EF-BC33-AB6E764EF2D7}"/>
              </a:ext>
            </a:extLst>
          </p:cNvPr>
          <p:cNvSpPr>
            <a:spLocks xmlns:a="http://schemas.openxmlformats.org/drawingml/2006/main" noGrp="1"/>
          </p:cNvSpPr>
          <p:nvPr/>
        </p:nvSpPr>
        <p:spPr>
          <a:xfrm xmlns:a="http://schemas.openxmlformats.org/drawingml/2006/main">
            <a:off x="533400" y="61150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buNone/>
              <a:defRPr sz="1725" b="0">
                <a:solidFill>
                  <a:srgbClr val="526472"/>
                </a:solidFill>
                <a:latin typeface="Helvetica Neue"/>
                <a:ea typeface="Helvetica Neue"/>
                <a:cs typeface="Helvetica Neue"/>
              </a:defRPr>
            </a:lvl1pPr>
            <a:lvl2pPr>
              <a:buNone/>
              <a:defRPr sz="1725" b="0">
                <a:solidFill>
                  <a:srgbClr val="526472"/>
                </a:solidFill>
                <a:latin typeface="Helvetica Neue"/>
                <a:ea typeface="Helvetica Neue"/>
                <a:cs typeface="Helvetica Neue"/>
              </a:defRPr>
            </a:lvl2pPr>
            <a:lvl3pPr>
              <a:buNone/>
              <a:defRPr sz="1725" b="0">
                <a:solidFill>
                  <a:srgbClr val="526472"/>
                </a:solidFill>
                <a:latin typeface="Helvetica Neue"/>
                <a:ea typeface="Helvetica Neue"/>
                <a:cs typeface="Helvetica Neue"/>
              </a:defRPr>
            </a:lvl3pPr>
            <a:lvl4pPr>
              <a:buNone/>
              <a:defRPr sz="1725" b="0">
                <a:solidFill>
                  <a:srgbClr val="526472"/>
                </a:solidFill>
                <a:latin typeface="Helvetica Neue"/>
                <a:ea typeface="Helvetica Neue"/>
                <a:cs typeface="Helvetica Neue"/>
              </a:defRPr>
            </a:lvl4pPr>
            <a:lvl5pPr>
              <a:buNone/>
              <a:defRPr sz="1725" b="0">
                <a:solidFill>
                  <a:srgbClr val="526472"/>
                </a:solidFill>
                <a:latin typeface="Helvetica Neue"/>
                <a:ea typeface="Helvetica Neue"/>
                <a:cs typeface="Helvetica Neue"/>
              </a:defRPr>
            </a:lvl5pPr>
            <a:lvl6pPr>
              <a:buNone/>
              <a:defRPr sz="1725" b="0">
                <a:solidFill>
                  <a:srgbClr val="526472"/>
                </a:solidFill>
                <a:latin typeface="Helvetica Neue"/>
                <a:ea typeface="Helvetica Neue"/>
                <a:cs typeface="Helvetica Neue"/>
              </a:defRPr>
            </a:lvl6pPr>
            <a:lvl7pPr>
              <a:buNone/>
              <a:defRPr sz="1725" b="0">
                <a:solidFill>
                  <a:srgbClr val="526472"/>
                </a:solidFill>
                <a:latin typeface="Helvetica Neue"/>
                <a:ea typeface="Helvetica Neue"/>
                <a:cs typeface="Helvetica Neue"/>
              </a:defRPr>
            </a:lvl7pPr>
            <a:lvl8pPr>
              <a:buNone/>
              <a:defRPr sz="1725" b="0">
                <a:solidFill>
                  <a:srgbClr val="526472"/>
                </a:solidFill>
                <a:latin typeface="Helvetica Neue"/>
                <a:ea typeface="Helvetica Neue"/>
                <a:cs typeface="Helvetica Neue"/>
              </a:defRPr>
            </a:lvl8pPr>
            <a:lvl9pPr>
              <a:buNone/>
              <a:defRPr sz="1725" b="0">
                <a:solidFill>
                  <a:srgbClr val="526472"/>
                </a:solidFill>
                <a:latin typeface="Helvetica Neue"/>
                <a:ea typeface="Helvetica Neue"/>
                <a:cs typeface="Helvetica Neue"/>
              </a:defRPr>
            </a:lvl9pPr>
          </a:lstStyle>
          <a:p xmlns:a="http://schemas.openxmlformats.org/drawingml/2006/main">
            <a:pPr>
              <a:buNone/>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Choice order stayed unchanged. Two new choices cannot establish reliable adaptive search.</a:t>
            </a:r>
          </a:p>
        </p:txBody>
      </p:sp>
      <p:pic>
        <p:nvPicPr>
          <p:cNvPr id="10" name="">
            <a:extLst xmlns:a="http://schemas.openxmlformats.org/drawingml/2006/main">
              <a:ext uri="{FF2B5EF4-FFF2-40B4-BE49-F238E27FC236}">
                <a16:creationId xmlns:a16="http://schemas.microsoft.com/office/drawing/2014/main" id="{072BFE9E-A0AE-433D-9FD8-0369FDC7FAE1}"/>
              </a:ext>
            </a:extLst>
          </p:cNvPr>
          <p:cNvPicPr>
            <a:picLocks xmlns:a="http://schemas.openxmlformats.org/drawingml/2006/main" noChangeAspect="1"/>
          </p:cNvPicPr>
          <p:nvPr/>
        </p:nvPicPr>
        <p:blipFill>
          <a:blip xmlns:r="http://schemas.openxmlformats.org/officeDocument/2006/relationships" xmlns:a="http://schemas.openxmlformats.org/drawingml/2006/main" r:embed="Rb36600dffbfa452a"/>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906047109"/>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804DA8-8EB6-4F32-8BE6-ED0A297591FD}"/>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COMPLETED PHYSICAL CALCULATIONS</a:t>
            </a:r>
          </a:p>
        </p:txBody>
      </p:sp>
      <p:sp>
        <p:nvSpPr>
          <p:cNvPr id="2" name="">
            <a:extLst xmlns:a="http://schemas.openxmlformats.org/drawingml/2006/main">
              <a:ext uri="{FF2B5EF4-FFF2-40B4-BE49-F238E27FC236}">
                <a16:creationId xmlns:a16="http://schemas.microsoft.com/office/drawing/2014/main" id="{DD825523-D0C7-4B1C-873F-0121E07DC46C}"/>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Sulfide follow-up: a small candidate shortlist</a:t>
            </a:r>
          </a:p>
        </p:txBody>
      </p:sp>
      <p:sp>
        <p:nvSpPr>
          <p:cNvPr id="3" name="">
            <a:extLst xmlns:a="http://schemas.openxmlformats.org/drawingml/2006/main">
              <a:ext uri="{FF2B5EF4-FFF2-40B4-BE49-F238E27FC236}">
                <a16:creationId xmlns:a16="http://schemas.microsoft.com/office/drawing/2014/main" id="{113BB666-F947-4E3F-84A5-3C6898F72822}"/>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Three coatings tested with PET-MAD. Higher adhesion means stronger attachment.</a:t>
            </a:r>
          </a:p>
        </p:txBody>
      </p:sp>
      <p:sp>
        <p:nvSpPr>
          <p:cNvPr id="4" name="">
            <a:extLst xmlns:a="http://schemas.openxmlformats.org/drawingml/2006/main">
              <a:ext uri="{FF2B5EF4-FFF2-40B4-BE49-F238E27FC236}">
                <a16:creationId xmlns:a16="http://schemas.microsoft.com/office/drawing/2014/main" id="{05EE044F-2F0A-406C-8292-E5E52E664FAF}"/>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064712FE-BC40-4938-BF9A-F38922D6536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15</a:t>
            </a:r>
          </a:p>
        </p:txBody>
      </p:sp>
      <p:graphicFrame>
        <p:nvGraphicFramePr>
          <p:cNvPr id="6" name="">
            <a:extLst xmlns:a="http://schemas.openxmlformats.org/drawingml/2006/main">
              <a:ext uri="{FF2B5EF4-FFF2-40B4-BE49-F238E27FC236}">
                <a16:creationId xmlns:a16="http://schemas.microsoft.com/office/drawing/2014/main" id="{A3ABEA90-2A58-4A1C-9307-C0E826991C63}"/>
              </a:ext>
            </a:extLst>
          </p:cNvPr>
          <p:cNvGraphicFramePr/>
          <p:nvPr/>
        </p:nvGraphicFramePr>
        <p:xfrm>
          <a:off xmlns:a="http://schemas.openxmlformats.org/drawingml/2006/main" x="533400" y="2181225"/>
          <a:ext xmlns:a="http://schemas.openxmlformats.org/drawingml/2006/main" cx="11125200" cy="2847975"/>
        </p:xfrm>
        <a:graphic xmlns:a="http://schemas.openxmlformats.org/drawingml/2006/main">
          <a:graphicData uri="http://schemas.openxmlformats.org/drawingml/2006/table">
            <a:tbl>
              <a:tblPr firstRow="0" bandRow="0"/>
              <a:tblGrid>
                <a:gridCol w="2762250"/>
                <a:gridCol w="3143250"/>
                <a:gridCol w="5219700"/>
              </a:tblGrid>
              <a:tr h="711994">
                <a:tc>
                  <a:txBody>
                    <a:bodyPr lIns="0" tIns="0" rIns="0" bIns="0">
                      <a:noAutofit/>
                    </a:bodyPr>
                    <a:lstStyle/>
                    <a:p>
                      <a:r>
                        <a:rPr sz="1800" b="1">
                          <a:solidFill>
                            <a:srgbClr val="FFFFFF"/>
                          </a:solidFill>
                          <a:latin typeface="Helvetica Neue"/>
                          <a:ea typeface="Helvetica Neue"/>
                          <a:cs typeface="Helvetica Neue"/>
                        </a:rPr>
                        <a:t>Coating</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Weaker-contact</a:t>
                      </a:r>
                    </a:p>
                    <a:p>
                      <a:r>
                        <a:rPr sz="1800" b="1">
                          <a:solidFill>
                            <a:srgbClr val="FFFFFF"/>
                          </a:solidFill>
                          <a:latin typeface="Helvetica Neue"/>
                          <a:ea typeface="Helvetica Neue"/>
                          <a:cs typeface="Helvetica Neue"/>
                        </a:rPr>
                        <a:t>adhesion (J/m²)</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Haiku’s forecasts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1994">
                <a:tc>
                  <a:txBody>
                    <a:bodyPr lIns="0" tIns="0" rIns="0" bIns="0">
                      <a:noAutofit/>
                    </a:bodyPr>
                    <a:lstStyle/>
                    <a:p>
                      <a:r>
                        <a:rPr sz="2175" b="0">
                          <a:solidFill>
                            <a:srgbClr val="172B3A"/>
                          </a:solidFill>
                          <a:latin typeface="Helvetica Neue"/>
                          <a:ea typeface="Helvetica Neue"/>
                          <a:cs typeface="Helvetica Neue"/>
                        </a:rPr>
                        <a:t>LiNbF₆</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1.633</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Reference supplied to Haiku</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11994">
                <a:tc>
                  <a:txBody>
                    <a:bodyPr lIns="0" tIns="0" rIns="0" bIns="0">
                      <a:noAutofit/>
                    </a:bodyPr>
                    <a:lstStyle/>
                    <a:p>
                      <a:r>
                        <a:rPr sz="2175" b="0">
                          <a:solidFill>
                            <a:srgbClr val="172B3A"/>
                          </a:solidFill>
                          <a:latin typeface="Helvetica Neue"/>
                          <a:ea typeface="Helvetica Neue"/>
                          <a:cs typeface="Helvetica Neue"/>
                        </a:rPr>
                        <a:t>LiTaF₆</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1.577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Both within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11994">
                <a:tc>
                  <a:txBody>
                    <a:bodyPr lIns="0" tIns="0" rIns="0" bIns="0">
                      <a:noAutofit/>
                    </a:bodyPr>
                    <a:lstStyle/>
                    <a:p>
                      <a:r>
                        <a:rPr sz="2175" b="0">
                          <a:solidFill>
                            <a:srgbClr val="172B3A"/>
                          </a:solidFill>
                          <a:latin typeface="Helvetica Neue"/>
                          <a:ea typeface="Helvetica Neue"/>
                          <a:cs typeface="Helvetica Neue"/>
                        </a:rPr>
                        <a:t>LiCaAlF₆</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0.744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Both too high</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2923F86C-9944-49B8-B619-305EFCD4F1A7}"/>
              </a:ext>
            </a:extLst>
          </p:cNvPr>
          <p:cNvSpPr>
            <a:spLocks xmlns:a="http://schemas.openxmlformats.org/drawingml/2006/main" noGrp="1"/>
          </p:cNvSpPr>
          <p:nvPr/>
        </p:nvSpPr>
        <p:spPr>
          <a:xfrm xmlns:a="http://schemas.openxmlformats.org/drawingml/2006/main">
            <a:off x="533400" y="525780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7F7B"/>
                </a:solidFill>
                <a:latin typeface="Helvetica Neue"/>
                <a:ea typeface="Helvetica Neue"/>
                <a:cs typeface="Helvetica Neue"/>
              </a:defRPr>
            </a:defPPr>
            <a:lvl1pPr>
              <a:buNone/>
              <a:defRPr sz="2325" b="1">
                <a:solidFill>
                  <a:srgbClr val="007F7B"/>
                </a:solidFill>
                <a:latin typeface="Helvetica Neue"/>
                <a:ea typeface="Helvetica Neue"/>
                <a:cs typeface="Helvetica Neue"/>
              </a:defRPr>
            </a:lvl1pPr>
            <a:lvl2pPr>
              <a:buNone/>
              <a:defRPr sz="2325" b="1">
                <a:solidFill>
                  <a:srgbClr val="007F7B"/>
                </a:solidFill>
                <a:latin typeface="Helvetica Neue"/>
                <a:ea typeface="Helvetica Neue"/>
                <a:cs typeface="Helvetica Neue"/>
              </a:defRPr>
            </a:lvl2pPr>
            <a:lvl3pPr>
              <a:buNone/>
              <a:defRPr sz="2325" b="1">
                <a:solidFill>
                  <a:srgbClr val="007F7B"/>
                </a:solidFill>
                <a:latin typeface="Helvetica Neue"/>
                <a:ea typeface="Helvetica Neue"/>
                <a:cs typeface="Helvetica Neue"/>
              </a:defRPr>
            </a:lvl3pPr>
            <a:lvl4pPr>
              <a:buNone/>
              <a:defRPr sz="2325" b="1">
                <a:solidFill>
                  <a:srgbClr val="007F7B"/>
                </a:solidFill>
                <a:latin typeface="Helvetica Neue"/>
                <a:ea typeface="Helvetica Neue"/>
                <a:cs typeface="Helvetica Neue"/>
              </a:defRPr>
            </a:lvl4pPr>
            <a:lvl5pPr>
              <a:buNone/>
              <a:defRPr sz="2325" b="1">
                <a:solidFill>
                  <a:srgbClr val="007F7B"/>
                </a:solidFill>
                <a:latin typeface="Helvetica Neue"/>
                <a:ea typeface="Helvetica Neue"/>
                <a:cs typeface="Helvetica Neue"/>
              </a:defRPr>
            </a:lvl5pPr>
            <a:lvl6pPr>
              <a:buNone/>
              <a:defRPr sz="2325" b="1">
                <a:solidFill>
                  <a:srgbClr val="007F7B"/>
                </a:solidFill>
                <a:latin typeface="Helvetica Neue"/>
                <a:ea typeface="Helvetica Neue"/>
                <a:cs typeface="Helvetica Neue"/>
              </a:defRPr>
            </a:lvl6pPr>
            <a:lvl7pPr>
              <a:buNone/>
              <a:defRPr sz="2325" b="1">
                <a:solidFill>
                  <a:srgbClr val="007F7B"/>
                </a:solidFill>
                <a:latin typeface="Helvetica Neue"/>
                <a:ea typeface="Helvetica Neue"/>
                <a:cs typeface="Helvetica Neue"/>
              </a:defRPr>
            </a:lvl7pPr>
            <a:lvl8pPr>
              <a:buNone/>
              <a:defRPr sz="2325" b="1">
                <a:solidFill>
                  <a:srgbClr val="007F7B"/>
                </a:solidFill>
                <a:latin typeface="Helvetica Neue"/>
                <a:ea typeface="Helvetica Neue"/>
                <a:cs typeface="Helvetica Neue"/>
              </a:defRPr>
            </a:lvl8pPr>
            <a:lvl9pPr>
              <a:buNone/>
              <a:defRPr sz="2325" b="1">
                <a:solidFill>
                  <a:srgbClr val="007F7B"/>
                </a:solidFill>
                <a:latin typeface="Helvetica Neue"/>
                <a:ea typeface="Helvetica Neue"/>
                <a:cs typeface="Helvetica Neue"/>
              </a:defRPr>
            </a:lvl9pPr>
          </a:lstStyle>
          <a:p xmlns:a="http://schemas.openxmlformats.org/drawingml/2006/main">
            <a:pPr>
              <a:buNone/>
              <a:defRPr sz="2325" b="1">
                <a:solidFill>
                  <a:srgbClr val="007F7B"/>
                </a:solidFill>
                <a:latin typeface="Helvetica Neue"/>
                <a:ea typeface="Helvetica Neue"/>
                <a:cs typeface="Helvetica Neue"/>
              </a:defRPr>
            </a:pPr>
            <a:r>
              <a:rPr sz="2325" b="1">
                <a:solidFill>
                  <a:srgbClr val="007F7B"/>
                </a:solidFill>
                <a:latin typeface="Helvetica Neue"/>
                <a:ea typeface="Helvetica Neue"/>
                <a:cs typeface="Helvetica Neue"/>
              </a:rPr>
              <a:t>LiNbF₆ and LiTaF₆ are promising candidates for further testing.</a:t>
            </a:r>
          </a:p>
        </p:txBody>
      </p:sp>
      <p:sp>
        <p:nvSpPr>
          <p:cNvPr id="8" name="">
            <a:extLst xmlns:a="http://schemas.openxmlformats.org/drawingml/2006/main">
              <a:ext uri="{FF2B5EF4-FFF2-40B4-BE49-F238E27FC236}">
                <a16:creationId xmlns:a16="http://schemas.microsoft.com/office/drawing/2014/main" id="{253B38B9-15C9-4FEF-9B2F-5090C26B414B}"/>
              </a:ext>
            </a:extLst>
          </p:cNvPr>
          <p:cNvSpPr>
            <a:spLocks xmlns:a="http://schemas.openxmlformats.org/drawingml/2006/main" noGrp="1"/>
          </p:cNvSpPr>
          <p:nvPr/>
        </p:nvSpPr>
        <p:spPr>
          <a:xfrm xmlns:a="http://schemas.openxmlformats.org/drawingml/2006/main">
            <a:off x="533400" y="60388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Their small difference does not establish a reliable winner. Transport remains untested.</a:t>
            </a:r>
          </a:p>
        </p:txBody>
      </p:sp>
      <p:pic>
        <p:nvPicPr>
          <p:cNvPr id="10" name="">
            <a:extLst xmlns:a="http://schemas.openxmlformats.org/drawingml/2006/main">
              <a:ext uri="{FF2B5EF4-FFF2-40B4-BE49-F238E27FC236}">
                <a16:creationId xmlns:a16="http://schemas.microsoft.com/office/drawing/2014/main" id="{D520F196-04B1-48F8-B5ED-878902A938D2}"/>
              </a:ext>
            </a:extLst>
          </p:cNvPr>
          <p:cNvPicPr>
            <a:picLocks xmlns:a="http://schemas.openxmlformats.org/drawingml/2006/main" noChangeAspect="1"/>
          </p:cNvPicPr>
          <p:nvPr/>
        </p:nvPicPr>
        <p:blipFill>
          <a:blip xmlns:r="http://schemas.openxmlformats.org/officeDocument/2006/relationships" xmlns:a="http://schemas.openxmlformats.org/drawingml/2006/main" r:embed="R83d952c300f84778"/>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264600484"/>
      </p:ext>
    </p:extLst>
  </p:cSld>
</p:sld>
</file>

<file path=ppt/slides/slide1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39E019-61B5-47B0-BB08-0B7B5D35E549}"/>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2 / AN EASY SCREEN</a:t>
            </a:r>
          </a:p>
        </p:txBody>
      </p:sp>
      <p:sp>
        <p:nvSpPr>
          <p:cNvPr id="2" name="">
            <a:extLst xmlns:a="http://schemas.openxmlformats.org/drawingml/2006/main">
              <a:ext uri="{FF2B5EF4-FFF2-40B4-BE49-F238E27FC236}">
                <a16:creationId xmlns:a16="http://schemas.microsoft.com/office/drawing/2014/main" id="{1FD06480-B99F-4ADE-9C3E-CF8CC07FC516}"/>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Chloride: almost every strategy succeeds</a:t>
            </a:r>
          </a:p>
        </p:txBody>
      </p:sp>
      <p:sp>
        <p:nvSpPr>
          <p:cNvPr id="3" name="">
            <a:extLst xmlns:a="http://schemas.openxmlformats.org/drawingml/2006/main">
              <a:ext uri="{FF2B5EF4-FFF2-40B4-BE49-F238E27FC236}">
                <a16:creationId xmlns:a16="http://schemas.microsoft.com/office/drawing/2014/main" id="{153653DB-7A9E-468A-BB70-858697555DDF}"/>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
            <a:extLst xmlns:a="http://schemas.openxmlformats.org/drawingml/2006/main">
              <a:ext uri="{FF2B5EF4-FFF2-40B4-BE49-F238E27FC236}">
                <a16:creationId xmlns:a16="http://schemas.microsoft.com/office/drawing/2014/main" id="{394BB7D9-9993-43C1-BBAD-785CA94E78A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E1976D91-18F1-46E8-8766-4637EE1F105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16</a:t>
            </a:r>
          </a:p>
        </p:txBody>
      </p:sp>
      <p:pic>
        <p:nvPicPr>
          <p:cNvPr id="14" name="">
            <a:extLst xmlns:a="http://schemas.openxmlformats.org/drawingml/2006/main">
              <a:ext uri="{FF2B5EF4-FFF2-40B4-BE49-F238E27FC236}">
                <a16:creationId xmlns:a16="http://schemas.microsoft.com/office/drawing/2014/main" id="{035A0537-C864-48EC-8BE3-C532358556E6}"/>
              </a:ext>
            </a:extLst>
          </p:cNvPr>
          <p:cNvPicPr>
            <a:picLocks xmlns:a="http://schemas.openxmlformats.org/drawingml/2006/main" noChangeAspect="1"/>
          </p:cNvPicPr>
          <p:nvPr/>
        </p:nvPicPr>
        <p:blipFill>
          <a:blip xmlns:r="http://schemas.openxmlformats.org/officeDocument/2006/relationships" xmlns:a="http://schemas.openxmlformats.org/drawingml/2006/main" r:embed="Reacbcdf73f764051"/>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5" name="Chart">
            <a:extLst xmlns:a="http://schemas.openxmlformats.org/drawingml/2006/main">
              <a:ext uri="{FF2B5EF4-FFF2-40B4-BE49-F238E27FC236}">
                <a16:creationId xmlns:a16="http://schemas.microsoft.com/office/drawing/2014/main" id="{37650AA3-895D-4439-B854-66CB8987BC5E}"/>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3e8e4e9ce84c4a7f"/>
          </a:graphicData>
        </a:graphic>
      </p:graphicFrame>
      <p:sp>
        <p:nvSpPr>
          <p:cNvPr id="16" name="random-baseline-29-of-30">
            <a:extLst xmlns:a="http://schemas.openxmlformats.org/drawingml/2006/main">
              <a:ext uri="{FF2B5EF4-FFF2-40B4-BE49-F238E27FC236}">
                <a16:creationId xmlns:a16="http://schemas.microsoft.com/office/drawing/2014/main" id="{666F1B84-2237-4561-AF73-88B5BB746E1C}"/>
              </a:ext>
            </a:extLst>
          </p:cNvPr>
          <p:cNvSpPr>
            <a:spLocks xmlns:a="http://schemas.openxmlformats.org/drawingml/2006/main" noGrp="1"/>
          </p:cNvSpPr>
          <p:nvPr/>
        </p:nvSpPr>
        <p:spPr>
          <a:xfrm xmlns:a="http://schemas.openxmlformats.org/drawingml/2006/main">
            <a:off x="10123910"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7" name="random-baseline-legend">
            <a:extLst xmlns:a="http://schemas.openxmlformats.org/drawingml/2006/main">
              <a:ext uri="{FF2B5EF4-FFF2-40B4-BE49-F238E27FC236}">
                <a16:creationId xmlns:a16="http://schemas.microsoft.com/office/drawing/2014/main" id="{C7ED361B-0054-45DB-B9FA-48AF38E8FC17}"/>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8" name="">
            <a:extLst xmlns:a="http://schemas.openxmlformats.org/drawingml/2006/main">
              <a:ext uri="{FF2B5EF4-FFF2-40B4-BE49-F238E27FC236}">
                <a16:creationId xmlns:a16="http://schemas.microsoft.com/office/drawing/2014/main" id="{538B2CEB-6BBB-4721-8054-695B124E9127}"/>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29/30</a:t>
            </a:r>
          </a:p>
        </p:txBody>
      </p:sp>
      <p:sp>
        <p:nvSpPr>
          <p:cNvPr id="19" name="">
            <a:extLst xmlns:a="http://schemas.openxmlformats.org/drawingml/2006/main">
              <a:ext uri="{FF2B5EF4-FFF2-40B4-BE49-F238E27FC236}">
                <a16:creationId xmlns:a16="http://schemas.microsoft.com/office/drawing/2014/main" id="{CE5F37F4-3096-4DFF-A46D-B973DE00521B}"/>
              </a:ext>
            </a:extLst>
          </p:cNvPr>
          <p:cNvSpPr>
            <a:spLocks xmlns:a="http://schemas.openxmlformats.org/drawingml/2006/main" noGrp="1"/>
          </p:cNvSpPr>
          <p:nvPr/>
        </p:nvSpPr>
        <p:spPr>
          <a:xfrm xmlns:a="http://schemas.openxmlformats.org/drawingml/2006/main">
            <a:off x="533400" y="56769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defRPr sz="2100" b="1">
                <a:solidFill>
                  <a:srgbClr val="007F7B"/>
                </a:solidFill>
                <a:latin typeface="Helvetica Neue"/>
                <a:ea typeface="Helvetica Neue"/>
                <a:cs typeface="Helvetica Neue"/>
              </a:defRPr>
            </a:lvl1pPr>
            <a:lvl2pPr>
              <a:defRPr sz="2100" b="1">
                <a:solidFill>
                  <a:srgbClr val="007F7B"/>
                </a:solidFill>
                <a:latin typeface="Helvetica Neue"/>
                <a:ea typeface="Helvetica Neue"/>
                <a:cs typeface="Helvetica Neue"/>
              </a:defRPr>
            </a:lvl2pPr>
            <a:lvl3pPr>
              <a:defRPr sz="2100" b="1">
                <a:solidFill>
                  <a:srgbClr val="007F7B"/>
                </a:solidFill>
                <a:latin typeface="Helvetica Neue"/>
                <a:ea typeface="Helvetica Neue"/>
                <a:cs typeface="Helvetica Neue"/>
              </a:defRPr>
            </a:lvl3pPr>
            <a:lvl4pPr>
              <a:defRPr sz="2100" b="1">
                <a:solidFill>
                  <a:srgbClr val="007F7B"/>
                </a:solidFill>
                <a:latin typeface="Helvetica Neue"/>
                <a:ea typeface="Helvetica Neue"/>
                <a:cs typeface="Helvetica Neue"/>
              </a:defRPr>
            </a:lvl4pPr>
            <a:lvl5pPr>
              <a:defRPr sz="2100" b="1">
                <a:solidFill>
                  <a:srgbClr val="007F7B"/>
                </a:solidFill>
                <a:latin typeface="Helvetica Neue"/>
                <a:ea typeface="Helvetica Neue"/>
                <a:cs typeface="Helvetica Neue"/>
              </a:defRPr>
            </a:lvl5pPr>
            <a:lvl6pPr>
              <a:defRPr sz="2100" b="1">
                <a:solidFill>
                  <a:srgbClr val="007F7B"/>
                </a:solidFill>
                <a:latin typeface="Helvetica Neue"/>
                <a:ea typeface="Helvetica Neue"/>
                <a:cs typeface="Helvetica Neue"/>
              </a:defRPr>
            </a:lvl6pPr>
            <a:lvl7pPr>
              <a:defRPr sz="2100" b="1">
                <a:solidFill>
                  <a:srgbClr val="007F7B"/>
                </a:solidFill>
                <a:latin typeface="Helvetica Neue"/>
                <a:ea typeface="Helvetica Neue"/>
                <a:cs typeface="Helvetica Neue"/>
              </a:defRPr>
            </a:lvl7pPr>
            <a:lvl8pPr>
              <a:defRPr sz="2100" b="1">
                <a:solidFill>
                  <a:srgbClr val="007F7B"/>
                </a:solidFill>
                <a:latin typeface="Helvetica Neue"/>
                <a:ea typeface="Helvetica Neue"/>
                <a:cs typeface="Helvetica Neue"/>
              </a:defRPr>
            </a:lvl8pPr>
            <a:lvl9pPr>
              <a:defRPr sz="2100" b="1">
                <a:solidFill>
                  <a:srgbClr val="007F7B"/>
                </a:solidFill>
                <a:latin typeface="Helvetica Neue"/>
                <a:ea typeface="Helvetica Neue"/>
                <a:cs typeface="Helvetica Neue"/>
              </a:defRPr>
            </a:lvl9pPr>
          </a:lstStyle>
          <a:p xmlns:a="http://schemas.openxmlformats.org/drawingml/2006/main">
            <a:pPr>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All LLM strategies: 30/30. Random choice: 29/30.</a:t>
            </a:r>
          </a:p>
        </p:txBody>
      </p:sp>
      <p:sp>
        <p:nvSpPr>
          <p:cNvPr id="20" name="">
            <a:extLst xmlns:a="http://schemas.openxmlformats.org/drawingml/2006/main">
              <a:ext uri="{FF2B5EF4-FFF2-40B4-BE49-F238E27FC236}">
                <a16:creationId xmlns:a16="http://schemas.microsoft.com/office/drawing/2014/main" id="{3EC606C8-AEEC-45F8-865D-244557F169DD}"/>
              </a:ext>
            </a:extLst>
          </p:cNvPr>
          <p:cNvSpPr>
            <a:spLocks xmlns:a="http://schemas.openxmlformats.org/drawingml/2006/main" noGrp="1"/>
          </p:cNvSpPr>
          <p:nvPr/>
        </p:nvSpPr>
        <p:spPr>
          <a:xfrm xmlns:a="http://schemas.openxmlformats.org/drawingml/2006/main">
            <a:off x="533400" y="611505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55 of 141 structures pass. This easy screen leaves little room for a feedback advantage.</a:t>
            </a:r>
          </a:p>
        </p:txBody>
      </p:sp>
    </p:spTree>
    <p:extLst>
      <p:ext uri="{BB962C8B-B14F-4D97-AF65-F5344CB8AC3E}">
        <p14:creationId xmlns:p14="http://schemas.microsoft.com/office/powerpoint/2010/main" val="1443295539"/>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B9A4E9-33E2-43ED-BB29-4B79B26849E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3 / THE FAILURE CASE</a:t>
            </a:r>
          </a:p>
        </p:txBody>
      </p:sp>
      <p:sp>
        <p:nvSpPr>
          <p:cNvPr id="2" name="">
            <a:extLst xmlns:a="http://schemas.openxmlformats.org/drawingml/2006/main">
              <a:ext uri="{FF2B5EF4-FFF2-40B4-BE49-F238E27FC236}">
                <a16:creationId xmlns:a16="http://schemas.microsoft.com/office/drawing/2014/main" id="{2B24F43C-2A88-48C1-A352-84A1FC297D23}"/>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LLZO: the feedback loop falls short</a:t>
            </a:r>
          </a:p>
        </p:txBody>
      </p:sp>
      <p:sp>
        <p:nvSpPr>
          <p:cNvPr id="3" name="">
            <a:extLst xmlns:a="http://schemas.openxmlformats.org/drawingml/2006/main">
              <a:ext uri="{FF2B5EF4-FFF2-40B4-BE49-F238E27FC236}">
                <a16:creationId xmlns:a16="http://schemas.microsoft.com/office/drawing/2014/main" id="{56370CC3-BD3F-4372-98B3-E33F9710DA29}"/>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
            <a:extLst xmlns:a="http://schemas.openxmlformats.org/drawingml/2006/main">
              <a:ext uri="{FF2B5EF4-FFF2-40B4-BE49-F238E27FC236}">
                <a16:creationId xmlns:a16="http://schemas.microsoft.com/office/drawing/2014/main" id="{B0A9009A-DC2C-4EE1-8864-0FB6CC190EFF}"/>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A60C23FF-BAEA-4BE1-B3D5-0619FF0B4FD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17</a:t>
            </a:r>
          </a:p>
        </p:txBody>
      </p:sp>
      <p:pic>
        <p:nvPicPr>
          <p:cNvPr id="10" name="">
            <a:extLst xmlns:a="http://schemas.openxmlformats.org/drawingml/2006/main">
              <a:ext uri="{FF2B5EF4-FFF2-40B4-BE49-F238E27FC236}">
                <a16:creationId xmlns:a16="http://schemas.microsoft.com/office/drawing/2014/main" id="{42A3E9BD-7449-4B7F-BA91-BFB8DE7284DD}"/>
              </a:ext>
            </a:extLst>
          </p:cNvPr>
          <p:cNvPicPr>
            <a:picLocks xmlns:a="http://schemas.openxmlformats.org/drawingml/2006/main" noChangeAspect="1"/>
          </p:cNvPicPr>
          <p:nvPr/>
        </p:nvPicPr>
        <p:blipFill>
          <a:blip xmlns:r="http://schemas.openxmlformats.org/officeDocument/2006/relationships" xmlns:a="http://schemas.openxmlformats.org/drawingml/2006/main" r:embed="R8c619f7e443b49da"/>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1" name="Chart">
            <a:extLst xmlns:a="http://schemas.openxmlformats.org/drawingml/2006/main">
              <a:ext uri="{FF2B5EF4-FFF2-40B4-BE49-F238E27FC236}">
                <a16:creationId xmlns:a16="http://schemas.microsoft.com/office/drawing/2014/main" id="{8BAFB9E2-5A66-402E-B710-77664FFA0FD1}"/>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f67eeced226743c2"/>
          </a:graphicData>
        </a:graphic>
      </p:graphicFrame>
      <p:sp>
        <p:nvSpPr>
          <p:cNvPr id="12" name="random-baseline-24-of-30">
            <a:extLst xmlns:a="http://schemas.openxmlformats.org/drawingml/2006/main">
              <a:ext uri="{FF2B5EF4-FFF2-40B4-BE49-F238E27FC236}">
                <a16:creationId xmlns:a16="http://schemas.microsoft.com/office/drawing/2014/main" id="{3BC3E633-3731-4B7D-9C48-F338F7CE749E}"/>
              </a:ext>
            </a:extLst>
          </p:cNvPr>
          <p:cNvSpPr>
            <a:spLocks xmlns:a="http://schemas.openxmlformats.org/drawingml/2006/main" noGrp="1"/>
          </p:cNvSpPr>
          <p:nvPr/>
        </p:nvSpPr>
        <p:spPr>
          <a:xfrm xmlns:a="http://schemas.openxmlformats.org/drawingml/2006/main">
            <a:off x="8812485"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3" name="random-baseline-legend">
            <a:extLst xmlns:a="http://schemas.openxmlformats.org/drawingml/2006/main">
              <a:ext uri="{FF2B5EF4-FFF2-40B4-BE49-F238E27FC236}">
                <a16:creationId xmlns:a16="http://schemas.microsoft.com/office/drawing/2014/main" id="{9BA2B0C7-3DC0-4629-BD8A-0AE41BB72133}"/>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4" name="">
            <a:extLst xmlns:a="http://schemas.openxmlformats.org/drawingml/2006/main">
              <a:ext uri="{FF2B5EF4-FFF2-40B4-BE49-F238E27FC236}">
                <a16:creationId xmlns:a16="http://schemas.microsoft.com/office/drawing/2014/main" id="{1EFF058D-37E2-4056-ADFF-77D2763B429C}"/>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24/30</a:t>
            </a:r>
          </a:p>
        </p:txBody>
      </p:sp>
      <p:sp>
        <p:nvSpPr>
          <p:cNvPr id="15" name="">
            <a:extLst xmlns:a="http://schemas.openxmlformats.org/drawingml/2006/main">
              <a:ext uri="{FF2B5EF4-FFF2-40B4-BE49-F238E27FC236}">
                <a16:creationId xmlns:a16="http://schemas.microsoft.com/office/drawing/2014/main" id="{24A1B23E-AD86-447B-8038-86D82167BEFD}"/>
              </a:ext>
            </a:extLst>
          </p:cNvPr>
          <p:cNvSpPr>
            <a:spLocks xmlns:a="http://schemas.openxmlformats.org/drawingml/2006/main" noGrp="1"/>
          </p:cNvSpPr>
          <p:nvPr/>
        </p:nvSpPr>
        <p:spPr>
          <a:xfrm xmlns:a="http://schemas.openxmlformats.org/drawingml/2006/main">
            <a:off x="533400" y="56769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A713A"/>
                </a:solidFill>
                <a:latin typeface="Helvetica Neue"/>
                <a:ea typeface="Helvetica Neue"/>
                <a:cs typeface="Helvetica Neue"/>
              </a:defRPr>
            </a:defPPr>
            <a:lvl1pPr>
              <a:defRPr sz="2100" b="1">
                <a:solidFill>
                  <a:srgbClr val="CA713A"/>
                </a:solidFill>
                <a:latin typeface="Helvetica Neue"/>
                <a:ea typeface="Helvetica Neue"/>
                <a:cs typeface="Helvetica Neue"/>
              </a:defRPr>
            </a:lvl1pPr>
            <a:lvl2pPr>
              <a:defRPr sz="2100" b="1">
                <a:solidFill>
                  <a:srgbClr val="CA713A"/>
                </a:solidFill>
                <a:latin typeface="Helvetica Neue"/>
                <a:ea typeface="Helvetica Neue"/>
                <a:cs typeface="Helvetica Neue"/>
              </a:defRPr>
            </a:lvl2pPr>
            <a:lvl3pPr>
              <a:defRPr sz="2100" b="1">
                <a:solidFill>
                  <a:srgbClr val="CA713A"/>
                </a:solidFill>
                <a:latin typeface="Helvetica Neue"/>
                <a:ea typeface="Helvetica Neue"/>
                <a:cs typeface="Helvetica Neue"/>
              </a:defRPr>
            </a:lvl3pPr>
            <a:lvl4pPr>
              <a:defRPr sz="2100" b="1">
                <a:solidFill>
                  <a:srgbClr val="CA713A"/>
                </a:solidFill>
                <a:latin typeface="Helvetica Neue"/>
                <a:ea typeface="Helvetica Neue"/>
                <a:cs typeface="Helvetica Neue"/>
              </a:defRPr>
            </a:lvl4pPr>
            <a:lvl5pPr>
              <a:defRPr sz="2100" b="1">
                <a:solidFill>
                  <a:srgbClr val="CA713A"/>
                </a:solidFill>
                <a:latin typeface="Helvetica Neue"/>
                <a:ea typeface="Helvetica Neue"/>
                <a:cs typeface="Helvetica Neue"/>
              </a:defRPr>
            </a:lvl5pPr>
            <a:lvl6pPr>
              <a:defRPr sz="2100" b="1">
                <a:solidFill>
                  <a:srgbClr val="CA713A"/>
                </a:solidFill>
                <a:latin typeface="Helvetica Neue"/>
                <a:ea typeface="Helvetica Neue"/>
                <a:cs typeface="Helvetica Neue"/>
              </a:defRPr>
            </a:lvl6pPr>
            <a:lvl7pPr>
              <a:defRPr sz="2100" b="1">
                <a:solidFill>
                  <a:srgbClr val="CA713A"/>
                </a:solidFill>
                <a:latin typeface="Helvetica Neue"/>
                <a:ea typeface="Helvetica Neue"/>
                <a:cs typeface="Helvetica Neue"/>
              </a:defRPr>
            </a:lvl7pPr>
            <a:lvl8pPr>
              <a:defRPr sz="2100" b="1">
                <a:solidFill>
                  <a:srgbClr val="CA713A"/>
                </a:solidFill>
                <a:latin typeface="Helvetica Neue"/>
                <a:ea typeface="Helvetica Neue"/>
                <a:cs typeface="Helvetica Neue"/>
              </a:defRPr>
            </a:lvl8pPr>
            <a:lvl9pPr>
              <a:defRPr sz="2100" b="1">
                <a:solidFill>
                  <a:srgbClr val="CA713A"/>
                </a:solidFill>
                <a:latin typeface="Helvetica Neue"/>
                <a:ea typeface="Helvetica Neue"/>
                <a:cs typeface="Helvetica Neue"/>
              </a:defRPr>
            </a:lvl9pPr>
          </a:lstStyle>
          <a:p xmlns:a="http://schemas.openxmlformats.org/drawingml/2006/main">
            <a:pPr>
              <a:defRPr sz="2100" b="1">
                <a:solidFill>
                  <a:srgbClr val="CA713A"/>
                </a:solidFill>
                <a:latin typeface="Helvetica Neue"/>
                <a:ea typeface="Helvetica Neue"/>
                <a:cs typeface="Helvetica Neue"/>
              </a:defRPr>
            </a:pPr>
            <a:r>
              <a:rPr sz="2100" b="1">
                <a:solidFill>
                  <a:srgbClr val="CA713A"/>
                </a:solidFill>
                <a:latin typeface="Helvetica Neue"/>
                <a:ea typeface="Helvetica Neue"/>
                <a:cs typeface="Helvetica Neue"/>
              </a:rPr>
              <a:t>Every LLM strategy trails random choice on the observed success count.</a:t>
            </a:r>
          </a:p>
        </p:txBody>
      </p:sp>
      <p:sp>
        <p:nvSpPr>
          <p:cNvPr id="16" name="">
            <a:extLst xmlns:a="http://schemas.openxmlformats.org/drawingml/2006/main">
              <a:ext uri="{FF2B5EF4-FFF2-40B4-BE49-F238E27FC236}">
                <a16:creationId xmlns:a16="http://schemas.microsoft.com/office/drawing/2014/main" id="{D8B94C0D-677B-4C58-9A85-E6135B5539B7}"/>
              </a:ext>
            </a:extLst>
          </p:cNvPr>
          <p:cNvSpPr>
            <a:spLocks xmlns:a="http://schemas.openxmlformats.org/drawingml/2006/main" noGrp="1"/>
          </p:cNvSpPr>
          <p:nvPr/>
        </p:nvSpPr>
        <p:spPr>
          <a:xfrm xmlns:a="http://schemas.openxmlformats.org/drawingml/2006/main">
            <a:off x="533400" y="611505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DeepSeek: 20 upfront, 10 with correct feedback. No clear benefit in the planned feedback tests.</a:t>
            </a:r>
          </a:p>
        </p:txBody>
      </p:sp>
    </p:spTree>
    <p:extLst>
      <p:ext uri="{BB962C8B-B14F-4D97-AF65-F5344CB8AC3E}">
        <p14:creationId xmlns:p14="http://schemas.microsoft.com/office/powerpoint/2010/main" val="2059486378"/>
      </p:ext>
    </p:extLst>
  </p:cSld>
</p:sld>
</file>

<file path=ppt/slides/slide1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FE5B72-AAC3-46CA-8EF0-CEA27C82BA2C}"/>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INTERPRETING THE FAILURE</a:t>
            </a:r>
          </a:p>
        </p:txBody>
      </p:sp>
      <p:sp>
        <p:nvSpPr>
          <p:cNvPr id="2" name="">
            <a:extLst xmlns:a="http://schemas.openxmlformats.org/drawingml/2006/main">
              <a:ext uri="{FF2B5EF4-FFF2-40B4-BE49-F238E27FC236}">
                <a16:creationId xmlns:a16="http://schemas.microsoft.com/office/drawing/2014/main" id="{AEF5082E-70F8-485F-B51C-DDB54470B2D8}"/>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LLZO separates starting knowledge from feedback use</a:t>
            </a:r>
          </a:p>
        </p:txBody>
      </p:sp>
      <p:sp>
        <p:nvSpPr>
          <p:cNvPr id="3" name="">
            <a:extLst xmlns:a="http://schemas.openxmlformats.org/drawingml/2006/main">
              <a:ext uri="{FF2B5EF4-FFF2-40B4-BE49-F238E27FC236}">
                <a16:creationId xmlns:a16="http://schemas.microsoft.com/office/drawing/2014/main" id="{DA179F5B-6AA7-4B9D-A4C7-9BACE9E6B9ED}"/>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DeepSeek can propose useful candidates without improving through this loop.</a:t>
            </a:r>
          </a:p>
        </p:txBody>
      </p:sp>
      <p:sp>
        <p:nvSpPr>
          <p:cNvPr id="4" name="">
            <a:extLst xmlns:a="http://schemas.openxmlformats.org/drawingml/2006/main">
              <a:ext uri="{FF2B5EF4-FFF2-40B4-BE49-F238E27FC236}">
                <a16:creationId xmlns:a16="http://schemas.microsoft.com/office/drawing/2014/main" id="{5D56C0B2-3257-42B9-9A4C-4DB61CD2C7EC}"/>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CD7D99F0-B12F-4821-8D42-6AD266C20DAA}"/>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18</a:t>
            </a:r>
          </a:p>
        </p:txBody>
      </p:sp>
      <p:sp>
        <p:nvSpPr>
          <p:cNvPr id="6" name="">
            <a:extLst xmlns:a="http://schemas.openxmlformats.org/drawingml/2006/main">
              <a:ext uri="{FF2B5EF4-FFF2-40B4-BE49-F238E27FC236}">
                <a16:creationId xmlns:a16="http://schemas.microsoft.com/office/drawing/2014/main" id="{838A88C1-8AA2-4695-8E7B-F53732DE14A6}"/>
              </a:ext>
            </a:extLst>
          </p:cNvPr>
          <p:cNvSpPr>
            <a:spLocks xmlns:a="http://schemas.openxmlformats.org/drawingml/2006/main" noGrp="1"/>
          </p:cNvSpPr>
          <p:nvPr/>
        </p:nvSpPr>
        <p:spPr>
          <a:xfrm xmlns:a="http://schemas.openxmlformats.org/drawingml/2006/main">
            <a:off x="533400" y="2238375"/>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Useful starting list</a:t>
            </a:r>
          </a:p>
        </p:txBody>
      </p:sp>
      <p:sp>
        <p:nvSpPr>
          <p:cNvPr id="7" name="">
            <a:extLst xmlns:a="http://schemas.openxmlformats.org/drawingml/2006/main">
              <a:ext uri="{FF2B5EF4-FFF2-40B4-BE49-F238E27FC236}">
                <a16:creationId xmlns:a16="http://schemas.microsoft.com/office/drawing/2014/main" id="{8E2090E0-C582-41B3-9E89-5135DA29ADE3}"/>
              </a:ext>
            </a:extLst>
          </p:cNvPr>
          <p:cNvSpPr>
            <a:spLocks xmlns:a="http://schemas.openxmlformats.org/drawingml/2006/main" noGrp="1"/>
          </p:cNvSpPr>
          <p:nvPr/>
        </p:nvSpPr>
        <p:spPr>
          <a:xfrm xmlns:a="http://schemas.openxmlformats.org/drawingml/2006/main">
            <a:off x="3381375" y="2238375"/>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20/30 upfront searches succeed.</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They include LiAlSiO₄ and LiMgPO₄.</a:t>
            </a:r>
          </a:p>
        </p:txBody>
      </p:sp>
      <p:sp>
        <p:nvSpPr>
          <p:cNvPr id="8" name="">
            <a:extLst xmlns:a="http://schemas.openxmlformats.org/drawingml/2006/main">
              <a:ext uri="{FF2B5EF4-FFF2-40B4-BE49-F238E27FC236}">
                <a16:creationId xmlns:a16="http://schemas.microsoft.com/office/drawing/2014/main" id="{F5D931BF-E12E-4B79-98EF-47BF412737A3}"/>
              </a:ext>
            </a:extLst>
          </p:cNvPr>
          <p:cNvSpPr>
            <a:spLocks xmlns:a="http://schemas.openxmlformats.org/drawingml/2006/main" noGrp="1"/>
          </p:cNvSpPr>
          <p:nvPr/>
        </p:nvSpPr>
        <p:spPr>
          <a:xfrm xmlns:a="http://schemas.openxmlformats.org/drawingml/2006/main">
            <a:off x="533400" y="352425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Weak feedback use</a:t>
            </a:r>
          </a:p>
        </p:txBody>
      </p:sp>
      <p:sp>
        <p:nvSpPr>
          <p:cNvPr id="9" name="">
            <a:extLst xmlns:a="http://schemas.openxmlformats.org/drawingml/2006/main">
              <a:ext uri="{FF2B5EF4-FFF2-40B4-BE49-F238E27FC236}">
                <a16:creationId xmlns:a16="http://schemas.microsoft.com/office/drawing/2014/main" id="{79C0EFDD-079F-4DD6-859C-67251BA844F3}"/>
              </a:ext>
            </a:extLst>
          </p:cNvPr>
          <p:cNvSpPr>
            <a:spLocks xmlns:a="http://schemas.openxmlformats.org/drawingml/2006/main" noGrp="1"/>
          </p:cNvSpPr>
          <p:nvPr/>
        </p:nvSpPr>
        <p:spPr>
          <a:xfrm xmlns:a="http://schemas.openxmlformats.org/drawingml/2006/main">
            <a:off x="3381375" y="352425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10/30 with true results, 12/30 with mixed-up results.</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No clear benefit in the planned comparisons.</a:t>
            </a:r>
          </a:p>
        </p:txBody>
      </p:sp>
      <p:sp>
        <p:nvSpPr>
          <p:cNvPr id="10" name="">
            <a:extLst xmlns:a="http://schemas.openxmlformats.org/drawingml/2006/main">
              <a:ext uri="{FF2B5EF4-FFF2-40B4-BE49-F238E27FC236}">
                <a16:creationId xmlns:a16="http://schemas.microsoft.com/office/drawing/2014/main" id="{DF3D9F8A-FE95-4078-9A34-E2EC265032D5}"/>
              </a:ext>
            </a:extLst>
          </p:cNvPr>
          <p:cNvSpPr>
            <a:spLocks xmlns:a="http://schemas.openxmlformats.org/drawingml/2006/main" noGrp="1"/>
          </p:cNvSpPr>
          <p:nvPr/>
        </p:nvSpPr>
        <p:spPr>
          <a:xfrm xmlns:a="http://schemas.openxmlformats.org/drawingml/2006/main">
            <a:off x="533400" y="4810125"/>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Meaning of the failure</a:t>
            </a:r>
          </a:p>
        </p:txBody>
      </p:sp>
      <p:sp>
        <p:nvSpPr>
          <p:cNvPr id="11" name="">
            <a:extLst xmlns:a="http://schemas.openxmlformats.org/drawingml/2006/main">
              <a:ext uri="{FF2B5EF4-FFF2-40B4-BE49-F238E27FC236}">
                <a16:creationId xmlns:a16="http://schemas.microsoft.com/office/drawing/2014/main" id="{E5F0A876-6F14-44A5-B131-A7DEC78AA99E}"/>
              </a:ext>
            </a:extLst>
          </p:cNvPr>
          <p:cNvSpPr>
            <a:spLocks xmlns:a="http://schemas.openxmlformats.org/drawingml/2006/main" noGrp="1"/>
          </p:cNvSpPr>
          <p:nvPr/>
        </p:nvSpPr>
        <p:spPr>
          <a:xfrm xmlns:a="http://schemas.openxmlformats.org/drawingml/2006/main">
            <a:off x="3381375" y="4810125"/>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The tested strategy needs improvement.</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The upfront comparison changes more than feedback.</a:t>
            </a:r>
          </a:p>
        </p:txBody>
      </p:sp>
      <p:pic>
        <p:nvPicPr>
          <p:cNvPr id="13" name="">
            <a:extLst xmlns:a="http://schemas.openxmlformats.org/drawingml/2006/main">
              <a:ext uri="{FF2B5EF4-FFF2-40B4-BE49-F238E27FC236}">
                <a16:creationId xmlns:a16="http://schemas.microsoft.com/office/drawing/2014/main" id="{72A9CC81-87AD-488E-95FC-F487E90E7596}"/>
              </a:ext>
            </a:extLst>
          </p:cNvPr>
          <p:cNvPicPr>
            <a:picLocks xmlns:a="http://schemas.openxmlformats.org/drawingml/2006/main" noChangeAspect="1"/>
          </p:cNvPicPr>
          <p:nvPr/>
        </p:nvPicPr>
        <p:blipFill>
          <a:blip xmlns:r="http://schemas.openxmlformats.org/officeDocument/2006/relationships" xmlns:a="http://schemas.openxmlformats.org/drawingml/2006/main" r:embed="Rbe0087c3cc284771"/>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582823081"/>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40C15C-336B-408E-9B00-B9E4D6DD4C58}"/>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FINDINGS AND THEIR LIMITS</a:t>
            </a:r>
          </a:p>
        </p:txBody>
      </p:sp>
      <p:sp>
        <p:nvSpPr>
          <p:cNvPr id="2" name="">
            <a:extLst xmlns:a="http://schemas.openxmlformats.org/drawingml/2006/main">
              <a:ext uri="{FF2B5EF4-FFF2-40B4-BE49-F238E27FC236}">
                <a16:creationId xmlns:a16="http://schemas.microsoft.com/office/drawing/2014/main" id="{A028F022-8023-48C3-AD6D-EEA4BDC82634}"/>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interphAIse has demonstrated</a:t>
            </a:r>
          </a:p>
        </p:txBody>
      </p:sp>
      <p:sp>
        <p:nvSpPr>
          <p:cNvPr id="3" name="">
            <a:extLst xmlns:a="http://schemas.openxmlformats.org/drawingml/2006/main">
              <a:ext uri="{FF2B5EF4-FFF2-40B4-BE49-F238E27FC236}">
                <a16:creationId xmlns:a16="http://schemas.microsoft.com/office/drawing/2014/main" id="{3BBEFE23-F4EF-48F2-A9DE-646B9F9CE7EB}"/>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Scientific choices can be tested against controlled feedback and physical outcomes.</a:t>
            </a:r>
          </a:p>
        </p:txBody>
      </p:sp>
      <p:sp>
        <p:nvSpPr>
          <p:cNvPr id="4" name="">
            <a:extLst xmlns:a="http://schemas.openxmlformats.org/drawingml/2006/main">
              <a:ext uri="{FF2B5EF4-FFF2-40B4-BE49-F238E27FC236}">
                <a16:creationId xmlns:a16="http://schemas.microsoft.com/office/drawing/2014/main" id="{D73E5E1C-27F0-496C-B975-188850DB9842}"/>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A6B9A1C3-C9DF-461D-9100-79A2A091EDE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19</a:t>
            </a:r>
          </a:p>
        </p:txBody>
      </p:sp>
      <p:sp>
        <p:nvSpPr>
          <p:cNvPr id="6" name="">
            <a:extLst xmlns:a="http://schemas.openxmlformats.org/drawingml/2006/main">
              <a:ext uri="{FF2B5EF4-FFF2-40B4-BE49-F238E27FC236}">
                <a16:creationId xmlns:a16="http://schemas.microsoft.com/office/drawing/2014/main" id="{7D62DAED-11D4-40C9-8B6F-3B05CE52D647}"/>
              </a:ext>
            </a:extLst>
          </p:cNvPr>
          <p:cNvSpPr>
            <a:spLocks xmlns:a="http://schemas.openxmlformats.org/drawingml/2006/main" noGrp="1"/>
          </p:cNvSpPr>
          <p:nvPr/>
        </p:nvSpPr>
        <p:spPr>
          <a:xfrm xmlns:a="http://schemas.openxmlformats.org/drawingml/2006/main">
            <a:off x="533400" y="224790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Feedback can help</a:t>
            </a:r>
          </a:p>
        </p:txBody>
      </p:sp>
      <p:sp>
        <p:nvSpPr>
          <p:cNvPr id="7" name="">
            <a:extLst xmlns:a="http://schemas.openxmlformats.org/drawingml/2006/main">
              <a:ext uri="{FF2B5EF4-FFF2-40B4-BE49-F238E27FC236}">
                <a16:creationId xmlns:a16="http://schemas.microsoft.com/office/drawing/2014/main" id="{CF2659D1-1388-4994-AF6A-7178E9680CB9}"/>
              </a:ext>
            </a:extLst>
          </p:cNvPr>
          <p:cNvSpPr>
            <a:spLocks xmlns:a="http://schemas.openxmlformats.org/drawingml/2006/main" noGrp="1"/>
          </p:cNvSpPr>
          <p:nvPr/>
        </p:nvSpPr>
        <p:spPr>
          <a:xfrm xmlns:a="http://schemas.openxmlformats.org/drawingml/2006/main">
            <a:off x="3381375" y="224790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Haiku benefits clearly in sulfide.</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The benefit depends on the environment and model.</a:t>
            </a:r>
          </a:p>
        </p:txBody>
      </p:sp>
      <p:sp>
        <p:nvSpPr>
          <p:cNvPr id="8" name="">
            <a:extLst xmlns:a="http://schemas.openxmlformats.org/drawingml/2006/main">
              <a:ext uri="{FF2B5EF4-FFF2-40B4-BE49-F238E27FC236}">
                <a16:creationId xmlns:a16="http://schemas.microsoft.com/office/drawing/2014/main" id="{4EC6A15F-FB83-4478-8E8B-72DF3C2BFB22}"/>
              </a:ext>
            </a:extLst>
          </p:cNvPr>
          <p:cNvSpPr>
            <a:spLocks xmlns:a="http://schemas.openxmlformats.org/drawingml/2006/main" noGrp="1"/>
          </p:cNvSpPr>
          <p:nvPr/>
        </p:nvSpPr>
        <p:spPr>
          <a:xfrm xmlns:a="http://schemas.openxmlformats.org/drawingml/2006/main">
            <a:off x="533400" y="352425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Forecasts can fail</a:t>
            </a:r>
          </a:p>
        </p:txBody>
      </p:sp>
      <p:sp>
        <p:nvSpPr>
          <p:cNvPr id="9" name="">
            <a:extLst xmlns:a="http://schemas.openxmlformats.org/drawingml/2006/main">
              <a:ext uri="{FF2B5EF4-FFF2-40B4-BE49-F238E27FC236}">
                <a16:creationId xmlns:a16="http://schemas.microsoft.com/office/drawing/2014/main" id="{48FAE014-10F1-4341-89E4-88F4F835366B}"/>
              </a:ext>
            </a:extLst>
          </p:cNvPr>
          <p:cNvSpPr>
            <a:spLocks xmlns:a="http://schemas.openxmlformats.org/drawingml/2006/main" noGrp="1"/>
          </p:cNvSpPr>
          <p:nvPr/>
        </p:nvSpPr>
        <p:spPr>
          <a:xfrm xmlns:a="http://schemas.openxmlformats.org/drawingml/2006/main">
            <a:off x="3381375" y="352425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Ta forecasts held; Ca–Al forecasts were too high.</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A plausible explanation must face a calculation.</a:t>
            </a:r>
          </a:p>
        </p:txBody>
      </p:sp>
      <p:sp>
        <p:nvSpPr>
          <p:cNvPr id="10" name="">
            <a:extLst xmlns:a="http://schemas.openxmlformats.org/drawingml/2006/main">
              <a:ext uri="{FF2B5EF4-FFF2-40B4-BE49-F238E27FC236}">
                <a16:creationId xmlns:a16="http://schemas.microsoft.com/office/drawing/2014/main" id="{6B3E69D5-3204-48CF-8E6F-1A758DCBD341}"/>
              </a:ext>
            </a:extLst>
          </p:cNvPr>
          <p:cNvSpPr>
            <a:spLocks xmlns:a="http://schemas.openxmlformats.org/drawingml/2006/main" noGrp="1"/>
          </p:cNvSpPr>
          <p:nvPr/>
        </p:nvSpPr>
        <p:spPr>
          <a:xfrm xmlns:a="http://schemas.openxmlformats.org/drawingml/2006/main">
            <a:off x="533400" y="480060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A shortlist remains</a:t>
            </a:r>
          </a:p>
        </p:txBody>
      </p:sp>
      <p:sp>
        <p:nvSpPr>
          <p:cNvPr id="11" name="">
            <a:extLst xmlns:a="http://schemas.openxmlformats.org/drawingml/2006/main">
              <a:ext uri="{FF2B5EF4-FFF2-40B4-BE49-F238E27FC236}">
                <a16:creationId xmlns:a16="http://schemas.microsoft.com/office/drawing/2014/main" id="{C6A5CC7E-3520-40E0-809C-0E9936AF0E97}"/>
              </a:ext>
            </a:extLst>
          </p:cNvPr>
          <p:cNvSpPr>
            <a:spLocks xmlns:a="http://schemas.openxmlformats.org/drawingml/2006/main" noGrp="1"/>
          </p:cNvSpPr>
          <p:nvPr/>
        </p:nvSpPr>
        <p:spPr>
          <a:xfrm xmlns:a="http://schemas.openxmlformats.org/drawingml/2006/main">
            <a:off x="3381375" y="480060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LiNbF₆ and LiTaF₆ deserve further testing.</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A validated, ion-conducting winner is still open.</a:t>
            </a:r>
          </a:p>
        </p:txBody>
      </p:sp>
      <p:pic>
        <p:nvPicPr>
          <p:cNvPr id="13" name="">
            <a:extLst xmlns:a="http://schemas.openxmlformats.org/drawingml/2006/main">
              <a:ext uri="{FF2B5EF4-FFF2-40B4-BE49-F238E27FC236}">
                <a16:creationId xmlns:a16="http://schemas.microsoft.com/office/drawing/2014/main" id="{239236F6-13FA-4170-9447-F8323C9FFBFD}"/>
              </a:ext>
            </a:extLst>
          </p:cNvPr>
          <p:cNvPicPr>
            <a:picLocks xmlns:a="http://schemas.openxmlformats.org/drawingml/2006/main" noChangeAspect="1"/>
          </p:cNvPicPr>
          <p:nvPr/>
        </p:nvPicPr>
        <p:blipFill>
          <a:blip xmlns:r="http://schemas.openxmlformats.org/officeDocument/2006/relationships" xmlns:a="http://schemas.openxmlformats.org/drawingml/2006/main" r:embed="Ra26b49fa19404fdd"/>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474590481"/>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F74205-C240-4B1F-9A17-A7C8C97CFB41}"/>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WHAT COMES NEXT</a:t>
            </a:r>
          </a:p>
        </p:txBody>
      </p:sp>
      <p:sp>
        <p:nvSpPr>
          <p:cNvPr id="2" name="">
            <a:extLst xmlns:a="http://schemas.openxmlformats.org/drawingml/2006/main">
              <a:ext uri="{FF2B5EF4-FFF2-40B4-BE49-F238E27FC236}">
                <a16:creationId xmlns:a16="http://schemas.microsoft.com/office/drawing/2014/main" id="{30A9251A-7F04-4BD5-9A6A-4486AD46D41E}"/>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Next: can lithium cross the protective layer?</a:t>
            </a:r>
          </a:p>
        </p:txBody>
      </p:sp>
      <p:sp>
        <p:nvSpPr>
          <p:cNvPr id="3" name="">
            <a:extLst xmlns:a="http://schemas.openxmlformats.org/drawingml/2006/main">
              <a:ext uri="{FF2B5EF4-FFF2-40B4-BE49-F238E27FC236}">
                <a16:creationId xmlns:a16="http://schemas.microsoft.com/office/drawing/2014/main" id="{1E423417-0053-4801-8F6A-2E3DCB9C15DA}"/>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4" name="">
            <a:extLst xmlns:a="http://schemas.openxmlformats.org/drawingml/2006/main">
              <a:ext uri="{FF2B5EF4-FFF2-40B4-BE49-F238E27FC236}">
                <a16:creationId xmlns:a16="http://schemas.microsoft.com/office/drawing/2014/main" id="{12CAE65C-E1F1-4F0B-BCA1-846140A39CF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2D5985CD-D04C-457F-800B-EE32E83139EF}"/>
              </a:ext>
            </a:extLst>
          </p:cNvPr>
          <p:cNvSpPr>
            <a:spLocks xmlns:a="http://schemas.openxmlformats.org/drawingml/2006/main" noGrp="1"/>
          </p:cNvSpPr>
          <p:nvPr/>
        </p:nvSpPr>
        <p:spPr>
          <a:xfrm xmlns:a="http://schemas.openxmlformats.org/drawingml/2006/main">
            <a:off x="533400" y="2028825"/>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007F7B"/>
                </a:solidFill>
                <a:latin typeface="Helvetica Neue"/>
                <a:ea typeface="Helvetica Neue"/>
                <a:cs typeface="Helvetica Neue"/>
              </a:defRPr>
            </a:defPPr>
            <a:lvl1pPr>
              <a:buNone/>
              <a:defRPr sz="2775" b="1">
                <a:solidFill>
                  <a:srgbClr val="007F7B"/>
                </a:solidFill>
                <a:latin typeface="Helvetica Neue"/>
                <a:ea typeface="Helvetica Neue"/>
                <a:cs typeface="Helvetica Neue"/>
              </a:defRPr>
            </a:lvl1pPr>
            <a:lvl2pPr>
              <a:buNone/>
              <a:defRPr sz="2775" b="1">
                <a:solidFill>
                  <a:srgbClr val="007F7B"/>
                </a:solidFill>
                <a:latin typeface="Helvetica Neue"/>
                <a:ea typeface="Helvetica Neue"/>
                <a:cs typeface="Helvetica Neue"/>
              </a:defRPr>
            </a:lvl2pPr>
            <a:lvl3pPr>
              <a:buNone/>
              <a:defRPr sz="2775" b="1">
                <a:solidFill>
                  <a:srgbClr val="007F7B"/>
                </a:solidFill>
                <a:latin typeface="Helvetica Neue"/>
                <a:ea typeface="Helvetica Neue"/>
                <a:cs typeface="Helvetica Neue"/>
              </a:defRPr>
            </a:lvl3pPr>
            <a:lvl4pPr>
              <a:buNone/>
              <a:defRPr sz="2775" b="1">
                <a:solidFill>
                  <a:srgbClr val="007F7B"/>
                </a:solidFill>
                <a:latin typeface="Helvetica Neue"/>
                <a:ea typeface="Helvetica Neue"/>
                <a:cs typeface="Helvetica Neue"/>
              </a:defRPr>
            </a:lvl4pPr>
            <a:lvl5pPr>
              <a:buNone/>
              <a:defRPr sz="2775" b="1">
                <a:solidFill>
                  <a:srgbClr val="007F7B"/>
                </a:solidFill>
                <a:latin typeface="Helvetica Neue"/>
                <a:ea typeface="Helvetica Neue"/>
                <a:cs typeface="Helvetica Neue"/>
              </a:defRPr>
            </a:lvl5pPr>
            <a:lvl6pPr>
              <a:buNone/>
              <a:defRPr sz="2775" b="1">
                <a:solidFill>
                  <a:srgbClr val="007F7B"/>
                </a:solidFill>
                <a:latin typeface="Helvetica Neue"/>
                <a:ea typeface="Helvetica Neue"/>
                <a:cs typeface="Helvetica Neue"/>
              </a:defRPr>
            </a:lvl6pPr>
            <a:lvl7pPr>
              <a:buNone/>
              <a:defRPr sz="2775" b="1">
                <a:solidFill>
                  <a:srgbClr val="007F7B"/>
                </a:solidFill>
                <a:latin typeface="Helvetica Neue"/>
                <a:ea typeface="Helvetica Neue"/>
                <a:cs typeface="Helvetica Neue"/>
              </a:defRPr>
            </a:lvl7pPr>
            <a:lvl8pPr>
              <a:buNone/>
              <a:defRPr sz="2775" b="1">
                <a:solidFill>
                  <a:srgbClr val="007F7B"/>
                </a:solidFill>
                <a:latin typeface="Helvetica Neue"/>
                <a:ea typeface="Helvetica Neue"/>
                <a:cs typeface="Helvetica Neue"/>
              </a:defRPr>
            </a:lvl8pPr>
            <a:lvl9pPr>
              <a:buNone/>
              <a:defRPr sz="2775" b="1">
                <a:solidFill>
                  <a:srgbClr val="007F7B"/>
                </a:solidFill>
                <a:latin typeface="Helvetica Neue"/>
                <a:ea typeface="Helvetica Neue"/>
                <a:cs typeface="Helvetica Neue"/>
              </a:defRPr>
            </a:lvl9pPr>
          </a:lstStyle>
          <a:p xmlns:a="http://schemas.openxmlformats.org/drawingml/2006/main">
            <a:pPr>
              <a:buNone/>
              <a:defRPr sz="2775" b="1">
                <a:solidFill>
                  <a:srgbClr val="007F7B"/>
                </a:solidFill>
                <a:latin typeface="Helvetica Neue"/>
                <a:ea typeface="Helvetica Neue"/>
                <a:cs typeface="Helvetica Neue"/>
              </a:defRPr>
            </a:pPr>
            <a:r>
              <a:rPr sz="2775" b="1">
                <a:solidFill>
                  <a:srgbClr val="007F7B"/>
                </a:solidFill>
                <a:latin typeface="Helvetica Neue"/>
                <a:ea typeface="Helvetica Neue"/>
                <a:cs typeface="Helvetica Neue"/>
              </a:rPr>
              <a:t>Test ionic mobility across the interphases</a:t>
            </a:r>
          </a:p>
        </p:txBody>
      </p:sp>
      <p:sp>
        <p:nvSpPr>
          <p:cNvPr id="6" name="">
            <a:extLst xmlns:a="http://schemas.openxmlformats.org/drawingml/2006/main">
              <a:ext uri="{FF2B5EF4-FFF2-40B4-BE49-F238E27FC236}">
                <a16:creationId xmlns:a16="http://schemas.microsoft.com/office/drawing/2014/main" id="{E8A47510-31C0-4813-BC5C-7EC85D8EE274}"/>
              </a:ext>
            </a:extLst>
          </p:cNvPr>
          <p:cNvSpPr>
            <a:spLocks xmlns:a="http://schemas.openxmlformats.org/drawingml/2006/main" noGrp="1"/>
          </p:cNvSpPr>
          <p:nvPr/>
        </p:nvSpPr>
        <p:spPr>
          <a:xfrm xmlns:a="http://schemas.openxmlformats.org/drawingml/2006/main">
            <a:off x="533400" y="2838450"/>
            <a:ext cx="11125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B3A"/>
                </a:solidFill>
                <a:latin typeface="Helvetica Neue"/>
                <a:ea typeface="Helvetica Neue"/>
                <a:cs typeface="Helvetica Neue"/>
              </a:defRPr>
            </a:defPPr>
            <a:lvl1pPr>
              <a:buNone/>
              <a:defRPr sz="2325" b="0">
                <a:solidFill>
                  <a:srgbClr val="172B3A"/>
                </a:solidFill>
                <a:latin typeface="Helvetica Neue"/>
                <a:ea typeface="Helvetica Neue"/>
                <a:cs typeface="Helvetica Neue"/>
              </a:defRPr>
            </a:lvl1pPr>
            <a:lvl2pPr>
              <a:buNone/>
              <a:defRPr sz="2325" b="0">
                <a:solidFill>
                  <a:srgbClr val="172B3A"/>
                </a:solidFill>
                <a:latin typeface="Helvetica Neue"/>
                <a:ea typeface="Helvetica Neue"/>
                <a:cs typeface="Helvetica Neue"/>
              </a:defRPr>
            </a:lvl2pPr>
            <a:lvl3pPr>
              <a:buNone/>
              <a:defRPr sz="2325" b="0">
                <a:solidFill>
                  <a:srgbClr val="172B3A"/>
                </a:solidFill>
                <a:latin typeface="Helvetica Neue"/>
                <a:ea typeface="Helvetica Neue"/>
                <a:cs typeface="Helvetica Neue"/>
              </a:defRPr>
            </a:lvl3pPr>
            <a:lvl4pPr>
              <a:buNone/>
              <a:defRPr sz="2325" b="0">
                <a:solidFill>
                  <a:srgbClr val="172B3A"/>
                </a:solidFill>
                <a:latin typeface="Helvetica Neue"/>
                <a:ea typeface="Helvetica Neue"/>
                <a:cs typeface="Helvetica Neue"/>
              </a:defRPr>
            </a:lvl4pPr>
            <a:lvl5pPr>
              <a:buNone/>
              <a:defRPr sz="2325" b="0">
                <a:solidFill>
                  <a:srgbClr val="172B3A"/>
                </a:solidFill>
                <a:latin typeface="Helvetica Neue"/>
                <a:ea typeface="Helvetica Neue"/>
                <a:cs typeface="Helvetica Neue"/>
              </a:defRPr>
            </a:lvl5pPr>
            <a:lvl6pPr>
              <a:buNone/>
              <a:defRPr sz="2325" b="0">
                <a:solidFill>
                  <a:srgbClr val="172B3A"/>
                </a:solidFill>
                <a:latin typeface="Helvetica Neue"/>
                <a:ea typeface="Helvetica Neue"/>
                <a:cs typeface="Helvetica Neue"/>
              </a:defRPr>
            </a:lvl6pPr>
            <a:lvl7pPr>
              <a:buNone/>
              <a:defRPr sz="2325" b="0">
                <a:solidFill>
                  <a:srgbClr val="172B3A"/>
                </a:solidFill>
                <a:latin typeface="Helvetica Neue"/>
                <a:ea typeface="Helvetica Neue"/>
                <a:cs typeface="Helvetica Neue"/>
              </a:defRPr>
            </a:lvl7pPr>
            <a:lvl8pPr>
              <a:buNone/>
              <a:defRPr sz="2325" b="0">
                <a:solidFill>
                  <a:srgbClr val="172B3A"/>
                </a:solidFill>
                <a:latin typeface="Helvetica Neue"/>
                <a:ea typeface="Helvetica Neue"/>
                <a:cs typeface="Helvetica Neue"/>
              </a:defRPr>
            </a:lvl8pPr>
            <a:lvl9pPr>
              <a:buNone/>
              <a:defRPr sz="2325" b="0">
                <a:solidFill>
                  <a:srgbClr val="172B3A"/>
                </a:solidFill>
                <a:latin typeface="Helvetica Neue"/>
                <a:ea typeface="Helvetica Neue"/>
                <a:cs typeface="Helvetica Neue"/>
              </a:defRPr>
            </a:lvl9pPr>
          </a:lstStyle>
          <a:p xmlns:a="http://schemas.openxmlformats.org/drawingml/2006/main">
            <a:pPr>
              <a:buNone/>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Use longer simulations to track lithium through the coating</a:t>
            </a:r>
          </a:p>
          <a:p xmlns:a="http://schemas.openxmlformats.org/drawingml/2006/main">
            <a:pPr>
              <a:buNone/>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and through the layers formed at its contacts.</a:t>
            </a:r>
          </a:p>
        </p:txBody>
      </p:sp>
      <p:sp>
        <p:nvSpPr>
          <p:cNvPr id="7" name="">
            <a:extLst xmlns:a="http://schemas.openxmlformats.org/drawingml/2006/main">
              <a:ext uri="{FF2B5EF4-FFF2-40B4-BE49-F238E27FC236}">
                <a16:creationId xmlns:a16="http://schemas.microsoft.com/office/drawing/2014/main" id="{7EB49141-1365-4128-9D76-3B52372D6697}"/>
              </a:ext>
            </a:extLst>
          </p:cNvPr>
          <p:cNvSpPr>
            <a:spLocks xmlns:a="http://schemas.openxmlformats.org/drawingml/2006/main" noGrp="1"/>
          </p:cNvSpPr>
          <p:nvPr/>
        </p:nvSpPr>
        <p:spPr>
          <a:xfrm xmlns:a="http://schemas.openxmlformats.org/drawingml/2006/main">
            <a:off x="533400" y="4324350"/>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2B3A"/>
                </a:solidFill>
                <a:latin typeface="Helvetica Neue"/>
                <a:ea typeface="Helvetica Neue"/>
                <a:cs typeface="Helvetica Neue"/>
              </a:defRPr>
            </a:defPPr>
            <a:lvl1pPr>
              <a:buNone/>
              <a:defRPr sz="2400" b="1">
                <a:solidFill>
                  <a:srgbClr val="172B3A"/>
                </a:solidFill>
                <a:latin typeface="Helvetica Neue"/>
                <a:ea typeface="Helvetica Neue"/>
                <a:cs typeface="Helvetica Neue"/>
              </a:defRPr>
            </a:lvl1pPr>
            <a:lvl2pPr>
              <a:buNone/>
              <a:defRPr sz="2400" b="1">
                <a:solidFill>
                  <a:srgbClr val="172B3A"/>
                </a:solidFill>
                <a:latin typeface="Helvetica Neue"/>
                <a:ea typeface="Helvetica Neue"/>
                <a:cs typeface="Helvetica Neue"/>
              </a:defRPr>
            </a:lvl2pPr>
            <a:lvl3pPr>
              <a:buNone/>
              <a:defRPr sz="2400" b="1">
                <a:solidFill>
                  <a:srgbClr val="172B3A"/>
                </a:solidFill>
                <a:latin typeface="Helvetica Neue"/>
                <a:ea typeface="Helvetica Neue"/>
                <a:cs typeface="Helvetica Neue"/>
              </a:defRPr>
            </a:lvl3pPr>
            <a:lvl4pPr>
              <a:buNone/>
              <a:defRPr sz="2400" b="1">
                <a:solidFill>
                  <a:srgbClr val="172B3A"/>
                </a:solidFill>
                <a:latin typeface="Helvetica Neue"/>
                <a:ea typeface="Helvetica Neue"/>
                <a:cs typeface="Helvetica Neue"/>
              </a:defRPr>
            </a:lvl4pPr>
            <a:lvl5pPr>
              <a:buNone/>
              <a:defRPr sz="2400" b="1">
                <a:solidFill>
                  <a:srgbClr val="172B3A"/>
                </a:solidFill>
                <a:latin typeface="Helvetica Neue"/>
                <a:ea typeface="Helvetica Neue"/>
                <a:cs typeface="Helvetica Neue"/>
              </a:defRPr>
            </a:lvl5pPr>
            <a:lvl6pPr>
              <a:buNone/>
              <a:defRPr sz="2400" b="1">
                <a:solidFill>
                  <a:srgbClr val="172B3A"/>
                </a:solidFill>
                <a:latin typeface="Helvetica Neue"/>
                <a:ea typeface="Helvetica Neue"/>
                <a:cs typeface="Helvetica Neue"/>
              </a:defRPr>
            </a:lvl6pPr>
            <a:lvl7pPr>
              <a:buNone/>
              <a:defRPr sz="2400" b="1">
                <a:solidFill>
                  <a:srgbClr val="172B3A"/>
                </a:solidFill>
                <a:latin typeface="Helvetica Neue"/>
                <a:ea typeface="Helvetica Neue"/>
                <a:cs typeface="Helvetica Neue"/>
              </a:defRPr>
            </a:lvl7pPr>
            <a:lvl8pPr>
              <a:buNone/>
              <a:defRPr sz="2400" b="1">
                <a:solidFill>
                  <a:srgbClr val="172B3A"/>
                </a:solidFill>
                <a:latin typeface="Helvetica Neue"/>
                <a:ea typeface="Helvetica Neue"/>
                <a:cs typeface="Helvetica Neue"/>
              </a:defRPr>
            </a:lvl8pPr>
            <a:lvl9pPr>
              <a:buNone/>
              <a:defRPr sz="2400" b="1">
                <a:solidFill>
                  <a:srgbClr val="172B3A"/>
                </a:solidFill>
                <a:latin typeface="Helvetica Neue"/>
                <a:ea typeface="Helvetica Neue"/>
                <a:cs typeface="Helvetica Neue"/>
              </a:defRPr>
            </a:lvl9pPr>
          </a:lstStyle>
          <a:p xmlns:a="http://schemas.openxmlformats.org/drawingml/2006/main">
            <a:pPr>
              <a:buNone/>
              <a:defRPr sz="2400" b="1">
                <a:solidFill>
                  <a:srgbClr val="172B3A"/>
                </a:solidFill>
                <a:latin typeface="Helvetica Neue"/>
                <a:ea typeface="Helvetica Neue"/>
                <a:cs typeface="Helvetica Neue"/>
              </a:defRPr>
            </a:pPr>
            <a:r>
              <a:rPr sz="2400" b="1">
                <a:solidFill>
                  <a:srgbClr val="172B3A"/>
                </a:solidFill>
                <a:latin typeface="Helvetica Neue"/>
                <a:ea typeface="Helvetica Neue"/>
                <a:cs typeface="Helvetica Neue"/>
              </a:rPr>
              <a:t>Combine mobility with chemical compatibility and adhesion.</a:t>
            </a:r>
          </a:p>
        </p:txBody>
      </p:sp>
      <p:sp>
        <p:nvSpPr>
          <p:cNvPr id="8" name="">
            <a:extLst xmlns:a="http://schemas.openxmlformats.org/drawingml/2006/main">
              <a:ext uri="{FF2B5EF4-FFF2-40B4-BE49-F238E27FC236}">
                <a16:creationId xmlns:a16="http://schemas.microsoft.com/office/drawing/2014/main" id="{2A21C31E-B621-4772-9C17-E705B4B88626}"/>
              </a:ext>
            </a:extLst>
          </p:cNvPr>
          <p:cNvSpPr>
            <a:spLocks xmlns:a="http://schemas.openxmlformats.org/drawingml/2006/main" noGrp="1"/>
          </p:cNvSpPr>
          <p:nvPr/>
        </p:nvSpPr>
        <p:spPr>
          <a:xfrm xmlns:a="http://schemas.openxmlformats.org/drawingml/2006/main">
            <a:off x="533400" y="508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472"/>
                </a:solidFill>
                <a:latin typeface="Helvetica Neue"/>
                <a:ea typeface="Helvetica Neue"/>
                <a:cs typeface="Helvetica Neue"/>
              </a:defRPr>
            </a:defPPr>
            <a:lvl1pPr>
              <a:buNone/>
              <a:defRPr sz="2175" b="0">
                <a:solidFill>
                  <a:srgbClr val="526472"/>
                </a:solidFill>
                <a:latin typeface="Helvetica Neue"/>
                <a:ea typeface="Helvetica Neue"/>
                <a:cs typeface="Helvetica Neue"/>
              </a:defRPr>
            </a:lvl1pPr>
            <a:lvl2pPr>
              <a:buNone/>
              <a:defRPr sz="2175" b="0">
                <a:solidFill>
                  <a:srgbClr val="526472"/>
                </a:solidFill>
                <a:latin typeface="Helvetica Neue"/>
                <a:ea typeface="Helvetica Neue"/>
                <a:cs typeface="Helvetica Neue"/>
              </a:defRPr>
            </a:lvl2pPr>
            <a:lvl3pPr>
              <a:buNone/>
              <a:defRPr sz="2175" b="0">
                <a:solidFill>
                  <a:srgbClr val="526472"/>
                </a:solidFill>
                <a:latin typeface="Helvetica Neue"/>
                <a:ea typeface="Helvetica Neue"/>
                <a:cs typeface="Helvetica Neue"/>
              </a:defRPr>
            </a:lvl3pPr>
            <a:lvl4pPr>
              <a:buNone/>
              <a:defRPr sz="2175" b="0">
                <a:solidFill>
                  <a:srgbClr val="526472"/>
                </a:solidFill>
                <a:latin typeface="Helvetica Neue"/>
                <a:ea typeface="Helvetica Neue"/>
                <a:cs typeface="Helvetica Neue"/>
              </a:defRPr>
            </a:lvl4pPr>
            <a:lvl5pPr>
              <a:buNone/>
              <a:defRPr sz="2175" b="0">
                <a:solidFill>
                  <a:srgbClr val="526472"/>
                </a:solidFill>
                <a:latin typeface="Helvetica Neue"/>
                <a:ea typeface="Helvetica Neue"/>
                <a:cs typeface="Helvetica Neue"/>
              </a:defRPr>
            </a:lvl5pPr>
            <a:lvl6pPr>
              <a:buNone/>
              <a:defRPr sz="2175" b="0">
                <a:solidFill>
                  <a:srgbClr val="526472"/>
                </a:solidFill>
                <a:latin typeface="Helvetica Neue"/>
                <a:ea typeface="Helvetica Neue"/>
                <a:cs typeface="Helvetica Neue"/>
              </a:defRPr>
            </a:lvl6pPr>
            <a:lvl7pPr>
              <a:buNone/>
              <a:defRPr sz="2175" b="0">
                <a:solidFill>
                  <a:srgbClr val="526472"/>
                </a:solidFill>
                <a:latin typeface="Helvetica Neue"/>
                <a:ea typeface="Helvetica Neue"/>
                <a:cs typeface="Helvetica Neue"/>
              </a:defRPr>
            </a:lvl7pPr>
            <a:lvl8pPr>
              <a:buNone/>
              <a:defRPr sz="2175" b="0">
                <a:solidFill>
                  <a:srgbClr val="526472"/>
                </a:solidFill>
                <a:latin typeface="Helvetica Neue"/>
                <a:ea typeface="Helvetica Neue"/>
                <a:cs typeface="Helvetica Neue"/>
              </a:defRPr>
            </a:lvl8pPr>
            <a:lvl9pPr>
              <a:buNone/>
              <a:defRPr sz="2175" b="0">
                <a:solidFill>
                  <a:srgbClr val="526472"/>
                </a:solidFill>
                <a:latin typeface="Helvetica Neue"/>
                <a:ea typeface="Helvetica Neue"/>
                <a:cs typeface="Helvetica Neue"/>
              </a:defRPr>
            </a:lvl9pPr>
          </a:lstStyle>
          <a:p xmlns:a="http://schemas.openxmlformats.org/drawingml/2006/main">
            <a:pPr>
              <a:buNone/>
              <a:defRPr sz="2175" b="0">
                <a:solidFill>
                  <a:srgbClr val="526472"/>
                </a:solidFill>
                <a:latin typeface="Helvetica Neue"/>
                <a:ea typeface="Helvetica Neue"/>
                <a:cs typeface="Helvetica Neue"/>
              </a:defRPr>
            </a:pPr>
            <a:r>
              <a:rPr sz="2175" b="0">
                <a:solidFill>
                  <a:srgbClr val="526472"/>
                </a:solidFill>
                <a:latin typeface="Helvetica Neue"/>
                <a:ea typeface="Helvetica Neue"/>
                <a:cs typeface="Helvetica Neue"/>
              </a:rPr>
              <a:t>Then validate the leading candidates with stronger models and experiments.</a:t>
            </a:r>
          </a:p>
        </p:txBody>
      </p:sp>
      <p:sp>
        <p:nvSpPr>
          <p:cNvPr id="9" name="">
            <a:extLst xmlns:a="http://schemas.openxmlformats.org/drawingml/2006/main">
              <a:ext uri="{FF2B5EF4-FFF2-40B4-BE49-F238E27FC236}">
                <a16:creationId xmlns:a16="http://schemas.microsoft.com/office/drawing/2014/main" id="{5A904139-46B6-4B71-8CBA-93BE1FD8CF3A}"/>
              </a:ext>
            </a:extLst>
          </p:cNvPr>
          <p:cNvSpPr>
            <a:spLocks xmlns:a="http://schemas.openxmlformats.org/drawingml/2006/main" noGrp="1"/>
          </p:cNvSpPr>
          <p:nvPr/>
        </p:nvSpPr>
        <p:spPr>
          <a:xfrm xmlns:a="http://schemas.openxmlformats.org/drawingml/2006/main">
            <a:off x="533400" y="5953125"/>
            <a:ext cx="11125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07F7B"/>
                </a:solidFill>
                <a:latin typeface="Helvetica Neue"/>
                <a:ea typeface="Helvetica Neue"/>
                <a:cs typeface="Helvetica Neue"/>
              </a:defRPr>
            </a:defPPr>
            <a:lvl1pPr>
              <a:buNone/>
              <a:defRPr sz="1875" b="0">
                <a:solidFill>
                  <a:srgbClr val="007F7B"/>
                </a:solidFill>
                <a:latin typeface="Helvetica Neue"/>
                <a:ea typeface="Helvetica Neue"/>
                <a:cs typeface="Helvetica Neue"/>
              </a:defRPr>
            </a:lvl1pPr>
            <a:lvl2pPr>
              <a:buNone/>
              <a:defRPr sz="1875" b="0">
                <a:solidFill>
                  <a:srgbClr val="007F7B"/>
                </a:solidFill>
                <a:latin typeface="Helvetica Neue"/>
                <a:ea typeface="Helvetica Neue"/>
                <a:cs typeface="Helvetica Neue"/>
              </a:defRPr>
            </a:lvl2pPr>
            <a:lvl3pPr>
              <a:buNone/>
              <a:defRPr sz="1875" b="0">
                <a:solidFill>
                  <a:srgbClr val="007F7B"/>
                </a:solidFill>
                <a:latin typeface="Helvetica Neue"/>
                <a:ea typeface="Helvetica Neue"/>
                <a:cs typeface="Helvetica Neue"/>
              </a:defRPr>
            </a:lvl3pPr>
            <a:lvl4pPr>
              <a:buNone/>
              <a:defRPr sz="1875" b="0">
                <a:solidFill>
                  <a:srgbClr val="007F7B"/>
                </a:solidFill>
                <a:latin typeface="Helvetica Neue"/>
                <a:ea typeface="Helvetica Neue"/>
                <a:cs typeface="Helvetica Neue"/>
              </a:defRPr>
            </a:lvl4pPr>
            <a:lvl5pPr>
              <a:buNone/>
              <a:defRPr sz="1875" b="0">
                <a:solidFill>
                  <a:srgbClr val="007F7B"/>
                </a:solidFill>
                <a:latin typeface="Helvetica Neue"/>
                <a:ea typeface="Helvetica Neue"/>
                <a:cs typeface="Helvetica Neue"/>
              </a:defRPr>
            </a:lvl5pPr>
            <a:lvl6pPr>
              <a:buNone/>
              <a:defRPr sz="1875" b="0">
                <a:solidFill>
                  <a:srgbClr val="007F7B"/>
                </a:solidFill>
                <a:latin typeface="Helvetica Neue"/>
                <a:ea typeface="Helvetica Neue"/>
                <a:cs typeface="Helvetica Neue"/>
              </a:defRPr>
            </a:lvl6pPr>
            <a:lvl7pPr>
              <a:buNone/>
              <a:defRPr sz="1875" b="0">
                <a:solidFill>
                  <a:srgbClr val="007F7B"/>
                </a:solidFill>
                <a:latin typeface="Helvetica Neue"/>
                <a:ea typeface="Helvetica Neue"/>
                <a:cs typeface="Helvetica Neue"/>
              </a:defRPr>
            </a:lvl7pPr>
            <a:lvl8pPr>
              <a:buNone/>
              <a:defRPr sz="1875" b="0">
                <a:solidFill>
                  <a:srgbClr val="007F7B"/>
                </a:solidFill>
                <a:latin typeface="Helvetica Neue"/>
                <a:ea typeface="Helvetica Neue"/>
                <a:cs typeface="Helvetica Neue"/>
              </a:defRPr>
            </a:lvl8pPr>
            <a:lvl9pPr>
              <a:buNone/>
              <a:defRPr sz="1875" b="0">
                <a:solidFill>
                  <a:srgbClr val="007F7B"/>
                </a:solidFill>
                <a:latin typeface="Helvetica Neue"/>
                <a:ea typeface="Helvetica Neue"/>
                <a:cs typeface="Helvetica Neue"/>
              </a:defRPr>
            </a:lvl9pPr>
          </a:lstStyle>
          <a:p xmlns:a="http://schemas.openxmlformats.org/drawingml/2006/main">
            <a:pPr>
              <a:buNone/>
              <a:defRPr sz="1875" b="0">
                <a:solidFill>
                  <a:srgbClr val="007F7B"/>
                </a:solidFill>
                <a:latin typeface="Helvetica Neue"/>
                <a:ea typeface="Helvetica Neue"/>
                <a:cs typeface="Helvetica Neue"/>
              </a:defRPr>
            </a:pPr>
            <a:r>
              <a:rPr sz="1875" b="0">
                <a:solidFill>
                  <a:srgbClr val="007F7B"/>
                </a:solidFill>
                <a:latin typeface="Helvetica Neue"/>
                <a:ea typeface="Helvetica Neue"/>
                <a:cs typeface="Helvetica Neue"/>
              </a:rPr>
              <a:t>Transport calculations were beyond the two-day computation window.</a:t>
            </a:r>
          </a:p>
        </p:txBody>
      </p:sp>
      <p:pic>
        <p:nvPicPr>
          <p:cNvPr id="11" name="">
            <a:extLst xmlns:a="http://schemas.openxmlformats.org/drawingml/2006/main">
              <a:ext uri="{FF2B5EF4-FFF2-40B4-BE49-F238E27FC236}">
                <a16:creationId xmlns:a16="http://schemas.microsoft.com/office/drawing/2014/main" id="{444C05FD-6798-4306-B397-13E26C057A43}"/>
              </a:ext>
            </a:extLst>
          </p:cNvPr>
          <p:cNvPicPr>
            <a:picLocks xmlns:a="http://schemas.openxmlformats.org/drawingml/2006/main" noChangeAspect="1"/>
          </p:cNvPicPr>
          <p:nvPr/>
        </p:nvPicPr>
        <p:blipFill>
          <a:blip xmlns:r="http://schemas.openxmlformats.org/officeDocument/2006/relationships" xmlns:a="http://schemas.openxmlformats.org/drawingml/2006/main" r:embed="Rec9e71e456cd4c90"/>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857197444"/>
      </p:ext>
    </p:extLst>
  </p:cSld>
</p:sld>
</file>

<file path=ppt/slides/slide2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EB7F67-4348-4729-BBD9-2801D83CC46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FULL EVIDENCE</a:t>
            </a:r>
          </a:p>
        </p:txBody>
      </p:sp>
      <p:sp>
        <p:nvSpPr>
          <p:cNvPr id="2" name="">
            <a:extLst xmlns:a="http://schemas.openxmlformats.org/drawingml/2006/main">
              <a:ext uri="{FF2B5EF4-FFF2-40B4-BE49-F238E27FC236}">
                <a16:creationId xmlns:a16="http://schemas.microsoft.com/office/drawing/2014/main" id="{13911C75-E2CA-4D21-8A39-8F2D1EACC4BB}"/>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Complete production results and uncertainty</a:t>
            </a:r>
          </a:p>
        </p:txBody>
      </p:sp>
      <p:sp>
        <p:nvSpPr>
          <p:cNvPr id="3" name="">
            <a:extLst xmlns:a="http://schemas.openxmlformats.org/drawingml/2006/main">
              <a:ext uri="{FF2B5EF4-FFF2-40B4-BE49-F238E27FC236}">
                <a16:creationId xmlns:a16="http://schemas.microsoft.com/office/drawing/2014/main" id="{3E5E6F5D-7A66-48C4-9C97-2CD812F003F4}"/>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Successes / 30 with 95% Wilson intervals below. Random is shared across models.</a:t>
            </a:r>
          </a:p>
        </p:txBody>
      </p:sp>
      <p:sp>
        <p:nvSpPr>
          <p:cNvPr id="4" name="">
            <a:extLst xmlns:a="http://schemas.openxmlformats.org/drawingml/2006/main">
              <a:ext uri="{FF2B5EF4-FFF2-40B4-BE49-F238E27FC236}">
                <a16:creationId xmlns:a16="http://schemas.microsoft.com/office/drawing/2014/main" id="{604744BC-BB1A-4134-A7B6-CD6516856DD2}"/>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55D70ED9-53B7-4518-957C-8E35D67CA55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21</a:t>
            </a:r>
          </a:p>
        </p:txBody>
      </p:sp>
      <p:graphicFrame>
        <p:nvGraphicFramePr>
          <p:cNvPr id="6" name="">
            <a:extLst xmlns:a="http://schemas.openxmlformats.org/drawingml/2006/main">
              <a:ext uri="{FF2B5EF4-FFF2-40B4-BE49-F238E27FC236}">
                <a16:creationId xmlns:a16="http://schemas.microsoft.com/office/drawing/2014/main" id="{464120AD-B835-444A-9EA5-8A2552191FA7}"/>
              </a:ext>
            </a:extLst>
          </p:cNvPr>
          <p:cNvGraphicFramePr/>
          <p:nvPr/>
        </p:nvGraphicFramePr>
        <p:xfrm>
          <a:off xmlns:a="http://schemas.openxmlformats.org/drawingml/2006/main" x="533400" y="2095500"/>
          <a:ext xmlns:a="http://schemas.openxmlformats.org/drawingml/2006/main" cx="11125200" cy="4000500"/>
        </p:xfrm>
        <a:graphic xmlns:a="http://schemas.openxmlformats.org/drawingml/2006/main">
          <a:graphicData uri="http://schemas.openxmlformats.org/drawingml/2006/table">
            <a:tbl>
              <a:tblPr firstRow="0" bandRow="0"/>
              <a:tblGrid>
                <a:gridCol w="1714500"/>
                <a:gridCol w="1790700"/>
                <a:gridCol w="1524000"/>
                <a:gridCol w="1524000"/>
                <a:gridCol w="1524000"/>
                <a:gridCol w="1524000"/>
                <a:gridCol w="1524000"/>
              </a:tblGrid>
              <a:tr h="571500">
                <a:tc>
                  <a:txBody>
                    <a:bodyPr lIns="0" tIns="0" rIns="0" bIns="0">
                      <a:noAutofit/>
                    </a:bodyPr>
                    <a:lstStyle/>
                    <a:p>
                      <a:r>
                        <a:rPr sz="1575" b="1">
                          <a:solidFill>
                            <a:srgbClr val="FFFFFF"/>
                          </a:solidFill>
                          <a:latin typeface="Helvetica Neue"/>
                          <a:ea typeface="Helvetica Neue"/>
                          <a:cs typeface="Helvetica Neue"/>
                        </a:rPr>
                        <a:t>Electrolyte</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Model</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Uses</a:t>
                      </a:r>
                    </a:p>
                    <a:p>
                      <a:r>
                        <a:rPr sz="1575" b="1">
                          <a:solidFill>
                            <a:srgbClr val="FFFFFF"/>
                          </a:solidFill>
                          <a:latin typeface="Helvetica Neue"/>
                          <a:ea typeface="Helvetica Neue"/>
                          <a:cs typeface="Helvetica Neue"/>
                        </a:rPr>
                        <a:t>results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No</a:t>
                      </a:r>
                    </a:p>
                    <a:p>
                      <a:r>
                        <a:rPr sz="1575" b="1">
                          <a:solidFill>
                            <a:srgbClr val="FFFFFF"/>
                          </a:solidFill>
                          <a:latin typeface="Helvetica Neue"/>
                          <a:ea typeface="Helvetica Neue"/>
                          <a:cs typeface="Helvetica Neue"/>
                        </a:rPr>
                        <a:t>results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Mixed-up</a:t>
                      </a:r>
                    </a:p>
                    <a:p>
                      <a:r>
                        <a:rPr sz="1575" b="1">
                          <a:solidFill>
                            <a:srgbClr val="FFFFFF"/>
                          </a:solidFill>
                          <a:latin typeface="Helvetica Neue"/>
                          <a:ea typeface="Helvetica Neue"/>
                          <a:cs typeface="Helvetica Neue"/>
                        </a:rPr>
                        <a:t>results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One</a:t>
                      </a:r>
                    </a:p>
                    <a:p>
                      <a:r>
                        <a:rPr sz="1575" b="1">
                          <a:solidFill>
                            <a:srgbClr val="FFFFFF"/>
                          </a:solidFill>
                          <a:latin typeface="Helvetica Neue"/>
                          <a:ea typeface="Helvetica Neue"/>
                          <a:cs typeface="Helvetica Neue"/>
                        </a:rPr>
                        <a:t>list</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Shared</a:t>
                      </a:r>
                    </a:p>
                    <a:p>
                      <a:r>
                        <a:rPr sz="1575" b="1">
                          <a:solidFill>
                            <a:srgbClr val="FFFFFF"/>
                          </a:solidFill>
                          <a:latin typeface="Helvetica Neue"/>
                          <a:ea typeface="Helvetica Neue"/>
                          <a:cs typeface="Helvetica Neue"/>
                        </a:rPr>
                        <a:t>random</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571500">
                <a:tc>
                  <a:txBody>
                    <a:bodyPr lIns="0" tIns="0" rIns="0" bIns="0">
                      <a:noAutofit/>
                    </a:bodyPr>
                    <a:lstStyle/>
                    <a:p>
                      <a:r>
                        <a:rPr sz="1575" b="0">
                          <a:solidFill>
                            <a:srgbClr val="172B3A"/>
                          </a:solidFill>
                          <a:latin typeface="Helvetica Neue"/>
                          <a:ea typeface="Helvetica Neue"/>
                          <a:cs typeface="Helvetica Neue"/>
                        </a:rPr>
                        <a:t>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Haiku</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20/30</a:t>
                      </a:r>
                    </a:p>
                    <a:p>
                      <a:r>
                        <a:rPr sz="1575" b="0">
                          <a:solidFill>
                            <a:srgbClr val="172B3A"/>
                          </a:solidFill>
                          <a:latin typeface="Helvetica Neue"/>
                          <a:ea typeface="Helvetica Neue"/>
                          <a:cs typeface="Helvetica Neue"/>
                        </a:rPr>
                        <a:t>49–81%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2/30</a:t>
                      </a:r>
                    </a:p>
                    <a:p>
                      <a:r>
                        <a:rPr sz="1575" b="0">
                          <a:solidFill>
                            <a:srgbClr val="172B3A"/>
                          </a:solidFill>
                          <a:latin typeface="Helvetica Neue"/>
                          <a:ea typeface="Helvetica Neue"/>
                          <a:cs typeface="Helvetica Neue"/>
                        </a:rPr>
                        <a:t>2–21%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6/30</a:t>
                      </a:r>
                    </a:p>
                    <a:p>
                      <a:r>
                        <a:rPr sz="1575" b="0">
                          <a:solidFill>
                            <a:srgbClr val="172B3A"/>
                          </a:solidFill>
                          <a:latin typeface="Helvetica Neue"/>
                          <a:ea typeface="Helvetica Neue"/>
                          <a:cs typeface="Helvetica Neue"/>
                        </a:rPr>
                        <a:t>10–37%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0/30</a:t>
                      </a:r>
                    </a:p>
                    <a:p>
                      <a:r>
                        <a:rPr sz="1575" b="0">
                          <a:solidFill>
                            <a:srgbClr val="172B3A"/>
                          </a:solidFill>
                          <a:latin typeface="Helvetica Neue"/>
                          <a:ea typeface="Helvetica Neue"/>
                          <a:cs typeface="Helvetica Neue"/>
                        </a:rPr>
                        <a:t>0–11%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8/30</a:t>
                      </a:r>
                    </a:p>
                    <a:p>
                      <a:r>
                        <a:rPr sz="1575" b="0">
                          <a:solidFill>
                            <a:srgbClr val="172B3A"/>
                          </a:solidFill>
                          <a:latin typeface="Helvetica Neue"/>
                          <a:ea typeface="Helvetica Neue"/>
                          <a:cs typeface="Helvetica Neue"/>
                        </a:rPr>
                        <a:t>14–44%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71500">
                <a:tc>
                  <a:txBody>
                    <a:bodyPr lIns="0" tIns="0" rIns="0" bIns="0">
                      <a:noAutofit/>
                    </a:bodyPr>
                    <a:lstStyle/>
                    <a:p>
                      <a:r>
                        <a:rPr sz="1575" b="0">
                          <a:solidFill>
                            <a:srgbClr val="172B3A"/>
                          </a:solidFill>
                          <a:latin typeface="Helvetica Neue"/>
                          <a:ea typeface="Helvetica Neue"/>
                          <a:cs typeface="Helvetica Neue"/>
                        </a:rPr>
                        <a:t>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DeepSeek</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12/30</a:t>
                      </a:r>
                    </a:p>
                    <a:p>
                      <a:r>
                        <a:rPr sz="1575" b="0">
                          <a:solidFill>
                            <a:srgbClr val="172B3A"/>
                          </a:solidFill>
                          <a:latin typeface="Helvetica Neue"/>
                          <a:ea typeface="Helvetica Neue"/>
                          <a:cs typeface="Helvetica Neue"/>
                        </a:rPr>
                        <a:t>25–58%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2/30</a:t>
                      </a:r>
                    </a:p>
                    <a:p>
                      <a:r>
                        <a:rPr sz="1575" b="0">
                          <a:solidFill>
                            <a:srgbClr val="172B3A"/>
                          </a:solidFill>
                          <a:latin typeface="Helvetica Neue"/>
                          <a:ea typeface="Helvetica Neue"/>
                          <a:cs typeface="Helvetica Neue"/>
                        </a:rPr>
                        <a:t>2–21%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3/30</a:t>
                      </a:r>
                    </a:p>
                    <a:p>
                      <a:r>
                        <a:rPr sz="1575" b="0">
                          <a:solidFill>
                            <a:srgbClr val="172B3A"/>
                          </a:solidFill>
                          <a:latin typeface="Helvetica Neue"/>
                          <a:ea typeface="Helvetica Neue"/>
                          <a:cs typeface="Helvetica Neue"/>
                        </a:rPr>
                        <a:t>3–26%</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2/30</a:t>
                      </a:r>
                    </a:p>
                    <a:p>
                      <a:r>
                        <a:rPr sz="1575" b="0">
                          <a:solidFill>
                            <a:srgbClr val="172B3A"/>
                          </a:solidFill>
                          <a:latin typeface="Helvetica Neue"/>
                          <a:ea typeface="Helvetica Neue"/>
                          <a:cs typeface="Helvetica Neue"/>
                        </a:rPr>
                        <a:t>2–21%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8/30</a:t>
                      </a:r>
                    </a:p>
                    <a:p>
                      <a:r>
                        <a:rPr sz="1575" b="0">
                          <a:solidFill>
                            <a:srgbClr val="172B3A"/>
                          </a:solidFill>
                          <a:latin typeface="Helvetica Neue"/>
                          <a:ea typeface="Helvetica Neue"/>
                          <a:cs typeface="Helvetica Neue"/>
                        </a:rPr>
                        <a:t>14–44%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71500">
                <a:tc>
                  <a:txBody>
                    <a:bodyPr lIns="0" tIns="0" rIns="0" bIns="0">
                      <a:noAutofit/>
                    </a:bodyPr>
                    <a:lstStyle/>
                    <a:p>
                      <a:r>
                        <a:rPr sz="1575" b="0">
                          <a:solidFill>
                            <a:srgbClr val="172B3A"/>
                          </a:solidFill>
                          <a:latin typeface="Helvetica Neue"/>
                          <a:ea typeface="Helvetica Neue"/>
                          <a:cs typeface="Helvetica Neue"/>
                        </a:rPr>
                        <a:t>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Haiku</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29/30</a:t>
                      </a:r>
                    </a:p>
                    <a:p>
                      <a:r>
                        <a:rPr sz="1575" b="0">
                          <a:solidFill>
                            <a:srgbClr val="172B3A"/>
                          </a:solidFill>
                          <a:latin typeface="Helvetica Neue"/>
                          <a:ea typeface="Helvetica Neue"/>
                          <a:cs typeface="Helvetica Neue"/>
                        </a:rPr>
                        <a:t>83–99%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71500">
                <a:tc>
                  <a:txBody>
                    <a:bodyPr lIns="0" tIns="0" rIns="0" bIns="0">
                      <a:noAutofit/>
                    </a:bodyPr>
                    <a:lstStyle/>
                    <a:p>
                      <a:r>
                        <a:rPr sz="1575" b="0">
                          <a:solidFill>
                            <a:srgbClr val="172B3A"/>
                          </a:solidFill>
                          <a:latin typeface="Helvetica Neue"/>
                          <a:ea typeface="Helvetica Neue"/>
                          <a:cs typeface="Helvetica Neue"/>
                        </a:rPr>
                        <a:t>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DeepSeek</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29/30</a:t>
                      </a:r>
                    </a:p>
                    <a:p>
                      <a:r>
                        <a:rPr sz="1575" b="0">
                          <a:solidFill>
                            <a:srgbClr val="172B3A"/>
                          </a:solidFill>
                          <a:latin typeface="Helvetica Neue"/>
                          <a:ea typeface="Helvetica Neue"/>
                          <a:cs typeface="Helvetica Neue"/>
                        </a:rPr>
                        <a:t>83–99%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71500">
                <a:tc>
                  <a:txBody>
                    <a:bodyPr lIns="0" tIns="0" rIns="0" bIns="0">
                      <a:noAutofit/>
                    </a:bodyPr>
                    <a:lstStyle/>
                    <a:p>
                      <a:r>
                        <a:rPr sz="1575" b="0">
                          <a:solidFill>
                            <a:srgbClr val="172B3A"/>
                          </a:solidFill>
                          <a:latin typeface="Helvetica Neue"/>
                          <a:ea typeface="Helvetica Neue"/>
                          <a:cs typeface="Helvetica Neue"/>
                        </a:rPr>
                        <a:t>LLZO</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Haiku</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12/30</a:t>
                      </a:r>
                    </a:p>
                    <a:p>
                      <a:r>
                        <a:rPr sz="1575" b="0">
                          <a:solidFill>
                            <a:srgbClr val="172B3A"/>
                          </a:solidFill>
                          <a:latin typeface="Helvetica Neue"/>
                          <a:ea typeface="Helvetica Neue"/>
                          <a:cs typeface="Helvetica Neue"/>
                        </a:rPr>
                        <a:t>25–58%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0/30</a:t>
                      </a:r>
                    </a:p>
                    <a:p>
                      <a:r>
                        <a:rPr sz="1575" b="0">
                          <a:solidFill>
                            <a:srgbClr val="172B3A"/>
                          </a:solidFill>
                          <a:latin typeface="Helvetica Neue"/>
                          <a:ea typeface="Helvetica Neue"/>
                          <a:cs typeface="Helvetica Neue"/>
                        </a:rPr>
                        <a:t>0–11%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4/30</a:t>
                      </a:r>
                    </a:p>
                    <a:p>
                      <a:r>
                        <a:rPr sz="1575" b="0">
                          <a:solidFill>
                            <a:srgbClr val="172B3A"/>
                          </a:solidFill>
                          <a:latin typeface="Helvetica Neue"/>
                          <a:ea typeface="Helvetica Neue"/>
                          <a:cs typeface="Helvetica Neue"/>
                        </a:rPr>
                        <a:t>5–30%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1/30</a:t>
                      </a:r>
                    </a:p>
                    <a:p>
                      <a:r>
                        <a:rPr sz="1575" b="0">
                          <a:solidFill>
                            <a:srgbClr val="172B3A"/>
                          </a:solidFill>
                          <a:latin typeface="Helvetica Neue"/>
                          <a:ea typeface="Helvetica Neue"/>
                          <a:cs typeface="Helvetica Neue"/>
                        </a:rPr>
                        <a:t>1–17%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24/30</a:t>
                      </a:r>
                    </a:p>
                    <a:p>
                      <a:r>
                        <a:rPr sz="1575" b="0">
                          <a:solidFill>
                            <a:srgbClr val="172B3A"/>
                          </a:solidFill>
                          <a:latin typeface="Helvetica Neue"/>
                          <a:ea typeface="Helvetica Neue"/>
                          <a:cs typeface="Helvetica Neue"/>
                        </a:rPr>
                        <a:t>63–90%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71500">
                <a:tc>
                  <a:txBody>
                    <a:bodyPr lIns="0" tIns="0" rIns="0" bIns="0">
                      <a:noAutofit/>
                    </a:bodyPr>
                    <a:lstStyle/>
                    <a:p>
                      <a:r>
                        <a:rPr sz="1575" b="0">
                          <a:solidFill>
                            <a:srgbClr val="172B3A"/>
                          </a:solidFill>
                          <a:latin typeface="Helvetica Neue"/>
                          <a:ea typeface="Helvetica Neue"/>
                          <a:cs typeface="Helvetica Neue"/>
                        </a:rPr>
                        <a:t>LLZO</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DeepSeek</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10/30</a:t>
                      </a:r>
                    </a:p>
                    <a:p>
                      <a:r>
                        <a:rPr sz="1575" b="0">
                          <a:solidFill>
                            <a:srgbClr val="172B3A"/>
                          </a:solidFill>
                          <a:latin typeface="Helvetica Neue"/>
                          <a:ea typeface="Helvetica Neue"/>
                          <a:cs typeface="Helvetica Neue"/>
                        </a:rPr>
                        <a:t>19–51%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4/30</a:t>
                      </a:r>
                    </a:p>
                    <a:p>
                      <a:r>
                        <a:rPr sz="1575" b="0">
                          <a:solidFill>
                            <a:srgbClr val="172B3A"/>
                          </a:solidFill>
                          <a:latin typeface="Helvetica Neue"/>
                          <a:ea typeface="Helvetica Neue"/>
                          <a:cs typeface="Helvetica Neue"/>
                        </a:rPr>
                        <a:t>5–30%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12/30</a:t>
                      </a:r>
                    </a:p>
                    <a:p>
                      <a:r>
                        <a:rPr sz="1575" b="0">
                          <a:solidFill>
                            <a:srgbClr val="172B3A"/>
                          </a:solidFill>
                          <a:latin typeface="Helvetica Neue"/>
                          <a:ea typeface="Helvetica Neue"/>
                          <a:cs typeface="Helvetica Neue"/>
                        </a:rPr>
                        <a:t>25–58%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20/30</a:t>
                      </a:r>
                    </a:p>
                    <a:p>
                      <a:r>
                        <a:rPr sz="1575" b="0">
                          <a:solidFill>
                            <a:srgbClr val="172B3A"/>
                          </a:solidFill>
                          <a:latin typeface="Helvetica Neue"/>
                          <a:ea typeface="Helvetica Neue"/>
                          <a:cs typeface="Helvetica Neue"/>
                        </a:rPr>
                        <a:t>49–81%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24/30</a:t>
                      </a:r>
                    </a:p>
                    <a:p>
                      <a:r>
                        <a:rPr sz="1575" b="0">
                          <a:solidFill>
                            <a:srgbClr val="172B3A"/>
                          </a:solidFill>
                          <a:latin typeface="Helvetica Neue"/>
                          <a:ea typeface="Helvetica Neue"/>
                          <a:cs typeface="Helvetica Neue"/>
                        </a:rPr>
                        <a:t>63–90%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pic>
        <p:nvPicPr>
          <p:cNvPr id="8" name="">
            <a:extLst xmlns:a="http://schemas.openxmlformats.org/drawingml/2006/main">
              <a:ext uri="{FF2B5EF4-FFF2-40B4-BE49-F238E27FC236}">
                <a16:creationId xmlns:a16="http://schemas.microsoft.com/office/drawing/2014/main" id="{98FBF321-644E-48A7-94BB-D4612EEAEA91}"/>
              </a:ext>
            </a:extLst>
          </p:cNvPr>
          <p:cNvPicPr>
            <a:picLocks xmlns:a="http://schemas.openxmlformats.org/drawingml/2006/main" noChangeAspect="1"/>
          </p:cNvPicPr>
          <p:nvPr/>
        </p:nvPicPr>
        <p:blipFill>
          <a:blip xmlns:r="http://schemas.openxmlformats.org/officeDocument/2006/relationships" xmlns:a="http://schemas.openxmlformats.org/drawingml/2006/main" r:embed="R7c39a10351874f91"/>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969236314"/>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27D206-A0D2-4C52-A93D-696EB227C36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STATISTICAL COMPARISONS</a:t>
            </a:r>
          </a:p>
        </p:txBody>
      </p:sp>
      <p:sp>
        <p:nvSpPr>
          <p:cNvPr id="2" name="">
            <a:extLst xmlns:a="http://schemas.openxmlformats.org/drawingml/2006/main">
              <a:ext uri="{FF2B5EF4-FFF2-40B4-BE49-F238E27FC236}">
                <a16:creationId xmlns:a16="http://schemas.microsoft.com/office/drawing/2014/main" id="{FCF9BE0B-4F45-42BB-AF58-BCA418899C50}"/>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Planned tests distinguish a trend from evidence</a:t>
            </a:r>
          </a:p>
        </p:txBody>
      </p:sp>
      <p:sp>
        <p:nvSpPr>
          <p:cNvPr id="3" name="">
            <a:extLst xmlns:a="http://schemas.openxmlformats.org/drawingml/2006/main">
              <a:ext uri="{FF2B5EF4-FFF2-40B4-BE49-F238E27FC236}">
                <a16:creationId xmlns:a16="http://schemas.microsoft.com/office/drawing/2014/main" id="{062BE8C4-7AF2-4985-AA87-B2F25A4564CA}"/>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Correct feedback versus each control. Exact paired tests with Holm correction.</a:t>
            </a:r>
          </a:p>
        </p:txBody>
      </p:sp>
      <p:sp>
        <p:nvSpPr>
          <p:cNvPr id="4" name="">
            <a:extLst xmlns:a="http://schemas.openxmlformats.org/drawingml/2006/main">
              <a:ext uri="{FF2B5EF4-FFF2-40B4-BE49-F238E27FC236}">
                <a16:creationId xmlns:a16="http://schemas.microsoft.com/office/drawing/2014/main" id="{B6F6C2D0-02F0-4DD5-B767-D9A728AD309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BD24D8C3-471C-45AB-9D8B-A47571048892}"/>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22</a:t>
            </a:r>
          </a:p>
        </p:txBody>
      </p:sp>
      <p:graphicFrame>
        <p:nvGraphicFramePr>
          <p:cNvPr id="6" name="">
            <a:extLst xmlns:a="http://schemas.openxmlformats.org/drawingml/2006/main">
              <a:ext uri="{FF2B5EF4-FFF2-40B4-BE49-F238E27FC236}">
                <a16:creationId xmlns:a16="http://schemas.microsoft.com/office/drawing/2014/main" id="{B9640CF6-F0BD-4B24-A7A6-5F476D7A97F6}"/>
              </a:ext>
            </a:extLst>
          </p:cNvPr>
          <p:cNvGraphicFramePr/>
          <p:nvPr/>
        </p:nvGraphicFramePr>
        <p:xfrm>
          <a:off xmlns:a="http://schemas.openxmlformats.org/drawingml/2006/main" x="533400" y="2143125"/>
          <a:ext xmlns:a="http://schemas.openxmlformats.org/drawingml/2006/main" cx="11125200" cy="3419475"/>
        </p:xfrm>
        <a:graphic xmlns:a="http://schemas.openxmlformats.org/drawingml/2006/main">
          <a:graphicData uri="http://schemas.openxmlformats.org/drawingml/2006/table">
            <a:tbl>
              <a:tblPr firstRow="0" bandRow="0"/>
              <a:tblGrid>
                <a:gridCol w="2095500"/>
                <a:gridCol w="3238500"/>
                <a:gridCol w="2895600"/>
                <a:gridCol w="2895600"/>
              </a:tblGrid>
              <a:tr h="488496">
                <a:tc>
                  <a:txBody>
                    <a:bodyPr lIns="0" tIns="0" rIns="0" bIns="0">
                      <a:noAutofit/>
                    </a:bodyPr>
                    <a:lstStyle/>
                    <a:p>
                      <a:r>
                        <a:rPr sz="1725" b="1">
                          <a:solidFill>
                            <a:srgbClr val="FFFFFF"/>
                          </a:solidFill>
                          <a:latin typeface="Helvetica Neue"/>
                          <a:ea typeface="Helvetica Neue"/>
                          <a:cs typeface="Helvetica Neue"/>
                        </a:rPr>
                        <a:t>Electrolyte</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Compared with</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Haiku adjusted p</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DeepSeek adjusted p</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488496">
                <a:tc>
                  <a:txBody>
                    <a:bodyPr lIns="0" tIns="0" rIns="0" bIns="0">
                      <a:noAutofit/>
                    </a:bodyPr>
                    <a:lstStyle/>
                    <a:p>
                      <a:r>
                        <a:rPr sz="1950" b="0">
                          <a:solidFill>
                            <a:srgbClr val="172B3A"/>
                          </a:solidFill>
                          <a:latin typeface="Helvetica Neue"/>
                          <a:ea typeface="Helvetica Neue"/>
                          <a:cs typeface="Helvetica Neue"/>
                        </a:rPr>
                        <a:t>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No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0.00004578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0.07764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488496">
                <a:tc>
                  <a:txBody>
                    <a:bodyPr lIns="0" tIns="0" rIns="0" bIns="0">
                      <a:noAutofit/>
                    </a:bodyPr>
                    <a:lstStyle/>
                    <a:p>
                      <a:r>
                        <a:rPr sz="1950" b="0">
                          <a:solidFill>
                            <a:srgbClr val="172B3A"/>
                          </a:solidFill>
                          <a:latin typeface="Helvetica Neue"/>
                          <a:ea typeface="Helvetica Neue"/>
                          <a:cs typeface="Helvetica Neue"/>
                        </a:rPr>
                        <a:t>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Mixed-up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0.00244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0.11230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488496">
                <a:tc>
                  <a:txBody>
                    <a:bodyPr lIns="0" tIns="0" rIns="0" bIns="0">
                      <a:noAutofit/>
                    </a:bodyPr>
                    <a:lstStyle/>
                    <a:p>
                      <a:r>
                        <a:rPr sz="1950" b="0">
                          <a:solidFill>
                            <a:srgbClr val="172B3A"/>
                          </a:solidFill>
                          <a:latin typeface="Helvetica Neue"/>
                          <a:ea typeface="Helvetica Neue"/>
                          <a:cs typeface="Helvetica Neue"/>
                        </a:rPr>
                        <a:t>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No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488496">
                <a:tc>
                  <a:txBody>
                    <a:bodyPr lIns="0" tIns="0" rIns="0" bIns="0">
                      <a:noAutofit/>
                    </a:bodyPr>
                    <a:lstStyle/>
                    <a:p>
                      <a:r>
                        <a:rPr sz="1950" b="0">
                          <a:solidFill>
                            <a:srgbClr val="172B3A"/>
                          </a:solidFill>
                          <a:latin typeface="Helvetica Neue"/>
                          <a:ea typeface="Helvetica Neue"/>
                          <a:cs typeface="Helvetica Neue"/>
                        </a:rPr>
                        <a:t>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Mixed-up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488496">
                <a:tc>
                  <a:txBody>
                    <a:bodyPr lIns="0" tIns="0" rIns="0" bIns="0">
                      <a:noAutofit/>
                    </a:bodyPr>
                    <a:lstStyle/>
                    <a:p>
                      <a:r>
                        <a:rPr sz="1950" b="0">
                          <a:solidFill>
                            <a:srgbClr val="172B3A"/>
                          </a:solidFill>
                          <a:latin typeface="Helvetica Neue"/>
                          <a:ea typeface="Helvetica Neue"/>
                          <a:cs typeface="Helvetica Neue"/>
                        </a:rPr>
                        <a:t>LLZO</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No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0.00244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0.43750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488496">
                <a:tc>
                  <a:txBody>
                    <a:bodyPr lIns="0" tIns="0" rIns="0" bIns="0">
                      <a:noAutofit/>
                    </a:bodyPr>
                    <a:lstStyle/>
                    <a:p>
                      <a:r>
                        <a:rPr sz="1950" b="0">
                          <a:solidFill>
                            <a:srgbClr val="172B3A"/>
                          </a:solidFill>
                          <a:latin typeface="Helvetica Neue"/>
                          <a:ea typeface="Helvetica Neue"/>
                          <a:cs typeface="Helvetica Neue"/>
                        </a:rPr>
                        <a:t>LLZO</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Mixed-up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0.17212</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7052E6E4-EB14-4212-9073-8277ED3788DF}"/>
              </a:ext>
            </a:extLst>
          </p:cNvPr>
          <p:cNvSpPr>
            <a:spLocks xmlns:a="http://schemas.openxmlformats.org/drawingml/2006/main" noGrp="1"/>
          </p:cNvSpPr>
          <p:nvPr/>
        </p:nvSpPr>
        <p:spPr>
          <a:xfrm xmlns:a="http://schemas.openxmlformats.org/drawingml/2006/main">
            <a:off x="533400" y="576262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Three Haiku contrasts pass 0.05. None of DeepSeek’s six does.</a:t>
            </a:r>
          </a:p>
        </p:txBody>
      </p:sp>
      <p:sp>
        <p:nvSpPr>
          <p:cNvPr id="8" name="">
            <a:extLst xmlns:a="http://schemas.openxmlformats.org/drawingml/2006/main">
              <a:ext uri="{FF2B5EF4-FFF2-40B4-BE49-F238E27FC236}">
                <a16:creationId xmlns:a16="http://schemas.microsoft.com/office/drawing/2014/main" id="{E20F6F18-D70E-4462-B10E-95DFB67377D0}"/>
              </a:ext>
            </a:extLst>
          </p:cNvPr>
          <p:cNvSpPr>
            <a:spLocks xmlns:a="http://schemas.openxmlformats.org/drawingml/2006/main" noGrp="1"/>
          </p:cNvSpPr>
          <p:nvPr/>
        </p:nvSpPr>
        <p:spPr>
          <a:xfrm xmlns:a="http://schemas.openxmlformats.org/drawingml/2006/main">
            <a:off x="533400" y="619125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650" b="0">
                <a:solidFill>
                  <a:srgbClr val="526472"/>
                </a:solidFill>
                <a:latin typeface="Helvetica Neue"/>
                <a:ea typeface="Helvetica Neue"/>
                <a:cs typeface="Helvetica Neue"/>
              </a:defRPr>
            </a:lvl1pPr>
            <a:lvl2pPr>
              <a:buNone/>
              <a:defRPr sz="1650" b="0">
                <a:solidFill>
                  <a:srgbClr val="526472"/>
                </a:solidFill>
                <a:latin typeface="Helvetica Neue"/>
                <a:ea typeface="Helvetica Neue"/>
                <a:cs typeface="Helvetica Neue"/>
              </a:defRPr>
            </a:lvl2pPr>
            <a:lvl3pPr>
              <a:buNone/>
              <a:defRPr sz="1650" b="0">
                <a:solidFill>
                  <a:srgbClr val="526472"/>
                </a:solidFill>
                <a:latin typeface="Helvetica Neue"/>
                <a:ea typeface="Helvetica Neue"/>
                <a:cs typeface="Helvetica Neue"/>
              </a:defRPr>
            </a:lvl3pPr>
            <a:lvl4pPr>
              <a:buNone/>
              <a:defRPr sz="1650" b="0">
                <a:solidFill>
                  <a:srgbClr val="526472"/>
                </a:solidFill>
                <a:latin typeface="Helvetica Neue"/>
                <a:ea typeface="Helvetica Neue"/>
                <a:cs typeface="Helvetica Neue"/>
              </a:defRPr>
            </a:lvl4pPr>
            <a:lvl5pPr>
              <a:buNone/>
              <a:defRPr sz="1650" b="0">
                <a:solidFill>
                  <a:srgbClr val="526472"/>
                </a:solidFill>
                <a:latin typeface="Helvetica Neue"/>
                <a:ea typeface="Helvetica Neue"/>
                <a:cs typeface="Helvetica Neue"/>
              </a:defRPr>
            </a:lvl5pPr>
            <a:lvl6pPr>
              <a:buNone/>
              <a:defRPr sz="1650" b="0">
                <a:solidFill>
                  <a:srgbClr val="526472"/>
                </a:solidFill>
                <a:latin typeface="Helvetica Neue"/>
                <a:ea typeface="Helvetica Neue"/>
                <a:cs typeface="Helvetica Neue"/>
              </a:defRPr>
            </a:lvl6pPr>
            <a:lvl7pPr>
              <a:buNone/>
              <a:defRPr sz="1650" b="0">
                <a:solidFill>
                  <a:srgbClr val="526472"/>
                </a:solidFill>
                <a:latin typeface="Helvetica Neue"/>
                <a:ea typeface="Helvetica Neue"/>
                <a:cs typeface="Helvetica Neue"/>
              </a:defRPr>
            </a:lvl7pPr>
            <a:lvl8pPr>
              <a:buNone/>
              <a:defRPr sz="1650" b="0">
                <a:solidFill>
                  <a:srgbClr val="526472"/>
                </a:solidFill>
                <a:latin typeface="Helvetica Neue"/>
                <a:ea typeface="Helvetica Neue"/>
                <a:cs typeface="Helvetica Neue"/>
              </a:defRPr>
            </a:lvl8pPr>
            <a:lvl9pPr>
              <a:buNone/>
              <a:defRPr sz="165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Separate test families. This is not a statistical test of one model against the other.</a:t>
            </a:r>
          </a:p>
        </p:txBody>
      </p:sp>
      <p:pic>
        <p:nvPicPr>
          <p:cNvPr id="10" name="">
            <a:extLst xmlns:a="http://schemas.openxmlformats.org/drawingml/2006/main">
              <a:ext uri="{FF2B5EF4-FFF2-40B4-BE49-F238E27FC236}">
                <a16:creationId xmlns:a16="http://schemas.microsoft.com/office/drawing/2014/main" id="{AAE64EFE-7DB7-42E7-8706-0F7A42A7BD73}"/>
              </a:ext>
            </a:extLst>
          </p:cNvPr>
          <p:cNvPicPr>
            <a:picLocks xmlns:a="http://schemas.openxmlformats.org/drawingml/2006/main" noChangeAspect="1"/>
          </p:cNvPicPr>
          <p:nvPr/>
        </p:nvPicPr>
        <p:blipFill>
          <a:blip xmlns:r="http://schemas.openxmlformats.org/officeDocument/2006/relationships" xmlns:a="http://schemas.openxmlformats.org/drawingml/2006/main" r:embed="R3785127add9a4dd5"/>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290445366"/>
      </p:ext>
    </p:extLst>
  </p:cSld>
</p:sld>
</file>

<file path=ppt/slides/slide2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AD7AC7-CE59-4AC5-A767-C601116404B1}"/>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POST-HOC AUDIT</a:t>
            </a:r>
          </a:p>
        </p:txBody>
      </p:sp>
      <p:sp>
        <p:nvSpPr>
          <p:cNvPr id="2" name="">
            <a:extLst xmlns:a="http://schemas.openxmlformats.org/drawingml/2006/main">
              <a:ext uri="{FF2B5EF4-FFF2-40B4-BE49-F238E27FC236}">
                <a16:creationId xmlns:a16="http://schemas.microsoft.com/office/drawing/2014/main" id="{E34D933F-D156-4559-9C87-0B60AD0F8BFB}"/>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LLZO: practical annotations do not replace the score</a:t>
            </a:r>
          </a:p>
        </p:txBody>
      </p:sp>
      <p:sp>
        <p:nvSpPr>
          <p:cNvPr id="3" name="">
            <a:extLst xmlns:a="http://schemas.openxmlformats.org/drawingml/2006/main">
              <a:ext uri="{FF2B5EF4-FFF2-40B4-BE49-F238E27FC236}">
                <a16:creationId xmlns:a16="http://schemas.microsoft.com/office/drawing/2014/main" id="{F6E1ED7E-92F3-45B5-B997-29FD97B7E9B8}"/>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Unflagged means outside one defined oxyhalogen review set, not a validated battery coating.</a:t>
            </a:r>
          </a:p>
        </p:txBody>
      </p:sp>
      <p:sp>
        <p:nvSpPr>
          <p:cNvPr id="4" name="">
            <a:extLst xmlns:a="http://schemas.openxmlformats.org/drawingml/2006/main">
              <a:ext uri="{FF2B5EF4-FFF2-40B4-BE49-F238E27FC236}">
                <a16:creationId xmlns:a16="http://schemas.microsoft.com/office/drawing/2014/main" id="{FEE74491-A6F6-4F5E-B4BE-89950F5D0CA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266B65C3-E396-4692-B02D-3CE00A261545}"/>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23</a:t>
            </a:r>
          </a:p>
        </p:txBody>
      </p:sp>
      <p:graphicFrame>
        <p:nvGraphicFramePr>
          <p:cNvPr id="6" name="">
            <a:extLst xmlns:a="http://schemas.openxmlformats.org/drawingml/2006/main">
              <a:ext uri="{FF2B5EF4-FFF2-40B4-BE49-F238E27FC236}">
                <a16:creationId xmlns:a16="http://schemas.microsoft.com/office/drawing/2014/main" id="{1461DE42-59B4-442C-8389-5A1665BDC17F}"/>
              </a:ext>
            </a:extLst>
          </p:cNvPr>
          <p:cNvGraphicFramePr/>
          <p:nvPr/>
        </p:nvGraphicFramePr>
        <p:xfrm>
          <a:off xmlns:a="http://schemas.openxmlformats.org/drawingml/2006/main" x="533400" y="2143125"/>
          <a:ext xmlns:a="http://schemas.openxmlformats.org/drawingml/2006/main" cx="11125200" cy="3095625"/>
        </p:xfrm>
        <a:graphic xmlns:a="http://schemas.openxmlformats.org/drawingml/2006/main">
          <a:graphicData uri="http://schemas.openxmlformats.org/drawingml/2006/table">
            <a:tbl>
              <a:tblPr firstRow="0" bandRow="0"/>
              <a:tblGrid>
                <a:gridCol w="4381500"/>
                <a:gridCol w="1952625"/>
                <a:gridCol w="2619375"/>
                <a:gridCol w="2171700"/>
              </a:tblGrid>
              <a:tr h="619125">
                <a:tc>
                  <a:txBody>
                    <a:bodyPr lIns="0" tIns="0" rIns="0" bIns="0">
                      <a:noAutofit/>
                    </a:bodyPr>
                    <a:lstStyle/>
                    <a:p>
                      <a:r>
                        <a:rPr sz="1725" b="1">
                          <a:solidFill>
                            <a:srgbClr val="FFFFFF"/>
                          </a:solidFill>
                          <a:latin typeface="Helvetica Neue"/>
                          <a:ea typeface="Helvetica Neue"/>
                          <a:cs typeface="Helvetica Neue"/>
                        </a:rPr>
                        <a:t>Policy</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All successes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Unflagged-hit runs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Flagged-only runs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19125">
                <a:tc>
                  <a:txBody>
                    <a:bodyPr lIns="0" tIns="0" rIns="0" bIns="0">
                      <a:noAutofit/>
                    </a:bodyPr>
                    <a:lstStyle/>
                    <a:p>
                      <a:r>
                        <a:rPr sz="2025" b="0">
                          <a:solidFill>
                            <a:srgbClr val="172B3A"/>
                          </a:solidFill>
                          <a:latin typeface="Helvetica Neue"/>
                          <a:ea typeface="Helvetica Neue"/>
                          <a:cs typeface="Helvetica Neue"/>
                        </a:rPr>
                        <a:t>Shared random</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6</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19125">
                <a:tc>
                  <a:txBody>
                    <a:bodyPr lIns="0" tIns="0" rIns="0" bIns="0">
                      <a:noAutofit/>
                    </a:bodyPr>
                    <a:lstStyle/>
                    <a:p>
                      <a:r>
                        <a:rPr sz="2025" b="0">
                          <a:solidFill>
                            <a:srgbClr val="172B3A"/>
                          </a:solidFill>
                          <a:latin typeface="Helvetica Neue"/>
                          <a:ea typeface="Helvetica Neue"/>
                          <a:cs typeface="Helvetica Neue"/>
                        </a:rPr>
                        <a:t>Haiku, uses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12</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12</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19125">
                <a:tc>
                  <a:txBody>
                    <a:bodyPr lIns="0" tIns="0" rIns="0" bIns="0">
                      <a:noAutofit/>
                    </a:bodyPr>
                    <a:lstStyle/>
                    <a:p>
                      <a:r>
                        <a:rPr sz="2025" b="0">
                          <a:solidFill>
                            <a:srgbClr val="172B3A"/>
                          </a:solidFill>
                          <a:latin typeface="Helvetica Neue"/>
                          <a:ea typeface="Helvetica Neue"/>
                          <a:cs typeface="Helvetica Neue"/>
                        </a:rPr>
                        <a:t>DeepSeek, one list</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19125">
                <a:tc>
                  <a:txBody>
                    <a:bodyPr lIns="0" tIns="0" rIns="0" bIns="0">
                      <a:noAutofit/>
                    </a:bodyPr>
                    <a:lstStyle/>
                    <a:p>
                      <a:r>
                        <a:rPr sz="2025" b="0">
                          <a:solidFill>
                            <a:srgbClr val="172B3A"/>
                          </a:solidFill>
                          <a:latin typeface="Helvetica Neue"/>
                          <a:ea typeface="Helvetica Neue"/>
                          <a:cs typeface="Helvetica Neue"/>
                        </a:rPr>
                        <a:t>DeepSeek, uses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376F265F-314A-4E54-9E8F-14755586F9E9}"/>
              </a:ext>
            </a:extLst>
          </p:cNvPr>
          <p:cNvSpPr>
            <a:spLocks xmlns:a="http://schemas.openxmlformats.org/drawingml/2006/main" noGrp="1"/>
          </p:cNvSpPr>
          <p:nvPr/>
        </p:nvSpPr>
        <p:spPr>
          <a:xfrm xmlns:a="http://schemas.openxmlformats.org/drawingml/2006/main">
            <a:off x="533400" y="548640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DeepSeek’s upfront list found LiAlSiO₄, LiMgPO₄ and LiAl(SiO₃)₂.</a:t>
            </a:r>
          </a:p>
        </p:txBody>
      </p:sp>
      <p:sp>
        <p:nvSpPr>
          <p:cNvPr id="8" name="">
            <a:extLst xmlns:a="http://schemas.openxmlformats.org/drawingml/2006/main">
              <a:ext uri="{FF2B5EF4-FFF2-40B4-BE49-F238E27FC236}">
                <a16:creationId xmlns:a16="http://schemas.microsoft.com/office/drawing/2014/main" id="{48E7F4E5-E105-4FEE-B51B-D89D39EB298A}"/>
              </a:ext>
            </a:extLst>
          </p:cNvPr>
          <p:cNvSpPr>
            <a:spLocks xmlns:a="http://schemas.openxmlformats.org/drawingml/2006/main" noGrp="1"/>
          </p:cNvSpPr>
          <p:nvPr/>
        </p:nvSpPr>
        <p:spPr>
          <a:xfrm xmlns:a="http://schemas.openxmlformats.org/drawingml/2006/main">
            <a:off x="533400" y="6162675"/>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650" b="0">
                <a:solidFill>
                  <a:srgbClr val="526472"/>
                </a:solidFill>
                <a:latin typeface="Helvetica Neue"/>
                <a:ea typeface="Helvetica Neue"/>
                <a:cs typeface="Helvetica Neue"/>
              </a:defRPr>
            </a:lvl1pPr>
            <a:lvl2pPr>
              <a:buNone/>
              <a:defRPr sz="1650" b="0">
                <a:solidFill>
                  <a:srgbClr val="526472"/>
                </a:solidFill>
                <a:latin typeface="Helvetica Neue"/>
                <a:ea typeface="Helvetica Neue"/>
                <a:cs typeface="Helvetica Neue"/>
              </a:defRPr>
            </a:lvl2pPr>
            <a:lvl3pPr>
              <a:buNone/>
              <a:defRPr sz="1650" b="0">
                <a:solidFill>
                  <a:srgbClr val="526472"/>
                </a:solidFill>
                <a:latin typeface="Helvetica Neue"/>
                <a:ea typeface="Helvetica Neue"/>
                <a:cs typeface="Helvetica Neue"/>
              </a:defRPr>
            </a:lvl3pPr>
            <a:lvl4pPr>
              <a:buNone/>
              <a:defRPr sz="1650" b="0">
                <a:solidFill>
                  <a:srgbClr val="526472"/>
                </a:solidFill>
                <a:latin typeface="Helvetica Neue"/>
                <a:ea typeface="Helvetica Neue"/>
                <a:cs typeface="Helvetica Neue"/>
              </a:defRPr>
            </a:lvl4pPr>
            <a:lvl5pPr>
              <a:buNone/>
              <a:defRPr sz="1650" b="0">
                <a:solidFill>
                  <a:srgbClr val="526472"/>
                </a:solidFill>
                <a:latin typeface="Helvetica Neue"/>
                <a:ea typeface="Helvetica Neue"/>
                <a:cs typeface="Helvetica Neue"/>
              </a:defRPr>
            </a:lvl5pPr>
            <a:lvl6pPr>
              <a:buNone/>
              <a:defRPr sz="1650" b="0">
                <a:solidFill>
                  <a:srgbClr val="526472"/>
                </a:solidFill>
                <a:latin typeface="Helvetica Neue"/>
                <a:ea typeface="Helvetica Neue"/>
                <a:cs typeface="Helvetica Neue"/>
              </a:defRPr>
            </a:lvl6pPr>
            <a:lvl7pPr>
              <a:buNone/>
              <a:defRPr sz="1650" b="0">
                <a:solidFill>
                  <a:srgbClr val="526472"/>
                </a:solidFill>
                <a:latin typeface="Helvetica Neue"/>
                <a:ea typeface="Helvetica Neue"/>
                <a:cs typeface="Helvetica Neue"/>
              </a:defRPr>
            </a:lvl7pPr>
            <a:lvl8pPr>
              <a:buNone/>
              <a:defRPr sz="1650" b="0">
                <a:solidFill>
                  <a:srgbClr val="526472"/>
                </a:solidFill>
                <a:latin typeface="Helvetica Neue"/>
                <a:ea typeface="Helvetica Neue"/>
                <a:cs typeface="Helvetica Neue"/>
              </a:defRPr>
            </a:lvl8pPr>
            <a:lvl9pPr>
              <a:buNone/>
              <a:defRPr sz="165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22 acceptable picks across 20 successful runs. The analysis is descriptive and post-hoc.</a:t>
            </a:r>
          </a:p>
        </p:txBody>
      </p:sp>
      <p:pic>
        <p:nvPicPr>
          <p:cNvPr id="10" name="">
            <a:extLst xmlns:a="http://schemas.openxmlformats.org/drawingml/2006/main">
              <a:ext uri="{FF2B5EF4-FFF2-40B4-BE49-F238E27FC236}">
                <a16:creationId xmlns:a16="http://schemas.microsoft.com/office/drawing/2014/main" id="{84F3A237-AC1A-4BF4-9329-A114E206521E}"/>
              </a:ext>
            </a:extLst>
          </p:cNvPr>
          <p:cNvPicPr>
            <a:picLocks xmlns:a="http://schemas.openxmlformats.org/drawingml/2006/main" noChangeAspect="1"/>
          </p:cNvPicPr>
          <p:nvPr/>
        </p:nvPicPr>
        <p:blipFill>
          <a:blip xmlns:r="http://schemas.openxmlformats.org/officeDocument/2006/relationships" xmlns:a="http://schemas.openxmlformats.org/drawingml/2006/main" r:embed="R6b6c2511053a4661"/>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209625701"/>
      </p:ext>
    </p:extLst>
  </p:cSld>
</p:sld>
</file>

<file path=ppt/slides/slide2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FF27EF-BBB7-4A81-BAC4-8D8CE522A58E}"/>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FINAL PHYSICAL VALUES</a:t>
            </a:r>
          </a:p>
        </p:txBody>
      </p:sp>
      <p:sp>
        <p:nvSpPr>
          <p:cNvPr id="2" name="">
            <a:extLst xmlns:a="http://schemas.openxmlformats.org/drawingml/2006/main">
              <a:ext uri="{FF2B5EF4-FFF2-40B4-BE49-F238E27FC236}">
                <a16:creationId xmlns:a16="http://schemas.microsoft.com/office/drawing/2014/main" id="{1F5234AB-8496-48D4-BF37-F6F2F1B07B52}"/>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Relaxed adhesion and rigid separation are different</a:t>
            </a:r>
          </a:p>
        </p:txBody>
      </p:sp>
      <p:sp>
        <p:nvSpPr>
          <p:cNvPr id="3" name="">
            <a:extLst xmlns:a="http://schemas.openxmlformats.org/drawingml/2006/main">
              <a:ext uri="{FF2B5EF4-FFF2-40B4-BE49-F238E27FC236}">
                <a16:creationId xmlns:a16="http://schemas.microsoft.com/office/drawing/2014/main" id="{F290F9C2-72C3-4CE1-A83C-F0874D3B5E8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7793E53F-6E77-4651-B87B-3E1200CE0CD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24</a:t>
            </a:r>
          </a:p>
        </p:txBody>
      </p:sp>
      <p:graphicFrame>
        <p:nvGraphicFramePr>
          <p:cNvPr id="5" name="">
            <a:extLst xmlns:a="http://schemas.openxmlformats.org/drawingml/2006/main">
              <a:ext uri="{FF2B5EF4-FFF2-40B4-BE49-F238E27FC236}">
                <a16:creationId xmlns:a16="http://schemas.microsoft.com/office/drawing/2014/main" id="{9068A760-9EF4-4478-B9F4-57BC36605981}"/>
              </a:ext>
            </a:extLst>
          </p:cNvPr>
          <p:cNvGraphicFramePr/>
          <p:nvPr/>
        </p:nvGraphicFramePr>
        <p:xfrm>
          <a:off xmlns:a="http://schemas.openxmlformats.org/drawingml/2006/main" x="533400" y="2019300"/>
          <a:ext xmlns:a="http://schemas.openxmlformats.org/drawingml/2006/main" cx="11125200" cy="2857500"/>
        </p:xfrm>
        <a:graphic xmlns:a="http://schemas.openxmlformats.org/drawingml/2006/main">
          <a:graphicData uri="http://schemas.openxmlformats.org/drawingml/2006/table">
            <a:tbl>
              <a:tblPr firstRow="0" bandRow="0"/>
              <a:tblGrid>
                <a:gridCol w="2476500"/>
                <a:gridCol w="3381375"/>
                <a:gridCol w="3381375"/>
                <a:gridCol w="1885950"/>
              </a:tblGrid>
              <a:tr h="714375">
                <a:tc>
                  <a:txBody>
                    <a:bodyPr lIns="0" tIns="0" rIns="0" bIns="0">
                      <a:noAutofit/>
                    </a:bodyPr>
                    <a:lstStyle/>
                    <a:p>
                      <a:r>
                        <a:rPr sz="1725" b="1">
                          <a:solidFill>
                            <a:srgbClr val="FFFFFF"/>
                          </a:solidFill>
                          <a:latin typeface="Helvetica Neue"/>
                          <a:ea typeface="Helvetica Neue"/>
                          <a:cs typeface="Helvetica Neue"/>
                        </a:rPr>
                        <a:t>Coating</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Cathode</a:t>
                      </a:r>
                    </a:p>
                    <a:p>
                      <a:r>
                        <a:rPr sz="1725" b="1">
                          <a:solidFill>
                            <a:srgbClr val="FFFFFF"/>
                          </a:solidFill>
                          <a:latin typeface="Helvetica Neue"/>
                          <a:ea typeface="Helvetica Neue"/>
                          <a:cs typeface="Helvetica Neue"/>
                        </a:rPr>
                        <a:t>Wadh / Wsep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Electrolyte</a:t>
                      </a:r>
                    </a:p>
                    <a:p>
                      <a:r>
                        <a:rPr sz="1725" b="1">
                          <a:solidFill>
                            <a:srgbClr val="FFFFFF"/>
                          </a:solidFill>
                          <a:latin typeface="Helvetica Neue"/>
                          <a:ea typeface="Helvetica Neue"/>
                          <a:cs typeface="Helvetica Neue"/>
                        </a:rPr>
                        <a:t>Wadh / Wsep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Atoms</a:t>
                      </a:r>
                    </a:p>
                    <a:p>
                      <a:r>
                        <a:rPr sz="1725" b="1">
                          <a:solidFill>
                            <a:srgbClr val="FFFFFF"/>
                          </a:solidFill>
                          <a:latin typeface="Helvetica Neue"/>
                          <a:ea typeface="Helvetica Neue"/>
                          <a:cs typeface="Helvetica Neue"/>
                        </a:rPr>
                        <a:t>C / 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4375">
                <a:tc>
                  <a:txBody>
                    <a:bodyPr lIns="0" tIns="0" rIns="0" bIns="0">
                      <a:noAutofit/>
                    </a:bodyPr>
                    <a:lstStyle/>
                    <a:p>
                      <a:r>
                        <a:rPr sz="2100" b="0">
                          <a:solidFill>
                            <a:srgbClr val="172B3A"/>
                          </a:solidFill>
                          <a:latin typeface="Helvetica Neue"/>
                          <a:ea typeface="Helvetica Neue"/>
                          <a:cs typeface="Helvetica Neue"/>
                        </a:rPr>
                        <a:t>LiNbF₆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3.617 / 5.168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1.633 / 2.967</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696 / 880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2100" b="0">
                          <a:solidFill>
                            <a:srgbClr val="172B3A"/>
                          </a:solidFill>
                          <a:latin typeface="Helvetica Neue"/>
                          <a:ea typeface="Helvetica Neue"/>
                          <a:cs typeface="Helvetica Neue"/>
                        </a:rPr>
                        <a:t>LiTaF₆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3.339 / 4.728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1.577 / 2.911</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696 / 880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2100" b="0">
                          <a:solidFill>
                            <a:srgbClr val="172B3A"/>
                          </a:solidFill>
                          <a:latin typeface="Helvetica Neue"/>
                          <a:ea typeface="Helvetica Neue"/>
                          <a:cs typeface="Helvetica Neue"/>
                        </a:rPr>
                        <a:t>LiCaAlF₆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1.427 / 4.322</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0.744 / 1.490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720 / 1212</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8B08354C-268E-41D3-9CD8-A0DCA34D2B33}"/>
              </a:ext>
            </a:extLst>
          </p:cNvPr>
          <p:cNvSpPr>
            <a:spLocks xmlns:a="http://schemas.openxmlformats.org/drawingml/2006/main" noGrp="1"/>
          </p:cNvSpPr>
          <p:nvPr/>
        </p:nvSpPr>
        <p:spPr>
          <a:xfrm xmlns:a="http://schemas.openxmlformats.org/drawingml/2006/main">
            <a:off x="533400" y="5210175"/>
            <a:ext cx="11125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7F7B"/>
                </a:solidFill>
                <a:latin typeface="Helvetica Neue"/>
                <a:ea typeface="Helvetica Neue"/>
                <a:cs typeface="Helvetica Neue"/>
              </a:defRPr>
            </a:defPPr>
            <a:lvl1pPr>
              <a:buNone/>
              <a:defRPr sz="2100" b="0">
                <a:solidFill>
                  <a:srgbClr val="007F7B"/>
                </a:solidFill>
                <a:latin typeface="Helvetica Neue"/>
                <a:ea typeface="Helvetica Neue"/>
                <a:cs typeface="Helvetica Neue"/>
              </a:defRPr>
            </a:lvl1pPr>
            <a:lvl2pPr>
              <a:buNone/>
              <a:defRPr sz="2100" b="0">
                <a:solidFill>
                  <a:srgbClr val="007F7B"/>
                </a:solidFill>
                <a:latin typeface="Helvetica Neue"/>
                <a:ea typeface="Helvetica Neue"/>
                <a:cs typeface="Helvetica Neue"/>
              </a:defRPr>
            </a:lvl2pPr>
            <a:lvl3pPr>
              <a:buNone/>
              <a:defRPr sz="2100" b="0">
                <a:solidFill>
                  <a:srgbClr val="007F7B"/>
                </a:solidFill>
                <a:latin typeface="Helvetica Neue"/>
                <a:ea typeface="Helvetica Neue"/>
                <a:cs typeface="Helvetica Neue"/>
              </a:defRPr>
            </a:lvl3pPr>
            <a:lvl4pPr>
              <a:buNone/>
              <a:defRPr sz="2100" b="0">
                <a:solidFill>
                  <a:srgbClr val="007F7B"/>
                </a:solidFill>
                <a:latin typeface="Helvetica Neue"/>
                <a:ea typeface="Helvetica Neue"/>
                <a:cs typeface="Helvetica Neue"/>
              </a:defRPr>
            </a:lvl4pPr>
            <a:lvl5pPr>
              <a:buNone/>
              <a:defRPr sz="2100" b="0">
                <a:solidFill>
                  <a:srgbClr val="007F7B"/>
                </a:solidFill>
                <a:latin typeface="Helvetica Neue"/>
                <a:ea typeface="Helvetica Neue"/>
                <a:cs typeface="Helvetica Neue"/>
              </a:defRPr>
            </a:lvl5pPr>
            <a:lvl6pPr>
              <a:buNone/>
              <a:defRPr sz="2100" b="0">
                <a:solidFill>
                  <a:srgbClr val="007F7B"/>
                </a:solidFill>
                <a:latin typeface="Helvetica Neue"/>
                <a:ea typeface="Helvetica Neue"/>
                <a:cs typeface="Helvetica Neue"/>
              </a:defRPr>
            </a:lvl6pPr>
            <a:lvl7pPr>
              <a:buNone/>
              <a:defRPr sz="2100" b="0">
                <a:solidFill>
                  <a:srgbClr val="007F7B"/>
                </a:solidFill>
                <a:latin typeface="Helvetica Neue"/>
                <a:ea typeface="Helvetica Neue"/>
                <a:cs typeface="Helvetica Neue"/>
              </a:defRPr>
            </a:lvl7pPr>
            <a:lvl8pPr>
              <a:buNone/>
              <a:defRPr sz="2100" b="0">
                <a:solidFill>
                  <a:srgbClr val="007F7B"/>
                </a:solidFill>
                <a:latin typeface="Helvetica Neue"/>
                <a:ea typeface="Helvetica Neue"/>
                <a:cs typeface="Helvetica Neue"/>
              </a:defRPr>
            </a:lvl8pPr>
            <a:lvl9pPr>
              <a:buNone/>
              <a:defRPr sz="2100" b="0">
                <a:solidFill>
                  <a:srgbClr val="007F7B"/>
                </a:solidFill>
                <a:latin typeface="Helvetica Neue"/>
                <a:ea typeface="Helvetica Neue"/>
                <a:cs typeface="Helvetica Neue"/>
              </a:defRPr>
            </a:lvl9pPr>
          </a:lstStyle>
          <a:p xmlns:a="http://schemas.openxmlformats.org/drawingml/2006/main">
            <a:pPr>
              <a:buNone/>
              <a:defRPr sz="2100" b="0">
                <a:solidFill>
                  <a:srgbClr val="007F7B"/>
                </a:solidFill>
                <a:latin typeface="Helvetica Neue"/>
                <a:ea typeface="Helvetica Neue"/>
                <a:cs typeface="Helvetica Neue"/>
              </a:defRPr>
            </a:pPr>
            <a:r>
              <a:rPr sz="2100" b="0">
                <a:solidFill>
                  <a:srgbClr val="007F7B"/>
                </a:solidFill>
                <a:latin typeface="Helvetica Neue"/>
                <a:ea typeface="Helvetica Neue"/>
                <a:cs typeface="Helvetica Neue"/>
              </a:rPr>
              <a:t>Wadh: separated slabs are allowed to relax.</a:t>
            </a:r>
          </a:p>
          <a:p xmlns:a="http://schemas.openxmlformats.org/drawingml/2006/main">
            <a:pPr>
              <a:buNone/>
              <a:defRPr sz="2100" b="0">
                <a:solidFill>
                  <a:srgbClr val="007F7B"/>
                </a:solidFill>
                <a:latin typeface="Helvetica Neue"/>
                <a:ea typeface="Helvetica Neue"/>
                <a:cs typeface="Helvetica Neue"/>
              </a:defRPr>
            </a:pPr>
            <a:r>
              <a:rPr sz="2100" b="0">
                <a:solidFill>
                  <a:srgbClr val="007F7B"/>
                </a:solidFill>
                <a:latin typeface="Helvetica Neue"/>
                <a:ea typeface="Helvetica Neue"/>
                <a:cs typeface="Helvetica Neue"/>
              </a:rPr>
              <a:t>Wsep: fragments retain their joined-interface geometry.</a:t>
            </a:r>
          </a:p>
        </p:txBody>
      </p:sp>
      <p:sp>
        <p:nvSpPr>
          <p:cNvPr id="7" name="">
            <a:extLst xmlns:a="http://schemas.openxmlformats.org/drawingml/2006/main">
              <a:ext uri="{FF2B5EF4-FFF2-40B4-BE49-F238E27FC236}">
                <a16:creationId xmlns:a16="http://schemas.microsoft.com/office/drawing/2014/main" id="{15A1ED18-99CD-4471-AE27-5B9F9E2DDC2F}"/>
              </a:ext>
            </a:extLst>
          </p:cNvPr>
          <p:cNvSpPr>
            <a:spLocks xmlns:a="http://schemas.openxmlformats.org/drawingml/2006/main" noGrp="1"/>
          </p:cNvSpPr>
          <p:nvPr/>
        </p:nvSpPr>
        <p:spPr>
          <a:xfrm xmlns:a="http://schemas.openxmlformats.org/drawingml/2006/main">
            <a:off x="533400" y="6105525"/>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650" b="0">
                <a:solidFill>
                  <a:srgbClr val="526472"/>
                </a:solidFill>
                <a:latin typeface="Helvetica Neue"/>
                <a:ea typeface="Helvetica Neue"/>
                <a:cs typeface="Helvetica Neue"/>
              </a:defRPr>
            </a:lvl1pPr>
            <a:lvl2pPr>
              <a:buNone/>
              <a:defRPr sz="1650" b="0">
                <a:solidFill>
                  <a:srgbClr val="526472"/>
                </a:solidFill>
                <a:latin typeface="Helvetica Neue"/>
                <a:ea typeface="Helvetica Neue"/>
                <a:cs typeface="Helvetica Neue"/>
              </a:defRPr>
            </a:lvl2pPr>
            <a:lvl3pPr>
              <a:buNone/>
              <a:defRPr sz="1650" b="0">
                <a:solidFill>
                  <a:srgbClr val="526472"/>
                </a:solidFill>
                <a:latin typeface="Helvetica Neue"/>
                <a:ea typeface="Helvetica Neue"/>
                <a:cs typeface="Helvetica Neue"/>
              </a:defRPr>
            </a:lvl3pPr>
            <a:lvl4pPr>
              <a:buNone/>
              <a:defRPr sz="1650" b="0">
                <a:solidFill>
                  <a:srgbClr val="526472"/>
                </a:solidFill>
                <a:latin typeface="Helvetica Neue"/>
                <a:ea typeface="Helvetica Neue"/>
                <a:cs typeface="Helvetica Neue"/>
              </a:defRPr>
            </a:lvl4pPr>
            <a:lvl5pPr>
              <a:buNone/>
              <a:defRPr sz="1650" b="0">
                <a:solidFill>
                  <a:srgbClr val="526472"/>
                </a:solidFill>
                <a:latin typeface="Helvetica Neue"/>
                <a:ea typeface="Helvetica Neue"/>
                <a:cs typeface="Helvetica Neue"/>
              </a:defRPr>
            </a:lvl5pPr>
            <a:lvl6pPr>
              <a:buNone/>
              <a:defRPr sz="1650" b="0">
                <a:solidFill>
                  <a:srgbClr val="526472"/>
                </a:solidFill>
                <a:latin typeface="Helvetica Neue"/>
                <a:ea typeface="Helvetica Neue"/>
                <a:cs typeface="Helvetica Neue"/>
              </a:defRPr>
            </a:lvl6pPr>
            <a:lvl7pPr>
              <a:buNone/>
              <a:defRPr sz="1650" b="0">
                <a:solidFill>
                  <a:srgbClr val="526472"/>
                </a:solidFill>
                <a:latin typeface="Helvetica Neue"/>
                <a:ea typeface="Helvetica Neue"/>
                <a:cs typeface="Helvetica Neue"/>
              </a:defRPr>
            </a:lvl7pPr>
            <a:lvl8pPr>
              <a:buNone/>
              <a:defRPr sz="1650" b="0">
                <a:solidFill>
                  <a:srgbClr val="526472"/>
                </a:solidFill>
                <a:latin typeface="Helvetica Neue"/>
                <a:ea typeface="Helvetica Neue"/>
                <a:cs typeface="Helvetica Neue"/>
              </a:defRPr>
            </a:lvl8pPr>
            <a:lvl9pPr>
              <a:buNone/>
              <a:defRPr sz="165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J/m². Primary snapshots unchanged. Later robustness checks are a separate record.</a:t>
            </a:r>
          </a:p>
        </p:txBody>
      </p:sp>
      <p:pic>
        <p:nvPicPr>
          <p:cNvPr id="9" name="">
            <a:extLst xmlns:a="http://schemas.openxmlformats.org/drawingml/2006/main">
              <a:ext uri="{FF2B5EF4-FFF2-40B4-BE49-F238E27FC236}">
                <a16:creationId xmlns:a16="http://schemas.microsoft.com/office/drawing/2014/main" id="{545286BE-15DC-4F06-83E1-36B480CC8DB4}"/>
              </a:ext>
            </a:extLst>
          </p:cNvPr>
          <p:cNvPicPr>
            <a:picLocks xmlns:a="http://schemas.openxmlformats.org/drawingml/2006/main" noChangeAspect="1"/>
          </p:cNvPicPr>
          <p:nvPr/>
        </p:nvPicPr>
        <p:blipFill>
          <a:blip xmlns:r="http://schemas.openxmlformats.org/officeDocument/2006/relationships" xmlns:a="http://schemas.openxmlformats.org/drawingml/2006/main" r:embed="Ra21b114ffdf1441b"/>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2372498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2026-10-22T20:04:45.4960000Z</dcterms:created>
  <dcterms:modified xsi:type="dcterms:W3CDTF">2026-10-22T20:04:45.4960000Z</dcterms:modified>
</coreProperties>
</file>