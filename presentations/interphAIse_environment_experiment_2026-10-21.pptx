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vironment study" id="{8a2f6612-7897-ca9e-4922-417c35215bb0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P(acceptable coating found by query k), 30 runs per arm, budget 10, seeds 200-229 paired across arms, frozen tables. Error bars 95% Wilson; black dashed = exact random; grey dotted = fluoride-first rule, chosen after v3 (post-hoc). Source: data/experiments/environment_v1/*/summary.json; figure: scripts/plot_environment_curves.py. Keep the LLZO random advantage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endpoint: acceptable found within 10 queries. Six planned contrasts (3 environments x iterative vs sequential / shuffled), Holm family size 6, enforced by analyse_environment_study.py --production. Source: data/experiments/environment_v1/environment_summary.json; independently recomputed in SYNC_ADEM_9.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Selection rule, stated before inspecting rationales: lowest seed whose first acceptable hit is at the arm's typical query (sulfide median 8; LLZO modal 8-10). Runs: environment_v1/lpscl/iterative_r202.json and llzo/iterative_r207.json. Cited penalties match the recorded results; mechanisms in the rationales are Haiku's hypotheses, not validated chemistry. Figure: scripts/plot_trace_pair.py.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wording (Davide, SYNC_ADEM_10): In LLZO, iterative selection improves over the sequential policy, but random exploration succeeds more often within ten queries. Feedback redirects selections late toward aluminosilicates. Benchmark acceptance remains a thermodynamic proxy and includes compounds requiring separate practical review. Iterative vs shuffled in LLZO is not significant after Holm. Counts from SYNC_ADEM_10 / data/reviews.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(SYNC_ADEM_9): the value of LLM feedback depends on the environment. It improves selection on sulfide; random exploration wins on LLZO. Chloride is a declared ceiling. Fluoride shares are pooled per arm (queries 1-5 vs 6-10), descriptive; per-run records in environment_summary.json.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Frozen environment study, 450 runs, Haiku 5.5, execution commit 710d346. Archive: data/experiments/environment_v1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Feedback beats no feedback; random wins on LLZO</a:t>
            </a:r>
            <a:endParaRPr lang="en-US" sz="3400" dirty="0"/>
          </a:p>
        </p:txBody>
      </p:sp>
      <p:pic>
        <p:nvPicPr>
          <p:cNvPr id="3" name="success vs budget" descr="/home/energy/arnaou/projects/interphAIse/figures/environment_success_vs_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1274552" cy="3520440"/>
          </a:xfrm>
          <a:prstGeom prst="rect">
            <a:avLst/>
          </a:prstGeom>
        </p:spPr>
      </p:pic>
      <p:sp>
        <p:nvSpPr>
          <p:cNvPr id="4" name="sulfide card"/>
          <p:cNvSpPr/>
          <p:nvPr/>
        </p:nvSpPr>
        <p:spPr>
          <a:xfrm>
            <a:off x="457200" y="4800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2F5F8"/>
          </a:solidFill>
          <a:ln w="9525">
            <a:solidFill>
              <a:srgbClr val="D6DDE4"/>
            </a:solidFill>
            <a:prstDash val="solid"/>
          </a:ln>
        </p:spPr>
      </p:sp>
      <p:sp>
        <p:nvSpPr>
          <p:cNvPr id="5" name="sulfide card text"/>
          <p:cNvSpPr txBox="1"/>
          <p:nvPr/>
        </p:nvSpPr>
        <p:spPr>
          <a:xfrm>
            <a:off x="594360" y="489204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Li₆PS₅Cl (sulfide)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Iterative 20/30 vs sequential 2, shuffled 6, upfront 0, random 8 (exact 26%).</a:t>
            </a:r>
            <a:endParaRPr lang="en-US" sz="1600" dirty="0"/>
          </a:p>
        </p:txBody>
      </p:sp>
      <p:sp>
        <p:nvSpPr>
          <p:cNvPr id="6" name="chloride card"/>
          <p:cNvSpPr/>
          <p:nvPr/>
        </p:nvSpPr>
        <p:spPr>
          <a:xfrm>
            <a:off x="4315968" y="4800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2F5F8"/>
          </a:solidFill>
          <a:ln w="9525">
            <a:solidFill>
              <a:srgbClr val="D6DDE4"/>
            </a:solidFill>
            <a:prstDash val="solid"/>
          </a:ln>
        </p:spPr>
      </p:sp>
      <p:sp>
        <p:nvSpPr>
          <p:cNvPr id="7" name="chloride card text"/>
          <p:cNvSpPr txBox="1"/>
          <p:nvPr/>
        </p:nvSpPr>
        <p:spPr>
          <a:xfrm>
            <a:off x="4453128" y="489204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Li₃InCl₆ (chloride)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Ceiling, declared in advance: every LLM arm 30/30, random 29/30 (exact 99%).</a:t>
            </a:r>
            <a:endParaRPr lang="en-US" sz="1600" dirty="0"/>
          </a:p>
        </p:txBody>
      </p:sp>
      <p:sp>
        <p:nvSpPr>
          <p:cNvPr id="8" name="llzo card"/>
          <p:cNvSpPr/>
          <p:nvPr/>
        </p:nvSpPr>
        <p:spPr>
          <a:xfrm>
            <a:off x="8174736" y="4800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2F5F8"/>
          </a:solidFill>
          <a:ln w="9525">
            <a:solidFill>
              <a:srgbClr val="D6DDE4"/>
            </a:solidFill>
            <a:prstDash val="solid"/>
          </a:ln>
        </p:spPr>
      </p:sp>
      <p:sp>
        <p:nvSpPr>
          <p:cNvPr id="9" name="llzo card text"/>
          <p:cNvSpPr txBox="1"/>
          <p:nvPr/>
        </p:nvSpPr>
        <p:spPr>
          <a:xfrm>
            <a:off x="8311896" y="489204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LLZO (oxide)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Random 24/30 (exact 74%) beats every LLM arm; iterative 12/30, sequential 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Planned comparisons: 3 of 6 survive Holm</a:t>
            </a:r>
            <a:endParaRPr lang="en-US" sz="3400" dirty="0"/>
          </a:p>
        </p:txBody>
      </p:sp>
      <p:graphicFrame>
        <p:nvGraphicFramePr>
          <p:cNvPr id="3" name="contra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8521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371600"/>
                <a:gridCol w="91440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Environment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Iterative vs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Discordant pairs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Raw p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Holm p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Sulfide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sequential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18 / 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7.6e-6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4.6e-5 ✓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Sulfide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shuffled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15 / 1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5.2e-4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0.0024 ✓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Chloride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sequential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 / 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Chloride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shuffled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 / 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LLZO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sequential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12 / 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4.9e-4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0.0024 ✓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LLZO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shuffled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11 / 3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0.057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0.17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method note"/>
          <p:cNvSpPr txBox="1"/>
          <p:nvPr/>
        </p:nvSpPr>
        <p:spPr>
          <a:xfrm>
            <a:off x="457200" y="41605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Exact two-sided McNemar, paired by seed; Holm across the six planned tests (α = 0.05). Discordant = iterative only / control only. Random vs LLM is descriptive, not a planned test. Not significant ≠ equivalent.</a:t>
            </a:r>
            <a:endParaRPr lang="en-US" sz="1200" dirty="0"/>
          </a:p>
        </p:txBody>
      </p:sp>
      <p:pic>
        <p:nvPicPr>
          <p:cNvPr id="5" name="endpoint overview" descr="/home/energy/arnaou/projects/interphAIse/figures/environment_acceptance_review_20261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234440"/>
            <a:ext cx="5148072" cy="2020824"/>
          </a:xfrm>
          <a:prstGeom prst="rect">
            <a:avLst/>
          </a:prstGeom>
        </p:spPr>
      </p:pic>
      <p:sp>
        <p:nvSpPr>
          <p:cNvPr id="6" name="figure caption"/>
          <p:cNvSpPr txBox="1"/>
          <p:nvPr/>
        </p:nvSpPr>
        <p:spPr>
          <a:xfrm>
            <a:off x="6583680" y="3383280"/>
            <a:ext cx="5148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Endpoint at query 10 with 95% Wilson intervals and exact random (Davide's review figure).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changed the next selection</a:t>
            </a:r>
            <a:endParaRPr lang="en-US" sz="3400" dirty="0"/>
          </a:p>
        </p:txBody>
      </p:sp>
      <p:pic>
        <p:nvPicPr>
          <p:cNvPr id="3" name="trace pair" descr="/home/energy/arnaou/projects/interphAIse/figures/trace_environment_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51560"/>
            <a:ext cx="10360152" cy="3986784"/>
          </a:xfrm>
          <a:prstGeom prst="rect">
            <a:avLst/>
          </a:prstGeom>
        </p:spPr>
      </p:pic>
      <p:sp>
        <p:nvSpPr>
          <p:cNvPr id="4" name="sulfide trace"/>
          <p:cNvSpPr/>
          <p:nvPr/>
        </p:nvSpPr>
        <p:spPr>
          <a:xfrm>
            <a:off x="457200" y="51206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2F5F8"/>
          </a:solidFill>
          <a:ln w="9525">
            <a:solidFill>
              <a:srgbClr val="D6DDE4"/>
            </a:solidFill>
            <a:prstDash val="solid"/>
          </a:ln>
        </p:spPr>
      </p:sp>
      <p:sp>
        <p:nvSpPr>
          <p:cNvPr id="5" name="sulfide trace text"/>
          <p:cNvSpPr txBox="1"/>
          <p:nvPr/>
        </p:nvSpPr>
        <p:spPr>
          <a:xfrm>
            <a:off x="594360" y="521208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Sulfide, seed 202: useful revision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Oxides and LiF fail (≈0.3). It keeps fluoride, adds Al³⁺: Li₃AlF₆ 0.16 → LiMgAlF₆ 0.057 → LiCaAlF₆ 0.048, acceptable at query 8.</a:t>
            </a:r>
            <a:endParaRPr lang="en-US" sz="1600" dirty="0"/>
          </a:p>
        </p:txBody>
      </p:sp>
      <p:sp>
        <p:nvSpPr>
          <p:cNvPr id="6" name="llzo trace"/>
          <p:cNvSpPr/>
          <p:nvPr/>
        </p:nvSpPr>
        <p:spPr>
          <a:xfrm>
            <a:off x="6291072" y="51206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2F5F8"/>
          </a:solidFill>
          <a:ln w="9525">
            <a:solidFill>
              <a:srgbClr val="D6DDE4"/>
            </a:solidFill>
            <a:prstDash val="solid"/>
          </a:ln>
        </p:spPr>
      </p:sp>
      <p:sp>
        <p:nvSpPr>
          <p:cNvPr id="7" name="llzo trace text"/>
          <p:cNvSpPr txBox="1"/>
          <p:nvPr/>
        </p:nvSpPr>
        <p:spPr>
          <a:xfrm>
            <a:off x="6428232" y="521208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LLZO, seed 207: late adaptation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 products (LaPO₄, LaF₃, LaBO₃) noted; Li₄SiO₄ reacts little but decomposes (0.35) → LiAlSiO₄ 0.033 at query 9, then a polymorph.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LLZO: random exploration wins in 10 queries</a:t>
            </a:r>
            <a:endParaRPr lang="en-US" sz="3400" dirty="0"/>
          </a:p>
        </p:txBody>
      </p:sp>
      <p:sp>
        <p:nvSpPr>
          <p:cNvPr id="3" name="random stat"/>
          <p:cNvSpPr txBox="1"/>
          <p:nvPr/>
        </p:nvSpPr>
        <p:spPr>
          <a:xfrm>
            <a:off x="457200" y="11887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B6834"/>
                </a:solidFill>
              </a:rPr>
              <a:t>24/30</a:t>
            </a:r>
            <a:endParaRPr lang="en-US" sz="5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random runs succeed</a:t>
            </a:r>
            <a:endParaRPr lang="en-US" sz="5400" dirty="0"/>
          </a:p>
        </p:txBody>
      </p:sp>
      <p:sp>
        <p:nvSpPr>
          <p:cNvPr id="4" name="iterative stat"/>
          <p:cNvSpPr txBox="1"/>
          <p:nvPr/>
        </p:nvSpPr>
        <p:spPr>
          <a:xfrm>
            <a:off x="3291840" y="11887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78D6"/>
                </a:solidFill>
              </a:rPr>
              <a:t>12/30</a:t>
            </a:r>
            <a:endParaRPr lang="en-US" sz="5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iterative runs succeed</a:t>
            </a:r>
            <a:endParaRPr lang="en-US" sz="5400" dirty="0"/>
          </a:p>
        </p:txBody>
      </p:sp>
      <p:graphicFrame>
        <p:nvGraphicFramePr>
          <p:cNvPr id="5" name="llzo pick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5486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Arm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Distinct formulas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Acceptable picks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Successful runs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Random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95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33/300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Iterative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29/300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Shuffled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44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4/300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Upfront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1/300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Sequential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0/300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oncentration note"/>
          <p:cNvSpPr txBox="1"/>
          <p:nvPr/>
        </p:nvSpPr>
        <p:spPr>
          <a:xfrm>
            <a:off x="457200" y="5074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LLM arms concentrate on textbook coatings (Li₃PO₄, LiNbO₃, LiAlO₂, Li₂ZrO₃, Li₃BO₃, LiF), none acceptable here. Iterative adapts late and narrowly: 10 of 12 successes first hit at queries 8–10; 26 of 29 acceptable picks are LiAlSiO₄ polymorphs.</a:t>
            </a:r>
            <a:endParaRPr lang="en-US" sz="1400" dirty="0"/>
          </a:p>
        </p:txBody>
      </p:sp>
      <p:sp>
        <p:nvSpPr>
          <p:cNvPr id="7" name="caveat"/>
          <p:cNvSpPr/>
          <p:nvPr/>
        </p:nvSpPr>
        <p:spPr>
          <a:xfrm>
            <a:off x="6309360" y="1188720"/>
            <a:ext cx="5422392" cy="5029200"/>
          </a:xfrm>
          <a:prstGeom prst="roundRect">
            <a:avLst>
              <a:gd name="adj" fmla="val 1455"/>
            </a:avLst>
          </a:prstGeom>
          <a:solidFill>
            <a:srgbClr val="F2F5F8"/>
          </a:solidFill>
          <a:ln w="9525">
            <a:solidFill>
              <a:srgbClr val="D6DDE4"/>
            </a:solidFill>
            <a:prstDash val="solid"/>
          </a:ln>
        </p:spPr>
      </p:sp>
      <p:sp>
        <p:nvSpPr>
          <p:cNvPr id="8" name="caveat text"/>
          <p:cNvSpPr txBox="1"/>
          <p:nvPr/>
        </p:nvSpPr>
        <p:spPr>
          <a:xfrm>
            <a:off x="6446520" y="1280160"/>
            <a:ext cx="514807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Benchmark acceptance is a thermodynamic proxy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5 of 17 acceptable LLZO structures are flagged for practical review: three LiIO₃, one LiClO₄, one Li₅IO₆ (orthoperiodate).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Post-hoc and descriptive: 18 of random's 24 successful runs also found an unflagged acceptable candidate, so the flagged compounds do not explain the whole gap.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criterion does not establish thermal stability, processing suitability, safety or Li transport. No evidence that Haiku avoided these compounds deliberately.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the study supports, and what it does not</a:t>
            </a:r>
            <a:endParaRPr lang="en-US" sz="3400" dirty="0"/>
          </a:p>
        </p:txBody>
      </p:sp>
      <p:sp>
        <p:nvSpPr>
          <p:cNvPr id="3" name="supported"/>
          <p:cNvSpPr/>
          <p:nvPr/>
        </p:nvSpPr>
        <p:spPr>
          <a:xfrm>
            <a:off x="457200" y="118872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F2F5F8"/>
          </a:solidFill>
          <a:ln w="9525">
            <a:solidFill>
              <a:srgbClr val="D6DDE4"/>
            </a:solidFill>
            <a:prstDash val="solid"/>
          </a:ln>
        </p:spPr>
      </p:sp>
      <p:sp>
        <p:nvSpPr>
          <p:cNvPr id="4" name="supported text"/>
          <p:cNvSpPr txBox="1"/>
          <p:nvPr/>
        </p:nvSpPr>
        <p:spPr>
          <a:xfrm>
            <a:off x="594360" y="1280160"/>
            <a:ext cx="5166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Supported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Correctly attributed feedback improves selection on the sulfide pool, against both the no-feedback and the scrambled-feedback controls (Holm-significant).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Feedback beats the no-feedback policy in LLZO.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Fluoride share of iterative picks rises in the sulfide (0.28 → 0.65) and falls in LLZO (0.18 → 0.09): consistent with environment-dependent adaptation, not proof of its chemical mechanism.</a:t>
            </a:r>
            <a:endParaRPr lang="en-US" sz="1600" dirty="0"/>
          </a:p>
        </p:txBody>
      </p:sp>
      <p:sp>
        <p:nvSpPr>
          <p:cNvPr id="5" name="not supported"/>
          <p:cNvSpPr/>
          <p:nvPr/>
        </p:nvSpPr>
        <p:spPr>
          <a:xfrm>
            <a:off x="6291072" y="118872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F2F5F8"/>
          </a:solidFill>
          <a:ln w="9525">
            <a:solidFill>
              <a:srgbClr val="D6DDE4"/>
            </a:solidFill>
            <a:prstDash val="solid"/>
          </a:ln>
        </p:spPr>
      </p:sp>
      <p:sp>
        <p:nvSpPr>
          <p:cNvPr id="6" name="not supported text"/>
          <p:cNvSpPr txBox="1"/>
          <p:nvPr/>
        </p:nvSpPr>
        <p:spPr>
          <a:xfrm>
            <a:off x="6428232" y="1280160"/>
            <a:ext cx="5166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Not supported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Universal superiority to random search (LLZO: random 24/30 vs iterative 12/30).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Finding the optimum: best bin sulfide 6/30 vs random 5/30; LLZO 0 for every LLM arm vs random 2/30.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Human-like mechanistic reasoning, validated coatings, or Li transport. Evaluation counts are benchmark queries, not measured compute savings.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phAIse environment">
  <a:themeElements>
    <a:clrScheme name="interphAIse environmen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interphAIse environme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interphAIse environment study results</dc:title>
  <dc:subject>PptxGenJS Presentation</dc:subject>
  <dc:creator>PptxGenJS</dc:creator>
  <cp:lastModifiedBy>PptxGenJS</cp:lastModifiedBy>
  <cp:revision>1</cp:revision>
  <dcterms:created xsi:type="dcterms:W3CDTF">2026-10-21T20:26:29Z</dcterms:created>
  <dcterms:modified xsi:type="dcterms:W3CDTF">2026-10-21T20:26:29Z</dcterms:modified>
</cp:coreProperties>
</file>