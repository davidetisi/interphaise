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e945364c0754033" /><Relationship Type="http://schemas.openxmlformats.org/officeDocument/2006/relationships/extended-properties" Target="/docProps/app.xml" Id="Rd458133dd4484619" /><Relationship Type="http://schemas.openxmlformats.org/officeDocument/2006/relationships/officeDocument" Target="/ppt/presentation.xml" Id="R6b83ccfcecbe41e2" /></Relationships>
</file>

<file path=ppt/presentation.xml><?xml version="1.0" encoding="utf-8"?>
<p:presentation xmlns:p="http://schemas.openxmlformats.org/presentationml/2006/main">
  <p:sldMasterIdLst>
    <p:sldMasterId xmlns:r="http://schemas.openxmlformats.org/officeDocument/2006/relationships" id="2147483648" r:id="R76e307dccb264a12"/>
  </p:sldMasterIdLst>
  <p:notesMasterIdLst>
    <p:notesMasterId xmlns:r="http://schemas.openxmlformats.org/officeDocument/2006/relationships" r:id="R843c71ffb3584c70"/>
  </p:notesMasterIdLst>
  <p:sldIdLst>
    <p:sldId xmlns:r="http://schemas.openxmlformats.org/officeDocument/2006/relationships" id="256" r:id="Rd3bf492dceeb4892"/>
    <p:sldId xmlns:r="http://schemas.openxmlformats.org/officeDocument/2006/relationships" id="257" r:id="R02a5b47dadfa45d3"/>
    <p:sldId xmlns:r="http://schemas.openxmlformats.org/officeDocument/2006/relationships" id="258" r:id="Rb5e94a92fde9433e"/>
    <p:sldId xmlns:r="http://schemas.openxmlformats.org/officeDocument/2006/relationships" id="259" r:id="R06507e52c8e644af"/>
    <p:sldId xmlns:r="http://schemas.openxmlformats.org/officeDocument/2006/relationships" id="260" r:id="R3e46ff96ee88489b"/>
    <p:sldId xmlns:r="http://schemas.openxmlformats.org/officeDocument/2006/relationships" id="261" r:id="R3b48067a3cda4783"/>
    <p:sldId xmlns:r="http://schemas.openxmlformats.org/officeDocument/2006/relationships" id="262" r:id="R9cdb4a39befd44f9"/>
    <p:sldId xmlns:r="http://schemas.openxmlformats.org/officeDocument/2006/relationships" id="263" r:id="Redc8a425457a4372"/>
    <p:sldId xmlns:r="http://schemas.openxmlformats.org/officeDocument/2006/relationships" id="264" r:id="R9f8513d64a6b4ca4"/>
    <p:sldId xmlns:r="http://schemas.openxmlformats.org/officeDocument/2006/relationships" id="265" r:id="R7c90ec456fab4d76"/>
    <p:sldId xmlns:r="http://schemas.openxmlformats.org/officeDocument/2006/relationships" id="266" r:id="R0044066284cb4f7b"/>
    <p:sldId xmlns:r="http://schemas.openxmlformats.org/officeDocument/2006/relationships" id="267" r:id="R1e0d9a1007174da4"/>
    <p:sldId xmlns:r="http://schemas.openxmlformats.org/officeDocument/2006/relationships" id="268" r:id="R172c4f941a214298"/>
    <p:sldId xmlns:r="http://schemas.openxmlformats.org/officeDocument/2006/relationships" id="269" r:id="R1cf08859204b4f19"/>
    <p:sldId xmlns:r="http://schemas.openxmlformats.org/officeDocument/2006/relationships" id="270" r:id="R07b62dc38a3949e3"/>
    <p:sldId xmlns:r="http://schemas.openxmlformats.org/officeDocument/2006/relationships" id="271" r:id="R7e4ff5de0c6f43f3"/>
    <p:sldId xmlns:r="http://schemas.openxmlformats.org/officeDocument/2006/relationships" id="272" r:id="R04d0b72439f14e23"/>
    <p:sldId xmlns:r="http://schemas.openxmlformats.org/officeDocument/2006/relationships" id="273" r:id="R9e5224e931964cb7"/>
    <p:sldId xmlns:r="http://schemas.openxmlformats.org/officeDocument/2006/relationships" id="274" r:id="R9510c7077c814622"/>
    <p:sldId xmlns:r="http://schemas.openxmlformats.org/officeDocument/2006/relationships" id="275" r:id="R479508e103224aee"/>
    <p:sldId xmlns:r="http://schemas.openxmlformats.org/officeDocument/2006/relationships" id="276" r:id="R051b22f196c145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39254bcf5c4bb7" /><Relationship Type="http://schemas.openxmlformats.org/officeDocument/2006/relationships/slideMaster" Target="/ppt/slideMasters/slideMaster1.xml" Id="R76e307dccb264a12" /><Relationship Type="http://schemas.openxmlformats.org/officeDocument/2006/relationships/notesMaster" Target="/ppt/notesMasters/notesMaster1.xml" Id="R843c71ffb3584c70" /><Relationship Type="http://schemas.openxmlformats.org/officeDocument/2006/relationships/presProps" Target="/ppt/presProps.xml" Id="R145080a11d1f4609" /><Relationship Type="http://schemas.openxmlformats.org/officeDocument/2006/relationships/tableStyles" Target="/ppt/tableStyles.xml" Id="Radf4fa9224e94806" /><Relationship Type="http://schemas.openxmlformats.org/officeDocument/2006/relationships/slide" Target="/ppt/slides/slide1.xml" Id="Rd3bf492dceeb4892" /><Relationship Type="http://schemas.openxmlformats.org/officeDocument/2006/relationships/slide" Target="/ppt/slides/slide2.xml" Id="R02a5b47dadfa45d3" /><Relationship Type="http://schemas.openxmlformats.org/officeDocument/2006/relationships/slide" Target="/ppt/slides/slide3.xml" Id="Rb5e94a92fde9433e" /><Relationship Type="http://schemas.openxmlformats.org/officeDocument/2006/relationships/slide" Target="/ppt/slides/slide4.xml" Id="R06507e52c8e644af" /><Relationship Type="http://schemas.openxmlformats.org/officeDocument/2006/relationships/slide" Target="/ppt/slides/slide5.xml" Id="R3e46ff96ee88489b" /><Relationship Type="http://schemas.openxmlformats.org/officeDocument/2006/relationships/slide" Target="/ppt/slides/slide6.xml" Id="R3b48067a3cda4783" /><Relationship Type="http://schemas.openxmlformats.org/officeDocument/2006/relationships/slide" Target="/ppt/slides/slide7.xml" Id="R9cdb4a39befd44f9" /><Relationship Type="http://schemas.openxmlformats.org/officeDocument/2006/relationships/slide" Target="/ppt/slides/slide8.xml" Id="Redc8a425457a4372" /><Relationship Type="http://schemas.openxmlformats.org/officeDocument/2006/relationships/slide" Target="/ppt/slides/slide9.xml" Id="R9f8513d64a6b4ca4" /><Relationship Type="http://schemas.openxmlformats.org/officeDocument/2006/relationships/slide" Target="/ppt/slides/slide10.xml" Id="R7c90ec456fab4d76" /><Relationship Type="http://schemas.openxmlformats.org/officeDocument/2006/relationships/slide" Target="/ppt/slides/slide11.xml" Id="R0044066284cb4f7b" /><Relationship Type="http://schemas.openxmlformats.org/officeDocument/2006/relationships/slide" Target="/ppt/slides/slide12.xml" Id="R1e0d9a1007174da4" /><Relationship Type="http://schemas.openxmlformats.org/officeDocument/2006/relationships/slide" Target="/ppt/slides/slide13.xml" Id="R172c4f941a214298" /><Relationship Type="http://schemas.openxmlformats.org/officeDocument/2006/relationships/slide" Target="/ppt/slides/slide14.xml" Id="R1cf08859204b4f19" /><Relationship Type="http://schemas.openxmlformats.org/officeDocument/2006/relationships/slide" Target="/ppt/slides/slide15.xml" Id="R07b62dc38a3949e3" /><Relationship Type="http://schemas.openxmlformats.org/officeDocument/2006/relationships/slide" Target="/ppt/slides/slide16.xml" Id="R7e4ff5de0c6f43f3" /><Relationship Type="http://schemas.openxmlformats.org/officeDocument/2006/relationships/slide" Target="/ppt/slides/slide17.xml" Id="R04d0b72439f14e23" /><Relationship Type="http://schemas.openxmlformats.org/officeDocument/2006/relationships/slide" Target="/ppt/slides/slide18.xml" Id="R9e5224e931964cb7" /><Relationship Type="http://schemas.openxmlformats.org/officeDocument/2006/relationships/slide" Target="/ppt/slides/slide19.xml" Id="R9510c7077c814622" /><Relationship Type="http://schemas.openxmlformats.org/officeDocument/2006/relationships/slide" Target="/ppt/slides/slide20.xml" Id="R479508e103224aee" /><Relationship Type="http://schemas.openxmlformats.org/officeDocument/2006/relationships/slide" Target="/ppt/slides/slide21.xml" Id="R051b22f196c145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5a06d60af143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8de01aef484a78" /><Relationship Type="http://schemas.openxmlformats.org/officeDocument/2006/relationships/notesMaster" Target="/ppt/notesMasters/notesMaster1.xml" Id="R4d3c1492106c4a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1e09eeb17b46b1" /><Relationship Type="http://schemas.openxmlformats.org/officeDocument/2006/relationships/notesMaster" Target="/ppt/notesMasters/notesMaster1.xml" Id="R0e7e3d98b38348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dbedde548b40f1" /><Relationship Type="http://schemas.openxmlformats.org/officeDocument/2006/relationships/notesMaster" Target="/ppt/notesMasters/notesMaster1.xml" Id="R7318e50663a041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fec4679b1e432c" /><Relationship Type="http://schemas.openxmlformats.org/officeDocument/2006/relationships/notesMaster" Target="/ppt/notesMasters/notesMaster1.xml" Id="R7ac0e19008e847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a6fa379f13426a" /><Relationship Type="http://schemas.openxmlformats.org/officeDocument/2006/relationships/notesMaster" Target="/ppt/notesMasters/notesMaster1.xml" Id="Rc6f7699d5d34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8e982ac554441c" /><Relationship Type="http://schemas.openxmlformats.org/officeDocument/2006/relationships/notesMaster" Target="/ppt/notesMasters/notesMaster1.xml" Id="R6401a4106690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809f72b9c34da1" /><Relationship Type="http://schemas.openxmlformats.org/officeDocument/2006/relationships/notesMaster" Target="/ppt/notesMasters/notesMaster1.xml" Id="Rb635d546882d4e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5405c9c83f4357" /><Relationship Type="http://schemas.openxmlformats.org/officeDocument/2006/relationships/notesMaster" Target="/ppt/notesMasters/notesMaster1.xml" Id="R23cd1650aec049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ab48d5ae1a434c" /><Relationship Type="http://schemas.openxmlformats.org/officeDocument/2006/relationships/notesMaster" Target="/ppt/notesMasters/notesMaster1.xml" Id="Rd89cad3c00fb41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2d7cb7f7ea4847" /><Relationship Type="http://schemas.openxmlformats.org/officeDocument/2006/relationships/notesMaster" Target="/ppt/notesMasters/notesMaster1.xml" Id="Rcfc21705645949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9bd6a13ffb4982" /><Relationship Type="http://schemas.openxmlformats.org/officeDocument/2006/relationships/notesMaster" Target="/ppt/notesMasters/notesMaster1.xml" Id="R1529c66882214c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449a5802d14c88" /><Relationship Type="http://schemas.openxmlformats.org/officeDocument/2006/relationships/notesMaster" Target="/ppt/notesMasters/notesMaster1.xml" Id="R482323bd1fab4c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a84bc37b414cff" /><Relationship Type="http://schemas.openxmlformats.org/officeDocument/2006/relationships/notesMaster" Target="/ppt/notesMasters/notesMaster1.xml" Id="R43ed3d0d01a547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bcd351e9b941bb" /><Relationship Type="http://schemas.openxmlformats.org/officeDocument/2006/relationships/notesMaster" Target="/ppt/notesMasters/notesMaster1.xml" Id="R24ab6df964194f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a7a42dfa90490e" /><Relationship Type="http://schemas.openxmlformats.org/officeDocument/2006/relationships/notesMaster" Target="/ppt/notesMasters/notesMaster1.xml" Id="R9f3d7ea2dffe48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45a45802e44a2e" /><Relationship Type="http://schemas.openxmlformats.org/officeDocument/2006/relationships/notesMaster" Target="/ppt/notesMasters/notesMaster1.xml" Id="R9998a548af4c43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667632eea24109" /><Relationship Type="http://schemas.openxmlformats.org/officeDocument/2006/relationships/notesMaster" Target="/ppt/notesMasters/notesMaster1.xml" Id="R09a9781f95524c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07cbd884534105" /><Relationship Type="http://schemas.openxmlformats.org/officeDocument/2006/relationships/notesMaster" Target="/ppt/notesMasters/notesMaster1.xml" Id="Rf7a5018882c849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d36aa81ece44be" /><Relationship Type="http://schemas.openxmlformats.org/officeDocument/2006/relationships/notesMaster" Target="/ppt/notesMasters/notesMaster1.xml" Id="Rd133373aa25046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f0fbf5c2004a49" /><Relationship Type="http://schemas.openxmlformats.org/officeDocument/2006/relationships/notesMaster" Target="/ppt/notesMasters/notesMaster1.xml" Id="R12d2435094094d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41b1b1a6134289" /><Relationship Type="http://schemas.openxmlformats.org/officeDocument/2006/relationships/notesMaster" Target="/ppt/notesMasters/notesMaster1.xml" Id="R9ff243f808cc4a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talk presents interphAIse: its scientific question, implemented workflow, measured discovery results and atomistic validation as of 21 October 2026. The cover is an AI-generated conceptual illustration, not a computed crystal structure. Main talk: slides 1–16, approximately 15 minutes. Slides 17–21 are technical backup. Image generated with the built-in image-generation tool.</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/Users/davidetisi/Documents/Work/DTU/OSI_Hackathon/interphAIse/REPORT.md</a:t>
            </a:r>
          </a:p>
          <a:p xmlns:a="http://schemas.openxmlformats.org/drawingml/2006/main">
            <a:r>
              <a:t>/Users/davidetisi/Documents/Work/DTU/OSI_Hackathon/presentations/.build/assets/cover-provenance.json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the scientist’s choice of the next candidate after a calculation. The flagship stack has two contacts: cathode/coating and coating/electrolyte. Thermodynamics evaluates chemical compatibility. PET-MAD supplies a separate atomistic validation workflow. The discovery experiment does not feed adhesion into the thermodynamic score.</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/Users/davidetisi/Documents/Work/DTU/OSI_Hackathon/interphAIse/README.md</a:t>
            </a:r>
          </a:p>
          <a:p xmlns:a="http://schemas.openxmlformats.org/drawingml/2006/main">
            <a:r>
              <a:t>/Users/davidetisi/Documents/Work/DTU/OSI_Hackathon/interphAIse/SYNC_ADEM_7.md</a:t>
            </a:r>
          </a:p>
          <a:p xmlns:a="http://schemas.openxmlformats.org/drawingml/2006/main">
            <a:r>
              <a:t/>
            </a:r>
          </a:p>
          <a:p xmlns:a="http://schemas.openxmlformats.org/drawingml/2006/main">
            <a:r>
              <a:t>Reviewed update, 21 October 2026:</a:t>
            </a:r>
          </a:p>
          <a:p xmlns:a="http://schemas.openxmlformats.org/drawingml/2006/main">
            <a:r>
              <a:t>The LLM takes over the scientist’s choice of the next candidate after interpreting a calculation. It proposes a chemical hypothesis and revises that hypothesis using queried results. The thermodynamic evaluator and PET-MAD compute properties independently. This measured task selects from a fixed pool; it does not invent new chemical compositions or reaction mechanisms. The feedback controls assess whether attributed results help choices, not whether every written rationale is scientifically sound.</a:t>
            </a:r>
          </a:p>
          <a:p xmlns:a="http://schemas.openxmlformats.org/drawingml/2006/main">
            <a:r>
              <a:t>/Users/davidetisi/Documents/Work/DTU/OSI_Hackathon/interphAIse/ENVIRONMENT_PROTOCOL.md</a:t>
            </a:r>
          </a:p>
          <a:p xmlns:a="http://schemas.openxmlformats.org/drawingml/2006/main">
            <a:r>
              <a:t>/Users/davidetisi/Documents/Work/DTU/OSI_Hackathon/interphAIse/DISCOVERY_REPORT.md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modelling pipeline implements LLM, deterministic rules and human policy interfaces for sharp/interphase decisions, facet selection and geometry judgement. The discovery benchmark became the headline experiment. The measured feedback result concerns candidate selection only. PET-MAD validation and the offline structure viewer support a later full interface workflow. Do not present all policy decisions as experimentally demonstrated LLM benefits.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/Users/davidetisi/Documents/Work/DTU/OSI_Hackathon/interphAIse/REPORT.md</a:t>
            </a:r>
          </a:p>
          <a:p xmlns:a="http://schemas.openxmlformats.org/drawingml/2006/main">
            <a:r>
              <a:t>/Users/davidetisi/Documents/Work/DTU/OSI_Hackathon/interphAIse/STRUCTURE_VIEWER.md</a:t>
            </a:r>
          </a:p>
          <a:p xmlns:a="http://schemas.openxmlformats.org/drawingml/2006/main">
            <a:r>
              <a:t>/Users/davidetisi/Documents/Work/DTU/OSI_Hackathon/interphAIse/INTEGRATED_DISCOVERY_RESULTS.md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v2 included absolute endpoint decomposition. Li6PS5Cl has a 1.439628 eV/non-Li atom self-decomposition penalty at 4 V, producing a shared score floor. The frozen v3 objective evaluates extra reaction after mixing separately equilibrated endpoints, plus coating self-instability. Both versions use the same 50 candidates. V3 changes the scientific question before the main strategy runs. It is not a claim that the pristine battery stack is stable.</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/Users/davidetisi/Documents/Work/DTU/OSI_Hackathon/interphAIse/BENCHMARK_VALIDATION.md</a:t>
            </a:r>
          </a:p>
          <a:p xmlns:a="http://schemas.openxmlformats.org/drawingml/2006/main">
            <a:r>
              <a:t>/Users/davidetisi/Documents/Work/DTU/OSI_Hackathon/interphAIse/data/benchmarks/coating_v3.json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come from the frozen v3 table. There are 49 computed candidates, 47 eligible after insulation, and one retained missing-entry failure. Coating eligibility requires a known band gap of at least 2 eV. Acceptance is maximum penalty at most 0.050 eV per non-Li atom. Ranking uses 0.020-wide bins without raw-energy tiebreaking. These are proxy benchmark winners, not experimentally validated coating recommendations.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/Users/davidetisi/Documents/Work/DTU/OSI_Hackathon/interphAIse/BENCHMARK_VALIDATION.md</a:t>
            </a:r>
          </a:p>
          <a:p xmlns:a="http://schemas.openxmlformats.org/drawingml/2006/main">
            <a:r>
              <a:t>/Users/davidetisi/Documents/Work/DTU/OSI_Hackathon/interphAIse/data/benchmarks/coating_v3.json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study: 30 repetitions per original arm, budget ten submitted candidate IDs, seeds 100–129. Each unknown, repeated or missing-entry query consumes budget. Direct Anthropic Haiku 5.5, temperature 1.0, output cap 4096. The shuffled arm is a later matched control with 30 runs and the same original cohort, archived on the agent branch and independently reviewed. Candidate-order pairing does not fix provider randomness. Agents receive candidate information and queried results, not the exhaustive answer table.</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/Users/davidetisi/Documents/Work/DTU/OSI_Hackathon/interphAIse/INTEGRATED_DISCOVERY_PROTOCOL.md</a:t>
            </a:r>
          </a:p>
          <a:p xmlns:a="http://schemas.openxmlformats.org/drawingml/2006/main">
            <a:r>
              <a:t>/Users/davidetisi/Documents/Work/DTU/OSI_Hackathon/interphAIse/SYNC_ADEM_5.md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endpoint: at least one acceptable coating found by query ten. The plotted values are observed rates with n=30 in each arm. Iterative 19/30, upfront 4/30, sequential 4/30, sampled random 10/30, shuffled follow-up 6/30. Wilson intervals are in backup slide 17. Exact random acceptance is 36.33%. Correct association of feedback helps in this frozen setting, but the control does not uniquely establish chemical reasoning.</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/Users/davidetisi/Documents/Work/DTU/OSI_Hackathon/interphAIse/data/experiments/integrated_v3_20261021_s100/replay_audit.json</a:t>
            </a:r>
          </a:p>
          <a:p xmlns:a="http://schemas.openxmlformats.org/drawingml/2006/main">
            <a:r>
              <a:t>/Users/davidetisi/Documents/Work/DTU/OSI_Hackathon/interphAIse/data/reviews/shuffled_v3_20261021.json</a:t>
            </a:r>
          </a:p>
          <a:p xmlns:a="http://schemas.openxmlformats.org/drawingml/2006/main">
            <a:r>
              <a:t>/Users/davidetisi/Documents/Work/DTU/OSI_Hackathon/interphAIse/SYNC_ADEM_5.md</a:t>
            </a:r>
          </a:p>
          <a:p xmlns:a="http://schemas.openxmlformats.org/drawingml/2006/main">
            <a:r>
              <a:t/>
            </a:r>
          </a:p>
          <a:p xmlns:a="http://schemas.openxmlformats.org/drawingml/2006/main">
            <a:r>
              <a:t>Reviewed update, 21 October 2026:</a:t>
            </a:r>
          </a:p>
          <a:p xmlns:a="http://schemas.openxmlformats.org/drawingml/2006/main">
            <a:r>
              <a:t>Acceptance is the demonstrated benefit. Best-bin hits remain 7/30 for iterative versus 6/30 for sampled random, and the post-hoc fluoride-first rule succeeds by query two. The result therefore does not establish general superiority in discovering optimal materials.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Iterative vs sequential: both 2, iterative only 17, sequential only 2, neither 9. Exact two-sided McNemar p=0.000728607. Iterative vs shuffled: both 3, iterative only 16, shuffled only 3, neither 8. p=0.004425049. These reported contrasts are unadjusted. The shuffled comparison was a planned follow-up after observing the first result. Shuffling can create contradictions and products can reveal identities, so it is evidence of sensitivity to correctly associated feedback rather than unique evidence of chemical reasoning.</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/Users/davidetisi/Documents/Work/DTU/OSI_Hackathon/interphAIse/data/experiments/integrated_v3_20261021_s100/replay_audit.json</a:t>
            </a:r>
          </a:p>
          <a:p xmlns:a="http://schemas.openxmlformats.org/drawingml/2006/main">
            <a:r>
              <a:t>/Users/davidetisi/Documents/Work/DTU/OSI_Hackathon/interphAIse/data/reviews/shuffled_v3_20261021.json</a:t>
            </a:r>
          </a:p>
          <a:p xmlns:a="http://schemas.openxmlformats.org/drawingml/2006/main">
            <a:r>
              <a:t>/Users/davidetisi/Documents/Work/DTU/OSI_Hackathon/interphAIse/SYNC_ADEM_5.md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success is read directly from summary.json. Iterative first succeeds in 1/30 runs at query five and reaches 19/30 at query ten. The exact random line is a finite-pool probability. The post-hoc fluoride-first heuristic reaches a pass on query two and the best bin on query four. Iterative reaches the best bin in 7/30 runs vs sampled random 6/30, so acceptance gains should not be generalized into better optimum finding. The heuristic was selected after seeing the exhaustive table.</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/Users/davidetisi/Documents/Work/DTU/OSI_Hackathon/interphAIse/data/experiments/integrated_v3_20261021_s100/summary.json</a:t>
            </a:r>
          </a:p>
          <a:p xmlns:a="http://schemas.openxmlformats.org/drawingml/2006/main">
            <a:r>
              <a:t>/Users/davidetisi/Documents/Work/DTU/OSI_Hackathon/interphAIse/INTEGRATED_DISCOVERY_RESULTS.md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expansion evaluates 141 pinned coating structures in each of three environments with LiCoO2 at 4 V and unchanged v3 objective. There are 423 combinations, 414 successful calculations and nine explicit missing-entry outcomes; 120 eligible candidates in each environment. Dataset: 7420 compatible MP corrected GGA/GGA+U entries. Original 50 outcomes reproduce exactly. The frozen tables are complete; expanded live LLM production is pending in the reviewed local record. LLZO is an ordered tetragonal reference, not doped cubic LLZO.</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/Users/davidetisi/Documents/Work/DTU/OSI_Hackathon/interphAIse/EXPANSION_PROGRESS.md</a:t>
            </a:r>
          </a:p>
          <a:p xmlns:a="http://schemas.openxmlformats.org/drawingml/2006/main">
            <a:r>
              <a:t>/Users/davidetisi/Documents/Work/DTU/OSI_Hackathon/interphAIse/ENVIRONMENT_FREEZE_REVIEW.md</a:t>
            </a:r>
          </a:p>
          <a:p xmlns:a="http://schemas.openxmlformats.org/drawingml/2006/main">
            <a:r>
              <a:t>/Users/davidetisi/Documents/Work/DTU/OSI_Hackathon/interphAIse/data/benchmarks/environment_v1/manifest.json</a:t>
            </a:r>
          </a:p>
          <a:p xmlns:a="http://schemas.openxmlformats.org/drawingml/2006/main">
            <a:r>
              <a:t/>
            </a:r>
          </a:p>
          <a:p xmlns:a="http://schemas.openxmlformats.org/drawingml/2006/main">
            <a:r>
              <a:t>Reviewed update, 21 October 2026:</a:t>
            </a:r>
          </a:p>
          <a:p xmlns:a="http://schemas.openxmlformats.org/drawingml/2006/main">
            <a:r>
              <a:t>The three frozen tables and smoke-only sign-off were pushed on davide at 40b80fa, which includes b51c14e. All 423 outcome rows and scientific fields are unchanged from the exploratory originals; only status, freeze metadata and hashes differ. The agreed design is five arms, three environments, 30 runs per arm, budget ten, seeds 200–229, with Holm correction across six paired contrasts. Adem owns the smoke batch. No new expanded live results are included in this presentation.</a:t>
            </a:r>
          </a:p>
          <a:p xmlns:a="http://schemas.openxmlformats.org/drawingml/2006/main">
            <a:r>
              <a:t>/Users/davidetisi/Documents/Work/DTU/OSI_Hackathon/interphAIse/ENVIRONMENT_PROTOCOL.md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use the lowest-ID polymorph for each formula and were selected after inspection to explain the landscape. Lower score bins are better. All four acceptable sulfide structures contain fluorine; none of the 17 acceptable LLZO structures contains fluorine. The fluoride-first ordering reaches its first pass at query 3 for expanded sulfide, 1 for chloride and 40 for LLZO, outside the ten-query budget. This demonstrates an environment-dependent computational landscape, not LLM adaptation or cross-environment learning.</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/Users/davidetisi/Documents/Work/DTU/OSI_Hackathon/interphAIse/EXPANSION_PROGRESS.md</a:t>
            </a:r>
          </a:p>
          <a:p xmlns:a="http://schemas.openxmlformats.org/drawingml/2006/main">
            <a:r>
              <a:t>/Users/davidetisi/Documents/Work/DTU/OSI_Hackathon/interphAIse/data/benchmarks/environment_v1/lco_lpscl_4v.json</a:t>
            </a:r>
          </a:p>
          <a:p xmlns:a="http://schemas.openxmlformats.org/drawingml/2006/main">
            <a:r>
              <a:t>/Users/davidetisi/Documents/Work/DTU/OSI_Hackathon/interphAIse/data/benchmarks/environment_v1/lco_lic_4v.json</a:t>
            </a:r>
          </a:p>
          <a:p xmlns:a="http://schemas.openxmlformats.org/drawingml/2006/main">
            <a:r>
              <a:t>/Users/davidetisi/Documents/Work/DTU/OSI_Hackathon/interphAIse/data/benchmarks/environment_v1/lco_llzo_4v.json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bulk structures were relaxed with PET-MAD S 1.6.0 using symmetric and unconstrained checks. Li6PS5Cl lowers energy by 63.81 meV/atom after symmetry release; LiZr2(PO4)3 by 7.57. Multistart studies find six converged distinct electrolyte minima and five of six converged phosphate starts. Seed 0 is lowest in the sampled sets, not a proven global minimum. The first pilot facet matches cease to exist under the revised lattices and matching gates. Primary contacts were rebuilt using LiNbF6(001) against LiCoO2(001) and Li6PS5Cl(111).</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/Users/davidetisi/Documents/Work/DTU/OSI_Hackathon/interphAIse/BULK_RELAXATION.md</a:t>
            </a:r>
          </a:p>
          <a:p xmlns:a="http://schemas.openxmlformats.org/drawingml/2006/main">
            <a:r>
              <a:t>/Users/davidetisi/Documents/Work/DTU/OSI_Hackathon/interphAIse/CONTACT_PROTOCOL.md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source figure shows the 504-atom primary LiCoO2(001)/LiNbF6(001) contact at a fixed substrate fraction of 0.34. Initial and relaxed coordinates and the free-atom convergence traces are archived. All 18 relaxations across two contacts and three constraint fractions converged on movable atoms. Free-atom convergence does not remove fixed-atom reaction forces or formal slab polarity. The figure is an actual project result, not a generated illustration.</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/Users/davidetisi/Documents/Work/DTU/OSI_Hackathon/interphAIse/data/petmad/constraint_test_v1/cathode_primary_f0.34/inspection.png</a:t>
            </a:r>
          </a:p>
          <a:p xmlns:a="http://schemas.openxmlformats.org/drawingml/2006/main">
            <a:r>
              <a:t>/Users/davidetisi/Documents/Work/DTU/OSI_Hackathon/interphAIse/CONTACT_PROTOCOL.md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Thickness study holds area 170.708 Å², strain, terminations, two film layers, fixed depth 3.257602 Å (38 substrate atoms) and registry (0,0,2 Å) fixed. At 2,3,4 substrate layers: Wadh 1.3291,1.4644,1.5317 and Wsep 2.5190,2.8052,2.8579 J/m². Last increments are 0.0674 and 0.0527, below 0.1 J/m². Four layers is selected by that criterion, not a proven plateau. At four layers the constraint bracket gives Wadh spread 0.048 and Wsep spread 0.024. Formal polarity increases with thickness, so the result remains provisional.</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/Users/davidetisi/Documents/Work/DTU/OSI_Hackathon/interphAIse/CONTACT_PROTOCOL.md</a:t>
            </a:r>
          </a:p>
          <a:p xmlns:a="http://schemas.openxmlformats.org/drawingml/2006/main">
            <a:r>
              <a:t>/Users/davidetisi/Documents/Work/DTU/OSI_Hackathon/interphAIse/data/petmad/thickness_v1/run_L2/fixed_geometry_separation.json</a:t>
            </a:r>
          </a:p>
          <a:p xmlns:a="http://schemas.openxmlformats.org/drawingml/2006/main">
            <a:r>
              <a:t>/Users/davidetisi/Documents/Work/DTU/OSI_Hackathon/interphAIse/data/petmad/thickness_v1/run_L3/fixed_geometry_separation.json</a:t>
            </a:r>
          </a:p>
          <a:p xmlns:a="http://schemas.openxmlformats.org/drawingml/2006/main">
            <a:r>
              <a:t>/Users/davidetisi/Documents/Work/DTU/OSI_Hackathon/interphAIse/data/petmad/thickness_v1/run_L4/fixed_geometry_separation.json</a:t>
            </a:r>
          </a:p>
          <a:p xmlns:a="http://schemas.openxmlformats.org/drawingml/2006/main">
            <a:r>
              <a:t/>
            </a:r>
          </a:p>
          <a:p xmlns:a="http://schemas.openxmlformats.org/drawingml/2006/main">
            <a:r>
              <a:t>Reviewed update, 21 October 2026:</a:t>
            </a:r>
          </a:p>
          <a:p xmlns:a="http://schemas.openxmlformats.org/drawingml/2006/main">
            <a:r>
              <a:t>An independent review checked all five unique archived runs (15 relaxations), adhesion arithmetic and 1,827 calculator calls plus ten separation single points. The four-layer reference is shared by the thickness and constraint tables, so it is counted once. Constraints are insensitive only within the tested bracket and tolerance. The 0.018 J/m² registry comparison at three layers is unrelaxed and does not prove equivalent relaxed registry energies. Surface Li rearrangement persists across the tested thicknesses, while residual finite-thickness and polarity effects remain unresolved.</a:t>
            </a:r>
          </a:p>
          <a:p xmlns:a="http://schemas.openxmlformats.org/drawingml/2006/main">
            <a:r>
              <a:t>/Users/davidetisi/Documents/Work/DTU/OSI_Hackathon/interphAIse/SYNC_CLAUDE_3.md</a:t>
            </a:r>
          </a:p>
          <a:p xmlns:a="http://schemas.openxmlformats.org/drawingml/2006/main">
            <a:r>
              <a:t>/Users/davidetisi/Documents/Work/DTU/OSI_Hackathon/interphAIse/data/reviews/electrolyte_thickness_review_20261021.json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discovery archive: 120 runs and 1200 independently replayed outcomes. Reviewed shuffled archive: 30 runs and 300 outcomes, plus all 300 prompt histories and displayed-source maps verified. Expanded 423 outcomes retain all failures, and original 50 values reproduce exactly. Thermodynamic LP vs Qhull disagreement is at floating-point precision (1.78e-15 original, 8.88e-16 expansion). The offline structure viewer supports 50 bulk candidates, saved contacts, paired geometry inspection, replication and exports. The screenshot shows the earlier pilot geometries and is labelled accordingly. Scripts discover later saved geometries when rebuilt.</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/Users/davidetisi/Documents/Work/DTU/OSI_Hackathon/interphAIse/STRUCTURE_VIEWER.md</a:t>
            </a:r>
          </a:p>
          <a:p xmlns:a="http://schemas.openxmlformats.org/drawingml/2006/main">
            <a:r>
              <a:t>/Users/davidetisi/Documents/Work/DTU/OSI_Hackathon/interphAIse/data/experiments/integrated_v3_20261021_s100/replay_audit.json</a:t>
            </a:r>
          </a:p>
          <a:p xmlns:a="http://schemas.openxmlformats.org/drawingml/2006/main">
            <a:r>
              <a:t>/Users/davidetisi/Documents/Work/DTU/OSI_Hackathon/interphAIse/data/reviews/shuffled_v3_20261021.json</a:t>
            </a:r>
          </a:p>
          <a:p xmlns:a="http://schemas.openxmlformats.org/drawingml/2006/main">
            <a:r>
              <a:t>/Users/davidetisi/Documents/Work/DTU/OSI_Hackathon/interphAIse/EXPANSION_PROGRESS.md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for the main talk. The evidence supports useful feedback-dependent candidate selection under one frozen thermodynamic criterion. It also establishes that electrolyte chemistry changes the exhaustive landscape and that physical model choices matter for adhesion. Next work: separately approved and preregistered five-arm environment study; cathode film thickness, vacuum and registry tests; seed sensitivity; eventual transport and experimental validation. At the snapshot, environment tables are frozen but full LLM production is pending measured cost review. Do not imply the presentation work launches paid runs.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/Users/davidetisi/Documents/Work/DTU/OSI_Hackathon/interphAIse/SYNC_ADEM_5.md</a:t>
            </a:r>
          </a:p>
          <a:p xmlns:a="http://schemas.openxmlformats.org/drawingml/2006/main">
            <a:r>
              <a:t>/Users/davidetisi/Documents/Work/DTU/OSI_Hackathon/interphAIse/EXPANSION_PROGRESS.md</a:t>
            </a:r>
          </a:p>
          <a:p xmlns:a="http://schemas.openxmlformats.org/drawingml/2006/main">
            <a:r>
              <a:t>/Users/davidetisi/Documents/Work/DTU/OSI_Hackathon/interphAIse/ENVIRONMENT_FREEZE_REVIEW.md</a:t>
            </a:r>
          </a:p>
          <a:p xmlns:a="http://schemas.openxmlformats.org/drawingml/2006/main">
            <a:r>
              <a:t>/Users/davidetisi/Documents/Work/DTU/OSI_Hackathon/interphAIse/CONTACT_PROTOCOL.md</a:t>
            </a:r>
          </a:p>
          <a:p xmlns:a="http://schemas.openxmlformats.org/drawingml/2006/main">
            <a:r>
              <a:t/>
            </a:r>
          </a:p>
          <a:p xmlns:a="http://schemas.openxmlformats.org/drawingml/2006/main">
            <a:r>
              <a:t>Reviewed update, 21 October 2026:</a:t>
            </a:r>
          </a:p>
          <a:p xmlns:a="http://schemas.openxmlformats.org/drawingml/2006/main">
            <a:r>
              <a:t>The immediate next steps are the already approved approximately 30-call environment smoke batch and a bounded cathode coating-thickness test. Geometry-only checks give 504/600/696 atoms for two/three/four LiNbF6 layers, using an 800-atom cap with unchanged matching cell, surface cuts and physical substrate constraint. These checks provide feasible inputs, not new energy results. Afterward: vacuum, relaxed registry comparisons and the alternative electrolyte seed. Expanded LLM production still requires measured-cost review and explicit approval. Each environment run starts fresh; the study tests feedback use within each environment, not transfer of experience between environments.</a:t>
            </a:r>
          </a:p>
          <a:p xmlns:a="http://schemas.openxmlformats.org/drawingml/2006/main">
            <a:r>
              <a:t>/Users/davidetisi/Documents/Work/DTU/OSI_Hackathon/interphAIse/SYNC_CLAUDE_3.md</a:t>
            </a:r>
          </a:p>
          <a:p xmlns:a="http://schemas.openxmlformats.org/drawingml/2006/main">
            <a:r>
              <a:t>/Users/davidetisi/Documents/Work/DTU/OSI_Hackathon/interphAIse/ENVIRONMENT_PROTOCOL.md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Wilson 95% intervals for each arm. Pairing is by display-order seed, not provider sampling. The random comparison has unadjusted paired p=0.0490 and should not be promoted as robust general superiority. The shuffled result is a matched follow-up. The primary endpoint is frozen criterion acceptance by query ten. Differences in inference and protocol timing are preserved.</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/Users/davidetisi/Documents/Work/DTU/OSI_Hackathon/interphAIse/data/experiments/integrated_v3_20261021_s100/replay_audit.json</a:t>
            </a:r>
          </a:p>
          <a:p xmlns:a="http://schemas.openxmlformats.org/drawingml/2006/main">
            <a:r>
              <a:t>/Users/davidetisi/Documents/Work/DTU/OSI_Hackathon/interphAIse/data/reviews/shuffled_v3_20261021.json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h(c) be equilibrium grand-potential hull energy per non-Li atom with muLi = elemental Li reference minus 4 V. For contact endpoints c1,c2, calculate min_x[h((1−x)c1+xc2)−(1−x)h(c1)−xh(c2)]. The nonnegative score is max(coating self-decomposition, magnitudes of favourable additional reaction energies at two contacts). LP enforces non-Li conservation and nonnegative products. Original data: 4887 MP GGA/GGA+U entries across 949 subsystems, DB 2026.09.28. Band gaps and hull-prefilter provenance can come from different property calculations. Thresholds are operational, not calibrated error bars.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/Users/davidetisi/Documents/Work/DTU/OSI_Hackathon/interphAIse/BENCHMARK_VALIDATION.md</a:t>
            </a:r>
          </a:p>
          <a:p xmlns:a="http://schemas.openxmlformats.org/drawingml/2006/main">
            <a:r>
              <a:t>/Users/davidetisi/Documents/Work/DTU/OSI_Hackathon/interphAIse/EVALUATOR_HANDOFF.md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are from the original symmetric and unconstrained seed-0 checks, with a follow-up multistart for the two strongly distorted materials. Delta V is symmetric PET-MAD relative to MP. Stability delta E is the unconstrained check relative to symmetric PET-MAD. Tiny changes near zero should not be interpreted as robust differences. Symmetric convergence uses projected force/stress; unconstrained runs require raw maximum force ≤0.01 eV/Å and maximum stress ≤0.05 GPa. PET-MAD is a model, not a validated description of these phases.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/Users/davidetisi/Documents/Work/DTU/OSI_Hackathon/interphAIse/BULK_RELAXATION.md</a:t>
            </a:r>
          </a:p>
          <a:p xmlns:a="http://schemas.openxmlformats.org/drawingml/2006/main">
            <a:r>
              <a:t>/Users/davidetisi/Documents/Work/DTU/OSI_Hackathon/interphAIse/BULK_REVIEW_AND_NEXT_STEPS.md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of adhesion uses independently relaxed separated slabs at the same constraints. Fixed-geometry separation uses fragments split from the relaxed joined interface without relaxation. Their difference is the separated surfaces’ relaxation energy. Cathode 0.34 fraction values are 3.4792 and 5.0550 J/m²; four-layer electrolyte values are 1.5317 and 2.8579. Cathode fixed-force maxima remain ~2.45 eV/Å. Electrolyte Li/Cl rearrangement remains after thickness changes. Neither numerical insensitivity nor matching fixed forces proves cancellation of polar-surface errors.</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/Users/davidetisi/Documents/Work/DTU/OSI_Hackathon/interphAIse/CONTACT_PROTOCOL.md</a:t>
            </a:r>
          </a:p>
          <a:p xmlns:a="http://schemas.openxmlformats.org/drawingml/2006/main">
            <a:r>
              <a:t/>
            </a:r>
          </a:p>
          <a:p xmlns:a="http://schemas.openxmlformats.org/drawingml/2006/main">
            <a:r>
              <a:t>Reviewed update, 21 October 2026:</a:t>
            </a:r>
          </a:p>
          <a:p xmlns:a="http://schemas.openxmlformats.org/drawingml/2006/main">
            <a:r>
              <a:t>The cathode constraint is a 0.34 fraction of substrate z span, selecting 104 substrate atoms; it is not a statement that exactly 34% of all interface atoms are fixed. The planned cathode coating-thickness test preserves the physical substrate mask through substrate-relative correspondence. Global atom indices change as film atoms are added.</a:t>
            </a:r>
          </a:p>
          <a:p xmlns:a="http://schemas.openxmlformats.org/drawingml/2006/main">
            <a:r>
              <a:t>/Users/davidetisi/Documents/Work/DTU/OSI_Hackathon/interphAIse/SYNC_CLAUDE_3.md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four-arm batch: 631 proposal calls, 2773563 input tokens, 576415 output tokens. Shuffled follow-up: 300 calls, 1594978 input, 259023 output. Combined arithmetic: 931 calls, 4368541 input, 835438 output. Excludes pilot calls and unobserved provider retry costs. No monetary cost inferred. To reproduce original results: scripts/analyse_discovery_experiment.py data/experiments/integrated_v3_20261021_s100; scripts/audit_discovery_batch.py same-directory. Shuffled archive lives on reviewed agent branch 6e74e88, with local audit data/reviews/shuffled_v3_20261021.json. Expansion sources: data/benchmarks/environment_v1/manifest.json. New study proposed: five arms ×30×3 environments, seeds 200–229, budget 10, six paired contrasts with Holm correction. Full production pending cost review and approval in the local snapshot. Scientific source snapshot: davide, including thickness commit b51c14e and the frozen environment protocol published in 40b80fa.</a:t>
            </a:r>
          </a:p>
          <a:p xmlns:a="http://schemas.openxmlformats.org/drawingml/2006/main">
            <a:r>
              <a:t/>
            </a:r>
          </a:p>
          <a:p xmlns:a="http://schemas.openxmlformats.org/drawingml/2006/main">
            <a:r>
              <a:t>Sources (project snapshot, 21 October 2026):</a:t>
            </a:r>
          </a:p>
          <a:p xmlns:a="http://schemas.openxmlformats.org/drawingml/2006/main">
            <a:r>
              <a:t>/Users/davidetisi/Documents/Work/DTU/OSI_Hackathon/interphAIse/INTEGRATED_DISCOVERY_RESULTS.md</a:t>
            </a:r>
          </a:p>
          <a:p xmlns:a="http://schemas.openxmlformats.org/drawingml/2006/main">
            <a:r>
              <a:t>/Users/davidetisi/Documents/Work/DTU/OSI_Hackathon/interphAIse/SYNC_ADEM_5.md</a:t>
            </a:r>
          </a:p>
          <a:p xmlns:a="http://schemas.openxmlformats.org/drawingml/2006/main">
            <a:r>
              <a:t>/Users/davidetisi/Documents/Work/DTU/OSI_Hackathon/interphAIse/ENVIRONMENT_FREEZE_REVIEW.md</a:t>
            </a:r>
          </a:p>
          <a:p xmlns:a="http://schemas.openxmlformats.org/drawingml/2006/main">
            <a:r>
              <a:t>/Users/davidetisi/Documents/Work/DTU/OSI_Hackathon/interphAIse/SYNC_ADEM_7.md</a:t>
            </a:r>
          </a:p>
          <a:p xmlns:a="http://schemas.openxmlformats.org/drawingml/2006/main">
            <a:r>
              <a:t/>
            </a:r>
          </a:p>
          <a:p xmlns:a="http://schemas.openxmlformats.org/drawingml/2006/main">
            <a:r>
              <a:t>Reviewed update, 21 October 2026:</a:t>
            </a:r>
          </a:p>
          <a:p xmlns:a="http://schemas.openxmlformats.org/drawingml/2006/main">
            <a:r>
              <a:t>The scientific design is locked and the frozen tables are published at 40b80fa. Smoke: seed 999, upfront budget ten and sequential/iterative/shuffled budget three in each environment, approximately 30 calls before retries. Smoke runs are excluded from scientific results. Production plans 2,790 calls before retries, with seeds 200–229 and Holm correction over six comparisons. Report actual token usage, retries and expected/conservative production costs after smoke. Public list-price arithmetic is not billed account cost; no contract terms or actual billed cost are confirmed here. Only smoke spending is approved.</a:t>
            </a:r>
          </a:p>
          <a:p xmlns:a="http://schemas.openxmlformats.org/drawingml/2006/main">
            <a:r>
              <a:t>/Users/davidetisi/Documents/Work/DTU/OSI_Hackathon/interphAIse/ENVIRONMENT_PROTOCOL.md</a:t>
            </a:r>
          </a:p>
          <a:p xmlns:a="http://schemas.openxmlformats.org/drawingml/2006/main">
            <a:r>
              <a:t>/Users/davidetisi/Documents/Work/DTU/OSI_Hackathon/interphAIse/SYNC_ADEM_7.md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54ec14db874f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7ad769c07b4b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ca3d3b690c4a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b54964167041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7c9a76d2a64a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47ac72e38f44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3179C6-85C6-425D-9393-31D1E9394A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7F6F89-3517-4E7E-8D8E-F80746C155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91C4A1-AE27-4BE3-82A9-C6C5491351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34707F-A4DB-45EB-9E29-4DF0C7D5EC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EB14C2-4263-4AD8-B355-67CE558D1C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BB2DE-9A82-43B0-9292-438315AA63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C35F32-840A-4E0E-A56C-E688C7DAC1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99D363-5418-4D75-9516-59DFD5D878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A7559E-0AAD-4A77-B106-A3BCF46FE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235EC4-5BC3-4FF4-9162-A9ABAA718D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0c409642f74ed7" /><Relationship Type="http://schemas.openxmlformats.org/officeDocument/2006/relationships/slideLayout" Target="/ppt/slideLayouts/slideLayout1.xml" Id="R878ef34ce522480d" /><Relationship Type="http://schemas.openxmlformats.org/officeDocument/2006/relationships/slideLayout" Target="/ppt/slideLayouts/slideLayout2.xml" Id="Red1ee0ef7b504b00" /><Relationship Type="http://schemas.openxmlformats.org/officeDocument/2006/relationships/slideLayout" Target="/ppt/slideLayouts/slideLayout3.xml" Id="Rd2f1b5955eed4b30" /><Relationship Type="http://schemas.openxmlformats.org/officeDocument/2006/relationships/slideLayout" Target="/ppt/slideLayouts/slideLayout4.xml" Id="Rb559683e4d74438d" /><Relationship Type="http://schemas.openxmlformats.org/officeDocument/2006/relationships/slideLayout" Target="/ppt/slideLayouts/slideLayout5.xml" Id="R7cc9561e39834ecf" /><Relationship Type="http://schemas.openxmlformats.org/officeDocument/2006/relationships/slideLayout" Target="/ppt/slideLayouts/slideLayout6.xml" Id="Rc9094fa821da4d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8ef34ce522480d"/>
    <p:sldLayoutId xmlns:r="http://schemas.openxmlformats.org/officeDocument/2006/relationships" id="2147483650" r:id="Red1ee0ef7b504b00"/>
    <p:sldLayoutId xmlns:r="http://schemas.openxmlformats.org/officeDocument/2006/relationships" id="2147483651" r:id="Rd2f1b5955eed4b30"/>
    <p:sldLayoutId xmlns:r="http://schemas.openxmlformats.org/officeDocument/2006/relationships" id="2147483652" r:id="Rb559683e4d74438d"/>
    <p:sldLayoutId xmlns:r="http://schemas.openxmlformats.org/officeDocument/2006/relationships" id="2147483653" r:id="R7cc9561e39834ecf"/>
    <p:sldLayoutId xmlns:r="http://schemas.openxmlformats.org/officeDocument/2006/relationships" id="2147483654" r:id="Rc9094fa821da4d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71c242e8db475b" /><Relationship Type="http://schemas.openxmlformats.org/officeDocument/2006/relationships/image" Target="/ppt/media/image.png" Id="R06d6e9976499444a" /><Relationship Type="http://schemas.openxmlformats.org/officeDocument/2006/relationships/notesSlide" Target="/ppt/notesSlides/notesSlide1.xml" Id="R2a395097a57345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5797ec7fb141d2" /><Relationship Type="http://schemas.openxmlformats.org/officeDocument/2006/relationships/notesSlide" Target="/ppt/notesSlides/notesSlide2.xml" Id="Ra37220e1c6284b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fe3261a6ad4a3a" /><Relationship Type="http://schemas.openxmlformats.org/officeDocument/2006/relationships/notesSlide" Target="/ppt/notesSlides/notesSlide3.xml" Id="Rb6752735255244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ab9c3a050c4707" /><Relationship Type="http://schemas.openxmlformats.org/officeDocument/2006/relationships/notesSlide" Target="/ppt/notesSlides/notesSlide4.xml" Id="R1028de04af1842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d37a2cdf8a4d10" /><Relationship Type="http://schemas.openxmlformats.org/officeDocument/2006/relationships/notesSlide" Target="/ppt/notesSlides/notesSlide5.xml" Id="R17d0952037f54a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65fca611b04027" /><Relationship Type="http://schemas.openxmlformats.org/officeDocument/2006/relationships/notesSlide" Target="/ppt/notesSlides/notesSlide6.xml" Id="Rf90ec57bd5e346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13868272b7246db" /><Relationship Type="http://schemas.openxmlformats.org/officeDocument/2006/relationships/chart" Target="/ppt/slides/charts/chart1.xml" Id="R458516d219e34f77" /><Relationship Type="http://schemas.openxmlformats.org/officeDocument/2006/relationships/notesSlide" Target="/ppt/notesSlides/notesSlide7.xml" Id="R06e28649c87841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a67bb82fcb4199" /><Relationship Type="http://schemas.openxmlformats.org/officeDocument/2006/relationships/notesSlide" Target="/ppt/notesSlides/notesSlide8.xml" Id="Rc4c5cbae5b0342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e3ea4d0abe4c15" /><Relationship Type="http://schemas.openxmlformats.org/officeDocument/2006/relationships/chart" Target="/ppt/slides/charts/chart2.xml" Id="R676ca2031c2247ac" /><Relationship Type="http://schemas.openxmlformats.org/officeDocument/2006/relationships/notesSlide" Target="/ppt/notesSlides/notesSlide9.xml" Id="R10468aedb62d46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b6e79f831f14ae1" /><Relationship Type="http://schemas.openxmlformats.org/officeDocument/2006/relationships/notesSlide" Target="/ppt/notesSlides/notesSlide10.xml" Id="R5b5939c411524a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b0b4951e9045cf" /><Relationship Type="http://schemas.openxmlformats.org/officeDocument/2006/relationships/notesSlide" Target="/ppt/notesSlides/notesSlide11.xml" Id="Rd2533c7f0c9e47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b28892cbac74dcb" /><Relationship Type="http://schemas.openxmlformats.org/officeDocument/2006/relationships/notesSlide" Target="/ppt/notesSlides/notesSlide12.xml" Id="R7ebe265bfda74b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902d5eef944516" /><Relationship Type="http://schemas.openxmlformats.org/officeDocument/2006/relationships/image" Target="/ppt/media/image2.png" Id="Ra251c48d2dff47f6" /><Relationship Type="http://schemas.openxmlformats.org/officeDocument/2006/relationships/notesSlide" Target="/ppt/notesSlides/notesSlide13.xml" Id="R17d3b8085ea242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47b9b3779345d0" /><Relationship Type="http://schemas.openxmlformats.org/officeDocument/2006/relationships/chart" Target="/ppt/slides/charts/chart3.xml" Id="R5e2847a7d8ad4091" /><Relationship Type="http://schemas.openxmlformats.org/officeDocument/2006/relationships/notesSlide" Target="/ppt/notesSlides/notesSlide14.xml" Id="R4d34cc41a07244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1510db8f95649ce" /><Relationship Type="http://schemas.openxmlformats.org/officeDocument/2006/relationships/image" Target="/ppt/media/image.jpeg" Id="Re5cd44ec145c4507" /><Relationship Type="http://schemas.openxmlformats.org/officeDocument/2006/relationships/notesSlide" Target="/ppt/notesSlides/notesSlide15.xml" Id="R82212189e6034f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dc33de200a4925" /><Relationship Type="http://schemas.openxmlformats.org/officeDocument/2006/relationships/notesSlide" Target="/ppt/notesSlides/notesSlide16.xml" Id="Rb77b7df661df4a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5298f20e4cf41f5" /><Relationship Type="http://schemas.openxmlformats.org/officeDocument/2006/relationships/notesSlide" Target="/ppt/notesSlides/notesSlide17.xml" Id="Rbfe9931f78794b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fdb65012a5401b" /><Relationship Type="http://schemas.openxmlformats.org/officeDocument/2006/relationships/notesSlide" Target="/ppt/notesSlides/notesSlide18.xml" Id="Rc37b410dbbf44d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43d75a28d9a45b2" /><Relationship Type="http://schemas.openxmlformats.org/officeDocument/2006/relationships/notesSlide" Target="/ppt/notesSlides/notesSlide19.xml" Id="R0fce3088192745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03769efaf194f53" /><Relationship Type="http://schemas.openxmlformats.org/officeDocument/2006/relationships/notesSlide" Target="/ppt/notesSlides/notesSlide20.xml" Id="Rae89a457d06648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87865439b1452c" /><Relationship Type="http://schemas.openxmlformats.org/officeDocument/2006/relationships/notesSlide" Target="/ppt/notesSlides/notesSlide21.xml" Id="R11417d38a9514ea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Acceptable by query 10</c:v>
          </c:tx>
          <c:spPr>
            <a:solidFill xmlns:a="http://schemas.openxmlformats.org/drawingml/2006/main">
              <a:srgbClr val="087F8C"/>
            </a:solidFill>
          </c:spPr>
          <c:invertIfNegative val="0"/>
          <c:dPt>
            <c:idx val="0"/>
            <c:invertIfNegative val="0"/>
            <c:spPr>
              <a:solidFill xmlns:a="http://schemas.openxmlformats.org/drawingml/2006/main">
                <a:srgbClr val="087F8C"/>
              </a:solidFill>
            </c:spPr>
          </c:dPt>
          <c:dPt>
            <c:idx val="1"/>
            <c:invertIfNegative val="0"/>
            <c:spPr>
              <a:solidFill xmlns:a="http://schemas.openxmlformats.org/drawingml/2006/main">
                <a:srgbClr val="BCC8D0"/>
              </a:solidFill>
            </c:spPr>
          </c:dPt>
          <c:dPt>
            <c:idx val="2"/>
            <c:invertIfNegative val="0"/>
            <c:spPr>
              <a:solidFill xmlns:a="http://schemas.openxmlformats.org/drawingml/2006/main">
                <a:srgbClr val="597DA0"/>
              </a:solidFill>
            </c:spPr>
          </c:dPt>
          <c:dPt>
            <c:idx val="3"/>
            <c:invertIfNegative val="0"/>
            <c:spPr>
              <a:solidFill xmlns:a="http://schemas.openxmlformats.org/drawingml/2006/main">
                <a:srgbClr val="75669B"/>
              </a:solidFill>
            </c:spPr>
          </c:dPt>
          <c:dPt>
            <c:idx val="4"/>
            <c:invertIfNegative val="0"/>
            <c:spPr>
              <a:solidFill xmlns:a="http://schemas.openxmlformats.org/drawingml/2006/main">
                <a:srgbClr val="B87721"/>
              </a:solidFill>
            </c:spPr>
          </c:dPt>
          <c:cat>
            <c:strRef>
              <c:f>'Chart Data'!$A$2:$A$6</c:f>
              <c:strCache>
                <c:ptCount val="5"/>
                <c:pt idx="0">
                  <c:v>Iterative
19/30</c:v>
                </c:pt>
                <c:pt idx="1">
                  <c:v>Upfront
4/30</c:v>
                </c:pt>
                <c:pt idx="2">
                  <c:v>Sequential
4/30</c:v>
                </c:pt>
                <c:pt idx="3">
                  <c:v>Random
10/30</c:v>
                </c:pt>
                <c:pt idx="4">
                  <c:v>Shuffled
6/30</c:v>
                </c:pt>
              </c:strCache>
            </c:strRef>
          </c:cat>
          <c:val>
            <c:numRef>
              <c:f>'Chart Data'!$B$2:$B$6</c:f>
              <c:numCache>
                <c:formatCode>0%</c:formatCode>
                <c:ptCount val="5"/>
                <c:pt idx="0">
                  <c:v>0.6333333333</c:v>
                </c:pt>
                <c:pt idx="1">
                  <c:v>0.1333333333</c:v>
                </c:pt>
                <c:pt idx="2">
                  <c:v>0.1333333333</c:v>
                </c:pt>
                <c:pt idx="3">
                  <c:v>0.3333333333</c:v>
                </c:pt>
                <c:pt idx="4">
                  <c:v>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62B3A"/>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800">
                <a:solidFill>
                  <a:srgbClr val="16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DFE3"/>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36574"/>
                    </a:solidFill>
                    <a:latin typeface="Arial"/>
                    <a:ea typeface="Arial"/>
                    <a:cs typeface="Arial"/>
                  </a:rPr>
                  <a:t>Success rate</a:t>
                </a:r>
              </a:p>
            </c:rich>
          </c:tx>
          <c:overlay val="0"/>
          <c:txPr>
            <a:bodyPr xmlns:a="http://schemas.openxmlformats.org/drawingml/2006/main" anchorCtr="1"/>
            <a:lstStyle xmlns:a="http://schemas.openxmlformats.org/drawingml/2006/main"/>
            <a:p xmlns:a="http://schemas.openxmlformats.org/drawingml/2006/main">
              <a:pPr>
                <a:defRPr sz="1650">
                  <a:solidFill>
                    <a:srgbClr val="536574"/>
                  </a:solidFill>
                  <a:latin typeface="Arial"/>
                  <a:ea typeface="Arial"/>
                  <a:cs typeface="Arial"/>
                </a:defRPr>
              </a:pPr>
            </a:p>
          </c:txPr>
        </c:title>
        <c:numFmt formatCode="0%"/>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575">
                <a:solidFill>
                  <a:srgbClr val="536574"/>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Iterative</c:v>
          </c:tx>
          <c:spPr>
            <a:ln xmlns:a="http://schemas.openxmlformats.org/drawingml/2006/main" w="33338">
              <a:solidFill>
                <a:srgbClr val="087F8C"/>
              </a:solidFill>
              <a:prstDash val="solid"/>
            </a:ln>
          </c:spPr>
          <c:marker>
            <c:symbol val="circle"/>
            <c:size val="6"/>
            <c:spPr>
              <a:solidFill xmlns:a="http://schemas.openxmlformats.org/drawingml/2006/main">
                <a:srgbClr val="087F8C"/>
              </a:solidFill>
            </c:spPr>
          </c:marker>
          <c:cat>
            <c:numRef>
              <c:f>'Chart Data'!$A$2:$A$11</c:f>
              <c:numCache>
                <c:formatCode>0</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c:v>
                </c:pt>
                <c:pt idx="1">
                  <c:v>0</c:v>
                </c:pt>
                <c:pt idx="2">
                  <c:v>0</c:v>
                </c:pt>
                <c:pt idx="3">
                  <c:v>0</c:v>
                </c:pt>
                <c:pt idx="4">
                  <c:v>0.03333333333</c:v>
                </c:pt>
                <c:pt idx="5">
                  <c:v>0.1</c:v>
                </c:pt>
                <c:pt idx="6">
                  <c:v>0.2</c:v>
                </c:pt>
                <c:pt idx="7">
                  <c:v>0.4</c:v>
                </c:pt>
                <c:pt idx="8">
                  <c:v>0.5666666667</c:v>
                </c:pt>
                <c:pt idx="9">
                  <c:v>0.6333333333</c:v>
                </c:pt>
              </c:numCache>
            </c:numRef>
          </c:val>
        </c:ser>
        <c:ser>
          <c:idx val="1"/>
          <c:order val="1"/>
          <c:tx>
            <c:v>Sequential</c:v>
          </c:tx>
          <c:spPr>
            <a:ln xmlns:a="http://schemas.openxmlformats.org/drawingml/2006/main" w="33338">
              <a:solidFill>
                <a:srgbClr val="597DA0"/>
              </a:solidFill>
              <a:prstDash val="solid"/>
            </a:ln>
          </c:spPr>
          <c:marker>
            <c:symbol val="circle"/>
            <c:size val="6"/>
            <c:spPr>
              <a:solidFill xmlns:a="http://schemas.openxmlformats.org/drawingml/2006/main">
                <a:srgbClr val="597DA0"/>
              </a:solidFill>
            </c:spPr>
          </c:marker>
          <c:cat>
            <c:numRef>
              <c:f>'Chart Data'!$C$2:$C$11</c:f>
              <c:numCache>
                <c:formatCode>0</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c:v>
                </c:pt>
                <c:pt idx="1">
                  <c:v>0</c:v>
                </c:pt>
                <c:pt idx="2">
                  <c:v>0</c:v>
                </c:pt>
                <c:pt idx="3">
                  <c:v>0</c:v>
                </c:pt>
                <c:pt idx="4">
                  <c:v>0.03333333333</c:v>
                </c:pt>
                <c:pt idx="5">
                  <c:v>0.06666666667</c:v>
                </c:pt>
                <c:pt idx="6">
                  <c:v>0.1</c:v>
                </c:pt>
                <c:pt idx="7">
                  <c:v>0.1</c:v>
                </c:pt>
                <c:pt idx="8">
                  <c:v>0.1</c:v>
                </c:pt>
                <c:pt idx="9">
                  <c:v>0.1333333333</c:v>
                </c:pt>
              </c:numCache>
            </c:numRef>
          </c:val>
        </c:ser>
        <c:ser>
          <c:idx val="2"/>
          <c:order val="2"/>
          <c:tx>
            <c:v>Exact random</c:v>
          </c:tx>
          <c:spPr>
            <a:ln xmlns:a="http://schemas.openxmlformats.org/drawingml/2006/main" w="33338">
              <a:solidFill>
                <a:srgbClr val="75669B"/>
              </a:solidFill>
              <a:prstDash val="solid"/>
            </a:ln>
          </c:spPr>
          <c:marker>
            <c:symbol val="circle"/>
            <c:size val="6"/>
            <c:spPr>
              <a:solidFill xmlns:a="http://schemas.openxmlformats.org/drawingml/2006/main">
                <a:srgbClr val="75669B"/>
              </a:solidFill>
            </c:spPr>
          </c:marker>
          <c:cat>
            <c:numRef>
              <c:f>'Chart Data'!$E$2:$E$11</c:f>
              <c:numCache>
                <c:formatCode>0</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0%</c:formatCode>
                <c:ptCount val="10"/>
                <c:pt idx="0">
                  <c:v>0.04</c:v>
                </c:pt>
                <c:pt idx="1">
                  <c:v>0.07918367347</c:v>
                </c:pt>
                <c:pt idx="2">
                  <c:v>0.1175510204</c:v>
                </c:pt>
                <c:pt idx="3">
                  <c:v>0.1551020408</c:v>
                </c:pt>
                <c:pt idx="4">
                  <c:v>0.1918367347</c:v>
                </c:pt>
                <c:pt idx="5">
                  <c:v>0.227755102</c:v>
                </c:pt>
                <c:pt idx="6">
                  <c:v>0.2628571429</c:v>
                </c:pt>
                <c:pt idx="7">
                  <c:v>0.2971428571</c:v>
                </c:pt>
                <c:pt idx="8">
                  <c:v>0.3306122449</c:v>
                </c:pt>
                <c:pt idx="9">
                  <c:v>0.3632653061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536574"/>
                    </a:solidFill>
                    <a:latin typeface="Arial"/>
                    <a:ea typeface="Arial"/>
                    <a:cs typeface="Arial"/>
                  </a:rPr>
                  <a:t>Queries used</a:t>
                </a:r>
              </a:p>
            </c:rich>
          </c:tx>
          <c:overlay val="0"/>
          <c:txPr>
            <a:bodyPr xmlns:a="http://schemas.openxmlformats.org/drawingml/2006/main" anchorCtr="1"/>
            <a:lstStyle xmlns:a="http://schemas.openxmlformats.org/drawingml/2006/main"/>
            <a:p xmlns:a="http://schemas.openxmlformats.org/drawingml/2006/main">
              <a:pPr>
                <a:defRPr sz="1650">
                  <a:solidFill>
                    <a:srgbClr val="536574"/>
                  </a:solidFill>
                  <a:latin typeface="Arial"/>
                  <a:ea typeface="Arial"/>
                  <a:cs typeface="Arial"/>
                </a:defRPr>
              </a:pPr>
            </a:p>
          </c:txPr>
        </c:title>
        <c:numFmt formatCode="0"/>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575">
                <a:solidFill>
                  <a:srgbClr val="536574"/>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DFE3"/>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36574"/>
                    </a:solidFill>
                    <a:latin typeface="Arial"/>
                    <a:ea typeface="Arial"/>
                    <a:cs typeface="Arial"/>
                  </a:rPr>
                  <a:t>Success rate</a:t>
                </a:r>
              </a:p>
            </c:rich>
          </c:tx>
          <c:overlay val="0"/>
          <c:txPr>
            <a:bodyPr xmlns:a="http://schemas.openxmlformats.org/drawingml/2006/main" anchorCtr="1"/>
            <a:lstStyle xmlns:a="http://schemas.openxmlformats.org/drawingml/2006/main"/>
            <a:p xmlns:a="http://schemas.openxmlformats.org/drawingml/2006/main">
              <a:pPr>
                <a:defRPr sz="1650">
                  <a:solidFill>
                    <a:srgbClr val="536574"/>
                  </a:solidFill>
                  <a:latin typeface="Arial"/>
                  <a:ea typeface="Arial"/>
                  <a:cs typeface="Arial"/>
                </a:defRPr>
              </a:pPr>
            </a:p>
          </c:txPr>
        </c:title>
        <c:numFmt formatCode="0%"/>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575">
                <a:solidFill>
                  <a:srgbClr val="536574"/>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2B3A"/>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Relaxed adhesion</c:v>
          </c:tx>
          <c:spPr>
            <a:ln xmlns:a="http://schemas.openxmlformats.org/drawingml/2006/main" w="38100">
              <a:solidFill>
                <a:srgbClr val="087F8C"/>
              </a:solidFill>
              <a:prstDash val="solid"/>
            </a:ln>
          </c:spPr>
          <c:marker>
            <c:symbol val="circle"/>
            <c:size val="9"/>
            <c:spPr>
              <a:solidFill xmlns:a="http://schemas.openxmlformats.org/drawingml/2006/main">
                <a:srgbClr val="087F8C"/>
              </a:solidFill>
            </c:spPr>
          </c:marker>
          <c:cat>
            <c:strRef>
              <c:f>'Chart Data'!$A$2:$A$4</c:f>
              <c:strCache>
                <c:ptCount val="3"/>
                <c:pt idx="0">
                  <c:v>2 layers
440 atoms</c:v>
                </c:pt>
                <c:pt idx="1">
                  <c:v>3 layers
492 atoms</c:v>
                </c:pt>
                <c:pt idx="2">
                  <c:v>4 layers
544 atoms</c:v>
                </c:pt>
              </c:strCache>
            </c:strRef>
          </c:cat>
          <c:val>
            <c:numRef>
              <c:f>'Chart Data'!$B$2:$B$4</c:f>
              <c:numCache>
                <c:formatCode>0.0</c:formatCode>
                <c:ptCount val="3"/>
                <c:pt idx="0">
                  <c:v>1.329131198</c:v>
                </c:pt>
                <c:pt idx="1">
                  <c:v>1.464370921</c:v>
                </c:pt>
                <c:pt idx="2">
                  <c:v>1.531725843</c:v>
                </c:pt>
              </c:numCache>
            </c:numRef>
          </c:val>
        </c:ser>
        <c:ser>
          <c:idx val="1"/>
          <c:order val="1"/>
          <c:tx>
            <c:v>Fixed-geometry separation</c:v>
          </c:tx>
          <c:spPr>
            <a:ln xmlns:a="http://schemas.openxmlformats.org/drawingml/2006/main" w="38100">
              <a:solidFill>
                <a:srgbClr val="75669B"/>
              </a:solidFill>
              <a:prstDash val="solid"/>
            </a:ln>
          </c:spPr>
          <c:marker>
            <c:symbol val="square"/>
            <c:size val="9"/>
            <c:spPr>
              <a:solidFill xmlns:a="http://schemas.openxmlformats.org/drawingml/2006/main">
                <a:srgbClr val="75669B"/>
              </a:solidFill>
            </c:spPr>
          </c:marker>
          <c:cat>
            <c:strRef>
              <c:f>'Chart Data'!$C$2:$C$4</c:f>
              <c:strCache>
                <c:ptCount val="3"/>
                <c:pt idx="0">
                  <c:v>2 layers
440 atoms</c:v>
                </c:pt>
                <c:pt idx="1">
                  <c:v>3 layers
492 atoms</c:v>
                </c:pt>
                <c:pt idx="2">
                  <c:v>4 layers
544 atoms</c:v>
                </c:pt>
              </c:strCache>
            </c:strRef>
          </c:cat>
          <c:val>
            <c:numRef>
              <c:f>'Chart Data'!$D$2:$D$4</c:f>
              <c:numCache>
                <c:formatCode>0.0</c:formatCode>
                <c:ptCount val="3"/>
                <c:pt idx="0">
                  <c:v>2.519038548</c:v>
                </c:pt>
                <c:pt idx="1">
                  <c:v>2.805156618</c:v>
                </c:pt>
                <c:pt idx="2">
                  <c:v>2.857898305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650">
                <a:solidFill>
                  <a:srgbClr val="162B3A"/>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D6DFE3"/>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36574"/>
                    </a:solidFill>
                    <a:latin typeface="Arial"/>
                    <a:ea typeface="Arial"/>
                    <a:cs typeface="Arial"/>
                  </a:rPr>
                  <a:t>Energy per area (J/m²)</a:t>
                </a:r>
              </a:p>
            </c:rich>
          </c:tx>
          <c:overlay val="0"/>
          <c:txPr>
            <a:bodyPr xmlns:a="http://schemas.openxmlformats.org/drawingml/2006/main" anchorCtr="1"/>
            <a:lstStyle xmlns:a="http://schemas.openxmlformats.org/drawingml/2006/main"/>
            <a:p xmlns:a="http://schemas.openxmlformats.org/drawingml/2006/main">
              <a:pPr>
                <a:defRPr sz="1650">
                  <a:solidFill>
                    <a:srgbClr val="536574"/>
                  </a:solidFill>
                  <a:latin typeface="Arial"/>
                  <a:ea typeface="Arial"/>
                  <a:cs typeface="Arial"/>
                </a:defRPr>
              </a:pPr>
            </a:p>
          </c:txPr>
        </c:title>
        <c:numFmt formatCode="0.0"/>
        <c:majorTickMark val="none"/>
        <c:minorTickMark val="none"/>
        <c:spPr>
          <a:ln xmlns:a="http://schemas.openxmlformats.org/drawingml/2006/main" w="9525">
            <a:solidFill>
              <a:srgbClr val="D6DFE3"/>
            </a:solidFill>
          </a:ln>
        </c:spPr>
        <c:txPr>
          <a:bodyPr xmlns:a="http://schemas.openxmlformats.org/drawingml/2006/main" anchorCtr="1"/>
          <a:lstStyle xmlns:a="http://schemas.openxmlformats.org/drawingml/2006/main"/>
          <a:p xmlns:a="http://schemas.openxmlformats.org/drawingml/2006/main">
            <a:pPr>
              <a:defRPr sz="1575">
                <a:solidFill>
                  <a:srgbClr val="536574"/>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62B3A"/>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7649B0-509B-456C-B4B8-D6975230EE70}"/>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9B9"/>
                </a:solidFill>
                <a:latin typeface="Arial"/>
                <a:ea typeface="Arial"/>
                <a:cs typeface="Arial"/>
              </a:defRPr>
            </a:defPPr>
            <a:lvl1pPr algn="r">
              <a:buNone/>
              <a:defRPr sz="1275" b="0">
                <a:solidFill>
                  <a:srgbClr val="94A9B9"/>
                </a:solidFill>
                <a:latin typeface="Arial"/>
                <a:ea typeface="Arial"/>
                <a:cs typeface="Arial"/>
              </a:defRPr>
            </a:lvl1pPr>
            <a:lvl2pPr algn="r">
              <a:buNone/>
              <a:defRPr sz="1275" b="0">
                <a:solidFill>
                  <a:srgbClr val="94A9B9"/>
                </a:solidFill>
                <a:latin typeface="Arial"/>
                <a:ea typeface="Arial"/>
                <a:cs typeface="Arial"/>
              </a:defRPr>
            </a:lvl2pPr>
            <a:lvl3pPr algn="r">
              <a:buNone/>
              <a:defRPr sz="1275" b="0">
                <a:solidFill>
                  <a:srgbClr val="94A9B9"/>
                </a:solidFill>
                <a:latin typeface="Arial"/>
                <a:ea typeface="Arial"/>
                <a:cs typeface="Arial"/>
              </a:defRPr>
            </a:lvl3pPr>
            <a:lvl4pPr algn="r">
              <a:buNone/>
              <a:defRPr sz="1275" b="0">
                <a:solidFill>
                  <a:srgbClr val="94A9B9"/>
                </a:solidFill>
                <a:latin typeface="Arial"/>
                <a:ea typeface="Arial"/>
                <a:cs typeface="Arial"/>
              </a:defRPr>
            </a:lvl4pPr>
            <a:lvl5pPr algn="r">
              <a:buNone/>
              <a:defRPr sz="1275" b="0">
                <a:solidFill>
                  <a:srgbClr val="94A9B9"/>
                </a:solidFill>
                <a:latin typeface="Arial"/>
                <a:ea typeface="Arial"/>
                <a:cs typeface="Arial"/>
              </a:defRPr>
            </a:lvl5pPr>
            <a:lvl6pPr algn="r">
              <a:buNone/>
              <a:defRPr sz="1275" b="0">
                <a:solidFill>
                  <a:srgbClr val="94A9B9"/>
                </a:solidFill>
                <a:latin typeface="Arial"/>
                <a:ea typeface="Arial"/>
                <a:cs typeface="Arial"/>
              </a:defRPr>
            </a:lvl6pPr>
            <a:lvl7pPr algn="r">
              <a:buNone/>
              <a:defRPr sz="1275" b="0">
                <a:solidFill>
                  <a:srgbClr val="94A9B9"/>
                </a:solidFill>
                <a:latin typeface="Arial"/>
                <a:ea typeface="Arial"/>
                <a:cs typeface="Arial"/>
              </a:defRPr>
            </a:lvl7pPr>
            <a:lvl8pPr algn="r">
              <a:buNone/>
              <a:defRPr sz="1275" b="0">
                <a:solidFill>
                  <a:srgbClr val="94A9B9"/>
                </a:solidFill>
                <a:latin typeface="Arial"/>
                <a:ea typeface="Arial"/>
                <a:cs typeface="Arial"/>
              </a:defRPr>
            </a:lvl8pPr>
            <a:lvl9pPr algn="r">
              <a:buNone/>
              <a:defRPr sz="1275" b="0">
                <a:solidFill>
                  <a:srgbClr val="94A9B9"/>
                </a:solidFill>
                <a:latin typeface="Arial"/>
                <a:ea typeface="Arial"/>
                <a:cs typeface="Arial"/>
              </a:defRPr>
            </a:lvl9pPr>
          </a:lstStyle>
          <a:p xmlns:a="http://schemas.openxmlformats.org/drawingml/2006/main">
            <a:pPr algn="r">
              <a:buNone/>
              <a:defRPr sz="1275" b="0">
                <a:solidFill>
                  <a:srgbClr val="94A9B9"/>
                </a:solidFill>
                <a:latin typeface="Arial"/>
                <a:ea typeface="Arial"/>
                <a:cs typeface="Arial"/>
              </a:defRPr>
            </a:pPr>
            <a:r>
              <a:rPr sz="1275" b="0">
                <a:solidFill>
                  <a:srgbClr val="94A9B9"/>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F76AD0DF-8E55-4B98-970C-8291813A0752}"/>
              </a:ext>
            </a:extLst>
          </p:cNvPr>
          <p:cNvPicPr>
            <a:picLocks xmlns:a="http://schemas.openxmlformats.org/drawingml/2006/main" noChangeAspect="1"/>
          </p:cNvPicPr>
          <p:nvPr/>
        </p:nvPicPr>
        <p:blipFill>
          <a:blip xmlns:r="http://schemas.openxmlformats.org/officeDocument/2006/relationships" xmlns:a="http://schemas.openxmlformats.org/drawingml/2006/main" r:embed="R06d6e997649944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0A2ADE-6A3A-4F4A-9B92-AECE01BA9583}"/>
              </a:ext>
            </a:extLst>
          </p:cNvPr>
          <p:cNvSpPr>
            <a:spLocks xmlns:a="http://schemas.openxmlformats.org/drawingml/2006/main" noGrp="1"/>
          </p:cNvSpPr>
          <p:nvPr/>
        </p:nvSpPr>
        <p:spPr>
          <a:xfrm xmlns:a="http://schemas.openxmlformats.org/drawingml/2006/main">
            <a:off x="609600" y="1743075"/>
            <a:ext cx="628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FFFFFF"/>
                </a:solidFill>
                <a:latin typeface="Arial"/>
                <a:ea typeface="Arial"/>
                <a:cs typeface="Arial"/>
              </a:defRPr>
            </a:defPPr>
            <a:lvl1pPr algn="l">
              <a:buNone/>
              <a:defRPr sz="5400" b="1">
                <a:solidFill>
                  <a:srgbClr val="FFFFFF"/>
                </a:solidFill>
                <a:latin typeface="Arial"/>
                <a:ea typeface="Arial"/>
                <a:cs typeface="Arial"/>
              </a:defRPr>
            </a:lvl1pPr>
            <a:lvl2pPr algn="l">
              <a:buNone/>
              <a:defRPr sz="5400" b="1">
                <a:solidFill>
                  <a:srgbClr val="FFFFFF"/>
                </a:solidFill>
                <a:latin typeface="Arial"/>
                <a:ea typeface="Arial"/>
                <a:cs typeface="Arial"/>
              </a:defRPr>
            </a:lvl2pPr>
            <a:lvl3pPr algn="l">
              <a:buNone/>
              <a:defRPr sz="5400" b="1">
                <a:solidFill>
                  <a:srgbClr val="FFFFFF"/>
                </a:solidFill>
                <a:latin typeface="Arial"/>
                <a:ea typeface="Arial"/>
                <a:cs typeface="Arial"/>
              </a:defRPr>
            </a:lvl3pPr>
            <a:lvl4pPr algn="l">
              <a:buNone/>
              <a:defRPr sz="5400" b="1">
                <a:solidFill>
                  <a:srgbClr val="FFFFFF"/>
                </a:solidFill>
                <a:latin typeface="Arial"/>
                <a:ea typeface="Arial"/>
                <a:cs typeface="Arial"/>
              </a:defRPr>
            </a:lvl4pPr>
            <a:lvl5pPr algn="l">
              <a:buNone/>
              <a:defRPr sz="5400" b="1">
                <a:solidFill>
                  <a:srgbClr val="FFFFFF"/>
                </a:solidFill>
                <a:latin typeface="Arial"/>
                <a:ea typeface="Arial"/>
                <a:cs typeface="Arial"/>
              </a:defRPr>
            </a:lvl5pPr>
            <a:lvl6pPr algn="l">
              <a:buNone/>
              <a:defRPr sz="5400" b="1">
                <a:solidFill>
                  <a:srgbClr val="FFFFFF"/>
                </a:solidFill>
                <a:latin typeface="Arial"/>
                <a:ea typeface="Arial"/>
                <a:cs typeface="Arial"/>
              </a:defRPr>
            </a:lvl6pPr>
            <a:lvl7pPr algn="l">
              <a:buNone/>
              <a:defRPr sz="5400" b="1">
                <a:solidFill>
                  <a:srgbClr val="FFFFFF"/>
                </a:solidFill>
                <a:latin typeface="Arial"/>
                <a:ea typeface="Arial"/>
                <a:cs typeface="Arial"/>
              </a:defRPr>
            </a:lvl7pPr>
            <a:lvl8pPr algn="l">
              <a:buNone/>
              <a:defRPr sz="5400" b="1">
                <a:solidFill>
                  <a:srgbClr val="FFFFFF"/>
                </a:solidFill>
                <a:latin typeface="Arial"/>
                <a:ea typeface="Arial"/>
                <a:cs typeface="Arial"/>
              </a:defRPr>
            </a:lvl8pPr>
            <a:lvl9pPr algn="l">
              <a:buNone/>
              <a:defRPr sz="5400" b="1">
                <a:solidFill>
                  <a:srgbClr val="FFFFFF"/>
                </a:solidFill>
                <a:latin typeface="Arial"/>
                <a:ea typeface="Arial"/>
                <a:cs typeface="Arial"/>
              </a:defRPr>
            </a:lvl9pPr>
          </a:lstStyle>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interphAIse</a:t>
            </a:r>
          </a:p>
        </p:txBody>
      </p:sp>
      <p:sp>
        <p:nvSpPr>
          <p:cNvPr id="4" name="">
            <a:extLst xmlns:a="http://schemas.openxmlformats.org/drawingml/2006/main">
              <a:ext uri="{FF2B5EF4-FFF2-40B4-BE49-F238E27FC236}">
                <a16:creationId xmlns:a16="http://schemas.microsoft.com/office/drawing/2014/main" id="{7FB13C2C-3A05-4FD9-9980-174B66D7701C}"/>
              </a:ext>
            </a:extLst>
          </p:cNvPr>
          <p:cNvSpPr>
            <a:spLocks xmlns:a="http://schemas.openxmlformats.org/drawingml/2006/main" noGrp="1"/>
          </p:cNvSpPr>
          <p:nvPr/>
        </p:nvSpPr>
        <p:spPr>
          <a:xfrm xmlns:a="http://schemas.openxmlformats.org/drawingml/2006/main">
            <a:off x="647700" y="2867025"/>
            <a:ext cx="60579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FFFFF"/>
                </a:solidFill>
                <a:latin typeface="Arial"/>
                <a:ea typeface="Arial"/>
                <a:cs typeface="Arial"/>
              </a:defRPr>
            </a:defPPr>
            <a:lvl1pPr algn="l">
              <a:buNone/>
              <a:defRPr sz="3000" b="0">
                <a:solidFill>
                  <a:srgbClr val="FFFFFF"/>
                </a:solidFill>
                <a:latin typeface="Arial"/>
                <a:ea typeface="Arial"/>
                <a:cs typeface="Arial"/>
              </a:defRPr>
            </a:lvl1pPr>
            <a:lvl2pPr algn="l">
              <a:buNone/>
              <a:defRPr sz="3000" b="0">
                <a:solidFill>
                  <a:srgbClr val="FFFFFF"/>
                </a:solidFill>
                <a:latin typeface="Arial"/>
                <a:ea typeface="Arial"/>
                <a:cs typeface="Arial"/>
              </a:defRPr>
            </a:lvl2pPr>
            <a:lvl3pPr algn="l">
              <a:buNone/>
              <a:defRPr sz="3000" b="0">
                <a:solidFill>
                  <a:srgbClr val="FFFFFF"/>
                </a:solidFill>
                <a:latin typeface="Arial"/>
                <a:ea typeface="Arial"/>
                <a:cs typeface="Arial"/>
              </a:defRPr>
            </a:lvl3pPr>
            <a:lvl4pPr algn="l">
              <a:buNone/>
              <a:defRPr sz="3000" b="0">
                <a:solidFill>
                  <a:srgbClr val="FFFFFF"/>
                </a:solidFill>
                <a:latin typeface="Arial"/>
                <a:ea typeface="Arial"/>
                <a:cs typeface="Arial"/>
              </a:defRPr>
            </a:lvl4pPr>
            <a:lvl5pPr algn="l">
              <a:buNone/>
              <a:defRPr sz="3000" b="0">
                <a:solidFill>
                  <a:srgbClr val="FFFFFF"/>
                </a:solidFill>
                <a:latin typeface="Arial"/>
                <a:ea typeface="Arial"/>
                <a:cs typeface="Arial"/>
              </a:defRPr>
            </a:lvl5pPr>
            <a:lvl6pPr algn="l">
              <a:buNone/>
              <a:defRPr sz="3000" b="0">
                <a:solidFill>
                  <a:srgbClr val="FFFFFF"/>
                </a:solidFill>
                <a:latin typeface="Arial"/>
                <a:ea typeface="Arial"/>
                <a:cs typeface="Arial"/>
              </a:defRPr>
            </a:lvl6pPr>
            <a:lvl7pPr algn="l">
              <a:buNone/>
              <a:defRPr sz="3000" b="0">
                <a:solidFill>
                  <a:srgbClr val="FFFFFF"/>
                </a:solidFill>
                <a:latin typeface="Arial"/>
                <a:ea typeface="Arial"/>
                <a:cs typeface="Arial"/>
              </a:defRPr>
            </a:lvl7pPr>
            <a:lvl8pPr algn="l">
              <a:buNone/>
              <a:defRPr sz="3000" b="0">
                <a:solidFill>
                  <a:srgbClr val="FFFFFF"/>
                </a:solidFill>
                <a:latin typeface="Arial"/>
                <a:ea typeface="Arial"/>
                <a:cs typeface="Arial"/>
              </a:defRPr>
            </a:lvl8pPr>
            <a:lvl9pPr algn="l">
              <a:buNone/>
              <a:defRPr sz="3000" b="0">
                <a:solidFill>
                  <a:srgbClr val="FFFFFF"/>
                </a:solidFill>
                <a:latin typeface="Arial"/>
                <a:ea typeface="Arial"/>
                <a:cs typeface="Arial"/>
              </a:defRPr>
            </a:lvl9pPr>
          </a:lstStyle>
          <a:p xmlns:a="http://schemas.openxmlformats.org/drawingml/2006/main">
            <a:pPr algn="l">
              <a:buNone/>
              <a:defRPr sz="3000" b="0">
                <a:solidFill>
                  <a:srgbClr val="FFFFFF"/>
                </a:solidFill>
                <a:latin typeface="Arial"/>
                <a:ea typeface="Arial"/>
                <a:cs typeface="Arial"/>
              </a:defRPr>
            </a:pPr>
            <a:r>
              <a:rPr sz="3000" b="0">
                <a:solidFill>
                  <a:srgbClr val="FFFFFF"/>
                </a:solidFill>
                <a:latin typeface="Arial"/>
                <a:ea typeface="Arial"/>
                <a:cs typeface="Arial"/>
              </a:rPr>
              <a:t>AI-guided selection of</a:t>
            </a:r>
          </a:p>
          <a:p xmlns:a="http://schemas.openxmlformats.org/drawingml/2006/main">
            <a:pPr algn="l">
              <a:buNone/>
              <a:defRPr sz="3000" b="0">
                <a:solidFill>
                  <a:srgbClr val="FFFFFF"/>
                </a:solidFill>
                <a:latin typeface="Arial"/>
                <a:ea typeface="Arial"/>
                <a:cs typeface="Arial"/>
              </a:defRPr>
            </a:pPr>
            <a:r>
              <a:rPr sz="3000" b="0">
                <a:solidFill>
                  <a:srgbClr val="FFFFFF"/>
                </a:solidFill>
                <a:latin typeface="Arial"/>
                <a:ea typeface="Arial"/>
                <a:cs typeface="Arial"/>
              </a:rPr>
              <a:t>solid-state battery coatings</a:t>
            </a:r>
          </a:p>
        </p:txBody>
      </p:sp>
      <p:sp>
        <p:nvSpPr>
          <p:cNvPr id="5" name="">
            <a:extLst xmlns:a="http://schemas.openxmlformats.org/drawingml/2006/main">
              <a:ext uri="{FF2B5EF4-FFF2-40B4-BE49-F238E27FC236}">
                <a16:creationId xmlns:a16="http://schemas.microsoft.com/office/drawing/2014/main" id="{9EB3E213-F913-4104-9E39-1F565ABC56FE}"/>
              </a:ext>
            </a:extLst>
          </p:cNvPr>
          <p:cNvSpPr>
            <a:spLocks xmlns:a="http://schemas.openxmlformats.org/drawingml/2006/main" noGrp="1"/>
          </p:cNvSpPr>
          <p:nvPr/>
        </p:nvSpPr>
        <p:spPr>
          <a:xfrm xmlns:a="http://schemas.openxmlformats.org/drawingml/2006/main">
            <a:off x="647700" y="44958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75D8CC"/>
                </a:solidFill>
                <a:latin typeface="Arial"/>
                <a:ea typeface="Arial"/>
                <a:cs typeface="Arial"/>
              </a:defRPr>
            </a:defPPr>
            <a:lvl1pPr algn="l">
              <a:buNone/>
              <a:defRPr sz="2025" b="0">
                <a:solidFill>
                  <a:srgbClr val="75D8CC"/>
                </a:solidFill>
                <a:latin typeface="Arial"/>
                <a:ea typeface="Arial"/>
                <a:cs typeface="Arial"/>
              </a:defRPr>
            </a:lvl1pPr>
            <a:lvl2pPr algn="l">
              <a:buNone/>
              <a:defRPr sz="2025" b="0">
                <a:solidFill>
                  <a:srgbClr val="75D8CC"/>
                </a:solidFill>
                <a:latin typeface="Arial"/>
                <a:ea typeface="Arial"/>
                <a:cs typeface="Arial"/>
              </a:defRPr>
            </a:lvl2pPr>
            <a:lvl3pPr algn="l">
              <a:buNone/>
              <a:defRPr sz="2025" b="0">
                <a:solidFill>
                  <a:srgbClr val="75D8CC"/>
                </a:solidFill>
                <a:latin typeface="Arial"/>
                <a:ea typeface="Arial"/>
                <a:cs typeface="Arial"/>
              </a:defRPr>
            </a:lvl3pPr>
            <a:lvl4pPr algn="l">
              <a:buNone/>
              <a:defRPr sz="2025" b="0">
                <a:solidFill>
                  <a:srgbClr val="75D8CC"/>
                </a:solidFill>
                <a:latin typeface="Arial"/>
                <a:ea typeface="Arial"/>
                <a:cs typeface="Arial"/>
              </a:defRPr>
            </a:lvl4pPr>
            <a:lvl5pPr algn="l">
              <a:buNone/>
              <a:defRPr sz="2025" b="0">
                <a:solidFill>
                  <a:srgbClr val="75D8CC"/>
                </a:solidFill>
                <a:latin typeface="Arial"/>
                <a:ea typeface="Arial"/>
                <a:cs typeface="Arial"/>
              </a:defRPr>
            </a:lvl5pPr>
            <a:lvl6pPr algn="l">
              <a:buNone/>
              <a:defRPr sz="2025" b="0">
                <a:solidFill>
                  <a:srgbClr val="75D8CC"/>
                </a:solidFill>
                <a:latin typeface="Arial"/>
                <a:ea typeface="Arial"/>
                <a:cs typeface="Arial"/>
              </a:defRPr>
            </a:lvl6pPr>
            <a:lvl7pPr algn="l">
              <a:buNone/>
              <a:defRPr sz="2025" b="0">
                <a:solidFill>
                  <a:srgbClr val="75D8CC"/>
                </a:solidFill>
                <a:latin typeface="Arial"/>
                <a:ea typeface="Arial"/>
                <a:cs typeface="Arial"/>
              </a:defRPr>
            </a:lvl7pPr>
            <a:lvl8pPr algn="l">
              <a:buNone/>
              <a:defRPr sz="2025" b="0">
                <a:solidFill>
                  <a:srgbClr val="75D8CC"/>
                </a:solidFill>
                <a:latin typeface="Arial"/>
                <a:ea typeface="Arial"/>
                <a:cs typeface="Arial"/>
              </a:defRPr>
            </a:lvl8pPr>
            <a:lvl9pPr algn="l">
              <a:buNone/>
              <a:defRPr sz="2025" b="0">
                <a:solidFill>
                  <a:srgbClr val="75D8CC"/>
                </a:solidFill>
                <a:latin typeface="Arial"/>
                <a:ea typeface="Arial"/>
                <a:cs typeface="Arial"/>
              </a:defRPr>
            </a:lvl9pPr>
          </a:lstStyle>
          <a:p xmlns:a="http://schemas.openxmlformats.org/drawingml/2006/main">
            <a:pPr algn="l">
              <a:buNone/>
              <a:defRPr sz="2025" b="0">
                <a:solidFill>
                  <a:srgbClr val="75D8CC"/>
                </a:solidFill>
                <a:latin typeface="Arial"/>
                <a:ea typeface="Arial"/>
                <a:cs typeface="Arial"/>
              </a:defRPr>
            </a:pPr>
            <a:r>
              <a:rPr sz="2025" b="0">
                <a:solidFill>
                  <a:srgbClr val="75D8CC"/>
                </a:solidFill>
                <a:latin typeface="Arial"/>
                <a:ea typeface="Arial"/>
                <a:cs typeface="Arial"/>
              </a:rPr>
              <a:t>Main ideas and results</a:t>
            </a:r>
          </a:p>
        </p:txBody>
      </p:sp>
      <p:sp>
        <p:nvSpPr>
          <p:cNvPr id="6" name="">
            <a:extLst xmlns:a="http://schemas.openxmlformats.org/drawingml/2006/main">
              <a:ext uri="{FF2B5EF4-FFF2-40B4-BE49-F238E27FC236}">
                <a16:creationId xmlns:a16="http://schemas.microsoft.com/office/drawing/2014/main" id="{38EDF921-BA07-4768-B87E-B43FEF9747C5}"/>
              </a:ext>
            </a:extLst>
          </p:cNvPr>
          <p:cNvSpPr>
            <a:spLocks xmlns:a="http://schemas.openxmlformats.org/drawingml/2006/main" noGrp="1"/>
          </p:cNvSpPr>
          <p:nvPr/>
        </p:nvSpPr>
        <p:spPr>
          <a:xfrm xmlns:a="http://schemas.openxmlformats.org/drawingml/2006/main">
            <a:off x="647700" y="557212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9CCD7"/>
                </a:solidFill>
                <a:latin typeface="Arial"/>
                <a:ea typeface="Arial"/>
                <a:cs typeface="Arial"/>
              </a:defRPr>
            </a:defPPr>
            <a:lvl1pPr algn="l">
              <a:buNone/>
              <a:defRPr sz="1650" b="0">
                <a:solidFill>
                  <a:srgbClr val="B9CCD7"/>
                </a:solidFill>
                <a:latin typeface="Arial"/>
                <a:ea typeface="Arial"/>
                <a:cs typeface="Arial"/>
              </a:defRPr>
            </a:lvl1pPr>
            <a:lvl2pPr algn="l">
              <a:buNone/>
              <a:defRPr sz="1650" b="0">
                <a:solidFill>
                  <a:srgbClr val="B9CCD7"/>
                </a:solidFill>
                <a:latin typeface="Arial"/>
                <a:ea typeface="Arial"/>
                <a:cs typeface="Arial"/>
              </a:defRPr>
            </a:lvl2pPr>
            <a:lvl3pPr algn="l">
              <a:buNone/>
              <a:defRPr sz="1650" b="0">
                <a:solidFill>
                  <a:srgbClr val="B9CCD7"/>
                </a:solidFill>
                <a:latin typeface="Arial"/>
                <a:ea typeface="Arial"/>
                <a:cs typeface="Arial"/>
              </a:defRPr>
            </a:lvl3pPr>
            <a:lvl4pPr algn="l">
              <a:buNone/>
              <a:defRPr sz="1650" b="0">
                <a:solidFill>
                  <a:srgbClr val="B9CCD7"/>
                </a:solidFill>
                <a:latin typeface="Arial"/>
                <a:ea typeface="Arial"/>
                <a:cs typeface="Arial"/>
              </a:defRPr>
            </a:lvl4pPr>
            <a:lvl5pPr algn="l">
              <a:buNone/>
              <a:defRPr sz="1650" b="0">
                <a:solidFill>
                  <a:srgbClr val="B9CCD7"/>
                </a:solidFill>
                <a:latin typeface="Arial"/>
                <a:ea typeface="Arial"/>
                <a:cs typeface="Arial"/>
              </a:defRPr>
            </a:lvl5pPr>
            <a:lvl6pPr algn="l">
              <a:buNone/>
              <a:defRPr sz="1650" b="0">
                <a:solidFill>
                  <a:srgbClr val="B9CCD7"/>
                </a:solidFill>
                <a:latin typeface="Arial"/>
                <a:ea typeface="Arial"/>
                <a:cs typeface="Arial"/>
              </a:defRPr>
            </a:lvl6pPr>
            <a:lvl7pPr algn="l">
              <a:buNone/>
              <a:defRPr sz="1650" b="0">
                <a:solidFill>
                  <a:srgbClr val="B9CCD7"/>
                </a:solidFill>
                <a:latin typeface="Arial"/>
                <a:ea typeface="Arial"/>
                <a:cs typeface="Arial"/>
              </a:defRPr>
            </a:lvl7pPr>
            <a:lvl8pPr algn="l">
              <a:buNone/>
              <a:defRPr sz="1650" b="0">
                <a:solidFill>
                  <a:srgbClr val="B9CCD7"/>
                </a:solidFill>
                <a:latin typeface="Arial"/>
                <a:ea typeface="Arial"/>
                <a:cs typeface="Arial"/>
              </a:defRPr>
            </a:lvl8pPr>
            <a:lvl9pPr algn="l">
              <a:buNone/>
              <a:defRPr sz="1650" b="0">
                <a:solidFill>
                  <a:srgbClr val="B9CCD7"/>
                </a:solidFill>
                <a:latin typeface="Arial"/>
                <a:ea typeface="Arial"/>
                <a:cs typeface="Arial"/>
              </a:defRPr>
            </a:lvl9pPr>
          </a:lstStyle>
          <a:p xmlns:a="http://schemas.openxmlformats.org/drawingml/2006/main">
            <a:pPr algn="l">
              <a:buNone/>
              <a:defRPr sz="1650" b="0">
                <a:solidFill>
                  <a:srgbClr val="B9CCD7"/>
                </a:solidFill>
                <a:latin typeface="Arial"/>
                <a:ea typeface="Arial"/>
                <a:cs typeface="Arial"/>
              </a:defRPr>
            </a:pPr>
            <a:r>
              <a:rPr sz="1650" b="0">
                <a:solidFill>
                  <a:srgbClr val="B9CCD7"/>
                </a:solidFill>
                <a:latin typeface="Arial"/>
                <a:ea typeface="Arial"/>
                <a:cs typeface="Arial"/>
              </a:rPr>
              <a:t>OSI Hackathon 2026</a:t>
            </a:r>
          </a:p>
          <a:p xmlns:a="http://schemas.openxmlformats.org/drawingml/2006/main">
            <a:pPr algn="l">
              <a:buNone/>
              <a:defRPr sz="1650" b="0">
                <a:solidFill>
                  <a:srgbClr val="B9CCD7"/>
                </a:solidFill>
                <a:latin typeface="Arial"/>
                <a:ea typeface="Arial"/>
                <a:cs typeface="Arial"/>
              </a:defRPr>
            </a:pPr>
            <a:r>
              <a:rPr sz="1650" b="0">
                <a:solidFill>
                  <a:srgbClr val="B9CCD7"/>
                </a:solidFill>
                <a:latin typeface="Arial"/>
                <a:ea typeface="Arial"/>
                <a:cs typeface="Arial"/>
              </a:rPr>
              <a:t>Project snapshot: 21 October 2026</a:t>
            </a:r>
          </a:p>
        </p:txBody>
      </p:sp>
    </p:spTree>
    <p:extLst>
      <p:ext uri="{BB962C8B-B14F-4D97-AF65-F5344CB8AC3E}">
        <p14:creationId xmlns:p14="http://schemas.microsoft.com/office/powerpoint/2010/main" val="528233541"/>
      </p:ext>
    </p:extLst>
  </p:cSld>
</p:sld>
</file>

<file path=ppt/slides/slide2.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BDF877-34FD-443E-8C0C-40E9579970E4}"/>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Where the LLM replaces human intuition</a:t>
            </a:r>
          </a:p>
        </p:txBody>
      </p:sp>
      <p:sp>
        <p:nvSpPr>
          <p:cNvPr id="2" name="">
            <a:extLst xmlns:a="http://schemas.openxmlformats.org/drawingml/2006/main">
              <a:ext uri="{FF2B5EF4-FFF2-40B4-BE49-F238E27FC236}">
                <a16:creationId xmlns:a16="http://schemas.microsoft.com/office/drawing/2014/main" id="{A1DA8ABF-2782-4186-BE16-5C8BA42E4584}"/>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95E472F-1356-4971-B037-CB4355B6E1DA}"/>
              </a:ext>
            </a:extLst>
          </p:cNvPr>
          <p:cNvSpPr>
            <a:spLocks xmlns:a="http://schemas.openxmlformats.org/drawingml/2006/main" noGrp="1"/>
          </p:cNvSpPr>
          <p:nvPr/>
        </p:nvSpPr>
        <p:spPr>
          <a:xfrm xmlns:a="http://schemas.openxmlformats.org/drawingml/2006/main">
            <a:off x="609600" y="17907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087F8C"/>
                </a:solidFill>
                <a:latin typeface="Arial"/>
                <a:ea typeface="Arial"/>
                <a:cs typeface="Arial"/>
              </a:defRPr>
            </a:defPPr>
            <a:lvl1pPr algn="l">
              <a:buNone/>
              <a:defRPr sz="3825" b="1">
                <a:solidFill>
                  <a:srgbClr val="087F8C"/>
                </a:solidFill>
                <a:latin typeface="Arial"/>
                <a:ea typeface="Arial"/>
                <a:cs typeface="Arial"/>
              </a:defRPr>
            </a:lvl1pPr>
            <a:lvl2pPr algn="l">
              <a:buNone/>
              <a:defRPr sz="3825" b="1">
                <a:solidFill>
                  <a:srgbClr val="087F8C"/>
                </a:solidFill>
                <a:latin typeface="Arial"/>
                <a:ea typeface="Arial"/>
                <a:cs typeface="Arial"/>
              </a:defRPr>
            </a:lvl2pPr>
            <a:lvl3pPr algn="l">
              <a:buNone/>
              <a:defRPr sz="3825" b="1">
                <a:solidFill>
                  <a:srgbClr val="087F8C"/>
                </a:solidFill>
                <a:latin typeface="Arial"/>
                <a:ea typeface="Arial"/>
                <a:cs typeface="Arial"/>
              </a:defRPr>
            </a:lvl3pPr>
            <a:lvl4pPr algn="l">
              <a:buNone/>
              <a:defRPr sz="3825" b="1">
                <a:solidFill>
                  <a:srgbClr val="087F8C"/>
                </a:solidFill>
                <a:latin typeface="Arial"/>
                <a:ea typeface="Arial"/>
                <a:cs typeface="Arial"/>
              </a:defRPr>
            </a:lvl4pPr>
            <a:lvl5pPr algn="l">
              <a:buNone/>
              <a:defRPr sz="3825" b="1">
                <a:solidFill>
                  <a:srgbClr val="087F8C"/>
                </a:solidFill>
                <a:latin typeface="Arial"/>
                <a:ea typeface="Arial"/>
                <a:cs typeface="Arial"/>
              </a:defRPr>
            </a:lvl5pPr>
            <a:lvl6pPr algn="l">
              <a:buNone/>
              <a:defRPr sz="3825" b="1">
                <a:solidFill>
                  <a:srgbClr val="087F8C"/>
                </a:solidFill>
                <a:latin typeface="Arial"/>
                <a:ea typeface="Arial"/>
                <a:cs typeface="Arial"/>
              </a:defRPr>
            </a:lvl6pPr>
            <a:lvl7pPr algn="l">
              <a:buNone/>
              <a:defRPr sz="3825" b="1">
                <a:solidFill>
                  <a:srgbClr val="087F8C"/>
                </a:solidFill>
                <a:latin typeface="Arial"/>
                <a:ea typeface="Arial"/>
                <a:cs typeface="Arial"/>
              </a:defRPr>
            </a:lvl7pPr>
            <a:lvl8pPr algn="l">
              <a:buNone/>
              <a:defRPr sz="3825" b="1">
                <a:solidFill>
                  <a:srgbClr val="087F8C"/>
                </a:solidFill>
                <a:latin typeface="Arial"/>
                <a:ea typeface="Arial"/>
                <a:cs typeface="Arial"/>
              </a:defRPr>
            </a:lvl8pPr>
            <a:lvl9pPr algn="l">
              <a:buNone/>
              <a:defRPr sz="3825" b="1">
                <a:solidFill>
                  <a:srgbClr val="087F8C"/>
                </a:solidFill>
                <a:latin typeface="Arial"/>
                <a:ea typeface="Arial"/>
                <a:cs typeface="Arial"/>
              </a:defRPr>
            </a:lvl9pPr>
          </a:lstStyle>
          <a:p xmlns:a="http://schemas.openxmlformats.org/drawingml/2006/main">
            <a:pPr algn="l">
              <a:buNone/>
              <a:defRPr sz="3825" b="1">
                <a:solidFill>
                  <a:srgbClr val="087F8C"/>
                </a:solidFill>
                <a:latin typeface="Arial"/>
                <a:ea typeface="Arial"/>
                <a:cs typeface="Arial"/>
              </a:defRPr>
            </a:pPr>
            <a:r>
              <a:rPr sz="3825" b="1">
                <a:solidFill>
                  <a:srgbClr val="087F8C"/>
                </a:solidFill>
                <a:latin typeface="Arial"/>
                <a:ea typeface="Arial"/>
                <a:cs typeface="Arial"/>
              </a:rPr>
              <a:t>LiCoO₂   /   coating   /   Li₆PS₅Cl</a:t>
            </a:r>
          </a:p>
        </p:txBody>
      </p:sp>
      <p:sp>
        <p:nvSpPr>
          <p:cNvPr id="4" name="">
            <a:extLst xmlns:a="http://schemas.openxmlformats.org/drawingml/2006/main">
              <a:ext uri="{FF2B5EF4-FFF2-40B4-BE49-F238E27FC236}">
                <a16:creationId xmlns:a16="http://schemas.microsoft.com/office/drawing/2014/main" id="{7AA72716-765E-4C17-800D-BA739B805F9A}"/>
              </a:ext>
            </a:extLst>
          </p:cNvPr>
          <p:cNvSpPr>
            <a:spLocks xmlns:a="http://schemas.openxmlformats.org/drawingml/2006/main" noGrp="1"/>
          </p:cNvSpPr>
          <p:nvPr/>
        </p:nvSpPr>
        <p:spPr>
          <a:xfrm xmlns:a="http://schemas.openxmlformats.org/drawingml/2006/main">
            <a:off x="628650" y="2590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574"/>
                </a:solidFill>
                <a:latin typeface="Arial"/>
                <a:ea typeface="Arial"/>
                <a:cs typeface="Arial"/>
              </a:defRPr>
            </a:defPPr>
            <a:lvl1pPr algn="l">
              <a:buNone/>
              <a:defRPr sz="2025" b="0">
                <a:solidFill>
                  <a:srgbClr val="536574"/>
                </a:solidFill>
                <a:latin typeface="Arial"/>
                <a:ea typeface="Arial"/>
                <a:cs typeface="Arial"/>
              </a:defRPr>
            </a:lvl1pPr>
            <a:lvl2pPr algn="l">
              <a:buNone/>
              <a:defRPr sz="2025" b="0">
                <a:solidFill>
                  <a:srgbClr val="536574"/>
                </a:solidFill>
                <a:latin typeface="Arial"/>
                <a:ea typeface="Arial"/>
                <a:cs typeface="Arial"/>
              </a:defRPr>
            </a:lvl2pPr>
            <a:lvl3pPr algn="l">
              <a:buNone/>
              <a:defRPr sz="2025" b="0">
                <a:solidFill>
                  <a:srgbClr val="536574"/>
                </a:solidFill>
                <a:latin typeface="Arial"/>
                <a:ea typeface="Arial"/>
                <a:cs typeface="Arial"/>
              </a:defRPr>
            </a:lvl3pPr>
            <a:lvl4pPr algn="l">
              <a:buNone/>
              <a:defRPr sz="2025" b="0">
                <a:solidFill>
                  <a:srgbClr val="536574"/>
                </a:solidFill>
                <a:latin typeface="Arial"/>
                <a:ea typeface="Arial"/>
                <a:cs typeface="Arial"/>
              </a:defRPr>
            </a:lvl4pPr>
            <a:lvl5pPr algn="l">
              <a:buNone/>
              <a:defRPr sz="2025" b="0">
                <a:solidFill>
                  <a:srgbClr val="536574"/>
                </a:solidFill>
                <a:latin typeface="Arial"/>
                <a:ea typeface="Arial"/>
                <a:cs typeface="Arial"/>
              </a:defRPr>
            </a:lvl5pPr>
            <a:lvl6pPr algn="l">
              <a:buNone/>
              <a:defRPr sz="2025" b="0">
                <a:solidFill>
                  <a:srgbClr val="536574"/>
                </a:solidFill>
                <a:latin typeface="Arial"/>
                <a:ea typeface="Arial"/>
                <a:cs typeface="Arial"/>
              </a:defRPr>
            </a:lvl6pPr>
            <a:lvl7pPr algn="l">
              <a:buNone/>
              <a:defRPr sz="2025" b="0">
                <a:solidFill>
                  <a:srgbClr val="536574"/>
                </a:solidFill>
                <a:latin typeface="Arial"/>
                <a:ea typeface="Arial"/>
                <a:cs typeface="Arial"/>
              </a:defRPr>
            </a:lvl7pPr>
            <a:lvl8pPr algn="l">
              <a:buNone/>
              <a:defRPr sz="2025" b="0">
                <a:solidFill>
                  <a:srgbClr val="536574"/>
                </a:solidFill>
                <a:latin typeface="Arial"/>
                <a:ea typeface="Arial"/>
                <a:cs typeface="Arial"/>
              </a:defRPr>
            </a:lvl8pPr>
            <a:lvl9pPr algn="l">
              <a:buNone/>
              <a:defRPr sz="2025" b="0">
                <a:solidFill>
                  <a:srgbClr val="536574"/>
                </a:solidFill>
                <a:latin typeface="Arial"/>
                <a:ea typeface="Arial"/>
                <a:cs typeface="Arial"/>
              </a:defRPr>
            </a:lvl9pPr>
          </a:lstStyle>
          <a:p xmlns:a="http://schemas.openxmlformats.org/drawingml/2006/main">
            <a:pPr algn="l">
              <a:buNone/>
              <a:defRPr sz="2025" b="0">
                <a:solidFill>
                  <a:srgbClr val="536574"/>
                </a:solidFill>
                <a:latin typeface="Arial"/>
                <a:ea typeface="Arial"/>
                <a:cs typeface="Arial"/>
              </a:defRPr>
            </a:pPr>
            <a:r>
              <a:rPr sz="2025" b="0">
                <a:solidFill>
                  <a:srgbClr val="536574"/>
                </a:solidFill>
                <a:latin typeface="Arial"/>
                <a:ea typeface="Arial"/>
                <a:cs typeface="Arial"/>
              </a:rPr>
              <a:t>A coating should limit reaction at both contacts and allow Li transport.</a:t>
            </a:r>
          </a:p>
        </p:txBody>
      </p:sp>
      <p:sp>
        <p:nvSpPr>
          <p:cNvPr id="5" name="">
            <a:extLst xmlns:a="http://schemas.openxmlformats.org/drawingml/2006/main">
              <a:ext uri="{FF2B5EF4-FFF2-40B4-BE49-F238E27FC236}">
                <a16:creationId xmlns:a16="http://schemas.microsoft.com/office/drawing/2014/main" id="{099ECAA5-691C-48DF-B7F1-58804F5DC3B6}"/>
              </a:ext>
            </a:extLst>
          </p:cNvPr>
          <p:cNvSpPr>
            <a:spLocks xmlns:a="http://schemas.openxmlformats.org/drawingml/2006/main" noGrp="1"/>
          </p:cNvSpPr>
          <p:nvPr/>
        </p:nvSpPr>
        <p:spPr>
          <a:xfrm xmlns:a="http://schemas.openxmlformats.org/drawingml/2006/main">
            <a:off x="609600" y="34861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B3A"/>
                </a:solidFill>
                <a:latin typeface="Arial"/>
                <a:ea typeface="Arial"/>
                <a:cs typeface="Arial"/>
              </a:defRPr>
            </a:defPPr>
            <a:lvl1pPr algn="l">
              <a:buNone/>
              <a:defRPr sz="2325" b="1">
                <a:solidFill>
                  <a:srgbClr val="162B3A"/>
                </a:solidFill>
                <a:latin typeface="Arial"/>
                <a:ea typeface="Arial"/>
                <a:cs typeface="Arial"/>
              </a:defRPr>
            </a:lvl1pPr>
            <a:lvl2pPr algn="l">
              <a:buNone/>
              <a:defRPr sz="2325" b="1">
                <a:solidFill>
                  <a:srgbClr val="162B3A"/>
                </a:solidFill>
                <a:latin typeface="Arial"/>
                <a:ea typeface="Arial"/>
                <a:cs typeface="Arial"/>
              </a:defRPr>
            </a:lvl2pPr>
            <a:lvl3pPr algn="l">
              <a:buNone/>
              <a:defRPr sz="2325" b="1">
                <a:solidFill>
                  <a:srgbClr val="162B3A"/>
                </a:solidFill>
                <a:latin typeface="Arial"/>
                <a:ea typeface="Arial"/>
                <a:cs typeface="Arial"/>
              </a:defRPr>
            </a:lvl3pPr>
            <a:lvl4pPr algn="l">
              <a:buNone/>
              <a:defRPr sz="2325" b="1">
                <a:solidFill>
                  <a:srgbClr val="162B3A"/>
                </a:solidFill>
                <a:latin typeface="Arial"/>
                <a:ea typeface="Arial"/>
                <a:cs typeface="Arial"/>
              </a:defRPr>
            </a:lvl4pPr>
            <a:lvl5pPr algn="l">
              <a:buNone/>
              <a:defRPr sz="2325" b="1">
                <a:solidFill>
                  <a:srgbClr val="162B3A"/>
                </a:solidFill>
                <a:latin typeface="Arial"/>
                <a:ea typeface="Arial"/>
                <a:cs typeface="Arial"/>
              </a:defRPr>
            </a:lvl5pPr>
            <a:lvl6pPr algn="l">
              <a:buNone/>
              <a:defRPr sz="2325" b="1">
                <a:solidFill>
                  <a:srgbClr val="162B3A"/>
                </a:solidFill>
                <a:latin typeface="Arial"/>
                <a:ea typeface="Arial"/>
                <a:cs typeface="Arial"/>
              </a:defRPr>
            </a:lvl6pPr>
            <a:lvl7pPr algn="l">
              <a:buNone/>
              <a:defRPr sz="2325" b="1">
                <a:solidFill>
                  <a:srgbClr val="162B3A"/>
                </a:solidFill>
                <a:latin typeface="Arial"/>
                <a:ea typeface="Arial"/>
                <a:cs typeface="Arial"/>
              </a:defRPr>
            </a:lvl7pPr>
            <a:lvl8pPr algn="l">
              <a:buNone/>
              <a:defRPr sz="2325" b="1">
                <a:solidFill>
                  <a:srgbClr val="162B3A"/>
                </a:solidFill>
                <a:latin typeface="Arial"/>
                <a:ea typeface="Arial"/>
                <a:cs typeface="Arial"/>
              </a:defRPr>
            </a:lvl8pPr>
            <a:lvl9pPr algn="l">
              <a:buNone/>
              <a:defRPr sz="2325" b="1">
                <a:solidFill>
                  <a:srgbClr val="162B3A"/>
                </a:solidFill>
                <a:latin typeface="Arial"/>
                <a:ea typeface="Arial"/>
                <a:cs typeface="Arial"/>
              </a:defRPr>
            </a:lvl9pPr>
          </a:lstStyle>
          <a:p xmlns:a="http://schemas.openxmlformats.org/drawingml/2006/main">
            <a:pPr algn="l">
              <a:buNone/>
              <a:defRPr sz="2325" b="1">
                <a:solidFill>
                  <a:srgbClr val="162B3A"/>
                </a:solidFill>
                <a:latin typeface="Arial"/>
                <a:ea typeface="Arial"/>
                <a:cs typeface="Arial"/>
              </a:defRPr>
            </a:pPr>
            <a:r>
              <a:rPr sz="2325" b="1">
                <a:solidFill>
                  <a:srgbClr val="162B3A"/>
                </a:solidFill>
                <a:latin typeface="Arial"/>
                <a:ea typeface="Arial"/>
                <a:cs typeface="Arial"/>
              </a:rPr>
              <a:t>The LLM’s decision</a:t>
            </a:r>
          </a:p>
        </p:txBody>
      </p:sp>
      <p:sp>
        <p:nvSpPr>
          <p:cNvPr id="6" name="">
            <a:extLst xmlns:a="http://schemas.openxmlformats.org/drawingml/2006/main">
              <a:ext uri="{FF2B5EF4-FFF2-40B4-BE49-F238E27FC236}">
                <a16:creationId xmlns:a16="http://schemas.microsoft.com/office/drawing/2014/main" id="{8C8A59E8-D0FE-4DA6-8828-B40E38E25499}"/>
              </a:ext>
            </a:extLst>
          </p:cNvPr>
          <p:cNvSpPr>
            <a:spLocks xmlns:a="http://schemas.openxmlformats.org/drawingml/2006/main" noGrp="1"/>
          </p:cNvSpPr>
          <p:nvPr/>
        </p:nvSpPr>
        <p:spPr>
          <a:xfrm xmlns:a="http://schemas.openxmlformats.org/drawingml/2006/main">
            <a:off x="609600" y="40481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2B3A"/>
                </a:solidFill>
                <a:latin typeface="Arial"/>
                <a:ea typeface="Arial"/>
                <a:cs typeface="Arial"/>
              </a:defRPr>
            </a:defPPr>
            <a:lvl1pPr algn="l">
              <a:buNone/>
              <a:defRPr sz="2325" b="0">
                <a:solidFill>
                  <a:srgbClr val="162B3A"/>
                </a:solidFill>
                <a:latin typeface="Arial"/>
                <a:ea typeface="Arial"/>
                <a:cs typeface="Arial"/>
              </a:defRPr>
            </a:lvl1pPr>
            <a:lvl2pPr algn="l">
              <a:buNone/>
              <a:defRPr sz="2325" b="0">
                <a:solidFill>
                  <a:srgbClr val="162B3A"/>
                </a:solidFill>
                <a:latin typeface="Arial"/>
                <a:ea typeface="Arial"/>
                <a:cs typeface="Arial"/>
              </a:defRPr>
            </a:lvl2pPr>
            <a:lvl3pPr algn="l">
              <a:buNone/>
              <a:defRPr sz="2325" b="0">
                <a:solidFill>
                  <a:srgbClr val="162B3A"/>
                </a:solidFill>
                <a:latin typeface="Arial"/>
                <a:ea typeface="Arial"/>
                <a:cs typeface="Arial"/>
              </a:defRPr>
            </a:lvl3pPr>
            <a:lvl4pPr algn="l">
              <a:buNone/>
              <a:defRPr sz="2325" b="0">
                <a:solidFill>
                  <a:srgbClr val="162B3A"/>
                </a:solidFill>
                <a:latin typeface="Arial"/>
                <a:ea typeface="Arial"/>
                <a:cs typeface="Arial"/>
              </a:defRPr>
            </a:lvl4pPr>
            <a:lvl5pPr algn="l">
              <a:buNone/>
              <a:defRPr sz="2325" b="0">
                <a:solidFill>
                  <a:srgbClr val="162B3A"/>
                </a:solidFill>
                <a:latin typeface="Arial"/>
                <a:ea typeface="Arial"/>
                <a:cs typeface="Arial"/>
              </a:defRPr>
            </a:lvl5pPr>
            <a:lvl6pPr algn="l">
              <a:buNone/>
              <a:defRPr sz="2325" b="0">
                <a:solidFill>
                  <a:srgbClr val="162B3A"/>
                </a:solidFill>
                <a:latin typeface="Arial"/>
                <a:ea typeface="Arial"/>
                <a:cs typeface="Arial"/>
              </a:defRPr>
            </a:lvl6pPr>
            <a:lvl7pPr algn="l">
              <a:buNone/>
              <a:defRPr sz="2325" b="0">
                <a:solidFill>
                  <a:srgbClr val="162B3A"/>
                </a:solidFill>
                <a:latin typeface="Arial"/>
                <a:ea typeface="Arial"/>
                <a:cs typeface="Arial"/>
              </a:defRPr>
            </a:lvl7pPr>
            <a:lvl8pPr algn="l">
              <a:buNone/>
              <a:defRPr sz="2325" b="0">
                <a:solidFill>
                  <a:srgbClr val="162B3A"/>
                </a:solidFill>
                <a:latin typeface="Arial"/>
                <a:ea typeface="Arial"/>
                <a:cs typeface="Arial"/>
              </a:defRPr>
            </a:lvl8pPr>
            <a:lvl9pPr algn="l">
              <a:buNone/>
              <a:defRPr sz="2325" b="0">
                <a:solidFill>
                  <a:srgbClr val="162B3A"/>
                </a:solidFill>
                <a:latin typeface="Arial"/>
                <a:ea typeface="Arial"/>
                <a:cs typeface="Arial"/>
              </a:defRPr>
            </a:lvl9pPr>
          </a:lstStyle>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Interpret the calculation, revise</a:t>
            </a:r>
          </a:p>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a chemical hypothesis, and choose</a:t>
            </a:r>
          </a:p>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the next coating.</a:t>
            </a:r>
          </a:p>
        </p:txBody>
      </p:sp>
      <p:sp>
        <p:nvSpPr>
          <p:cNvPr id="7" name="">
            <a:extLst xmlns:a="http://schemas.openxmlformats.org/drawingml/2006/main">
              <a:ext uri="{FF2B5EF4-FFF2-40B4-BE49-F238E27FC236}">
                <a16:creationId xmlns:a16="http://schemas.microsoft.com/office/drawing/2014/main" id="{81A3F5D0-9EDA-42D0-AD56-A4F2E8B9970A}"/>
              </a:ext>
            </a:extLst>
          </p:cNvPr>
          <p:cNvSpPr>
            <a:spLocks xmlns:a="http://schemas.openxmlformats.org/drawingml/2006/main" noGrp="1"/>
          </p:cNvSpPr>
          <p:nvPr/>
        </p:nvSpPr>
        <p:spPr>
          <a:xfrm xmlns:a="http://schemas.openxmlformats.org/drawingml/2006/main">
            <a:off x="6705600" y="3486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B3A"/>
                </a:solidFill>
                <a:latin typeface="Arial"/>
                <a:ea typeface="Arial"/>
                <a:cs typeface="Arial"/>
              </a:defRPr>
            </a:defPPr>
            <a:lvl1pPr algn="l">
              <a:buNone/>
              <a:defRPr sz="2325" b="1">
                <a:solidFill>
                  <a:srgbClr val="162B3A"/>
                </a:solidFill>
                <a:latin typeface="Arial"/>
                <a:ea typeface="Arial"/>
                <a:cs typeface="Arial"/>
              </a:defRPr>
            </a:lvl1pPr>
            <a:lvl2pPr algn="l">
              <a:buNone/>
              <a:defRPr sz="2325" b="1">
                <a:solidFill>
                  <a:srgbClr val="162B3A"/>
                </a:solidFill>
                <a:latin typeface="Arial"/>
                <a:ea typeface="Arial"/>
                <a:cs typeface="Arial"/>
              </a:defRPr>
            </a:lvl2pPr>
            <a:lvl3pPr algn="l">
              <a:buNone/>
              <a:defRPr sz="2325" b="1">
                <a:solidFill>
                  <a:srgbClr val="162B3A"/>
                </a:solidFill>
                <a:latin typeface="Arial"/>
                <a:ea typeface="Arial"/>
                <a:cs typeface="Arial"/>
              </a:defRPr>
            </a:lvl3pPr>
            <a:lvl4pPr algn="l">
              <a:buNone/>
              <a:defRPr sz="2325" b="1">
                <a:solidFill>
                  <a:srgbClr val="162B3A"/>
                </a:solidFill>
                <a:latin typeface="Arial"/>
                <a:ea typeface="Arial"/>
                <a:cs typeface="Arial"/>
              </a:defRPr>
            </a:lvl4pPr>
            <a:lvl5pPr algn="l">
              <a:buNone/>
              <a:defRPr sz="2325" b="1">
                <a:solidFill>
                  <a:srgbClr val="162B3A"/>
                </a:solidFill>
                <a:latin typeface="Arial"/>
                <a:ea typeface="Arial"/>
                <a:cs typeface="Arial"/>
              </a:defRPr>
            </a:lvl5pPr>
            <a:lvl6pPr algn="l">
              <a:buNone/>
              <a:defRPr sz="2325" b="1">
                <a:solidFill>
                  <a:srgbClr val="162B3A"/>
                </a:solidFill>
                <a:latin typeface="Arial"/>
                <a:ea typeface="Arial"/>
                <a:cs typeface="Arial"/>
              </a:defRPr>
            </a:lvl6pPr>
            <a:lvl7pPr algn="l">
              <a:buNone/>
              <a:defRPr sz="2325" b="1">
                <a:solidFill>
                  <a:srgbClr val="162B3A"/>
                </a:solidFill>
                <a:latin typeface="Arial"/>
                <a:ea typeface="Arial"/>
                <a:cs typeface="Arial"/>
              </a:defRPr>
            </a:lvl7pPr>
            <a:lvl8pPr algn="l">
              <a:buNone/>
              <a:defRPr sz="2325" b="1">
                <a:solidFill>
                  <a:srgbClr val="162B3A"/>
                </a:solidFill>
                <a:latin typeface="Arial"/>
                <a:ea typeface="Arial"/>
                <a:cs typeface="Arial"/>
              </a:defRPr>
            </a:lvl8pPr>
            <a:lvl9pPr algn="l">
              <a:buNone/>
              <a:defRPr sz="2325" b="1">
                <a:solidFill>
                  <a:srgbClr val="162B3A"/>
                </a:solidFill>
                <a:latin typeface="Arial"/>
                <a:ea typeface="Arial"/>
                <a:cs typeface="Arial"/>
              </a:defRPr>
            </a:lvl9pPr>
          </a:lstStyle>
          <a:p xmlns:a="http://schemas.openxmlformats.org/drawingml/2006/main">
            <a:pPr algn="l">
              <a:buNone/>
              <a:defRPr sz="2325" b="1">
                <a:solidFill>
                  <a:srgbClr val="162B3A"/>
                </a:solidFill>
                <a:latin typeface="Arial"/>
                <a:ea typeface="Arial"/>
                <a:cs typeface="Arial"/>
              </a:defRPr>
            </a:pPr>
            <a:r>
              <a:rPr sz="2325" b="1">
                <a:solidFill>
                  <a:srgbClr val="162B3A"/>
                </a:solidFill>
                <a:latin typeface="Arial"/>
                <a:ea typeface="Arial"/>
                <a:cs typeface="Arial"/>
              </a:rPr>
              <a:t>The evaluator’s role</a:t>
            </a:r>
          </a:p>
        </p:txBody>
      </p:sp>
      <p:sp>
        <p:nvSpPr>
          <p:cNvPr id="8" name="">
            <a:extLst xmlns:a="http://schemas.openxmlformats.org/drawingml/2006/main">
              <a:ext uri="{FF2B5EF4-FFF2-40B4-BE49-F238E27FC236}">
                <a16:creationId xmlns:a16="http://schemas.microsoft.com/office/drawing/2014/main" id="{7936F4E8-CA49-4344-AEEF-097B07F7984A}"/>
              </a:ext>
            </a:extLst>
          </p:cNvPr>
          <p:cNvSpPr>
            <a:spLocks xmlns:a="http://schemas.openxmlformats.org/drawingml/2006/main" noGrp="1"/>
          </p:cNvSpPr>
          <p:nvPr/>
        </p:nvSpPr>
        <p:spPr>
          <a:xfrm xmlns:a="http://schemas.openxmlformats.org/drawingml/2006/main">
            <a:off x="6705600" y="40481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62B3A"/>
                </a:solidFill>
                <a:latin typeface="Arial"/>
                <a:ea typeface="Arial"/>
                <a:cs typeface="Arial"/>
              </a:defRPr>
            </a:defPPr>
            <a:lvl1pPr algn="l">
              <a:buNone/>
              <a:defRPr sz="2325" b="0">
                <a:solidFill>
                  <a:srgbClr val="162B3A"/>
                </a:solidFill>
                <a:latin typeface="Arial"/>
                <a:ea typeface="Arial"/>
                <a:cs typeface="Arial"/>
              </a:defRPr>
            </a:lvl1pPr>
            <a:lvl2pPr algn="l">
              <a:buNone/>
              <a:defRPr sz="2325" b="0">
                <a:solidFill>
                  <a:srgbClr val="162B3A"/>
                </a:solidFill>
                <a:latin typeface="Arial"/>
                <a:ea typeface="Arial"/>
                <a:cs typeface="Arial"/>
              </a:defRPr>
            </a:lvl2pPr>
            <a:lvl3pPr algn="l">
              <a:buNone/>
              <a:defRPr sz="2325" b="0">
                <a:solidFill>
                  <a:srgbClr val="162B3A"/>
                </a:solidFill>
                <a:latin typeface="Arial"/>
                <a:ea typeface="Arial"/>
                <a:cs typeface="Arial"/>
              </a:defRPr>
            </a:lvl3pPr>
            <a:lvl4pPr algn="l">
              <a:buNone/>
              <a:defRPr sz="2325" b="0">
                <a:solidFill>
                  <a:srgbClr val="162B3A"/>
                </a:solidFill>
                <a:latin typeface="Arial"/>
                <a:ea typeface="Arial"/>
                <a:cs typeface="Arial"/>
              </a:defRPr>
            </a:lvl4pPr>
            <a:lvl5pPr algn="l">
              <a:buNone/>
              <a:defRPr sz="2325" b="0">
                <a:solidFill>
                  <a:srgbClr val="162B3A"/>
                </a:solidFill>
                <a:latin typeface="Arial"/>
                <a:ea typeface="Arial"/>
                <a:cs typeface="Arial"/>
              </a:defRPr>
            </a:lvl5pPr>
            <a:lvl6pPr algn="l">
              <a:buNone/>
              <a:defRPr sz="2325" b="0">
                <a:solidFill>
                  <a:srgbClr val="162B3A"/>
                </a:solidFill>
                <a:latin typeface="Arial"/>
                <a:ea typeface="Arial"/>
                <a:cs typeface="Arial"/>
              </a:defRPr>
            </a:lvl6pPr>
            <a:lvl7pPr algn="l">
              <a:buNone/>
              <a:defRPr sz="2325" b="0">
                <a:solidFill>
                  <a:srgbClr val="162B3A"/>
                </a:solidFill>
                <a:latin typeface="Arial"/>
                <a:ea typeface="Arial"/>
                <a:cs typeface="Arial"/>
              </a:defRPr>
            </a:lvl7pPr>
            <a:lvl8pPr algn="l">
              <a:buNone/>
              <a:defRPr sz="2325" b="0">
                <a:solidFill>
                  <a:srgbClr val="162B3A"/>
                </a:solidFill>
                <a:latin typeface="Arial"/>
                <a:ea typeface="Arial"/>
                <a:cs typeface="Arial"/>
              </a:defRPr>
            </a:lvl8pPr>
            <a:lvl9pPr algn="l">
              <a:buNone/>
              <a:defRPr sz="2325" b="0">
                <a:solidFill>
                  <a:srgbClr val="162B3A"/>
                </a:solidFill>
                <a:latin typeface="Arial"/>
                <a:ea typeface="Arial"/>
                <a:cs typeface="Arial"/>
              </a:defRPr>
            </a:lvl9pPr>
          </a:lstStyle>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Calculate each property.</a:t>
            </a:r>
          </a:p>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Compare LLM choices against</a:t>
            </a:r>
          </a:p>
          <a:p xmlns:a="http://schemas.openxmlformats.org/drawingml/2006/main">
            <a:pPr algn="l">
              <a:buNone/>
              <a:defRPr sz="2325" b="0">
                <a:solidFill>
                  <a:srgbClr val="162B3A"/>
                </a:solidFill>
                <a:latin typeface="Arial"/>
                <a:ea typeface="Arial"/>
                <a:cs typeface="Arial"/>
              </a:defRPr>
            </a:pPr>
            <a:r>
              <a:rPr sz="2325" b="0">
                <a:solidFill>
                  <a:srgbClr val="162B3A"/>
                </a:solidFill>
                <a:latin typeface="Arial"/>
                <a:ea typeface="Arial"/>
                <a:cs typeface="Arial"/>
              </a:rPr>
              <a:t>controls with the same budget.</a:t>
            </a:r>
          </a:p>
        </p:txBody>
      </p:sp>
      <p:sp>
        <p:nvSpPr>
          <p:cNvPr id="9" name="">
            <a:extLst xmlns:a="http://schemas.openxmlformats.org/drawingml/2006/main">
              <a:ext uri="{FF2B5EF4-FFF2-40B4-BE49-F238E27FC236}">
                <a16:creationId xmlns:a16="http://schemas.microsoft.com/office/drawing/2014/main" id="{A79FA97D-035A-470C-9BAA-9E41D3EC7F10}"/>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Flagship screen: 4 V versus Li/Li⁺. Lithium transport is a design requirement outside this benchmark.</a:t>
            </a:r>
          </a:p>
        </p:txBody>
      </p:sp>
    </p:spTree>
    <p:extLst>
      <p:ext uri="{BB962C8B-B14F-4D97-AF65-F5344CB8AC3E}">
        <p14:creationId xmlns:p14="http://schemas.microsoft.com/office/powerpoint/2010/main" val="1657442025"/>
      </p:ext>
    </p:extLst>
  </p:cSld>
</p:sld>
</file>

<file path=ppt/slides/slide3.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BC7F52-CB0A-4383-8C61-09B9089FF4E5}"/>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Three connected parts of interphAIse</a:t>
            </a:r>
          </a:p>
        </p:txBody>
      </p:sp>
      <p:sp>
        <p:nvSpPr>
          <p:cNvPr id="2" name="">
            <a:extLst xmlns:a="http://schemas.openxmlformats.org/drawingml/2006/main">
              <a:ext uri="{FF2B5EF4-FFF2-40B4-BE49-F238E27FC236}">
                <a16:creationId xmlns:a16="http://schemas.microsoft.com/office/drawing/2014/main" id="{5BEAC923-B087-472D-8809-61AABB2C9D14}"/>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FB4A62B-738E-493D-B526-CABF5AF21880}"/>
              </a:ext>
            </a:extLst>
          </p:cNvPr>
          <p:cNvSpPr>
            <a:spLocks xmlns:a="http://schemas.openxmlformats.org/drawingml/2006/main" noGrp="1"/>
          </p:cNvSpPr>
          <p:nvPr/>
        </p:nvSpPr>
        <p:spPr>
          <a:xfrm xmlns:a="http://schemas.openxmlformats.org/drawingml/2006/main">
            <a:off x="609600" y="16954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087F8C"/>
                </a:solidFill>
                <a:latin typeface="Arial"/>
                <a:ea typeface="Arial"/>
                <a:cs typeface="Arial"/>
              </a:defRPr>
            </a:defPPr>
            <a:lvl1pPr algn="l">
              <a:buNone/>
              <a:defRPr sz="3525" b="1">
                <a:solidFill>
                  <a:srgbClr val="087F8C"/>
                </a:solidFill>
                <a:latin typeface="Arial"/>
                <a:ea typeface="Arial"/>
                <a:cs typeface="Arial"/>
              </a:defRPr>
            </a:lvl1pPr>
            <a:lvl2pPr algn="l">
              <a:buNone/>
              <a:defRPr sz="3525" b="1">
                <a:solidFill>
                  <a:srgbClr val="087F8C"/>
                </a:solidFill>
                <a:latin typeface="Arial"/>
                <a:ea typeface="Arial"/>
                <a:cs typeface="Arial"/>
              </a:defRPr>
            </a:lvl2pPr>
            <a:lvl3pPr algn="l">
              <a:buNone/>
              <a:defRPr sz="3525" b="1">
                <a:solidFill>
                  <a:srgbClr val="087F8C"/>
                </a:solidFill>
                <a:latin typeface="Arial"/>
                <a:ea typeface="Arial"/>
                <a:cs typeface="Arial"/>
              </a:defRPr>
            </a:lvl3pPr>
            <a:lvl4pPr algn="l">
              <a:buNone/>
              <a:defRPr sz="3525" b="1">
                <a:solidFill>
                  <a:srgbClr val="087F8C"/>
                </a:solidFill>
                <a:latin typeface="Arial"/>
                <a:ea typeface="Arial"/>
                <a:cs typeface="Arial"/>
              </a:defRPr>
            </a:lvl4pPr>
            <a:lvl5pPr algn="l">
              <a:buNone/>
              <a:defRPr sz="3525" b="1">
                <a:solidFill>
                  <a:srgbClr val="087F8C"/>
                </a:solidFill>
                <a:latin typeface="Arial"/>
                <a:ea typeface="Arial"/>
                <a:cs typeface="Arial"/>
              </a:defRPr>
            </a:lvl5pPr>
            <a:lvl6pPr algn="l">
              <a:buNone/>
              <a:defRPr sz="3525" b="1">
                <a:solidFill>
                  <a:srgbClr val="087F8C"/>
                </a:solidFill>
                <a:latin typeface="Arial"/>
                <a:ea typeface="Arial"/>
                <a:cs typeface="Arial"/>
              </a:defRPr>
            </a:lvl6pPr>
            <a:lvl7pPr algn="l">
              <a:buNone/>
              <a:defRPr sz="3525" b="1">
                <a:solidFill>
                  <a:srgbClr val="087F8C"/>
                </a:solidFill>
                <a:latin typeface="Arial"/>
                <a:ea typeface="Arial"/>
                <a:cs typeface="Arial"/>
              </a:defRPr>
            </a:lvl7pPr>
            <a:lvl8pPr algn="l">
              <a:buNone/>
              <a:defRPr sz="3525" b="1">
                <a:solidFill>
                  <a:srgbClr val="087F8C"/>
                </a:solidFill>
                <a:latin typeface="Arial"/>
                <a:ea typeface="Arial"/>
                <a:cs typeface="Arial"/>
              </a:defRPr>
            </a:lvl8pPr>
            <a:lvl9pPr algn="l">
              <a:buNone/>
              <a:defRPr sz="3525" b="1">
                <a:solidFill>
                  <a:srgbClr val="087F8C"/>
                </a:solidFill>
                <a:latin typeface="Arial"/>
                <a:ea typeface="Arial"/>
                <a:cs typeface="Arial"/>
              </a:defRPr>
            </a:lvl9pPr>
          </a:lstStyle>
          <a:p xmlns:a="http://schemas.openxmlformats.org/drawingml/2006/main">
            <a:pPr algn="l">
              <a:buNone/>
              <a:defRPr sz="3525" b="1">
                <a:solidFill>
                  <a:srgbClr val="087F8C"/>
                </a:solidFill>
                <a:latin typeface="Arial"/>
                <a:ea typeface="Arial"/>
                <a:cs typeface="Arial"/>
              </a:defRPr>
            </a:pPr>
            <a:r>
              <a:rPr sz="3525"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CAEBDF4-DD5B-4FAB-B549-CD19960858AB}"/>
              </a:ext>
            </a:extLst>
          </p:cNvPr>
          <p:cNvSpPr>
            <a:spLocks xmlns:a="http://schemas.openxmlformats.org/drawingml/2006/main" noGrp="1"/>
          </p:cNvSpPr>
          <p:nvPr/>
        </p:nvSpPr>
        <p:spPr>
          <a:xfrm xmlns:a="http://schemas.openxmlformats.org/drawingml/2006/main">
            <a:off x="1762125" y="16954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B3A"/>
                </a:solidFill>
                <a:latin typeface="Arial"/>
                <a:ea typeface="Arial"/>
                <a:cs typeface="Arial"/>
              </a:defRPr>
            </a:defPPr>
            <a:lvl1pPr algn="l">
              <a:buNone/>
              <a:defRPr sz="2325" b="1">
                <a:solidFill>
                  <a:srgbClr val="162B3A"/>
                </a:solidFill>
                <a:latin typeface="Arial"/>
                <a:ea typeface="Arial"/>
                <a:cs typeface="Arial"/>
              </a:defRPr>
            </a:lvl1pPr>
            <a:lvl2pPr algn="l">
              <a:buNone/>
              <a:defRPr sz="2325" b="1">
                <a:solidFill>
                  <a:srgbClr val="162B3A"/>
                </a:solidFill>
                <a:latin typeface="Arial"/>
                <a:ea typeface="Arial"/>
                <a:cs typeface="Arial"/>
              </a:defRPr>
            </a:lvl2pPr>
            <a:lvl3pPr algn="l">
              <a:buNone/>
              <a:defRPr sz="2325" b="1">
                <a:solidFill>
                  <a:srgbClr val="162B3A"/>
                </a:solidFill>
                <a:latin typeface="Arial"/>
                <a:ea typeface="Arial"/>
                <a:cs typeface="Arial"/>
              </a:defRPr>
            </a:lvl3pPr>
            <a:lvl4pPr algn="l">
              <a:buNone/>
              <a:defRPr sz="2325" b="1">
                <a:solidFill>
                  <a:srgbClr val="162B3A"/>
                </a:solidFill>
                <a:latin typeface="Arial"/>
                <a:ea typeface="Arial"/>
                <a:cs typeface="Arial"/>
              </a:defRPr>
            </a:lvl4pPr>
            <a:lvl5pPr algn="l">
              <a:buNone/>
              <a:defRPr sz="2325" b="1">
                <a:solidFill>
                  <a:srgbClr val="162B3A"/>
                </a:solidFill>
                <a:latin typeface="Arial"/>
                <a:ea typeface="Arial"/>
                <a:cs typeface="Arial"/>
              </a:defRPr>
            </a:lvl5pPr>
            <a:lvl6pPr algn="l">
              <a:buNone/>
              <a:defRPr sz="2325" b="1">
                <a:solidFill>
                  <a:srgbClr val="162B3A"/>
                </a:solidFill>
                <a:latin typeface="Arial"/>
                <a:ea typeface="Arial"/>
                <a:cs typeface="Arial"/>
              </a:defRPr>
            </a:lvl6pPr>
            <a:lvl7pPr algn="l">
              <a:buNone/>
              <a:defRPr sz="2325" b="1">
                <a:solidFill>
                  <a:srgbClr val="162B3A"/>
                </a:solidFill>
                <a:latin typeface="Arial"/>
                <a:ea typeface="Arial"/>
                <a:cs typeface="Arial"/>
              </a:defRPr>
            </a:lvl7pPr>
            <a:lvl8pPr algn="l">
              <a:buNone/>
              <a:defRPr sz="2325" b="1">
                <a:solidFill>
                  <a:srgbClr val="162B3A"/>
                </a:solidFill>
                <a:latin typeface="Arial"/>
                <a:ea typeface="Arial"/>
                <a:cs typeface="Arial"/>
              </a:defRPr>
            </a:lvl8pPr>
            <a:lvl9pPr algn="l">
              <a:buNone/>
              <a:defRPr sz="2325" b="1">
                <a:solidFill>
                  <a:srgbClr val="162B3A"/>
                </a:solidFill>
                <a:latin typeface="Arial"/>
                <a:ea typeface="Arial"/>
                <a:cs typeface="Arial"/>
              </a:defRPr>
            </a:lvl9pPr>
          </a:lstStyle>
          <a:p xmlns:a="http://schemas.openxmlformats.org/drawingml/2006/main">
            <a:pPr algn="l">
              <a:buNone/>
              <a:defRPr sz="2325" b="1">
                <a:solidFill>
                  <a:srgbClr val="162B3A"/>
                </a:solidFill>
                <a:latin typeface="Arial"/>
                <a:ea typeface="Arial"/>
                <a:cs typeface="Arial"/>
              </a:defRPr>
            </a:pPr>
            <a:r>
              <a:rPr sz="2325" b="1">
                <a:solidFill>
                  <a:srgbClr val="162B3A"/>
                </a:solidFill>
                <a:latin typeface="Arial"/>
                <a:ea typeface="Arial"/>
                <a:cs typeface="Arial"/>
              </a:rPr>
              <a:t>Modelling workflow</a:t>
            </a:r>
          </a:p>
        </p:txBody>
      </p:sp>
      <p:sp>
        <p:nvSpPr>
          <p:cNvPr id="5" name="">
            <a:extLst xmlns:a="http://schemas.openxmlformats.org/drawingml/2006/main">
              <a:ext uri="{FF2B5EF4-FFF2-40B4-BE49-F238E27FC236}">
                <a16:creationId xmlns:a16="http://schemas.microsoft.com/office/drawing/2014/main" id="{CD90D76E-CBF7-448E-AF7E-8A5E7DD2C9BD}"/>
              </a:ext>
            </a:extLst>
          </p:cNvPr>
          <p:cNvSpPr>
            <a:spLocks xmlns:a="http://schemas.openxmlformats.org/drawingml/2006/main" noGrp="1"/>
          </p:cNvSpPr>
          <p:nvPr/>
        </p:nvSpPr>
        <p:spPr>
          <a:xfrm xmlns:a="http://schemas.openxmlformats.org/drawingml/2006/main">
            <a:off x="1762125" y="2152650"/>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B3A"/>
                </a:solidFill>
                <a:latin typeface="Arial"/>
                <a:ea typeface="Arial"/>
                <a:cs typeface="Arial"/>
              </a:defRPr>
            </a:defPPr>
            <a:lvl1pPr algn="l">
              <a:buNone/>
              <a:defRPr sz="2025" b="0">
                <a:solidFill>
                  <a:srgbClr val="162B3A"/>
                </a:solidFill>
                <a:latin typeface="Arial"/>
                <a:ea typeface="Arial"/>
                <a:cs typeface="Arial"/>
              </a:defRPr>
            </a:lvl1pPr>
            <a:lvl2pPr algn="l">
              <a:buNone/>
              <a:defRPr sz="2025" b="0">
                <a:solidFill>
                  <a:srgbClr val="162B3A"/>
                </a:solidFill>
                <a:latin typeface="Arial"/>
                <a:ea typeface="Arial"/>
                <a:cs typeface="Arial"/>
              </a:defRPr>
            </a:lvl2pPr>
            <a:lvl3pPr algn="l">
              <a:buNone/>
              <a:defRPr sz="2025" b="0">
                <a:solidFill>
                  <a:srgbClr val="162B3A"/>
                </a:solidFill>
                <a:latin typeface="Arial"/>
                <a:ea typeface="Arial"/>
                <a:cs typeface="Arial"/>
              </a:defRPr>
            </a:lvl3pPr>
            <a:lvl4pPr algn="l">
              <a:buNone/>
              <a:defRPr sz="2025" b="0">
                <a:solidFill>
                  <a:srgbClr val="162B3A"/>
                </a:solidFill>
                <a:latin typeface="Arial"/>
                <a:ea typeface="Arial"/>
                <a:cs typeface="Arial"/>
              </a:defRPr>
            </a:lvl4pPr>
            <a:lvl5pPr algn="l">
              <a:buNone/>
              <a:defRPr sz="2025" b="0">
                <a:solidFill>
                  <a:srgbClr val="162B3A"/>
                </a:solidFill>
                <a:latin typeface="Arial"/>
                <a:ea typeface="Arial"/>
                <a:cs typeface="Arial"/>
              </a:defRPr>
            </a:lvl5pPr>
            <a:lvl6pPr algn="l">
              <a:buNone/>
              <a:defRPr sz="2025" b="0">
                <a:solidFill>
                  <a:srgbClr val="162B3A"/>
                </a:solidFill>
                <a:latin typeface="Arial"/>
                <a:ea typeface="Arial"/>
                <a:cs typeface="Arial"/>
              </a:defRPr>
            </a:lvl6pPr>
            <a:lvl7pPr algn="l">
              <a:buNone/>
              <a:defRPr sz="2025" b="0">
                <a:solidFill>
                  <a:srgbClr val="162B3A"/>
                </a:solidFill>
                <a:latin typeface="Arial"/>
                <a:ea typeface="Arial"/>
                <a:cs typeface="Arial"/>
              </a:defRPr>
            </a:lvl7pPr>
            <a:lvl8pPr algn="l">
              <a:buNone/>
              <a:defRPr sz="2025" b="0">
                <a:solidFill>
                  <a:srgbClr val="162B3A"/>
                </a:solidFill>
                <a:latin typeface="Arial"/>
                <a:ea typeface="Arial"/>
                <a:cs typeface="Arial"/>
              </a:defRPr>
            </a:lvl8pPr>
            <a:lvl9pPr algn="l">
              <a:buNone/>
              <a:defRPr sz="2025" b="0">
                <a:solidFill>
                  <a:srgbClr val="162B3A"/>
                </a:solidFill>
                <a:latin typeface="Arial"/>
                <a:ea typeface="Arial"/>
                <a:cs typeface="Arial"/>
              </a:defRPr>
            </a:lvl9pPr>
          </a:lstStyle>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Choose interphase, facets and rebuild actions.</a:t>
            </a:r>
          </a:p>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LLM, rules and human policy interfaces.</a:t>
            </a:r>
          </a:p>
        </p:txBody>
      </p:sp>
      <p:sp>
        <p:nvSpPr>
          <p:cNvPr id="6" name="">
            <a:extLst xmlns:a="http://schemas.openxmlformats.org/drawingml/2006/main">
              <a:ext uri="{FF2B5EF4-FFF2-40B4-BE49-F238E27FC236}">
                <a16:creationId xmlns:a16="http://schemas.microsoft.com/office/drawing/2014/main" id="{F7AC50B5-40C1-4041-8391-198E27E7620C}"/>
              </a:ext>
            </a:extLst>
          </p:cNvPr>
          <p:cNvSpPr>
            <a:spLocks xmlns:a="http://schemas.openxmlformats.org/drawingml/2006/main" noGrp="1"/>
          </p:cNvSpPr>
          <p:nvPr/>
        </p:nvSpPr>
        <p:spPr>
          <a:xfrm xmlns:a="http://schemas.openxmlformats.org/drawingml/2006/main">
            <a:off x="609600" y="30099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087F8C"/>
                </a:solidFill>
                <a:latin typeface="Arial"/>
                <a:ea typeface="Arial"/>
                <a:cs typeface="Arial"/>
              </a:defRPr>
            </a:defPPr>
            <a:lvl1pPr algn="l">
              <a:buNone/>
              <a:defRPr sz="3525" b="1">
                <a:solidFill>
                  <a:srgbClr val="087F8C"/>
                </a:solidFill>
                <a:latin typeface="Arial"/>
                <a:ea typeface="Arial"/>
                <a:cs typeface="Arial"/>
              </a:defRPr>
            </a:lvl1pPr>
            <a:lvl2pPr algn="l">
              <a:buNone/>
              <a:defRPr sz="3525" b="1">
                <a:solidFill>
                  <a:srgbClr val="087F8C"/>
                </a:solidFill>
                <a:latin typeface="Arial"/>
                <a:ea typeface="Arial"/>
                <a:cs typeface="Arial"/>
              </a:defRPr>
            </a:lvl2pPr>
            <a:lvl3pPr algn="l">
              <a:buNone/>
              <a:defRPr sz="3525" b="1">
                <a:solidFill>
                  <a:srgbClr val="087F8C"/>
                </a:solidFill>
                <a:latin typeface="Arial"/>
                <a:ea typeface="Arial"/>
                <a:cs typeface="Arial"/>
              </a:defRPr>
            </a:lvl3pPr>
            <a:lvl4pPr algn="l">
              <a:buNone/>
              <a:defRPr sz="3525" b="1">
                <a:solidFill>
                  <a:srgbClr val="087F8C"/>
                </a:solidFill>
                <a:latin typeface="Arial"/>
                <a:ea typeface="Arial"/>
                <a:cs typeface="Arial"/>
              </a:defRPr>
            </a:lvl4pPr>
            <a:lvl5pPr algn="l">
              <a:buNone/>
              <a:defRPr sz="3525" b="1">
                <a:solidFill>
                  <a:srgbClr val="087F8C"/>
                </a:solidFill>
                <a:latin typeface="Arial"/>
                <a:ea typeface="Arial"/>
                <a:cs typeface="Arial"/>
              </a:defRPr>
            </a:lvl5pPr>
            <a:lvl6pPr algn="l">
              <a:buNone/>
              <a:defRPr sz="3525" b="1">
                <a:solidFill>
                  <a:srgbClr val="087F8C"/>
                </a:solidFill>
                <a:latin typeface="Arial"/>
                <a:ea typeface="Arial"/>
                <a:cs typeface="Arial"/>
              </a:defRPr>
            </a:lvl6pPr>
            <a:lvl7pPr algn="l">
              <a:buNone/>
              <a:defRPr sz="3525" b="1">
                <a:solidFill>
                  <a:srgbClr val="087F8C"/>
                </a:solidFill>
                <a:latin typeface="Arial"/>
                <a:ea typeface="Arial"/>
                <a:cs typeface="Arial"/>
              </a:defRPr>
            </a:lvl7pPr>
            <a:lvl8pPr algn="l">
              <a:buNone/>
              <a:defRPr sz="3525" b="1">
                <a:solidFill>
                  <a:srgbClr val="087F8C"/>
                </a:solidFill>
                <a:latin typeface="Arial"/>
                <a:ea typeface="Arial"/>
                <a:cs typeface="Arial"/>
              </a:defRPr>
            </a:lvl8pPr>
            <a:lvl9pPr algn="l">
              <a:buNone/>
              <a:defRPr sz="3525" b="1">
                <a:solidFill>
                  <a:srgbClr val="087F8C"/>
                </a:solidFill>
                <a:latin typeface="Arial"/>
                <a:ea typeface="Arial"/>
                <a:cs typeface="Arial"/>
              </a:defRPr>
            </a:lvl9pPr>
          </a:lstStyle>
          <a:p xmlns:a="http://schemas.openxmlformats.org/drawingml/2006/main">
            <a:pPr algn="l">
              <a:buNone/>
              <a:defRPr sz="3525" b="1">
                <a:solidFill>
                  <a:srgbClr val="087F8C"/>
                </a:solidFill>
                <a:latin typeface="Arial"/>
                <a:ea typeface="Arial"/>
                <a:cs typeface="Arial"/>
              </a:defRPr>
            </a:pPr>
            <a:r>
              <a:rPr sz="3525" b="1">
                <a:solidFill>
                  <a:srgbClr val="087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5EE6AFB-7687-45FB-BE5B-128E7286AD43}"/>
              </a:ext>
            </a:extLst>
          </p:cNvPr>
          <p:cNvSpPr>
            <a:spLocks xmlns:a="http://schemas.openxmlformats.org/drawingml/2006/main" noGrp="1"/>
          </p:cNvSpPr>
          <p:nvPr/>
        </p:nvSpPr>
        <p:spPr>
          <a:xfrm xmlns:a="http://schemas.openxmlformats.org/drawingml/2006/main">
            <a:off x="1762125" y="300990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B3A"/>
                </a:solidFill>
                <a:latin typeface="Arial"/>
                <a:ea typeface="Arial"/>
                <a:cs typeface="Arial"/>
              </a:defRPr>
            </a:defPPr>
            <a:lvl1pPr algn="l">
              <a:buNone/>
              <a:defRPr sz="2325" b="1">
                <a:solidFill>
                  <a:srgbClr val="162B3A"/>
                </a:solidFill>
                <a:latin typeface="Arial"/>
                <a:ea typeface="Arial"/>
                <a:cs typeface="Arial"/>
              </a:defRPr>
            </a:lvl1pPr>
            <a:lvl2pPr algn="l">
              <a:buNone/>
              <a:defRPr sz="2325" b="1">
                <a:solidFill>
                  <a:srgbClr val="162B3A"/>
                </a:solidFill>
                <a:latin typeface="Arial"/>
                <a:ea typeface="Arial"/>
                <a:cs typeface="Arial"/>
              </a:defRPr>
            </a:lvl2pPr>
            <a:lvl3pPr algn="l">
              <a:buNone/>
              <a:defRPr sz="2325" b="1">
                <a:solidFill>
                  <a:srgbClr val="162B3A"/>
                </a:solidFill>
                <a:latin typeface="Arial"/>
                <a:ea typeface="Arial"/>
                <a:cs typeface="Arial"/>
              </a:defRPr>
            </a:lvl3pPr>
            <a:lvl4pPr algn="l">
              <a:buNone/>
              <a:defRPr sz="2325" b="1">
                <a:solidFill>
                  <a:srgbClr val="162B3A"/>
                </a:solidFill>
                <a:latin typeface="Arial"/>
                <a:ea typeface="Arial"/>
                <a:cs typeface="Arial"/>
              </a:defRPr>
            </a:lvl4pPr>
            <a:lvl5pPr algn="l">
              <a:buNone/>
              <a:defRPr sz="2325" b="1">
                <a:solidFill>
                  <a:srgbClr val="162B3A"/>
                </a:solidFill>
                <a:latin typeface="Arial"/>
                <a:ea typeface="Arial"/>
                <a:cs typeface="Arial"/>
              </a:defRPr>
            </a:lvl5pPr>
            <a:lvl6pPr algn="l">
              <a:buNone/>
              <a:defRPr sz="2325" b="1">
                <a:solidFill>
                  <a:srgbClr val="162B3A"/>
                </a:solidFill>
                <a:latin typeface="Arial"/>
                <a:ea typeface="Arial"/>
                <a:cs typeface="Arial"/>
              </a:defRPr>
            </a:lvl6pPr>
            <a:lvl7pPr algn="l">
              <a:buNone/>
              <a:defRPr sz="2325" b="1">
                <a:solidFill>
                  <a:srgbClr val="162B3A"/>
                </a:solidFill>
                <a:latin typeface="Arial"/>
                <a:ea typeface="Arial"/>
                <a:cs typeface="Arial"/>
              </a:defRPr>
            </a:lvl7pPr>
            <a:lvl8pPr algn="l">
              <a:buNone/>
              <a:defRPr sz="2325" b="1">
                <a:solidFill>
                  <a:srgbClr val="162B3A"/>
                </a:solidFill>
                <a:latin typeface="Arial"/>
                <a:ea typeface="Arial"/>
                <a:cs typeface="Arial"/>
              </a:defRPr>
            </a:lvl8pPr>
            <a:lvl9pPr algn="l">
              <a:buNone/>
              <a:defRPr sz="2325" b="1">
                <a:solidFill>
                  <a:srgbClr val="162B3A"/>
                </a:solidFill>
                <a:latin typeface="Arial"/>
                <a:ea typeface="Arial"/>
                <a:cs typeface="Arial"/>
              </a:defRPr>
            </a:lvl9pPr>
          </a:lstStyle>
          <a:p xmlns:a="http://schemas.openxmlformats.org/drawingml/2006/main">
            <a:pPr algn="l">
              <a:buNone/>
              <a:defRPr sz="2325" b="1">
                <a:solidFill>
                  <a:srgbClr val="162B3A"/>
                </a:solidFill>
                <a:latin typeface="Arial"/>
                <a:ea typeface="Arial"/>
                <a:cs typeface="Arial"/>
              </a:defRPr>
            </a:pPr>
            <a:r>
              <a:rPr sz="2325" b="1">
                <a:solidFill>
                  <a:srgbClr val="162B3A"/>
                </a:solidFill>
                <a:latin typeface="Arial"/>
                <a:ea typeface="Arial"/>
                <a:cs typeface="Arial"/>
              </a:rPr>
              <a:t>Controlled discovery</a:t>
            </a:r>
          </a:p>
        </p:txBody>
      </p:sp>
      <p:sp>
        <p:nvSpPr>
          <p:cNvPr id="8" name="">
            <a:extLst xmlns:a="http://schemas.openxmlformats.org/drawingml/2006/main">
              <a:ext uri="{FF2B5EF4-FFF2-40B4-BE49-F238E27FC236}">
                <a16:creationId xmlns:a16="http://schemas.microsoft.com/office/drawing/2014/main" id="{3C7E840B-38BF-48F2-B8B5-872F60358CC6}"/>
              </a:ext>
            </a:extLst>
          </p:cNvPr>
          <p:cNvSpPr>
            <a:spLocks xmlns:a="http://schemas.openxmlformats.org/drawingml/2006/main" noGrp="1"/>
          </p:cNvSpPr>
          <p:nvPr/>
        </p:nvSpPr>
        <p:spPr>
          <a:xfrm xmlns:a="http://schemas.openxmlformats.org/drawingml/2006/main">
            <a:off x="1762125" y="3467100"/>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B3A"/>
                </a:solidFill>
                <a:latin typeface="Arial"/>
                <a:ea typeface="Arial"/>
                <a:cs typeface="Arial"/>
              </a:defRPr>
            </a:defPPr>
            <a:lvl1pPr algn="l">
              <a:buNone/>
              <a:defRPr sz="2025" b="0">
                <a:solidFill>
                  <a:srgbClr val="162B3A"/>
                </a:solidFill>
                <a:latin typeface="Arial"/>
                <a:ea typeface="Arial"/>
                <a:cs typeface="Arial"/>
              </a:defRPr>
            </a:lvl1pPr>
            <a:lvl2pPr algn="l">
              <a:buNone/>
              <a:defRPr sz="2025" b="0">
                <a:solidFill>
                  <a:srgbClr val="162B3A"/>
                </a:solidFill>
                <a:latin typeface="Arial"/>
                <a:ea typeface="Arial"/>
                <a:cs typeface="Arial"/>
              </a:defRPr>
            </a:lvl2pPr>
            <a:lvl3pPr algn="l">
              <a:buNone/>
              <a:defRPr sz="2025" b="0">
                <a:solidFill>
                  <a:srgbClr val="162B3A"/>
                </a:solidFill>
                <a:latin typeface="Arial"/>
                <a:ea typeface="Arial"/>
                <a:cs typeface="Arial"/>
              </a:defRPr>
            </a:lvl3pPr>
            <a:lvl4pPr algn="l">
              <a:buNone/>
              <a:defRPr sz="2025" b="0">
                <a:solidFill>
                  <a:srgbClr val="162B3A"/>
                </a:solidFill>
                <a:latin typeface="Arial"/>
                <a:ea typeface="Arial"/>
                <a:cs typeface="Arial"/>
              </a:defRPr>
            </a:lvl4pPr>
            <a:lvl5pPr algn="l">
              <a:buNone/>
              <a:defRPr sz="2025" b="0">
                <a:solidFill>
                  <a:srgbClr val="162B3A"/>
                </a:solidFill>
                <a:latin typeface="Arial"/>
                <a:ea typeface="Arial"/>
                <a:cs typeface="Arial"/>
              </a:defRPr>
            </a:lvl5pPr>
            <a:lvl6pPr algn="l">
              <a:buNone/>
              <a:defRPr sz="2025" b="0">
                <a:solidFill>
                  <a:srgbClr val="162B3A"/>
                </a:solidFill>
                <a:latin typeface="Arial"/>
                <a:ea typeface="Arial"/>
                <a:cs typeface="Arial"/>
              </a:defRPr>
            </a:lvl6pPr>
            <a:lvl7pPr algn="l">
              <a:buNone/>
              <a:defRPr sz="2025" b="0">
                <a:solidFill>
                  <a:srgbClr val="162B3A"/>
                </a:solidFill>
                <a:latin typeface="Arial"/>
                <a:ea typeface="Arial"/>
                <a:cs typeface="Arial"/>
              </a:defRPr>
            </a:lvl7pPr>
            <a:lvl8pPr algn="l">
              <a:buNone/>
              <a:defRPr sz="2025" b="0">
                <a:solidFill>
                  <a:srgbClr val="162B3A"/>
                </a:solidFill>
                <a:latin typeface="Arial"/>
                <a:ea typeface="Arial"/>
                <a:cs typeface="Arial"/>
              </a:defRPr>
            </a:lvl8pPr>
            <a:lvl9pPr algn="l">
              <a:buNone/>
              <a:defRPr sz="2025" b="0">
                <a:solidFill>
                  <a:srgbClr val="162B3A"/>
                </a:solidFill>
                <a:latin typeface="Arial"/>
                <a:ea typeface="Arial"/>
                <a:cs typeface="Arial"/>
              </a:defRPr>
            </a:lvl9pPr>
          </a:lstStyle>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Select coatings through a budgeted query API.</a:t>
            </a:r>
          </a:p>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Frozen objective, baselines and feedback controls.</a:t>
            </a:r>
          </a:p>
        </p:txBody>
      </p:sp>
      <p:sp>
        <p:nvSpPr>
          <p:cNvPr id="9" name="">
            <a:extLst xmlns:a="http://schemas.openxmlformats.org/drawingml/2006/main">
              <a:ext uri="{FF2B5EF4-FFF2-40B4-BE49-F238E27FC236}">
                <a16:creationId xmlns:a16="http://schemas.microsoft.com/office/drawing/2014/main" id="{991F4A61-1DBF-445A-BD92-9A0207ED1D13}"/>
              </a:ext>
            </a:extLst>
          </p:cNvPr>
          <p:cNvSpPr>
            <a:spLocks xmlns:a="http://schemas.openxmlformats.org/drawingml/2006/main" noGrp="1"/>
          </p:cNvSpPr>
          <p:nvPr/>
        </p:nvSpPr>
        <p:spPr>
          <a:xfrm xmlns:a="http://schemas.openxmlformats.org/drawingml/2006/main">
            <a:off x="609600" y="43243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087F8C"/>
                </a:solidFill>
                <a:latin typeface="Arial"/>
                <a:ea typeface="Arial"/>
                <a:cs typeface="Arial"/>
              </a:defRPr>
            </a:defPPr>
            <a:lvl1pPr algn="l">
              <a:buNone/>
              <a:defRPr sz="3525" b="1">
                <a:solidFill>
                  <a:srgbClr val="087F8C"/>
                </a:solidFill>
                <a:latin typeface="Arial"/>
                <a:ea typeface="Arial"/>
                <a:cs typeface="Arial"/>
              </a:defRPr>
            </a:lvl1pPr>
            <a:lvl2pPr algn="l">
              <a:buNone/>
              <a:defRPr sz="3525" b="1">
                <a:solidFill>
                  <a:srgbClr val="087F8C"/>
                </a:solidFill>
                <a:latin typeface="Arial"/>
                <a:ea typeface="Arial"/>
                <a:cs typeface="Arial"/>
              </a:defRPr>
            </a:lvl2pPr>
            <a:lvl3pPr algn="l">
              <a:buNone/>
              <a:defRPr sz="3525" b="1">
                <a:solidFill>
                  <a:srgbClr val="087F8C"/>
                </a:solidFill>
                <a:latin typeface="Arial"/>
                <a:ea typeface="Arial"/>
                <a:cs typeface="Arial"/>
              </a:defRPr>
            </a:lvl3pPr>
            <a:lvl4pPr algn="l">
              <a:buNone/>
              <a:defRPr sz="3525" b="1">
                <a:solidFill>
                  <a:srgbClr val="087F8C"/>
                </a:solidFill>
                <a:latin typeface="Arial"/>
                <a:ea typeface="Arial"/>
                <a:cs typeface="Arial"/>
              </a:defRPr>
            </a:lvl4pPr>
            <a:lvl5pPr algn="l">
              <a:buNone/>
              <a:defRPr sz="3525" b="1">
                <a:solidFill>
                  <a:srgbClr val="087F8C"/>
                </a:solidFill>
                <a:latin typeface="Arial"/>
                <a:ea typeface="Arial"/>
                <a:cs typeface="Arial"/>
              </a:defRPr>
            </a:lvl5pPr>
            <a:lvl6pPr algn="l">
              <a:buNone/>
              <a:defRPr sz="3525" b="1">
                <a:solidFill>
                  <a:srgbClr val="087F8C"/>
                </a:solidFill>
                <a:latin typeface="Arial"/>
                <a:ea typeface="Arial"/>
                <a:cs typeface="Arial"/>
              </a:defRPr>
            </a:lvl6pPr>
            <a:lvl7pPr algn="l">
              <a:buNone/>
              <a:defRPr sz="3525" b="1">
                <a:solidFill>
                  <a:srgbClr val="087F8C"/>
                </a:solidFill>
                <a:latin typeface="Arial"/>
                <a:ea typeface="Arial"/>
                <a:cs typeface="Arial"/>
              </a:defRPr>
            </a:lvl7pPr>
            <a:lvl8pPr algn="l">
              <a:buNone/>
              <a:defRPr sz="3525" b="1">
                <a:solidFill>
                  <a:srgbClr val="087F8C"/>
                </a:solidFill>
                <a:latin typeface="Arial"/>
                <a:ea typeface="Arial"/>
                <a:cs typeface="Arial"/>
              </a:defRPr>
            </a:lvl8pPr>
            <a:lvl9pPr algn="l">
              <a:buNone/>
              <a:defRPr sz="3525" b="1">
                <a:solidFill>
                  <a:srgbClr val="087F8C"/>
                </a:solidFill>
                <a:latin typeface="Arial"/>
                <a:ea typeface="Arial"/>
                <a:cs typeface="Arial"/>
              </a:defRPr>
            </a:lvl9pPr>
          </a:lstStyle>
          <a:p xmlns:a="http://schemas.openxmlformats.org/drawingml/2006/main">
            <a:pPr algn="l">
              <a:buNone/>
              <a:defRPr sz="3525" b="1">
                <a:solidFill>
                  <a:srgbClr val="087F8C"/>
                </a:solidFill>
                <a:latin typeface="Arial"/>
                <a:ea typeface="Arial"/>
                <a:cs typeface="Arial"/>
              </a:defRPr>
            </a:pPr>
            <a:r>
              <a:rPr sz="3525" b="1">
                <a:solidFill>
                  <a:srgbClr val="087F8C"/>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A6F6AEA-2348-49E8-897D-3E8DC7F06E69}"/>
              </a:ext>
            </a:extLst>
          </p:cNvPr>
          <p:cNvSpPr>
            <a:spLocks xmlns:a="http://schemas.openxmlformats.org/drawingml/2006/main" noGrp="1"/>
          </p:cNvSpPr>
          <p:nvPr/>
        </p:nvSpPr>
        <p:spPr>
          <a:xfrm xmlns:a="http://schemas.openxmlformats.org/drawingml/2006/main">
            <a:off x="1762125"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B3A"/>
                </a:solidFill>
                <a:latin typeface="Arial"/>
                <a:ea typeface="Arial"/>
                <a:cs typeface="Arial"/>
              </a:defRPr>
            </a:defPPr>
            <a:lvl1pPr algn="l">
              <a:buNone/>
              <a:defRPr sz="2325" b="1">
                <a:solidFill>
                  <a:srgbClr val="162B3A"/>
                </a:solidFill>
                <a:latin typeface="Arial"/>
                <a:ea typeface="Arial"/>
                <a:cs typeface="Arial"/>
              </a:defRPr>
            </a:lvl1pPr>
            <a:lvl2pPr algn="l">
              <a:buNone/>
              <a:defRPr sz="2325" b="1">
                <a:solidFill>
                  <a:srgbClr val="162B3A"/>
                </a:solidFill>
                <a:latin typeface="Arial"/>
                <a:ea typeface="Arial"/>
                <a:cs typeface="Arial"/>
              </a:defRPr>
            </a:lvl2pPr>
            <a:lvl3pPr algn="l">
              <a:buNone/>
              <a:defRPr sz="2325" b="1">
                <a:solidFill>
                  <a:srgbClr val="162B3A"/>
                </a:solidFill>
                <a:latin typeface="Arial"/>
                <a:ea typeface="Arial"/>
                <a:cs typeface="Arial"/>
              </a:defRPr>
            </a:lvl3pPr>
            <a:lvl4pPr algn="l">
              <a:buNone/>
              <a:defRPr sz="2325" b="1">
                <a:solidFill>
                  <a:srgbClr val="162B3A"/>
                </a:solidFill>
                <a:latin typeface="Arial"/>
                <a:ea typeface="Arial"/>
                <a:cs typeface="Arial"/>
              </a:defRPr>
            </a:lvl4pPr>
            <a:lvl5pPr algn="l">
              <a:buNone/>
              <a:defRPr sz="2325" b="1">
                <a:solidFill>
                  <a:srgbClr val="162B3A"/>
                </a:solidFill>
                <a:latin typeface="Arial"/>
                <a:ea typeface="Arial"/>
                <a:cs typeface="Arial"/>
              </a:defRPr>
            </a:lvl5pPr>
            <a:lvl6pPr algn="l">
              <a:buNone/>
              <a:defRPr sz="2325" b="1">
                <a:solidFill>
                  <a:srgbClr val="162B3A"/>
                </a:solidFill>
                <a:latin typeface="Arial"/>
                <a:ea typeface="Arial"/>
                <a:cs typeface="Arial"/>
              </a:defRPr>
            </a:lvl6pPr>
            <a:lvl7pPr algn="l">
              <a:buNone/>
              <a:defRPr sz="2325" b="1">
                <a:solidFill>
                  <a:srgbClr val="162B3A"/>
                </a:solidFill>
                <a:latin typeface="Arial"/>
                <a:ea typeface="Arial"/>
                <a:cs typeface="Arial"/>
              </a:defRPr>
            </a:lvl7pPr>
            <a:lvl8pPr algn="l">
              <a:buNone/>
              <a:defRPr sz="2325" b="1">
                <a:solidFill>
                  <a:srgbClr val="162B3A"/>
                </a:solidFill>
                <a:latin typeface="Arial"/>
                <a:ea typeface="Arial"/>
                <a:cs typeface="Arial"/>
              </a:defRPr>
            </a:lvl8pPr>
            <a:lvl9pPr algn="l">
              <a:buNone/>
              <a:defRPr sz="2325" b="1">
                <a:solidFill>
                  <a:srgbClr val="162B3A"/>
                </a:solidFill>
                <a:latin typeface="Arial"/>
                <a:ea typeface="Arial"/>
                <a:cs typeface="Arial"/>
              </a:defRPr>
            </a:lvl9pPr>
          </a:lstStyle>
          <a:p xmlns:a="http://schemas.openxmlformats.org/drawingml/2006/main">
            <a:pPr algn="l">
              <a:buNone/>
              <a:defRPr sz="2325" b="1">
                <a:solidFill>
                  <a:srgbClr val="162B3A"/>
                </a:solidFill>
                <a:latin typeface="Arial"/>
                <a:ea typeface="Arial"/>
                <a:cs typeface="Arial"/>
              </a:defRPr>
            </a:pPr>
            <a:r>
              <a:rPr sz="2325" b="1">
                <a:solidFill>
                  <a:srgbClr val="162B3A"/>
                </a:solidFill>
                <a:latin typeface="Arial"/>
                <a:ea typeface="Arial"/>
                <a:cs typeface="Arial"/>
              </a:rPr>
              <a:t>Atomistic validation</a:t>
            </a:r>
          </a:p>
        </p:txBody>
      </p:sp>
      <p:sp>
        <p:nvSpPr>
          <p:cNvPr id="11" name="">
            <a:extLst xmlns:a="http://schemas.openxmlformats.org/drawingml/2006/main">
              <a:ext uri="{FF2B5EF4-FFF2-40B4-BE49-F238E27FC236}">
                <a16:creationId xmlns:a16="http://schemas.microsoft.com/office/drawing/2014/main" id="{B73BD752-5618-47DD-840B-EF17B88E9EF8}"/>
              </a:ext>
            </a:extLst>
          </p:cNvPr>
          <p:cNvSpPr>
            <a:spLocks xmlns:a="http://schemas.openxmlformats.org/drawingml/2006/main" noGrp="1"/>
          </p:cNvSpPr>
          <p:nvPr/>
        </p:nvSpPr>
        <p:spPr>
          <a:xfrm xmlns:a="http://schemas.openxmlformats.org/drawingml/2006/main">
            <a:off x="1762125" y="4781550"/>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B3A"/>
                </a:solidFill>
                <a:latin typeface="Arial"/>
                <a:ea typeface="Arial"/>
                <a:cs typeface="Arial"/>
              </a:defRPr>
            </a:defPPr>
            <a:lvl1pPr algn="l">
              <a:buNone/>
              <a:defRPr sz="2025" b="0">
                <a:solidFill>
                  <a:srgbClr val="162B3A"/>
                </a:solidFill>
                <a:latin typeface="Arial"/>
                <a:ea typeface="Arial"/>
                <a:cs typeface="Arial"/>
              </a:defRPr>
            </a:lvl1pPr>
            <a:lvl2pPr algn="l">
              <a:buNone/>
              <a:defRPr sz="2025" b="0">
                <a:solidFill>
                  <a:srgbClr val="162B3A"/>
                </a:solidFill>
                <a:latin typeface="Arial"/>
                <a:ea typeface="Arial"/>
                <a:cs typeface="Arial"/>
              </a:defRPr>
            </a:lvl2pPr>
            <a:lvl3pPr algn="l">
              <a:buNone/>
              <a:defRPr sz="2025" b="0">
                <a:solidFill>
                  <a:srgbClr val="162B3A"/>
                </a:solidFill>
                <a:latin typeface="Arial"/>
                <a:ea typeface="Arial"/>
                <a:cs typeface="Arial"/>
              </a:defRPr>
            </a:lvl3pPr>
            <a:lvl4pPr algn="l">
              <a:buNone/>
              <a:defRPr sz="2025" b="0">
                <a:solidFill>
                  <a:srgbClr val="162B3A"/>
                </a:solidFill>
                <a:latin typeface="Arial"/>
                <a:ea typeface="Arial"/>
                <a:cs typeface="Arial"/>
              </a:defRPr>
            </a:lvl4pPr>
            <a:lvl5pPr algn="l">
              <a:buNone/>
              <a:defRPr sz="2025" b="0">
                <a:solidFill>
                  <a:srgbClr val="162B3A"/>
                </a:solidFill>
                <a:latin typeface="Arial"/>
                <a:ea typeface="Arial"/>
                <a:cs typeface="Arial"/>
              </a:defRPr>
            </a:lvl5pPr>
            <a:lvl6pPr algn="l">
              <a:buNone/>
              <a:defRPr sz="2025" b="0">
                <a:solidFill>
                  <a:srgbClr val="162B3A"/>
                </a:solidFill>
                <a:latin typeface="Arial"/>
                <a:ea typeface="Arial"/>
                <a:cs typeface="Arial"/>
              </a:defRPr>
            </a:lvl6pPr>
            <a:lvl7pPr algn="l">
              <a:buNone/>
              <a:defRPr sz="2025" b="0">
                <a:solidFill>
                  <a:srgbClr val="162B3A"/>
                </a:solidFill>
                <a:latin typeface="Arial"/>
                <a:ea typeface="Arial"/>
                <a:cs typeface="Arial"/>
              </a:defRPr>
            </a:lvl7pPr>
            <a:lvl8pPr algn="l">
              <a:buNone/>
              <a:defRPr sz="2025" b="0">
                <a:solidFill>
                  <a:srgbClr val="162B3A"/>
                </a:solidFill>
                <a:latin typeface="Arial"/>
                <a:ea typeface="Arial"/>
                <a:cs typeface="Arial"/>
              </a:defRPr>
            </a:lvl8pPr>
            <a:lvl9pPr algn="l">
              <a:buNone/>
              <a:defRPr sz="2025" b="0">
                <a:solidFill>
                  <a:srgbClr val="162B3A"/>
                </a:solidFill>
                <a:latin typeface="Arial"/>
                <a:ea typeface="Arial"/>
                <a:cs typeface="Arial"/>
              </a:defRPr>
            </a:lvl9pPr>
          </a:lstStyle>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Build explicit contacts and relax with PET-MAD.</a:t>
            </a:r>
          </a:p>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Inspect geometry and test numerical sensitivity.</a:t>
            </a:r>
          </a:p>
        </p:txBody>
      </p:sp>
      <p:sp>
        <p:nvSpPr>
          <p:cNvPr id="12" name="">
            <a:extLst xmlns:a="http://schemas.openxmlformats.org/drawingml/2006/main">
              <a:ext uri="{FF2B5EF4-FFF2-40B4-BE49-F238E27FC236}">
                <a16:creationId xmlns:a16="http://schemas.microsoft.com/office/drawing/2014/main" id="{80B1746D-04BB-4CBA-AFE8-652CDCBB0852}"/>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The headline LLM result tests candidate selection. Broader modelling decisions remain a separate evaluation task.</a:t>
            </a:r>
          </a:p>
        </p:txBody>
      </p:sp>
    </p:spTree>
    <p:extLst>
      <p:ext uri="{BB962C8B-B14F-4D97-AF65-F5344CB8AC3E}">
        <p14:creationId xmlns:p14="http://schemas.microsoft.com/office/powerpoint/2010/main" val="626131397"/>
      </p:ext>
    </p:extLst>
  </p:cSld>
</p:sld>
</file>

<file path=ppt/slides/slide4.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411D29-FA90-41B1-B6B9-6D880EBA0657}"/>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first objective hid the coating differences</a:t>
            </a:r>
          </a:p>
        </p:txBody>
      </p:sp>
      <p:sp>
        <p:nvSpPr>
          <p:cNvPr id="2" name="">
            <a:extLst xmlns:a="http://schemas.openxmlformats.org/drawingml/2006/main">
              <a:ext uri="{FF2B5EF4-FFF2-40B4-BE49-F238E27FC236}">
                <a16:creationId xmlns:a16="http://schemas.microsoft.com/office/drawing/2014/main" id="{098E50B4-7470-487C-B79B-7FC0EFE240AA}"/>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99C82A6A-3FF8-4843-8D3A-5EE03FB8BE61}"/>
              </a:ext>
            </a:extLst>
          </p:cNvPr>
          <p:cNvGraphicFramePr/>
          <p:nvPr/>
        </p:nvGraphicFramePr>
        <p:xfrm>
          <a:off xmlns:a="http://schemas.openxmlformats.org/drawingml/2006/main" x="609600" y="1657350"/>
          <a:ext xmlns:a="http://schemas.openxmlformats.org/drawingml/2006/main" cx="10972800" cy="3524250"/>
        </p:xfrm>
        <a:graphic xmlns:a="http://schemas.openxmlformats.org/drawingml/2006/main">
          <a:graphicData uri="http://schemas.openxmlformats.org/drawingml/2006/table">
            <a:tbl>
              <a:tblPr/>
              <a:tblGrid>
                <a:gridCol w="6591300"/>
                <a:gridCol w="2190750"/>
                <a:gridCol w="2190750"/>
              </a:tblGrid>
              <a:tr h="704850">
                <a:tc>
                  <a:txBody>
                    <a:bodyPr/>
                    <a:lstStyle/>
                    <a:p>
                      <a:r>
                        <a:rPr sz="1950" b="1">
                          <a:solidFill>
                            <a:srgbClr val="FFFFFF"/>
                          </a:solidFill>
                          <a:latin typeface="Arial"/>
                          <a:ea typeface="Arial"/>
                          <a:cs typeface="Arial"/>
                        </a:rPr>
                        <a:t>Benchmark property</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Original v2</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Frozen v3</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704850">
                <a:tc>
                  <a:txBody>
                    <a:bodyPr/>
                    <a:lstStyle/>
                    <a:p>
                      <a:r>
                        <a:rPr sz="1950" b="0">
                          <a:solidFill>
                            <a:srgbClr val="162B3A"/>
                          </a:solidFill>
                          <a:latin typeface="Arial"/>
                          <a:ea typeface="Arial"/>
                          <a:cs typeface="Arial"/>
                        </a:rPr>
                        <a:t>Occupied eligible bins</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6</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24</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704850">
                <a:tc>
                  <a:txBody>
                    <a:bodyPr/>
                    <a:lstStyle/>
                    <a:p>
                      <a:r>
                        <a:rPr sz="1950" b="0">
                          <a:solidFill>
                            <a:srgbClr val="162B3A"/>
                          </a:solidFill>
                          <a:latin typeface="Arial"/>
                          <a:ea typeface="Arial"/>
                          <a:cs typeface="Arial"/>
                        </a:rPr>
                        <a:t>Candidates in the best bin</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41</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1">
                          <a:solidFill>
                            <a:srgbClr val="087F8C"/>
                          </a:solidFill>
                          <a:latin typeface="Arial"/>
                          <a:ea typeface="Arial"/>
                          <a:cs typeface="Arial"/>
                        </a:rPr>
                        <a:t>1</a:t>
                      </a:r>
                    </a:p>
                  </a:txBody>
                  <a:tcPr marL="133350" marR="114300" marT="114300" marB="95250" anchor="ctr">
                    <a:lnR w="9525">
                      <a:solidFill>
                        <a:srgbClr val="F7F8F7"/>
                      </a:solidFill>
                      <a:prstDash val="solid"/>
                    </a:lnR>
                    <a:lnB w="9525">
                      <a:solidFill>
                        <a:srgbClr val="F7F8F7"/>
                      </a:solidFill>
                      <a:prstDash val="solid"/>
                    </a:lnB>
                    <a:solidFill>
                      <a:srgbClr val="D9EEE9"/>
                    </a:solidFill>
                  </a:tcPr>
                </a:tc>
              </a:tr>
              <a:tr h="704850">
                <a:tc>
                  <a:txBody>
                    <a:bodyPr/>
                    <a:lstStyle/>
                    <a:p>
                      <a:r>
                        <a:rPr sz="1950" b="0">
                          <a:solidFill>
                            <a:srgbClr val="162B3A"/>
                          </a:solidFill>
                          <a:latin typeface="Arial"/>
                          <a:ea typeface="Arial"/>
                          <a:cs typeface="Arial"/>
                        </a:rPr>
                        <a:t>Candidates meeting the criterion</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1">
                          <a:solidFill>
                            <a:srgbClr val="087F8C"/>
                          </a:solidFill>
                          <a:latin typeface="Arial"/>
                          <a:ea typeface="Arial"/>
                          <a:cs typeface="Arial"/>
                        </a:rPr>
                        <a:t>2</a:t>
                      </a:r>
                    </a:p>
                  </a:txBody>
                  <a:tcPr marL="133350" marR="114300" marT="114300" marB="95250" anchor="ctr">
                    <a:lnR w="9525">
                      <a:solidFill>
                        <a:srgbClr val="F7F8F7"/>
                      </a:solidFill>
                      <a:prstDash val="solid"/>
                    </a:lnR>
                    <a:lnB w="9525">
                      <a:solidFill>
                        <a:srgbClr val="F7F8F7"/>
                      </a:solidFill>
                      <a:prstDash val="solid"/>
                    </a:lnB>
                    <a:solidFill>
                      <a:srgbClr val="D9EEE9"/>
                    </a:solidFill>
                  </a:tcPr>
                </a:tc>
              </a:tr>
              <a:tr h="704850">
                <a:tc>
                  <a:txBody>
                    <a:bodyPr/>
                    <a:lstStyle/>
                    <a:p>
                      <a:r>
                        <a:rPr sz="1950" b="0">
                          <a:solidFill>
                            <a:srgbClr val="162B3A"/>
                          </a:solidFill>
                          <a:latin typeface="Arial"/>
                          <a:ea typeface="Arial"/>
                          <a:cs typeface="Arial"/>
                        </a:rPr>
                        <a:t>Random best-bin success after 3 queries</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99.6%</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6.0%</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657193-91EE-472E-8F0A-4E18674808FF}"/>
              </a:ext>
            </a:extLst>
          </p:cNvPr>
          <p:cNvSpPr>
            <a:spLocks xmlns:a="http://schemas.openxmlformats.org/drawingml/2006/main" noGrp="1"/>
          </p:cNvSpPr>
          <p:nvPr/>
        </p:nvSpPr>
        <p:spPr>
          <a:xfrm xmlns:a="http://schemas.openxmlformats.org/drawingml/2006/main">
            <a:off x="609600" y="5438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V3 asks how much extra reaction the contact creates.</a:t>
            </a:r>
          </a:p>
        </p:txBody>
      </p:sp>
      <p:sp>
        <p:nvSpPr>
          <p:cNvPr id="5" name="">
            <a:extLst xmlns:a="http://schemas.openxmlformats.org/drawingml/2006/main">
              <a:ext uri="{FF2B5EF4-FFF2-40B4-BE49-F238E27FC236}">
                <a16:creationId xmlns:a16="http://schemas.microsoft.com/office/drawing/2014/main" id="{5FA34913-7163-42A7-B193-AF35BF0635C3}"/>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Passing v3 measures compatibility with equilibrated endpoints, not whole-stack stability at 4 V.</a:t>
            </a:r>
          </a:p>
        </p:txBody>
      </p:sp>
    </p:spTree>
    <p:extLst>
      <p:ext uri="{BB962C8B-B14F-4D97-AF65-F5344CB8AC3E}">
        <p14:creationId xmlns:p14="http://schemas.microsoft.com/office/powerpoint/2010/main" val="911285358"/>
      </p:ext>
    </p:extLst>
  </p:cSld>
</p:sld>
</file>

<file path=ppt/slides/slide5.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C59DDD-1C7A-4DD4-87ED-54391EB96230}"/>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Two of 50 candidates pass the frozen criterion</a:t>
            </a:r>
          </a:p>
        </p:txBody>
      </p:sp>
      <p:sp>
        <p:nvSpPr>
          <p:cNvPr id="2" name="">
            <a:extLst xmlns:a="http://schemas.openxmlformats.org/drawingml/2006/main">
              <a:ext uri="{FF2B5EF4-FFF2-40B4-BE49-F238E27FC236}">
                <a16:creationId xmlns:a16="http://schemas.microsoft.com/office/drawing/2014/main" id="{5F5EB2CB-00BD-4ECF-A1B0-483165BE4890}"/>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8A7D8DE1-8C71-48FC-873A-449F0FA11E0D}"/>
              </a:ext>
            </a:extLst>
          </p:cNvPr>
          <p:cNvGraphicFramePr/>
          <p:nvPr/>
        </p:nvGraphicFramePr>
        <p:xfrm>
          <a:off xmlns:a="http://schemas.openxmlformats.org/drawingml/2006/main" x="609600" y="1714500"/>
          <a:ext xmlns:a="http://schemas.openxmlformats.org/drawingml/2006/main" cx="10972800" cy="2286000"/>
        </p:xfrm>
        <a:graphic xmlns:a="http://schemas.openxmlformats.org/drawingml/2006/main">
          <a:graphicData uri="http://schemas.openxmlformats.org/drawingml/2006/table">
            <a:tbl>
              <a:tblPr/>
              <a:tblGrid>
                <a:gridCol w="3619500"/>
                <a:gridCol w="4810125"/>
                <a:gridCol w="2543175"/>
              </a:tblGrid>
              <a:tr h="762000">
                <a:tc>
                  <a:txBody>
                    <a:bodyPr/>
                    <a:lstStyle/>
                    <a:p>
                      <a:r>
                        <a:rPr sz="2250" b="1">
                          <a:solidFill>
                            <a:srgbClr val="FFFFFF"/>
                          </a:solidFill>
                          <a:latin typeface="Arial"/>
                          <a:ea typeface="Arial"/>
                          <a:cs typeface="Arial"/>
                        </a:rPr>
                        <a:t>Coating</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2250" b="1">
                          <a:solidFill>
                            <a:srgbClr val="FFFFFF"/>
                          </a:solidFill>
                          <a:latin typeface="Arial"/>
                          <a:ea typeface="Arial"/>
                          <a:cs typeface="Arial"/>
                        </a:rPr>
                        <a:t>Penalty (eV/non-Li atom)</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2250" b="1">
                          <a:solidFill>
                            <a:srgbClr val="FFFFFF"/>
                          </a:solidFill>
                          <a:latin typeface="Arial"/>
                          <a:ea typeface="Arial"/>
                          <a:cs typeface="Arial"/>
                        </a:rPr>
                        <a:t>Score bin</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762000">
                <a:tc>
                  <a:txBody>
                    <a:bodyPr/>
                    <a:lstStyle/>
                    <a:p>
                      <a:r>
                        <a:rPr sz="2250" b="1">
                          <a:solidFill>
                            <a:srgbClr val="087F8C"/>
                          </a:solidFill>
                          <a:latin typeface="Arial"/>
                          <a:ea typeface="Arial"/>
                          <a:cs typeface="Arial"/>
                        </a:rPr>
                        <a:t>LiNbF6</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D9EEE9"/>
                    </a:solidFill>
                  </a:tcPr>
                </a:tc>
                <a:tc>
                  <a:txBody>
                    <a:bodyPr/>
                    <a:lstStyle/>
                    <a:p>
                      <a:r>
                        <a:rPr sz="2250" b="0">
                          <a:solidFill>
                            <a:srgbClr val="162B3A"/>
                          </a:solidFill>
                          <a:latin typeface="Arial"/>
                          <a:ea typeface="Arial"/>
                          <a:cs typeface="Arial"/>
                        </a:rPr>
                        <a:t>0.028772</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2250" b="0">
                          <a:solidFill>
                            <a:srgbClr val="162B3A"/>
                          </a:solidFill>
                          <a:latin typeface="Arial"/>
                          <a:ea typeface="Arial"/>
                          <a:cs typeface="Arial"/>
                        </a:rPr>
                        <a:t>1</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762000">
                <a:tc>
                  <a:txBody>
                    <a:bodyPr/>
                    <a:lstStyle/>
                    <a:p>
                      <a:r>
                        <a:rPr sz="2250" b="1">
                          <a:solidFill>
                            <a:srgbClr val="087F8C"/>
                          </a:solidFill>
                          <a:latin typeface="Arial"/>
                          <a:ea typeface="Arial"/>
                          <a:cs typeface="Arial"/>
                        </a:rPr>
                        <a:t>LiCaAlF6</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D9EEE9"/>
                    </a:solidFill>
                  </a:tcPr>
                </a:tc>
                <a:tc>
                  <a:txBody>
                    <a:bodyPr/>
                    <a:lstStyle/>
                    <a:p>
                      <a:r>
                        <a:rPr sz="2250" b="0">
                          <a:solidFill>
                            <a:srgbClr val="162B3A"/>
                          </a:solidFill>
                          <a:latin typeface="Arial"/>
                          <a:ea typeface="Arial"/>
                          <a:cs typeface="Arial"/>
                        </a:rPr>
                        <a:t>0.047719</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2250" b="0">
                          <a:solidFill>
                            <a:srgbClr val="162B3A"/>
                          </a:solidFill>
                          <a:latin typeface="Arial"/>
                          <a:ea typeface="Arial"/>
                          <a:cs typeface="Arial"/>
                        </a:rPr>
                        <a:t>2</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A41181D-D7AD-4997-B825-DDC1581E5D7E}"/>
              </a:ext>
            </a:extLst>
          </p:cNvPr>
          <p:cNvSpPr>
            <a:spLocks xmlns:a="http://schemas.openxmlformats.org/drawingml/2006/main" noGrp="1"/>
          </p:cNvSpPr>
          <p:nvPr/>
        </p:nvSpPr>
        <p:spPr>
          <a:xfrm xmlns:a="http://schemas.openxmlformats.org/drawingml/2006/main">
            <a:off x="609600" y="4467225"/>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087F8C"/>
                </a:solidFill>
                <a:latin typeface="Arial"/>
                <a:ea typeface="Arial"/>
                <a:cs typeface="Arial"/>
              </a:defRPr>
            </a:defPPr>
            <a:lvl1pPr algn="l">
              <a:buNone/>
              <a:defRPr sz="4500" b="1">
                <a:solidFill>
                  <a:srgbClr val="087F8C"/>
                </a:solidFill>
                <a:latin typeface="Arial"/>
                <a:ea typeface="Arial"/>
                <a:cs typeface="Arial"/>
              </a:defRPr>
            </a:lvl1pPr>
            <a:lvl2pPr algn="l">
              <a:buNone/>
              <a:defRPr sz="4500" b="1">
                <a:solidFill>
                  <a:srgbClr val="087F8C"/>
                </a:solidFill>
                <a:latin typeface="Arial"/>
                <a:ea typeface="Arial"/>
                <a:cs typeface="Arial"/>
              </a:defRPr>
            </a:lvl2pPr>
            <a:lvl3pPr algn="l">
              <a:buNone/>
              <a:defRPr sz="4500" b="1">
                <a:solidFill>
                  <a:srgbClr val="087F8C"/>
                </a:solidFill>
                <a:latin typeface="Arial"/>
                <a:ea typeface="Arial"/>
                <a:cs typeface="Arial"/>
              </a:defRPr>
            </a:lvl3pPr>
            <a:lvl4pPr algn="l">
              <a:buNone/>
              <a:defRPr sz="4500" b="1">
                <a:solidFill>
                  <a:srgbClr val="087F8C"/>
                </a:solidFill>
                <a:latin typeface="Arial"/>
                <a:ea typeface="Arial"/>
                <a:cs typeface="Arial"/>
              </a:defRPr>
            </a:lvl4pPr>
            <a:lvl5pPr algn="l">
              <a:buNone/>
              <a:defRPr sz="4500" b="1">
                <a:solidFill>
                  <a:srgbClr val="087F8C"/>
                </a:solidFill>
                <a:latin typeface="Arial"/>
                <a:ea typeface="Arial"/>
                <a:cs typeface="Arial"/>
              </a:defRPr>
            </a:lvl5pPr>
            <a:lvl6pPr algn="l">
              <a:buNone/>
              <a:defRPr sz="4500" b="1">
                <a:solidFill>
                  <a:srgbClr val="087F8C"/>
                </a:solidFill>
                <a:latin typeface="Arial"/>
                <a:ea typeface="Arial"/>
                <a:cs typeface="Arial"/>
              </a:defRPr>
            </a:lvl6pPr>
            <a:lvl7pPr algn="l">
              <a:buNone/>
              <a:defRPr sz="4500" b="1">
                <a:solidFill>
                  <a:srgbClr val="087F8C"/>
                </a:solidFill>
                <a:latin typeface="Arial"/>
                <a:ea typeface="Arial"/>
                <a:cs typeface="Arial"/>
              </a:defRPr>
            </a:lvl7pPr>
            <a:lvl8pPr algn="l">
              <a:buNone/>
              <a:defRPr sz="4500" b="1">
                <a:solidFill>
                  <a:srgbClr val="087F8C"/>
                </a:solidFill>
                <a:latin typeface="Arial"/>
                <a:ea typeface="Arial"/>
                <a:cs typeface="Arial"/>
              </a:defRPr>
            </a:lvl8pPr>
            <a:lvl9pPr algn="l">
              <a:buNone/>
              <a:defRPr sz="4500" b="1">
                <a:solidFill>
                  <a:srgbClr val="087F8C"/>
                </a:solidFill>
                <a:latin typeface="Arial"/>
                <a:ea typeface="Arial"/>
                <a:cs typeface="Arial"/>
              </a:defRPr>
            </a:lvl9pPr>
          </a:lstStyle>
          <a:p xmlns:a="http://schemas.openxmlformats.org/drawingml/2006/main">
            <a:pPr algn="l">
              <a:buNone/>
              <a:defRPr sz="4500" b="1">
                <a:solidFill>
                  <a:srgbClr val="087F8C"/>
                </a:solidFill>
                <a:latin typeface="Arial"/>
                <a:ea typeface="Arial"/>
                <a:cs typeface="Arial"/>
              </a:defRPr>
            </a:pPr>
            <a:r>
              <a:rPr sz="4500" b="1">
                <a:solidFill>
                  <a:srgbClr val="087F8C"/>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95E2DC04-6B49-4D63-A9E6-DB1A7B00D431}"/>
              </a:ext>
            </a:extLst>
          </p:cNvPr>
          <p:cNvSpPr>
            <a:spLocks xmlns:a="http://schemas.openxmlformats.org/drawingml/2006/main" noGrp="1"/>
          </p:cNvSpPr>
          <p:nvPr/>
        </p:nvSpPr>
        <p:spPr>
          <a:xfrm xmlns:a="http://schemas.openxmlformats.org/drawingml/2006/main">
            <a:off x="609600" y="52101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B3A"/>
                </a:solidFill>
                <a:latin typeface="Arial"/>
                <a:ea typeface="Arial"/>
                <a:cs typeface="Arial"/>
              </a:defRPr>
            </a:defPPr>
            <a:lvl1pPr algn="l">
              <a:buNone/>
              <a:defRPr sz="1875" b="0">
                <a:solidFill>
                  <a:srgbClr val="162B3A"/>
                </a:solidFill>
                <a:latin typeface="Arial"/>
                <a:ea typeface="Arial"/>
                <a:cs typeface="Arial"/>
              </a:defRPr>
            </a:lvl1pPr>
            <a:lvl2pPr algn="l">
              <a:buNone/>
              <a:defRPr sz="1875" b="0">
                <a:solidFill>
                  <a:srgbClr val="162B3A"/>
                </a:solidFill>
                <a:latin typeface="Arial"/>
                <a:ea typeface="Arial"/>
                <a:cs typeface="Arial"/>
              </a:defRPr>
            </a:lvl2pPr>
            <a:lvl3pPr algn="l">
              <a:buNone/>
              <a:defRPr sz="1875" b="0">
                <a:solidFill>
                  <a:srgbClr val="162B3A"/>
                </a:solidFill>
                <a:latin typeface="Arial"/>
                <a:ea typeface="Arial"/>
                <a:cs typeface="Arial"/>
              </a:defRPr>
            </a:lvl3pPr>
            <a:lvl4pPr algn="l">
              <a:buNone/>
              <a:defRPr sz="1875" b="0">
                <a:solidFill>
                  <a:srgbClr val="162B3A"/>
                </a:solidFill>
                <a:latin typeface="Arial"/>
                <a:ea typeface="Arial"/>
                <a:cs typeface="Arial"/>
              </a:defRPr>
            </a:lvl4pPr>
            <a:lvl5pPr algn="l">
              <a:buNone/>
              <a:defRPr sz="1875" b="0">
                <a:solidFill>
                  <a:srgbClr val="162B3A"/>
                </a:solidFill>
                <a:latin typeface="Arial"/>
                <a:ea typeface="Arial"/>
                <a:cs typeface="Arial"/>
              </a:defRPr>
            </a:lvl5pPr>
            <a:lvl6pPr algn="l">
              <a:buNone/>
              <a:defRPr sz="1875" b="0">
                <a:solidFill>
                  <a:srgbClr val="162B3A"/>
                </a:solidFill>
                <a:latin typeface="Arial"/>
                <a:ea typeface="Arial"/>
                <a:cs typeface="Arial"/>
              </a:defRPr>
            </a:lvl6pPr>
            <a:lvl7pPr algn="l">
              <a:buNone/>
              <a:defRPr sz="1875" b="0">
                <a:solidFill>
                  <a:srgbClr val="162B3A"/>
                </a:solidFill>
                <a:latin typeface="Arial"/>
                <a:ea typeface="Arial"/>
                <a:cs typeface="Arial"/>
              </a:defRPr>
            </a:lvl7pPr>
            <a:lvl8pPr algn="l">
              <a:buNone/>
              <a:defRPr sz="1875" b="0">
                <a:solidFill>
                  <a:srgbClr val="162B3A"/>
                </a:solidFill>
                <a:latin typeface="Arial"/>
                <a:ea typeface="Arial"/>
                <a:cs typeface="Arial"/>
              </a:defRPr>
            </a:lvl8pPr>
            <a:lvl9pPr algn="l">
              <a:buNone/>
              <a:defRPr sz="1875" b="0">
                <a:solidFill>
                  <a:srgbClr val="162B3A"/>
                </a:solidFill>
                <a:latin typeface="Arial"/>
                <a:ea typeface="Arial"/>
                <a:cs typeface="Arial"/>
              </a:defRPr>
            </a:lvl9pPr>
          </a:lstStyle>
          <a:p xmlns:a="http://schemas.openxmlformats.org/drawingml/2006/main">
            <a:pPr algn="l">
              <a:buNone/>
              <a:defRPr sz="1875" b="0">
                <a:solidFill>
                  <a:srgbClr val="162B3A"/>
                </a:solidFill>
                <a:latin typeface="Arial"/>
                <a:ea typeface="Arial"/>
                <a:cs typeface="Arial"/>
              </a:defRPr>
            </a:pPr>
            <a:r>
              <a:rPr sz="1875" b="0">
                <a:solidFill>
                  <a:srgbClr val="162B3A"/>
                </a:solidFill>
                <a:latin typeface="Arial"/>
                <a:ea typeface="Arial"/>
                <a:cs typeface="Arial"/>
              </a:rPr>
              <a:t>pinned structures</a:t>
            </a:r>
          </a:p>
        </p:txBody>
      </p:sp>
      <p:sp>
        <p:nvSpPr>
          <p:cNvPr id="6" name="">
            <a:extLst xmlns:a="http://schemas.openxmlformats.org/drawingml/2006/main">
              <a:ext uri="{FF2B5EF4-FFF2-40B4-BE49-F238E27FC236}">
                <a16:creationId xmlns:a16="http://schemas.microsoft.com/office/drawing/2014/main" id="{637C004F-7C37-48B4-8023-997EA9DA0E7B}"/>
              </a:ext>
            </a:extLst>
          </p:cNvPr>
          <p:cNvSpPr>
            <a:spLocks xmlns:a="http://schemas.openxmlformats.org/drawingml/2006/main" noGrp="1"/>
          </p:cNvSpPr>
          <p:nvPr/>
        </p:nvSpPr>
        <p:spPr>
          <a:xfrm xmlns:a="http://schemas.openxmlformats.org/drawingml/2006/main">
            <a:off x="4514850" y="4467225"/>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087F8C"/>
                </a:solidFill>
                <a:latin typeface="Arial"/>
                <a:ea typeface="Arial"/>
                <a:cs typeface="Arial"/>
              </a:defRPr>
            </a:defPPr>
            <a:lvl1pPr algn="l">
              <a:buNone/>
              <a:defRPr sz="4500" b="1">
                <a:solidFill>
                  <a:srgbClr val="087F8C"/>
                </a:solidFill>
                <a:latin typeface="Arial"/>
                <a:ea typeface="Arial"/>
                <a:cs typeface="Arial"/>
              </a:defRPr>
            </a:lvl1pPr>
            <a:lvl2pPr algn="l">
              <a:buNone/>
              <a:defRPr sz="4500" b="1">
                <a:solidFill>
                  <a:srgbClr val="087F8C"/>
                </a:solidFill>
                <a:latin typeface="Arial"/>
                <a:ea typeface="Arial"/>
                <a:cs typeface="Arial"/>
              </a:defRPr>
            </a:lvl2pPr>
            <a:lvl3pPr algn="l">
              <a:buNone/>
              <a:defRPr sz="4500" b="1">
                <a:solidFill>
                  <a:srgbClr val="087F8C"/>
                </a:solidFill>
                <a:latin typeface="Arial"/>
                <a:ea typeface="Arial"/>
                <a:cs typeface="Arial"/>
              </a:defRPr>
            </a:lvl3pPr>
            <a:lvl4pPr algn="l">
              <a:buNone/>
              <a:defRPr sz="4500" b="1">
                <a:solidFill>
                  <a:srgbClr val="087F8C"/>
                </a:solidFill>
                <a:latin typeface="Arial"/>
                <a:ea typeface="Arial"/>
                <a:cs typeface="Arial"/>
              </a:defRPr>
            </a:lvl4pPr>
            <a:lvl5pPr algn="l">
              <a:buNone/>
              <a:defRPr sz="4500" b="1">
                <a:solidFill>
                  <a:srgbClr val="087F8C"/>
                </a:solidFill>
                <a:latin typeface="Arial"/>
                <a:ea typeface="Arial"/>
                <a:cs typeface="Arial"/>
              </a:defRPr>
            </a:lvl5pPr>
            <a:lvl6pPr algn="l">
              <a:buNone/>
              <a:defRPr sz="4500" b="1">
                <a:solidFill>
                  <a:srgbClr val="087F8C"/>
                </a:solidFill>
                <a:latin typeface="Arial"/>
                <a:ea typeface="Arial"/>
                <a:cs typeface="Arial"/>
              </a:defRPr>
            </a:lvl6pPr>
            <a:lvl7pPr algn="l">
              <a:buNone/>
              <a:defRPr sz="4500" b="1">
                <a:solidFill>
                  <a:srgbClr val="087F8C"/>
                </a:solidFill>
                <a:latin typeface="Arial"/>
                <a:ea typeface="Arial"/>
                <a:cs typeface="Arial"/>
              </a:defRPr>
            </a:lvl7pPr>
            <a:lvl8pPr algn="l">
              <a:buNone/>
              <a:defRPr sz="4500" b="1">
                <a:solidFill>
                  <a:srgbClr val="087F8C"/>
                </a:solidFill>
                <a:latin typeface="Arial"/>
                <a:ea typeface="Arial"/>
                <a:cs typeface="Arial"/>
              </a:defRPr>
            </a:lvl8pPr>
            <a:lvl9pPr algn="l">
              <a:buNone/>
              <a:defRPr sz="4500" b="1">
                <a:solidFill>
                  <a:srgbClr val="087F8C"/>
                </a:solidFill>
                <a:latin typeface="Arial"/>
                <a:ea typeface="Arial"/>
                <a:cs typeface="Arial"/>
              </a:defRPr>
            </a:lvl9pPr>
          </a:lstStyle>
          <a:p xmlns:a="http://schemas.openxmlformats.org/drawingml/2006/main">
            <a:pPr algn="l">
              <a:buNone/>
              <a:defRPr sz="4500" b="1">
                <a:solidFill>
                  <a:srgbClr val="087F8C"/>
                </a:solidFill>
                <a:latin typeface="Arial"/>
                <a:ea typeface="Arial"/>
                <a:cs typeface="Arial"/>
              </a:defRPr>
            </a:pPr>
            <a:r>
              <a:rPr sz="4500" b="1">
                <a:solidFill>
                  <a:srgbClr val="087F8C"/>
                </a:solidFill>
                <a:latin typeface="Arial"/>
                <a:ea typeface="Arial"/>
                <a:cs typeface="Arial"/>
              </a:rPr>
              <a:t>47</a:t>
            </a:r>
          </a:p>
        </p:txBody>
      </p:sp>
      <p:sp>
        <p:nvSpPr>
          <p:cNvPr id="7" name="">
            <a:extLst xmlns:a="http://schemas.openxmlformats.org/drawingml/2006/main">
              <a:ext uri="{FF2B5EF4-FFF2-40B4-BE49-F238E27FC236}">
                <a16:creationId xmlns:a16="http://schemas.microsoft.com/office/drawing/2014/main" id="{5AF12901-6B14-409E-823F-DBC215BAE561}"/>
              </a:ext>
            </a:extLst>
          </p:cNvPr>
          <p:cNvSpPr>
            <a:spLocks xmlns:a="http://schemas.openxmlformats.org/drawingml/2006/main" noGrp="1"/>
          </p:cNvSpPr>
          <p:nvPr/>
        </p:nvSpPr>
        <p:spPr>
          <a:xfrm xmlns:a="http://schemas.openxmlformats.org/drawingml/2006/main">
            <a:off x="4514850" y="52101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B3A"/>
                </a:solidFill>
                <a:latin typeface="Arial"/>
                <a:ea typeface="Arial"/>
                <a:cs typeface="Arial"/>
              </a:defRPr>
            </a:defPPr>
            <a:lvl1pPr algn="l">
              <a:buNone/>
              <a:defRPr sz="1875" b="0">
                <a:solidFill>
                  <a:srgbClr val="162B3A"/>
                </a:solidFill>
                <a:latin typeface="Arial"/>
                <a:ea typeface="Arial"/>
                <a:cs typeface="Arial"/>
              </a:defRPr>
            </a:lvl1pPr>
            <a:lvl2pPr algn="l">
              <a:buNone/>
              <a:defRPr sz="1875" b="0">
                <a:solidFill>
                  <a:srgbClr val="162B3A"/>
                </a:solidFill>
                <a:latin typeface="Arial"/>
                <a:ea typeface="Arial"/>
                <a:cs typeface="Arial"/>
              </a:defRPr>
            </a:lvl2pPr>
            <a:lvl3pPr algn="l">
              <a:buNone/>
              <a:defRPr sz="1875" b="0">
                <a:solidFill>
                  <a:srgbClr val="162B3A"/>
                </a:solidFill>
                <a:latin typeface="Arial"/>
                <a:ea typeface="Arial"/>
                <a:cs typeface="Arial"/>
              </a:defRPr>
            </a:lvl3pPr>
            <a:lvl4pPr algn="l">
              <a:buNone/>
              <a:defRPr sz="1875" b="0">
                <a:solidFill>
                  <a:srgbClr val="162B3A"/>
                </a:solidFill>
                <a:latin typeface="Arial"/>
                <a:ea typeface="Arial"/>
                <a:cs typeface="Arial"/>
              </a:defRPr>
            </a:lvl4pPr>
            <a:lvl5pPr algn="l">
              <a:buNone/>
              <a:defRPr sz="1875" b="0">
                <a:solidFill>
                  <a:srgbClr val="162B3A"/>
                </a:solidFill>
                <a:latin typeface="Arial"/>
                <a:ea typeface="Arial"/>
                <a:cs typeface="Arial"/>
              </a:defRPr>
            </a:lvl5pPr>
            <a:lvl6pPr algn="l">
              <a:buNone/>
              <a:defRPr sz="1875" b="0">
                <a:solidFill>
                  <a:srgbClr val="162B3A"/>
                </a:solidFill>
                <a:latin typeface="Arial"/>
                <a:ea typeface="Arial"/>
                <a:cs typeface="Arial"/>
              </a:defRPr>
            </a:lvl6pPr>
            <a:lvl7pPr algn="l">
              <a:buNone/>
              <a:defRPr sz="1875" b="0">
                <a:solidFill>
                  <a:srgbClr val="162B3A"/>
                </a:solidFill>
                <a:latin typeface="Arial"/>
                <a:ea typeface="Arial"/>
                <a:cs typeface="Arial"/>
              </a:defRPr>
            </a:lvl7pPr>
            <a:lvl8pPr algn="l">
              <a:buNone/>
              <a:defRPr sz="1875" b="0">
                <a:solidFill>
                  <a:srgbClr val="162B3A"/>
                </a:solidFill>
                <a:latin typeface="Arial"/>
                <a:ea typeface="Arial"/>
                <a:cs typeface="Arial"/>
              </a:defRPr>
            </a:lvl8pPr>
            <a:lvl9pPr algn="l">
              <a:buNone/>
              <a:defRPr sz="1875" b="0">
                <a:solidFill>
                  <a:srgbClr val="162B3A"/>
                </a:solidFill>
                <a:latin typeface="Arial"/>
                <a:ea typeface="Arial"/>
                <a:cs typeface="Arial"/>
              </a:defRPr>
            </a:lvl9pPr>
          </a:lstStyle>
          <a:p xmlns:a="http://schemas.openxmlformats.org/drawingml/2006/main">
            <a:pPr algn="l">
              <a:buNone/>
              <a:defRPr sz="1875" b="0">
                <a:solidFill>
                  <a:srgbClr val="162B3A"/>
                </a:solidFill>
                <a:latin typeface="Arial"/>
                <a:ea typeface="Arial"/>
                <a:cs typeface="Arial"/>
              </a:defRPr>
            </a:pPr>
            <a:r>
              <a:rPr sz="1875" b="0">
                <a:solidFill>
                  <a:srgbClr val="162B3A"/>
                </a:solidFill>
                <a:latin typeface="Arial"/>
                <a:ea typeface="Arial"/>
                <a:cs typeface="Arial"/>
              </a:rPr>
              <a:t>eligible after insulation</a:t>
            </a:r>
          </a:p>
        </p:txBody>
      </p:sp>
      <p:sp>
        <p:nvSpPr>
          <p:cNvPr id="8" name="">
            <a:extLst xmlns:a="http://schemas.openxmlformats.org/drawingml/2006/main">
              <a:ext uri="{FF2B5EF4-FFF2-40B4-BE49-F238E27FC236}">
                <a16:creationId xmlns:a16="http://schemas.microsoft.com/office/drawing/2014/main" id="{51DF573A-F572-47D0-9933-C3D624544730}"/>
              </a:ext>
            </a:extLst>
          </p:cNvPr>
          <p:cNvSpPr>
            <a:spLocks xmlns:a="http://schemas.openxmlformats.org/drawingml/2006/main" noGrp="1"/>
          </p:cNvSpPr>
          <p:nvPr/>
        </p:nvSpPr>
        <p:spPr>
          <a:xfrm xmlns:a="http://schemas.openxmlformats.org/drawingml/2006/main">
            <a:off x="8639175" y="44672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087F8C"/>
                </a:solidFill>
                <a:latin typeface="Arial"/>
                <a:ea typeface="Arial"/>
                <a:cs typeface="Arial"/>
              </a:defRPr>
            </a:defPPr>
            <a:lvl1pPr algn="l">
              <a:buNone/>
              <a:defRPr sz="4125" b="1">
                <a:solidFill>
                  <a:srgbClr val="087F8C"/>
                </a:solidFill>
                <a:latin typeface="Arial"/>
                <a:ea typeface="Arial"/>
                <a:cs typeface="Arial"/>
              </a:defRPr>
            </a:lvl1pPr>
            <a:lvl2pPr algn="l">
              <a:buNone/>
              <a:defRPr sz="4125" b="1">
                <a:solidFill>
                  <a:srgbClr val="087F8C"/>
                </a:solidFill>
                <a:latin typeface="Arial"/>
                <a:ea typeface="Arial"/>
                <a:cs typeface="Arial"/>
              </a:defRPr>
            </a:lvl2pPr>
            <a:lvl3pPr algn="l">
              <a:buNone/>
              <a:defRPr sz="4125" b="1">
                <a:solidFill>
                  <a:srgbClr val="087F8C"/>
                </a:solidFill>
                <a:latin typeface="Arial"/>
                <a:ea typeface="Arial"/>
                <a:cs typeface="Arial"/>
              </a:defRPr>
            </a:lvl3pPr>
            <a:lvl4pPr algn="l">
              <a:buNone/>
              <a:defRPr sz="4125" b="1">
                <a:solidFill>
                  <a:srgbClr val="087F8C"/>
                </a:solidFill>
                <a:latin typeface="Arial"/>
                <a:ea typeface="Arial"/>
                <a:cs typeface="Arial"/>
              </a:defRPr>
            </a:lvl4pPr>
            <a:lvl5pPr algn="l">
              <a:buNone/>
              <a:defRPr sz="4125" b="1">
                <a:solidFill>
                  <a:srgbClr val="087F8C"/>
                </a:solidFill>
                <a:latin typeface="Arial"/>
                <a:ea typeface="Arial"/>
                <a:cs typeface="Arial"/>
              </a:defRPr>
            </a:lvl5pPr>
            <a:lvl6pPr algn="l">
              <a:buNone/>
              <a:defRPr sz="4125" b="1">
                <a:solidFill>
                  <a:srgbClr val="087F8C"/>
                </a:solidFill>
                <a:latin typeface="Arial"/>
                <a:ea typeface="Arial"/>
                <a:cs typeface="Arial"/>
              </a:defRPr>
            </a:lvl6pPr>
            <a:lvl7pPr algn="l">
              <a:buNone/>
              <a:defRPr sz="4125" b="1">
                <a:solidFill>
                  <a:srgbClr val="087F8C"/>
                </a:solidFill>
                <a:latin typeface="Arial"/>
                <a:ea typeface="Arial"/>
                <a:cs typeface="Arial"/>
              </a:defRPr>
            </a:lvl7pPr>
            <a:lvl8pPr algn="l">
              <a:buNone/>
              <a:defRPr sz="4125" b="1">
                <a:solidFill>
                  <a:srgbClr val="087F8C"/>
                </a:solidFill>
                <a:latin typeface="Arial"/>
                <a:ea typeface="Arial"/>
                <a:cs typeface="Arial"/>
              </a:defRPr>
            </a:lvl8pPr>
            <a:lvl9pPr algn="l">
              <a:buNone/>
              <a:defRPr sz="4125" b="1">
                <a:solidFill>
                  <a:srgbClr val="087F8C"/>
                </a:solidFill>
                <a:latin typeface="Arial"/>
                <a:ea typeface="Arial"/>
                <a:cs typeface="Arial"/>
              </a:defRPr>
            </a:lvl9pPr>
          </a:lstStyle>
          <a:p xmlns:a="http://schemas.openxmlformats.org/drawingml/2006/main">
            <a:pPr algn="l">
              <a:buNone/>
              <a:defRPr sz="4125" b="1">
                <a:solidFill>
                  <a:srgbClr val="087F8C"/>
                </a:solidFill>
                <a:latin typeface="Arial"/>
                <a:ea typeface="Arial"/>
                <a:cs typeface="Arial"/>
              </a:defRPr>
            </a:pPr>
            <a:r>
              <a:rPr sz="4125" b="1">
                <a:solidFill>
                  <a:srgbClr val="087F8C"/>
                </a:solidFill>
                <a:latin typeface="Arial"/>
                <a:ea typeface="Arial"/>
                <a:cs typeface="Arial"/>
              </a:rPr>
              <a:t>≤ 0.050</a:t>
            </a:r>
          </a:p>
        </p:txBody>
      </p:sp>
      <p:sp>
        <p:nvSpPr>
          <p:cNvPr id="9" name="">
            <a:extLst xmlns:a="http://schemas.openxmlformats.org/drawingml/2006/main">
              <a:ext uri="{FF2B5EF4-FFF2-40B4-BE49-F238E27FC236}">
                <a16:creationId xmlns:a16="http://schemas.microsoft.com/office/drawing/2014/main" id="{002BFB5E-73D7-4391-9800-73709BFB48EB}"/>
              </a:ext>
            </a:extLst>
          </p:cNvPr>
          <p:cNvSpPr>
            <a:spLocks xmlns:a="http://schemas.openxmlformats.org/drawingml/2006/main" noGrp="1"/>
          </p:cNvSpPr>
          <p:nvPr/>
        </p:nvSpPr>
        <p:spPr>
          <a:xfrm xmlns:a="http://schemas.openxmlformats.org/drawingml/2006/main">
            <a:off x="8639175" y="52101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B3A"/>
                </a:solidFill>
                <a:latin typeface="Arial"/>
                <a:ea typeface="Arial"/>
                <a:cs typeface="Arial"/>
              </a:defRPr>
            </a:defPPr>
            <a:lvl1pPr algn="l">
              <a:buNone/>
              <a:defRPr sz="1875" b="0">
                <a:solidFill>
                  <a:srgbClr val="162B3A"/>
                </a:solidFill>
                <a:latin typeface="Arial"/>
                <a:ea typeface="Arial"/>
                <a:cs typeface="Arial"/>
              </a:defRPr>
            </a:lvl1pPr>
            <a:lvl2pPr algn="l">
              <a:buNone/>
              <a:defRPr sz="1875" b="0">
                <a:solidFill>
                  <a:srgbClr val="162B3A"/>
                </a:solidFill>
                <a:latin typeface="Arial"/>
                <a:ea typeface="Arial"/>
                <a:cs typeface="Arial"/>
              </a:defRPr>
            </a:lvl2pPr>
            <a:lvl3pPr algn="l">
              <a:buNone/>
              <a:defRPr sz="1875" b="0">
                <a:solidFill>
                  <a:srgbClr val="162B3A"/>
                </a:solidFill>
                <a:latin typeface="Arial"/>
                <a:ea typeface="Arial"/>
                <a:cs typeface="Arial"/>
              </a:defRPr>
            </a:lvl3pPr>
            <a:lvl4pPr algn="l">
              <a:buNone/>
              <a:defRPr sz="1875" b="0">
                <a:solidFill>
                  <a:srgbClr val="162B3A"/>
                </a:solidFill>
                <a:latin typeface="Arial"/>
                <a:ea typeface="Arial"/>
                <a:cs typeface="Arial"/>
              </a:defRPr>
            </a:lvl4pPr>
            <a:lvl5pPr algn="l">
              <a:buNone/>
              <a:defRPr sz="1875" b="0">
                <a:solidFill>
                  <a:srgbClr val="162B3A"/>
                </a:solidFill>
                <a:latin typeface="Arial"/>
                <a:ea typeface="Arial"/>
                <a:cs typeface="Arial"/>
              </a:defRPr>
            </a:lvl5pPr>
            <a:lvl6pPr algn="l">
              <a:buNone/>
              <a:defRPr sz="1875" b="0">
                <a:solidFill>
                  <a:srgbClr val="162B3A"/>
                </a:solidFill>
                <a:latin typeface="Arial"/>
                <a:ea typeface="Arial"/>
                <a:cs typeface="Arial"/>
              </a:defRPr>
            </a:lvl6pPr>
            <a:lvl7pPr algn="l">
              <a:buNone/>
              <a:defRPr sz="1875" b="0">
                <a:solidFill>
                  <a:srgbClr val="162B3A"/>
                </a:solidFill>
                <a:latin typeface="Arial"/>
                <a:ea typeface="Arial"/>
                <a:cs typeface="Arial"/>
              </a:defRPr>
            </a:lvl7pPr>
            <a:lvl8pPr algn="l">
              <a:buNone/>
              <a:defRPr sz="1875" b="0">
                <a:solidFill>
                  <a:srgbClr val="162B3A"/>
                </a:solidFill>
                <a:latin typeface="Arial"/>
                <a:ea typeface="Arial"/>
                <a:cs typeface="Arial"/>
              </a:defRPr>
            </a:lvl8pPr>
            <a:lvl9pPr algn="l">
              <a:buNone/>
              <a:defRPr sz="1875" b="0">
                <a:solidFill>
                  <a:srgbClr val="162B3A"/>
                </a:solidFill>
                <a:latin typeface="Arial"/>
                <a:ea typeface="Arial"/>
                <a:cs typeface="Arial"/>
              </a:defRPr>
            </a:lvl9pPr>
          </a:lstStyle>
          <a:p xmlns:a="http://schemas.openxmlformats.org/drawingml/2006/main">
            <a:pPr algn="l">
              <a:buNone/>
              <a:defRPr sz="1875" b="0">
                <a:solidFill>
                  <a:srgbClr val="162B3A"/>
                </a:solidFill>
                <a:latin typeface="Arial"/>
                <a:ea typeface="Arial"/>
                <a:cs typeface="Arial"/>
              </a:defRPr>
            </a:pPr>
            <a:r>
              <a:rPr sz="1875" b="0">
                <a:solidFill>
                  <a:srgbClr val="162B3A"/>
                </a:solidFill>
                <a:latin typeface="Arial"/>
                <a:ea typeface="Arial"/>
                <a:cs typeface="Arial"/>
              </a:rPr>
              <a:t>acceptance threshold</a:t>
            </a:r>
          </a:p>
        </p:txBody>
      </p:sp>
      <p:sp>
        <p:nvSpPr>
          <p:cNvPr id="10" name="">
            <a:extLst xmlns:a="http://schemas.openxmlformats.org/drawingml/2006/main">
              <a:ext uri="{FF2B5EF4-FFF2-40B4-BE49-F238E27FC236}">
                <a16:creationId xmlns:a16="http://schemas.microsoft.com/office/drawing/2014/main" id="{0C3B8441-1BBB-4DCD-9753-BB9AFEADF86A}"/>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Penalty = maximum of coating self-instability and extra reaction at either contact.</a:t>
            </a:r>
          </a:p>
        </p:txBody>
      </p:sp>
    </p:spTree>
    <p:extLst>
      <p:ext uri="{BB962C8B-B14F-4D97-AF65-F5344CB8AC3E}">
        <p14:creationId xmlns:p14="http://schemas.microsoft.com/office/powerpoint/2010/main" val="1193979815"/>
      </p:ext>
    </p:extLst>
  </p:cSld>
</p:sld>
</file>

<file path=ppt/slides/slide6.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E5BF6C-58F8-4320-8FFC-0227BF65A8B4}"/>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Five arms test the value of feedback</a:t>
            </a:r>
          </a:p>
        </p:txBody>
      </p:sp>
      <p:sp>
        <p:nvSpPr>
          <p:cNvPr id="2" name="">
            <a:extLst xmlns:a="http://schemas.openxmlformats.org/drawingml/2006/main">
              <a:ext uri="{FF2B5EF4-FFF2-40B4-BE49-F238E27FC236}">
                <a16:creationId xmlns:a16="http://schemas.microsoft.com/office/drawing/2014/main" id="{8595CC54-9F5E-41B0-856C-C4D698CE2D2D}"/>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1D49C022-2494-41F3-AE57-2E94178FF8CA}"/>
              </a:ext>
            </a:extLst>
          </p:cNvPr>
          <p:cNvGraphicFramePr/>
          <p:nvPr/>
        </p:nvGraphicFramePr>
        <p:xfrm>
          <a:off xmlns:a="http://schemas.openxmlformats.org/drawingml/2006/main" x="609600" y="1581150"/>
          <a:ext xmlns:a="http://schemas.openxmlformats.org/drawingml/2006/main" cx="10972800" cy="3876675"/>
        </p:xfrm>
        <a:graphic xmlns:a="http://schemas.openxmlformats.org/drawingml/2006/main">
          <a:graphicData uri="http://schemas.openxmlformats.org/drawingml/2006/table">
            <a:tbl>
              <a:tblPr/>
              <a:tblGrid>
                <a:gridCol w="2457450"/>
                <a:gridCol w="8515350"/>
              </a:tblGrid>
              <a:tr h="646113">
                <a:tc>
                  <a:txBody>
                    <a:bodyPr/>
                    <a:lstStyle/>
                    <a:p>
                      <a:r>
                        <a:rPr sz="1875" b="1">
                          <a:solidFill>
                            <a:srgbClr val="FFFFFF"/>
                          </a:solidFill>
                          <a:latin typeface="Arial"/>
                          <a:ea typeface="Arial"/>
                          <a:cs typeface="Arial"/>
                        </a:rPr>
                        <a:t>Strategy</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Information available for the next choice</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646113">
                <a:tc>
                  <a:txBody>
                    <a:bodyPr/>
                    <a:lstStyle/>
                    <a:p>
                      <a:r>
                        <a:rPr sz="1875" b="0">
                          <a:solidFill>
                            <a:srgbClr val="162B3A"/>
                          </a:solidFill>
                          <a:latin typeface="Arial"/>
                          <a:ea typeface="Arial"/>
                          <a:cs typeface="Arial"/>
                        </a:rPr>
                        <a:t>Upfront</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One shortlist before any result</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646113">
                <a:tc>
                  <a:txBody>
                    <a:bodyPr/>
                    <a:lstStyle/>
                    <a:p>
                      <a:r>
                        <a:rPr sz="1875" b="0">
                          <a:solidFill>
                            <a:srgbClr val="162B3A"/>
                          </a:solidFill>
                          <a:latin typeface="Arial"/>
                          <a:ea typeface="Arial"/>
                          <a:cs typeface="Arial"/>
                        </a:rPr>
                        <a:t>Sequential</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Previous choices, without calculation results</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646113">
                <a:tc>
                  <a:txBody>
                    <a:bodyPr/>
                    <a:lstStyle/>
                    <a:p>
                      <a:r>
                        <a:rPr sz="1875" b="1">
                          <a:solidFill>
                            <a:srgbClr val="087F8C"/>
                          </a:solidFill>
                          <a:latin typeface="Arial"/>
                          <a:ea typeface="Arial"/>
                          <a:cs typeface="Arial"/>
                        </a:rPr>
                        <a:t>Iterative</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D9EEE9"/>
                    </a:solidFill>
                  </a:tcPr>
                </a:tc>
                <a:tc>
                  <a:txBody>
                    <a:bodyPr/>
                    <a:lstStyle/>
                    <a:p>
                      <a:r>
                        <a:rPr sz="1875" b="1">
                          <a:solidFill>
                            <a:srgbClr val="087F8C"/>
                          </a:solidFill>
                          <a:latin typeface="Arial"/>
                          <a:ea typeface="Arial"/>
                          <a:cs typeface="Arial"/>
                        </a:rPr>
                        <a:t>Previous choices and correctly associated results</a:t>
                      </a:r>
                    </a:p>
                  </a:txBody>
                  <a:tcPr marL="133350" marR="114300" marT="114300" marB="95250" anchor="ctr">
                    <a:lnR w="9525">
                      <a:solidFill>
                        <a:srgbClr val="F7F8F7"/>
                      </a:solidFill>
                      <a:prstDash val="solid"/>
                    </a:lnR>
                    <a:lnB w="9525">
                      <a:solidFill>
                        <a:srgbClr val="F7F8F7"/>
                      </a:solidFill>
                      <a:prstDash val="solid"/>
                    </a:lnB>
                    <a:solidFill>
                      <a:srgbClr val="D9EEE9"/>
                    </a:solidFill>
                  </a:tcPr>
                </a:tc>
              </a:tr>
              <a:tr h="646113">
                <a:tc>
                  <a:txBody>
                    <a:bodyPr/>
                    <a:lstStyle/>
                    <a:p>
                      <a:r>
                        <a:rPr sz="1875" b="0">
                          <a:solidFill>
                            <a:srgbClr val="162B3A"/>
                          </a:solidFill>
                          <a:latin typeface="Arial"/>
                          <a:ea typeface="Arial"/>
                          <a:cs typeface="Arial"/>
                        </a:rPr>
                        <a:t>Shuffled</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Previous choices with reassigned result histories</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646113">
                <a:tc>
                  <a:txBody>
                    <a:bodyPr/>
                    <a:lstStyle/>
                    <a:p>
                      <a:r>
                        <a:rPr sz="1875" b="0">
                          <a:solidFill>
                            <a:srgbClr val="162B3A"/>
                          </a:solidFill>
                          <a:latin typeface="Arial"/>
                          <a:ea typeface="Arial"/>
                          <a:cs typeface="Arial"/>
                        </a:rPr>
                        <a:t>Random</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Uniform sampling without replacement</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4" name="">
            <a:extLst xmlns:a="http://schemas.openxmlformats.org/drawingml/2006/main">
              <a:ext uri="{FF2B5EF4-FFF2-40B4-BE49-F238E27FC236}">
                <a16:creationId xmlns:a16="http://schemas.microsoft.com/office/drawing/2014/main" id="{A8DD80BD-8EC1-4AED-94B4-CA159B8007C1}"/>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30 runs per arm, 10 queries per run. Haiku 5.5 for LLM arms. Failed queries remain in the budget.</a:t>
            </a:r>
          </a:p>
        </p:txBody>
      </p:sp>
    </p:spTree>
    <p:extLst>
      <p:ext uri="{BB962C8B-B14F-4D97-AF65-F5344CB8AC3E}">
        <p14:creationId xmlns:p14="http://schemas.microsoft.com/office/powerpoint/2010/main" val="1847849021"/>
      </p:ext>
    </p:extLst>
  </p:cSld>
</p:sld>
</file>

<file path=ppt/slides/slide7.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B52F08-E773-48DD-B383-3F64F55EF211}"/>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Feedback improves acceptance in this benchmark</a:t>
            </a:r>
          </a:p>
        </p:txBody>
      </p:sp>
      <p:sp>
        <p:nvSpPr>
          <p:cNvPr id="2" name="">
            <a:extLst xmlns:a="http://schemas.openxmlformats.org/drawingml/2006/main">
              <a:ext uri="{FF2B5EF4-FFF2-40B4-BE49-F238E27FC236}">
                <a16:creationId xmlns:a16="http://schemas.microsoft.com/office/drawing/2014/main" id="{BDC78A2D-2C36-4A0D-9680-1D042586AC34}"/>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ADFE302E-49DE-4D8B-9B76-4D653B0CA154}"/>
              </a:ext>
            </a:extLst>
          </p:cNvPr>
          <p:cNvGraphicFramePr/>
          <p:nvPr/>
        </p:nvGraphicFramePr>
        <p:xfrm>
          <a:off xmlns:a="http://schemas.openxmlformats.org/drawingml/2006/main" x="609600" y="1743075"/>
          <a:ext xmlns:a="http://schemas.openxmlformats.org/drawingml/2006/main" cx="10972800" cy="3743325"/>
        </p:xfrm>
        <a:graphic xmlns:a="http://schemas.openxmlformats.org/drawingml/2006/main">
          <a:graphicData uri="http://schemas.openxmlformats.org/drawingml/2006/chart">
            <c:chart xmlns:r="http://schemas.openxmlformats.org/officeDocument/2006/relationships" xmlns:c="http://schemas.openxmlformats.org/drawingml/2006/chart" r:id="R458516d219e34f77"/>
          </a:graphicData>
        </a:graphic>
      </p:graphicFrame>
      <p:sp>
        <p:nvSpPr>
          <p:cNvPr id="4" name="">
            <a:extLst xmlns:a="http://schemas.openxmlformats.org/drawingml/2006/main">
              <a:ext uri="{FF2B5EF4-FFF2-40B4-BE49-F238E27FC236}">
                <a16:creationId xmlns:a16="http://schemas.microsoft.com/office/drawing/2014/main" id="{BF9F39B9-C5CA-4DA1-8899-6E47CA6FD02D}"/>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Original four-arm batch plus a matched shuffled follow-up. Each rate has 30 runs; uncertainty is in backup.</a:t>
            </a:r>
          </a:p>
        </p:txBody>
      </p:sp>
    </p:spTree>
    <p:extLst>
      <p:ext uri="{BB962C8B-B14F-4D97-AF65-F5344CB8AC3E}">
        <p14:creationId xmlns:p14="http://schemas.microsoft.com/office/powerpoint/2010/main" val="2072450980"/>
      </p:ext>
    </p:extLst>
  </p:cSld>
</p:sld>
</file>

<file path=ppt/slides/slide8.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5E0E8E-364A-4928-B603-E543B214EAC2}"/>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matched controls support feedback use</a:t>
            </a:r>
          </a:p>
        </p:txBody>
      </p:sp>
      <p:sp>
        <p:nvSpPr>
          <p:cNvPr id="2" name="">
            <a:extLst xmlns:a="http://schemas.openxmlformats.org/drawingml/2006/main">
              <a:ext uri="{FF2B5EF4-FFF2-40B4-BE49-F238E27FC236}">
                <a16:creationId xmlns:a16="http://schemas.microsoft.com/office/drawing/2014/main" id="{1390E1D1-0929-4E54-8763-378FC00D1D85}"/>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61E7665-5BA8-4B78-BC7E-D6D9EFA4E854}"/>
              </a:ext>
            </a:extLst>
          </p:cNvPr>
          <p:cNvSpPr>
            <a:spLocks xmlns:a="http://schemas.openxmlformats.org/drawingml/2006/main" noGrp="1"/>
          </p:cNvSpPr>
          <p:nvPr/>
        </p:nvSpPr>
        <p:spPr>
          <a:xfrm xmlns:a="http://schemas.openxmlformats.org/drawingml/2006/main">
            <a:off x="609600" y="17526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087F8C"/>
                </a:solidFill>
                <a:latin typeface="Arial"/>
                <a:ea typeface="Arial"/>
                <a:cs typeface="Arial"/>
              </a:defRPr>
            </a:defPPr>
            <a:lvl1pPr algn="l">
              <a:buNone/>
              <a:defRPr sz="5025" b="1">
                <a:solidFill>
                  <a:srgbClr val="087F8C"/>
                </a:solidFill>
                <a:latin typeface="Arial"/>
                <a:ea typeface="Arial"/>
                <a:cs typeface="Arial"/>
              </a:defRPr>
            </a:lvl1pPr>
            <a:lvl2pPr algn="l">
              <a:buNone/>
              <a:defRPr sz="5025" b="1">
                <a:solidFill>
                  <a:srgbClr val="087F8C"/>
                </a:solidFill>
                <a:latin typeface="Arial"/>
                <a:ea typeface="Arial"/>
                <a:cs typeface="Arial"/>
              </a:defRPr>
            </a:lvl2pPr>
            <a:lvl3pPr algn="l">
              <a:buNone/>
              <a:defRPr sz="5025" b="1">
                <a:solidFill>
                  <a:srgbClr val="087F8C"/>
                </a:solidFill>
                <a:latin typeface="Arial"/>
                <a:ea typeface="Arial"/>
                <a:cs typeface="Arial"/>
              </a:defRPr>
            </a:lvl3pPr>
            <a:lvl4pPr algn="l">
              <a:buNone/>
              <a:defRPr sz="5025" b="1">
                <a:solidFill>
                  <a:srgbClr val="087F8C"/>
                </a:solidFill>
                <a:latin typeface="Arial"/>
                <a:ea typeface="Arial"/>
                <a:cs typeface="Arial"/>
              </a:defRPr>
            </a:lvl4pPr>
            <a:lvl5pPr algn="l">
              <a:buNone/>
              <a:defRPr sz="5025" b="1">
                <a:solidFill>
                  <a:srgbClr val="087F8C"/>
                </a:solidFill>
                <a:latin typeface="Arial"/>
                <a:ea typeface="Arial"/>
                <a:cs typeface="Arial"/>
              </a:defRPr>
            </a:lvl5pPr>
            <a:lvl6pPr algn="l">
              <a:buNone/>
              <a:defRPr sz="5025" b="1">
                <a:solidFill>
                  <a:srgbClr val="087F8C"/>
                </a:solidFill>
                <a:latin typeface="Arial"/>
                <a:ea typeface="Arial"/>
                <a:cs typeface="Arial"/>
              </a:defRPr>
            </a:lvl6pPr>
            <a:lvl7pPr algn="l">
              <a:buNone/>
              <a:defRPr sz="5025" b="1">
                <a:solidFill>
                  <a:srgbClr val="087F8C"/>
                </a:solidFill>
                <a:latin typeface="Arial"/>
                <a:ea typeface="Arial"/>
                <a:cs typeface="Arial"/>
              </a:defRPr>
            </a:lvl7pPr>
            <a:lvl8pPr algn="l">
              <a:buNone/>
              <a:defRPr sz="5025" b="1">
                <a:solidFill>
                  <a:srgbClr val="087F8C"/>
                </a:solidFill>
                <a:latin typeface="Arial"/>
                <a:ea typeface="Arial"/>
                <a:cs typeface="Arial"/>
              </a:defRPr>
            </a:lvl8pPr>
            <a:lvl9pPr algn="l">
              <a:buNone/>
              <a:defRPr sz="5025" b="1">
                <a:solidFill>
                  <a:srgbClr val="087F8C"/>
                </a:solidFill>
                <a:latin typeface="Arial"/>
                <a:ea typeface="Arial"/>
                <a:cs typeface="Arial"/>
              </a:defRPr>
            </a:lvl9pPr>
          </a:lstStyle>
          <a:p xmlns:a="http://schemas.openxmlformats.org/drawingml/2006/main">
            <a:pPr algn="l">
              <a:buNone/>
              <a:defRPr sz="5025" b="1">
                <a:solidFill>
                  <a:srgbClr val="087F8C"/>
                </a:solidFill>
                <a:latin typeface="Arial"/>
                <a:ea typeface="Arial"/>
                <a:cs typeface="Arial"/>
              </a:defRPr>
            </a:pPr>
            <a:r>
              <a:rPr sz="5025" b="1">
                <a:solidFill>
                  <a:srgbClr val="087F8C"/>
                </a:solidFill>
                <a:latin typeface="Arial"/>
                <a:ea typeface="Arial"/>
                <a:cs typeface="Arial"/>
              </a:rPr>
              <a:t>+50.0 pp</a:t>
            </a:r>
          </a:p>
        </p:txBody>
      </p:sp>
      <p:sp>
        <p:nvSpPr>
          <p:cNvPr id="4" name="">
            <a:extLst xmlns:a="http://schemas.openxmlformats.org/drawingml/2006/main">
              <a:ext uri="{FF2B5EF4-FFF2-40B4-BE49-F238E27FC236}">
                <a16:creationId xmlns:a16="http://schemas.microsoft.com/office/drawing/2014/main" id="{98EF17AA-1464-4D08-B04E-6FBEA91FF407}"/>
              </a:ext>
            </a:extLst>
          </p:cNvPr>
          <p:cNvSpPr>
            <a:spLocks xmlns:a="http://schemas.openxmlformats.org/drawingml/2006/main" noGrp="1"/>
          </p:cNvSpPr>
          <p:nvPr/>
        </p:nvSpPr>
        <p:spPr>
          <a:xfrm xmlns:a="http://schemas.openxmlformats.org/drawingml/2006/main">
            <a:off x="609600" y="28384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B3A"/>
                </a:solidFill>
                <a:latin typeface="Arial"/>
                <a:ea typeface="Arial"/>
                <a:cs typeface="Arial"/>
              </a:defRPr>
            </a:defPPr>
            <a:lvl1pPr algn="l">
              <a:buNone/>
              <a:defRPr sz="2250" b="1">
                <a:solidFill>
                  <a:srgbClr val="162B3A"/>
                </a:solidFill>
                <a:latin typeface="Arial"/>
                <a:ea typeface="Arial"/>
                <a:cs typeface="Arial"/>
              </a:defRPr>
            </a:lvl1pPr>
            <a:lvl2pPr algn="l">
              <a:buNone/>
              <a:defRPr sz="2250" b="1">
                <a:solidFill>
                  <a:srgbClr val="162B3A"/>
                </a:solidFill>
                <a:latin typeface="Arial"/>
                <a:ea typeface="Arial"/>
                <a:cs typeface="Arial"/>
              </a:defRPr>
            </a:lvl2pPr>
            <a:lvl3pPr algn="l">
              <a:buNone/>
              <a:defRPr sz="2250" b="1">
                <a:solidFill>
                  <a:srgbClr val="162B3A"/>
                </a:solidFill>
                <a:latin typeface="Arial"/>
                <a:ea typeface="Arial"/>
                <a:cs typeface="Arial"/>
              </a:defRPr>
            </a:lvl3pPr>
            <a:lvl4pPr algn="l">
              <a:buNone/>
              <a:defRPr sz="2250" b="1">
                <a:solidFill>
                  <a:srgbClr val="162B3A"/>
                </a:solidFill>
                <a:latin typeface="Arial"/>
                <a:ea typeface="Arial"/>
                <a:cs typeface="Arial"/>
              </a:defRPr>
            </a:lvl4pPr>
            <a:lvl5pPr algn="l">
              <a:buNone/>
              <a:defRPr sz="2250" b="1">
                <a:solidFill>
                  <a:srgbClr val="162B3A"/>
                </a:solidFill>
                <a:latin typeface="Arial"/>
                <a:ea typeface="Arial"/>
                <a:cs typeface="Arial"/>
              </a:defRPr>
            </a:lvl5pPr>
            <a:lvl6pPr algn="l">
              <a:buNone/>
              <a:defRPr sz="2250" b="1">
                <a:solidFill>
                  <a:srgbClr val="162B3A"/>
                </a:solidFill>
                <a:latin typeface="Arial"/>
                <a:ea typeface="Arial"/>
                <a:cs typeface="Arial"/>
              </a:defRPr>
            </a:lvl6pPr>
            <a:lvl7pPr algn="l">
              <a:buNone/>
              <a:defRPr sz="2250" b="1">
                <a:solidFill>
                  <a:srgbClr val="162B3A"/>
                </a:solidFill>
                <a:latin typeface="Arial"/>
                <a:ea typeface="Arial"/>
                <a:cs typeface="Arial"/>
              </a:defRPr>
            </a:lvl7pPr>
            <a:lvl8pPr algn="l">
              <a:buNone/>
              <a:defRPr sz="2250" b="1">
                <a:solidFill>
                  <a:srgbClr val="162B3A"/>
                </a:solidFill>
                <a:latin typeface="Arial"/>
                <a:ea typeface="Arial"/>
                <a:cs typeface="Arial"/>
              </a:defRPr>
            </a:lvl8pPr>
            <a:lvl9pPr algn="l">
              <a:buNone/>
              <a:defRPr sz="2250" b="1">
                <a:solidFill>
                  <a:srgbClr val="162B3A"/>
                </a:solidFill>
                <a:latin typeface="Arial"/>
                <a:ea typeface="Arial"/>
                <a:cs typeface="Arial"/>
              </a:defRPr>
            </a:lvl9pPr>
          </a:lstStyle>
          <a:p xmlns:a="http://schemas.openxmlformats.org/drawingml/2006/main">
            <a:pPr algn="l">
              <a:buNone/>
              <a:defRPr sz="2250" b="1">
                <a:solidFill>
                  <a:srgbClr val="162B3A"/>
                </a:solidFill>
                <a:latin typeface="Arial"/>
                <a:ea typeface="Arial"/>
                <a:cs typeface="Arial"/>
              </a:defRPr>
            </a:pPr>
            <a:r>
              <a:rPr sz="2250" b="1">
                <a:solidFill>
                  <a:srgbClr val="162B3A"/>
                </a:solidFill>
                <a:latin typeface="Arial"/>
                <a:ea typeface="Arial"/>
                <a:cs typeface="Arial"/>
              </a:rPr>
              <a:t>Iterative versus no results</a:t>
            </a:r>
          </a:p>
        </p:txBody>
      </p:sp>
      <p:sp>
        <p:nvSpPr>
          <p:cNvPr id="5" name="">
            <a:extLst xmlns:a="http://schemas.openxmlformats.org/drawingml/2006/main">
              <a:ext uri="{FF2B5EF4-FFF2-40B4-BE49-F238E27FC236}">
                <a16:creationId xmlns:a16="http://schemas.microsoft.com/office/drawing/2014/main" id="{EC14FF72-EAEE-4CD0-9A5E-92FB9D7C5681}"/>
              </a:ext>
            </a:extLst>
          </p:cNvPr>
          <p:cNvSpPr>
            <a:spLocks xmlns:a="http://schemas.openxmlformats.org/drawingml/2006/main" noGrp="1"/>
          </p:cNvSpPr>
          <p:nvPr/>
        </p:nvSpPr>
        <p:spPr>
          <a:xfrm xmlns:a="http://schemas.openxmlformats.org/drawingml/2006/main">
            <a:off x="609600" y="347662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B3A"/>
                </a:solidFill>
                <a:latin typeface="Arial"/>
                <a:ea typeface="Arial"/>
                <a:cs typeface="Arial"/>
              </a:defRPr>
            </a:defPPr>
            <a:lvl1pPr algn="l">
              <a:buNone/>
              <a:defRPr sz="2175" b="0">
                <a:solidFill>
                  <a:srgbClr val="162B3A"/>
                </a:solidFill>
                <a:latin typeface="Arial"/>
                <a:ea typeface="Arial"/>
                <a:cs typeface="Arial"/>
              </a:defRPr>
            </a:lvl1pPr>
            <a:lvl2pPr algn="l">
              <a:buNone/>
              <a:defRPr sz="2175" b="0">
                <a:solidFill>
                  <a:srgbClr val="162B3A"/>
                </a:solidFill>
                <a:latin typeface="Arial"/>
                <a:ea typeface="Arial"/>
                <a:cs typeface="Arial"/>
              </a:defRPr>
            </a:lvl2pPr>
            <a:lvl3pPr algn="l">
              <a:buNone/>
              <a:defRPr sz="2175" b="0">
                <a:solidFill>
                  <a:srgbClr val="162B3A"/>
                </a:solidFill>
                <a:latin typeface="Arial"/>
                <a:ea typeface="Arial"/>
                <a:cs typeface="Arial"/>
              </a:defRPr>
            </a:lvl3pPr>
            <a:lvl4pPr algn="l">
              <a:buNone/>
              <a:defRPr sz="2175" b="0">
                <a:solidFill>
                  <a:srgbClr val="162B3A"/>
                </a:solidFill>
                <a:latin typeface="Arial"/>
                <a:ea typeface="Arial"/>
                <a:cs typeface="Arial"/>
              </a:defRPr>
            </a:lvl4pPr>
            <a:lvl5pPr algn="l">
              <a:buNone/>
              <a:defRPr sz="2175" b="0">
                <a:solidFill>
                  <a:srgbClr val="162B3A"/>
                </a:solidFill>
                <a:latin typeface="Arial"/>
                <a:ea typeface="Arial"/>
                <a:cs typeface="Arial"/>
              </a:defRPr>
            </a:lvl5pPr>
            <a:lvl6pPr algn="l">
              <a:buNone/>
              <a:defRPr sz="2175" b="0">
                <a:solidFill>
                  <a:srgbClr val="162B3A"/>
                </a:solidFill>
                <a:latin typeface="Arial"/>
                <a:ea typeface="Arial"/>
                <a:cs typeface="Arial"/>
              </a:defRPr>
            </a:lvl6pPr>
            <a:lvl7pPr algn="l">
              <a:buNone/>
              <a:defRPr sz="2175" b="0">
                <a:solidFill>
                  <a:srgbClr val="162B3A"/>
                </a:solidFill>
                <a:latin typeface="Arial"/>
                <a:ea typeface="Arial"/>
                <a:cs typeface="Arial"/>
              </a:defRPr>
            </a:lvl7pPr>
            <a:lvl8pPr algn="l">
              <a:buNone/>
              <a:defRPr sz="2175" b="0">
                <a:solidFill>
                  <a:srgbClr val="162B3A"/>
                </a:solidFill>
                <a:latin typeface="Arial"/>
                <a:ea typeface="Arial"/>
                <a:cs typeface="Arial"/>
              </a:defRPr>
            </a:lvl8pPr>
            <a:lvl9pPr algn="l">
              <a:buNone/>
              <a:defRPr sz="2175" b="0">
                <a:solidFill>
                  <a:srgbClr val="162B3A"/>
                </a:solidFill>
                <a:latin typeface="Arial"/>
                <a:ea typeface="Arial"/>
                <a:cs typeface="Arial"/>
              </a:defRPr>
            </a:lvl9pPr>
          </a:lstStyle>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17 seeds favor iterative</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2 favor sequential</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Paired p = 0.000729</a:t>
            </a:r>
          </a:p>
        </p:txBody>
      </p:sp>
      <p:sp>
        <p:nvSpPr>
          <p:cNvPr id="6" name="">
            <a:extLst xmlns:a="http://schemas.openxmlformats.org/drawingml/2006/main">
              <a:ext uri="{FF2B5EF4-FFF2-40B4-BE49-F238E27FC236}">
                <a16:creationId xmlns:a16="http://schemas.microsoft.com/office/drawing/2014/main" id="{82DCEC22-E331-4B82-B199-8929458177E4}"/>
              </a:ext>
            </a:extLst>
          </p:cNvPr>
          <p:cNvSpPr>
            <a:spLocks xmlns:a="http://schemas.openxmlformats.org/drawingml/2006/main" noGrp="1"/>
          </p:cNvSpPr>
          <p:nvPr/>
        </p:nvSpPr>
        <p:spPr>
          <a:xfrm xmlns:a="http://schemas.openxmlformats.org/drawingml/2006/main">
            <a:off x="6705600" y="1752600"/>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087F8C"/>
                </a:solidFill>
                <a:latin typeface="Arial"/>
                <a:ea typeface="Arial"/>
                <a:cs typeface="Arial"/>
              </a:defRPr>
            </a:defPPr>
            <a:lvl1pPr algn="l">
              <a:buNone/>
              <a:defRPr sz="5025" b="1">
                <a:solidFill>
                  <a:srgbClr val="087F8C"/>
                </a:solidFill>
                <a:latin typeface="Arial"/>
                <a:ea typeface="Arial"/>
                <a:cs typeface="Arial"/>
              </a:defRPr>
            </a:lvl1pPr>
            <a:lvl2pPr algn="l">
              <a:buNone/>
              <a:defRPr sz="5025" b="1">
                <a:solidFill>
                  <a:srgbClr val="087F8C"/>
                </a:solidFill>
                <a:latin typeface="Arial"/>
                <a:ea typeface="Arial"/>
                <a:cs typeface="Arial"/>
              </a:defRPr>
            </a:lvl2pPr>
            <a:lvl3pPr algn="l">
              <a:buNone/>
              <a:defRPr sz="5025" b="1">
                <a:solidFill>
                  <a:srgbClr val="087F8C"/>
                </a:solidFill>
                <a:latin typeface="Arial"/>
                <a:ea typeface="Arial"/>
                <a:cs typeface="Arial"/>
              </a:defRPr>
            </a:lvl3pPr>
            <a:lvl4pPr algn="l">
              <a:buNone/>
              <a:defRPr sz="5025" b="1">
                <a:solidFill>
                  <a:srgbClr val="087F8C"/>
                </a:solidFill>
                <a:latin typeface="Arial"/>
                <a:ea typeface="Arial"/>
                <a:cs typeface="Arial"/>
              </a:defRPr>
            </a:lvl4pPr>
            <a:lvl5pPr algn="l">
              <a:buNone/>
              <a:defRPr sz="5025" b="1">
                <a:solidFill>
                  <a:srgbClr val="087F8C"/>
                </a:solidFill>
                <a:latin typeface="Arial"/>
                <a:ea typeface="Arial"/>
                <a:cs typeface="Arial"/>
              </a:defRPr>
            </a:lvl5pPr>
            <a:lvl6pPr algn="l">
              <a:buNone/>
              <a:defRPr sz="5025" b="1">
                <a:solidFill>
                  <a:srgbClr val="087F8C"/>
                </a:solidFill>
                <a:latin typeface="Arial"/>
                <a:ea typeface="Arial"/>
                <a:cs typeface="Arial"/>
              </a:defRPr>
            </a:lvl6pPr>
            <a:lvl7pPr algn="l">
              <a:buNone/>
              <a:defRPr sz="5025" b="1">
                <a:solidFill>
                  <a:srgbClr val="087F8C"/>
                </a:solidFill>
                <a:latin typeface="Arial"/>
                <a:ea typeface="Arial"/>
                <a:cs typeface="Arial"/>
              </a:defRPr>
            </a:lvl7pPr>
            <a:lvl8pPr algn="l">
              <a:buNone/>
              <a:defRPr sz="5025" b="1">
                <a:solidFill>
                  <a:srgbClr val="087F8C"/>
                </a:solidFill>
                <a:latin typeface="Arial"/>
                <a:ea typeface="Arial"/>
                <a:cs typeface="Arial"/>
              </a:defRPr>
            </a:lvl8pPr>
            <a:lvl9pPr algn="l">
              <a:buNone/>
              <a:defRPr sz="5025" b="1">
                <a:solidFill>
                  <a:srgbClr val="087F8C"/>
                </a:solidFill>
                <a:latin typeface="Arial"/>
                <a:ea typeface="Arial"/>
                <a:cs typeface="Arial"/>
              </a:defRPr>
            </a:lvl9pPr>
          </a:lstStyle>
          <a:p xmlns:a="http://schemas.openxmlformats.org/drawingml/2006/main">
            <a:pPr algn="l">
              <a:buNone/>
              <a:defRPr sz="5025" b="1">
                <a:solidFill>
                  <a:srgbClr val="087F8C"/>
                </a:solidFill>
                <a:latin typeface="Arial"/>
                <a:ea typeface="Arial"/>
                <a:cs typeface="Arial"/>
              </a:defRPr>
            </a:pPr>
            <a:r>
              <a:rPr sz="5025" b="1">
                <a:solidFill>
                  <a:srgbClr val="087F8C"/>
                </a:solidFill>
                <a:latin typeface="Arial"/>
                <a:ea typeface="Arial"/>
                <a:cs typeface="Arial"/>
              </a:rPr>
              <a:t>+43.3 pp</a:t>
            </a:r>
          </a:p>
        </p:txBody>
      </p:sp>
      <p:sp>
        <p:nvSpPr>
          <p:cNvPr id="7" name="">
            <a:extLst xmlns:a="http://schemas.openxmlformats.org/drawingml/2006/main">
              <a:ext uri="{FF2B5EF4-FFF2-40B4-BE49-F238E27FC236}">
                <a16:creationId xmlns:a16="http://schemas.microsoft.com/office/drawing/2014/main" id="{D42BBBBA-5890-4FE4-A3FE-8C65AEF36F03}"/>
              </a:ext>
            </a:extLst>
          </p:cNvPr>
          <p:cNvSpPr>
            <a:spLocks xmlns:a="http://schemas.openxmlformats.org/drawingml/2006/main" noGrp="1"/>
          </p:cNvSpPr>
          <p:nvPr/>
        </p:nvSpPr>
        <p:spPr>
          <a:xfrm xmlns:a="http://schemas.openxmlformats.org/drawingml/2006/main">
            <a:off x="6705600" y="283845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B3A"/>
                </a:solidFill>
                <a:latin typeface="Arial"/>
                <a:ea typeface="Arial"/>
                <a:cs typeface="Arial"/>
              </a:defRPr>
            </a:defPPr>
            <a:lvl1pPr algn="l">
              <a:buNone/>
              <a:defRPr sz="2250" b="1">
                <a:solidFill>
                  <a:srgbClr val="162B3A"/>
                </a:solidFill>
                <a:latin typeface="Arial"/>
                <a:ea typeface="Arial"/>
                <a:cs typeface="Arial"/>
              </a:defRPr>
            </a:lvl1pPr>
            <a:lvl2pPr algn="l">
              <a:buNone/>
              <a:defRPr sz="2250" b="1">
                <a:solidFill>
                  <a:srgbClr val="162B3A"/>
                </a:solidFill>
                <a:latin typeface="Arial"/>
                <a:ea typeface="Arial"/>
                <a:cs typeface="Arial"/>
              </a:defRPr>
            </a:lvl2pPr>
            <a:lvl3pPr algn="l">
              <a:buNone/>
              <a:defRPr sz="2250" b="1">
                <a:solidFill>
                  <a:srgbClr val="162B3A"/>
                </a:solidFill>
                <a:latin typeface="Arial"/>
                <a:ea typeface="Arial"/>
                <a:cs typeface="Arial"/>
              </a:defRPr>
            </a:lvl3pPr>
            <a:lvl4pPr algn="l">
              <a:buNone/>
              <a:defRPr sz="2250" b="1">
                <a:solidFill>
                  <a:srgbClr val="162B3A"/>
                </a:solidFill>
                <a:latin typeface="Arial"/>
                <a:ea typeface="Arial"/>
                <a:cs typeface="Arial"/>
              </a:defRPr>
            </a:lvl4pPr>
            <a:lvl5pPr algn="l">
              <a:buNone/>
              <a:defRPr sz="2250" b="1">
                <a:solidFill>
                  <a:srgbClr val="162B3A"/>
                </a:solidFill>
                <a:latin typeface="Arial"/>
                <a:ea typeface="Arial"/>
                <a:cs typeface="Arial"/>
              </a:defRPr>
            </a:lvl5pPr>
            <a:lvl6pPr algn="l">
              <a:buNone/>
              <a:defRPr sz="2250" b="1">
                <a:solidFill>
                  <a:srgbClr val="162B3A"/>
                </a:solidFill>
                <a:latin typeface="Arial"/>
                <a:ea typeface="Arial"/>
                <a:cs typeface="Arial"/>
              </a:defRPr>
            </a:lvl6pPr>
            <a:lvl7pPr algn="l">
              <a:buNone/>
              <a:defRPr sz="2250" b="1">
                <a:solidFill>
                  <a:srgbClr val="162B3A"/>
                </a:solidFill>
                <a:latin typeface="Arial"/>
                <a:ea typeface="Arial"/>
                <a:cs typeface="Arial"/>
              </a:defRPr>
            </a:lvl7pPr>
            <a:lvl8pPr algn="l">
              <a:buNone/>
              <a:defRPr sz="2250" b="1">
                <a:solidFill>
                  <a:srgbClr val="162B3A"/>
                </a:solidFill>
                <a:latin typeface="Arial"/>
                <a:ea typeface="Arial"/>
                <a:cs typeface="Arial"/>
              </a:defRPr>
            </a:lvl8pPr>
            <a:lvl9pPr algn="l">
              <a:buNone/>
              <a:defRPr sz="2250" b="1">
                <a:solidFill>
                  <a:srgbClr val="162B3A"/>
                </a:solidFill>
                <a:latin typeface="Arial"/>
                <a:ea typeface="Arial"/>
                <a:cs typeface="Arial"/>
              </a:defRPr>
            </a:lvl9pPr>
          </a:lstStyle>
          <a:p xmlns:a="http://schemas.openxmlformats.org/drawingml/2006/main">
            <a:pPr algn="l">
              <a:buNone/>
              <a:defRPr sz="2250" b="1">
                <a:solidFill>
                  <a:srgbClr val="162B3A"/>
                </a:solidFill>
                <a:latin typeface="Arial"/>
                <a:ea typeface="Arial"/>
                <a:cs typeface="Arial"/>
              </a:defRPr>
            </a:pPr>
            <a:r>
              <a:rPr sz="2250" b="1">
                <a:solidFill>
                  <a:srgbClr val="162B3A"/>
                </a:solidFill>
                <a:latin typeface="Arial"/>
                <a:ea typeface="Arial"/>
                <a:cs typeface="Arial"/>
              </a:rPr>
              <a:t>Iterative versus shuffled results</a:t>
            </a:r>
          </a:p>
        </p:txBody>
      </p:sp>
      <p:sp>
        <p:nvSpPr>
          <p:cNvPr id="8" name="">
            <a:extLst xmlns:a="http://schemas.openxmlformats.org/drawingml/2006/main">
              <a:ext uri="{FF2B5EF4-FFF2-40B4-BE49-F238E27FC236}">
                <a16:creationId xmlns:a16="http://schemas.microsoft.com/office/drawing/2014/main" id="{2A385F96-C2DB-4CAC-9948-849B5847B68F}"/>
              </a:ext>
            </a:extLst>
          </p:cNvPr>
          <p:cNvSpPr>
            <a:spLocks xmlns:a="http://schemas.openxmlformats.org/drawingml/2006/main" noGrp="1"/>
          </p:cNvSpPr>
          <p:nvPr/>
        </p:nvSpPr>
        <p:spPr>
          <a:xfrm xmlns:a="http://schemas.openxmlformats.org/drawingml/2006/main">
            <a:off x="6705600" y="37242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B3A"/>
                </a:solidFill>
                <a:latin typeface="Arial"/>
                <a:ea typeface="Arial"/>
                <a:cs typeface="Arial"/>
              </a:defRPr>
            </a:defPPr>
            <a:lvl1pPr algn="l">
              <a:buNone/>
              <a:defRPr sz="2175" b="0">
                <a:solidFill>
                  <a:srgbClr val="162B3A"/>
                </a:solidFill>
                <a:latin typeface="Arial"/>
                <a:ea typeface="Arial"/>
                <a:cs typeface="Arial"/>
              </a:defRPr>
            </a:lvl1pPr>
            <a:lvl2pPr algn="l">
              <a:buNone/>
              <a:defRPr sz="2175" b="0">
                <a:solidFill>
                  <a:srgbClr val="162B3A"/>
                </a:solidFill>
                <a:latin typeface="Arial"/>
                <a:ea typeface="Arial"/>
                <a:cs typeface="Arial"/>
              </a:defRPr>
            </a:lvl2pPr>
            <a:lvl3pPr algn="l">
              <a:buNone/>
              <a:defRPr sz="2175" b="0">
                <a:solidFill>
                  <a:srgbClr val="162B3A"/>
                </a:solidFill>
                <a:latin typeface="Arial"/>
                <a:ea typeface="Arial"/>
                <a:cs typeface="Arial"/>
              </a:defRPr>
            </a:lvl3pPr>
            <a:lvl4pPr algn="l">
              <a:buNone/>
              <a:defRPr sz="2175" b="0">
                <a:solidFill>
                  <a:srgbClr val="162B3A"/>
                </a:solidFill>
                <a:latin typeface="Arial"/>
                <a:ea typeface="Arial"/>
                <a:cs typeface="Arial"/>
              </a:defRPr>
            </a:lvl4pPr>
            <a:lvl5pPr algn="l">
              <a:buNone/>
              <a:defRPr sz="2175" b="0">
                <a:solidFill>
                  <a:srgbClr val="162B3A"/>
                </a:solidFill>
                <a:latin typeface="Arial"/>
                <a:ea typeface="Arial"/>
                <a:cs typeface="Arial"/>
              </a:defRPr>
            </a:lvl5pPr>
            <a:lvl6pPr algn="l">
              <a:buNone/>
              <a:defRPr sz="2175" b="0">
                <a:solidFill>
                  <a:srgbClr val="162B3A"/>
                </a:solidFill>
                <a:latin typeface="Arial"/>
                <a:ea typeface="Arial"/>
                <a:cs typeface="Arial"/>
              </a:defRPr>
            </a:lvl6pPr>
            <a:lvl7pPr algn="l">
              <a:buNone/>
              <a:defRPr sz="2175" b="0">
                <a:solidFill>
                  <a:srgbClr val="162B3A"/>
                </a:solidFill>
                <a:latin typeface="Arial"/>
                <a:ea typeface="Arial"/>
                <a:cs typeface="Arial"/>
              </a:defRPr>
            </a:lvl7pPr>
            <a:lvl8pPr algn="l">
              <a:buNone/>
              <a:defRPr sz="2175" b="0">
                <a:solidFill>
                  <a:srgbClr val="162B3A"/>
                </a:solidFill>
                <a:latin typeface="Arial"/>
                <a:ea typeface="Arial"/>
                <a:cs typeface="Arial"/>
              </a:defRPr>
            </a:lvl8pPr>
            <a:lvl9pPr algn="l">
              <a:buNone/>
              <a:defRPr sz="2175" b="0">
                <a:solidFill>
                  <a:srgbClr val="162B3A"/>
                </a:solidFill>
                <a:latin typeface="Arial"/>
                <a:ea typeface="Arial"/>
                <a:cs typeface="Arial"/>
              </a:defRPr>
            </a:lvl9pPr>
          </a:lstStyle>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16 seeds favor iterative</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3 favor shuffled</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Paired p = 0.004425</a:t>
            </a:r>
          </a:p>
        </p:txBody>
      </p:sp>
      <p:sp>
        <p:nvSpPr>
          <p:cNvPr id="9" name="">
            <a:extLst xmlns:a="http://schemas.openxmlformats.org/drawingml/2006/main">
              <a:ext uri="{FF2B5EF4-FFF2-40B4-BE49-F238E27FC236}">
                <a16:creationId xmlns:a16="http://schemas.microsoft.com/office/drawing/2014/main" id="{19D9782E-5122-4079-99CD-DB0BDB15573F}"/>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Unadjusted paired tests. Shuffled feedback is a follow-up control; neither contrast uniquely proves chemical reasoning.</a:t>
            </a:r>
          </a:p>
        </p:txBody>
      </p:sp>
    </p:spTree>
    <p:extLst>
      <p:ext uri="{BB962C8B-B14F-4D97-AF65-F5344CB8AC3E}">
        <p14:creationId xmlns:p14="http://schemas.microsoft.com/office/powerpoint/2010/main" val="1602592147"/>
      </p:ext>
    </p:extLst>
  </p:cSld>
</p:sld>
</file>

<file path=ppt/slides/slide9.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DA8D91-C381-49BD-8BC7-3F0645F757FE}"/>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benefit arrives late in the query budget</a:t>
            </a:r>
          </a:p>
        </p:txBody>
      </p:sp>
      <p:sp>
        <p:nvSpPr>
          <p:cNvPr id="2" name="">
            <a:extLst xmlns:a="http://schemas.openxmlformats.org/drawingml/2006/main">
              <a:ext uri="{FF2B5EF4-FFF2-40B4-BE49-F238E27FC236}">
                <a16:creationId xmlns:a16="http://schemas.microsoft.com/office/drawing/2014/main" id="{E2484454-D629-42A1-BC15-848514CD9ED3}"/>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09</a:t>
            </a:r>
          </a:p>
        </p:txBody>
      </p:sp>
      <p:graphicFrame>
        <p:nvGraphicFramePr>
          <p:cNvPr id="3" name="Chart">
            <a:extLst xmlns:a="http://schemas.openxmlformats.org/drawingml/2006/main">
              <a:ext uri="{FF2B5EF4-FFF2-40B4-BE49-F238E27FC236}">
                <a16:creationId xmlns:a16="http://schemas.microsoft.com/office/drawing/2014/main" id="{26CAFA96-4A4C-4356-868E-5A3509E31EFD}"/>
              </a:ext>
            </a:extLst>
          </p:cNvPr>
          <p:cNvGraphicFramePr/>
          <p:nvPr/>
        </p:nvGraphicFramePr>
        <p:xfrm>
          <a:off xmlns:a="http://schemas.openxmlformats.org/drawingml/2006/main" x="495300" y="1666875"/>
          <a:ext xmlns:a="http://schemas.openxmlformats.org/drawingml/2006/main" cx="7467600" cy="4000500"/>
        </p:xfrm>
        <a:graphic xmlns:a="http://schemas.openxmlformats.org/drawingml/2006/main">
          <a:graphicData uri="http://schemas.openxmlformats.org/drawingml/2006/chart">
            <c:chart xmlns:r="http://schemas.openxmlformats.org/officeDocument/2006/relationships" xmlns:c="http://schemas.openxmlformats.org/drawingml/2006/chart" r:id="R676ca2031c2247ac"/>
          </a:graphicData>
        </a:graphic>
      </p:graphicFrame>
      <p:sp>
        <p:nvSpPr>
          <p:cNvPr id="4" name="">
            <a:extLst xmlns:a="http://schemas.openxmlformats.org/drawingml/2006/main">
              <a:ext uri="{FF2B5EF4-FFF2-40B4-BE49-F238E27FC236}">
                <a16:creationId xmlns:a16="http://schemas.microsoft.com/office/drawing/2014/main" id="{60853C65-C38F-493E-B746-7D5511609F6F}"/>
              </a:ext>
            </a:extLst>
          </p:cNvPr>
          <p:cNvSpPr>
            <a:spLocks xmlns:a="http://schemas.openxmlformats.org/drawingml/2006/main" noGrp="1"/>
          </p:cNvSpPr>
          <p:nvPr/>
        </p:nvSpPr>
        <p:spPr>
          <a:xfrm xmlns:a="http://schemas.openxmlformats.org/drawingml/2006/main">
            <a:off x="8439150" y="1866900"/>
            <a:ext cx="309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B87721"/>
                </a:solidFill>
                <a:latin typeface="Arial"/>
                <a:ea typeface="Arial"/>
                <a:cs typeface="Arial"/>
              </a:defRPr>
            </a:defPPr>
            <a:lvl1pPr algn="l">
              <a:buNone/>
              <a:defRPr sz="3375" b="1">
                <a:solidFill>
                  <a:srgbClr val="B87721"/>
                </a:solidFill>
                <a:latin typeface="Arial"/>
                <a:ea typeface="Arial"/>
                <a:cs typeface="Arial"/>
              </a:defRPr>
            </a:lvl1pPr>
            <a:lvl2pPr algn="l">
              <a:buNone/>
              <a:defRPr sz="3375" b="1">
                <a:solidFill>
                  <a:srgbClr val="B87721"/>
                </a:solidFill>
                <a:latin typeface="Arial"/>
                <a:ea typeface="Arial"/>
                <a:cs typeface="Arial"/>
              </a:defRPr>
            </a:lvl2pPr>
            <a:lvl3pPr algn="l">
              <a:buNone/>
              <a:defRPr sz="3375" b="1">
                <a:solidFill>
                  <a:srgbClr val="B87721"/>
                </a:solidFill>
                <a:latin typeface="Arial"/>
                <a:ea typeface="Arial"/>
                <a:cs typeface="Arial"/>
              </a:defRPr>
            </a:lvl3pPr>
            <a:lvl4pPr algn="l">
              <a:buNone/>
              <a:defRPr sz="3375" b="1">
                <a:solidFill>
                  <a:srgbClr val="B87721"/>
                </a:solidFill>
                <a:latin typeface="Arial"/>
                <a:ea typeface="Arial"/>
                <a:cs typeface="Arial"/>
              </a:defRPr>
            </a:lvl4pPr>
            <a:lvl5pPr algn="l">
              <a:buNone/>
              <a:defRPr sz="3375" b="1">
                <a:solidFill>
                  <a:srgbClr val="B87721"/>
                </a:solidFill>
                <a:latin typeface="Arial"/>
                <a:ea typeface="Arial"/>
                <a:cs typeface="Arial"/>
              </a:defRPr>
            </a:lvl5pPr>
            <a:lvl6pPr algn="l">
              <a:buNone/>
              <a:defRPr sz="3375" b="1">
                <a:solidFill>
                  <a:srgbClr val="B87721"/>
                </a:solidFill>
                <a:latin typeface="Arial"/>
                <a:ea typeface="Arial"/>
                <a:cs typeface="Arial"/>
              </a:defRPr>
            </a:lvl6pPr>
            <a:lvl7pPr algn="l">
              <a:buNone/>
              <a:defRPr sz="3375" b="1">
                <a:solidFill>
                  <a:srgbClr val="B87721"/>
                </a:solidFill>
                <a:latin typeface="Arial"/>
                <a:ea typeface="Arial"/>
                <a:cs typeface="Arial"/>
              </a:defRPr>
            </a:lvl7pPr>
            <a:lvl8pPr algn="l">
              <a:buNone/>
              <a:defRPr sz="3375" b="1">
                <a:solidFill>
                  <a:srgbClr val="B87721"/>
                </a:solidFill>
                <a:latin typeface="Arial"/>
                <a:ea typeface="Arial"/>
                <a:cs typeface="Arial"/>
              </a:defRPr>
            </a:lvl8pPr>
            <a:lvl9pPr algn="l">
              <a:buNone/>
              <a:defRPr sz="3375" b="1">
                <a:solidFill>
                  <a:srgbClr val="B87721"/>
                </a:solidFill>
                <a:latin typeface="Arial"/>
                <a:ea typeface="Arial"/>
                <a:cs typeface="Arial"/>
              </a:defRPr>
            </a:lvl9pPr>
          </a:lstStyle>
          <a:p xmlns:a="http://schemas.openxmlformats.org/drawingml/2006/main">
            <a:pPr algn="l">
              <a:buNone/>
              <a:defRPr sz="3375" b="1">
                <a:solidFill>
                  <a:srgbClr val="B87721"/>
                </a:solidFill>
                <a:latin typeface="Arial"/>
                <a:ea typeface="Arial"/>
                <a:cs typeface="Arial"/>
              </a:defRPr>
            </a:pPr>
            <a:r>
              <a:rPr sz="3375" b="1">
                <a:solidFill>
                  <a:srgbClr val="B87721"/>
                </a:solidFill>
                <a:latin typeface="Arial"/>
                <a:ea typeface="Arial"/>
                <a:cs typeface="Arial"/>
              </a:rPr>
              <a:t>Query 2</a:t>
            </a:r>
          </a:p>
        </p:txBody>
      </p:sp>
      <p:sp>
        <p:nvSpPr>
          <p:cNvPr id="5" name="">
            <a:extLst xmlns:a="http://schemas.openxmlformats.org/drawingml/2006/main">
              <a:ext uri="{FF2B5EF4-FFF2-40B4-BE49-F238E27FC236}">
                <a16:creationId xmlns:a16="http://schemas.microsoft.com/office/drawing/2014/main" id="{DCFE3C59-D7F9-4DA2-B765-D394F4A7CD2D}"/>
              </a:ext>
            </a:extLst>
          </p:cNvPr>
          <p:cNvSpPr>
            <a:spLocks xmlns:a="http://schemas.openxmlformats.org/drawingml/2006/main" noGrp="1"/>
          </p:cNvSpPr>
          <p:nvPr/>
        </p:nvSpPr>
        <p:spPr>
          <a:xfrm xmlns:a="http://schemas.openxmlformats.org/drawingml/2006/main">
            <a:off x="8439150" y="2571750"/>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B3A"/>
                </a:solidFill>
                <a:latin typeface="Arial"/>
                <a:ea typeface="Arial"/>
                <a:cs typeface="Arial"/>
              </a:defRPr>
            </a:defPPr>
            <a:lvl1pPr algn="l">
              <a:buNone/>
              <a:defRPr sz="2025" b="0">
                <a:solidFill>
                  <a:srgbClr val="162B3A"/>
                </a:solidFill>
                <a:latin typeface="Arial"/>
                <a:ea typeface="Arial"/>
                <a:cs typeface="Arial"/>
              </a:defRPr>
            </a:lvl1pPr>
            <a:lvl2pPr algn="l">
              <a:buNone/>
              <a:defRPr sz="2025" b="0">
                <a:solidFill>
                  <a:srgbClr val="162B3A"/>
                </a:solidFill>
                <a:latin typeface="Arial"/>
                <a:ea typeface="Arial"/>
                <a:cs typeface="Arial"/>
              </a:defRPr>
            </a:lvl2pPr>
            <a:lvl3pPr algn="l">
              <a:buNone/>
              <a:defRPr sz="2025" b="0">
                <a:solidFill>
                  <a:srgbClr val="162B3A"/>
                </a:solidFill>
                <a:latin typeface="Arial"/>
                <a:ea typeface="Arial"/>
                <a:cs typeface="Arial"/>
              </a:defRPr>
            </a:lvl3pPr>
            <a:lvl4pPr algn="l">
              <a:buNone/>
              <a:defRPr sz="2025" b="0">
                <a:solidFill>
                  <a:srgbClr val="162B3A"/>
                </a:solidFill>
                <a:latin typeface="Arial"/>
                <a:ea typeface="Arial"/>
                <a:cs typeface="Arial"/>
              </a:defRPr>
            </a:lvl4pPr>
            <a:lvl5pPr algn="l">
              <a:buNone/>
              <a:defRPr sz="2025" b="0">
                <a:solidFill>
                  <a:srgbClr val="162B3A"/>
                </a:solidFill>
                <a:latin typeface="Arial"/>
                <a:ea typeface="Arial"/>
                <a:cs typeface="Arial"/>
              </a:defRPr>
            </a:lvl5pPr>
            <a:lvl6pPr algn="l">
              <a:buNone/>
              <a:defRPr sz="2025" b="0">
                <a:solidFill>
                  <a:srgbClr val="162B3A"/>
                </a:solidFill>
                <a:latin typeface="Arial"/>
                <a:ea typeface="Arial"/>
                <a:cs typeface="Arial"/>
              </a:defRPr>
            </a:lvl6pPr>
            <a:lvl7pPr algn="l">
              <a:buNone/>
              <a:defRPr sz="2025" b="0">
                <a:solidFill>
                  <a:srgbClr val="162B3A"/>
                </a:solidFill>
                <a:latin typeface="Arial"/>
                <a:ea typeface="Arial"/>
                <a:cs typeface="Arial"/>
              </a:defRPr>
            </a:lvl7pPr>
            <a:lvl8pPr algn="l">
              <a:buNone/>
              <a:defRPr sz="2025" b="0">
                <a:solidFill>
                  <a:srgbClr val="162B3A"/>
                </a:solidFill>
                <a:latin typeface="Arial"/>
                <a:ea typeface="Arial"/>
                <a:cs typeface="Arial"/>
              </a:defRPr>
            </a:lvl8pPr>
            <a:lvl9pPr algn="l">
              <a:buNone/>
              <a:defRPr sz="2025" b="0">
                <a:solidFill>
                  <a:srgbClr val="162B3A"/>
                </a:solidFill>
                <a:latin typeface="Arial"/>
                <a:ea typeface="Arial"/>
                <a:cs typeface="Arial"/>
              </a:defRPr>
            </a:lvl9pPr>
          </a:lstStyle>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First pass for the</a:t>
            </a:r>
          </a:p>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post-hoc fluoride rule</a:t>
            </a:r>
          </a:p>
        </p:txBody>
      </p:sp>
      <p:sp>
        <p:nvSpPr>
          <p:cNvPr id="6" name="">
            <a:extLst xmlns:a="http://schemas.openxmlformats.org/drawingml/2006/main">
              <a:ext uri="{FF2B5EF4-FFF2-40B4-BE49-F238E27FC236}">
                <a16:creationId xmlns:a16="http://schemas.microsoft.com/office/drawing/2014/main" id="{671832B1-9AC8-401A-B7E6-F9A74F44312D}"/>
              </a:ext>
            </a:extLst>
          </p:cNvPr>
          <p:cNvSpPr>
            <a:spLocks xmlns:a="http://schemas.openxmlformats.org/drawingml/2006/main" noGrp="1"/>
          </p:cNvSpPr>
          <p:nvPr/>
        </p:nvSpPr>
        <p:spPr>
          <a:xfrm xmlns:a="http://schemas.openxmlformats.org/drawingml/2006/main">
            <a:off x="8439150" y="39528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2B3A"/>
                </a:solidFill>
                <a:latin typeface="Arial"/>
                <a:ea typeface="Arial"/>
                <a:cs typeface="Arial"/>
              </a:defRPr>
            </a:defPPr>
            <a:lvl1pPr algn="l">
              <a:buNone/>
              <a:defRPr sz="2850" b="1">
                <a:solidFill>
                  <a:srgbClr val="162B3A"/>
                </a:solidFill>
                <a:latin typeface="Arial"/>
                <a:ea typeface="Arial"/>
                <a:cs typeface="Arial"/>
              </a:defRPr>
            </a:lvl1pPr>
            <a:lvl2pPr algn="l">
              <a:buNone/>
              <a:defRPr sz="2850" b="1">
                <a:solidFill>
                  <a:srgbClr val="162B3A"/>
                </a:solidFill>
                <a:latin typeface="Arial"/>
                <a:ea typeface="Arial"/>
                <a:cs typeface="Arial"/>
              </a:defRPr>
            </a:lvl2pPr>
            <a:lvl3pPr algn="l">
              <a:buNone/>
              <a:defRPr sz="2850" b="1">
                <a:solidFill>
                  <a:srgbClr val="162B3A"/>
                </a:solidFill>
                <a:latin typeface="Arial"/>
                <a:ea typeface="Arial"/>
                <a:cs typeface="Arial"/>
              </a:defRPr>
            </a:lvl3pPr>
            <a:lvl4pPr algn="l">
              <a:buNone/>
              <a:defRPr sz="2850" b="1">
                <a:solidFill>
                  <a:srgbClr val="162B3A"/>
                </a:solidFill>
                <a:latin typeface="Arial"/>
                <a:ea typeface="Arial"/>
                <a:cs typeface="Arial"/>
              </a:defRPr>
            </a:lvl4pPr>
            <a:lvl5pPr algn="l">
              <a:buNone/>
              <a:defRPr sz="2850" b="1">
                <a:solidFill>
                  <a:srgbClr val="162B3A"/>
                </a:solidFill>
                <a:latin typeface="Arial"/>
                <a:ea typeface="Arial"/>
                <a:cs typeface="Arial"/>
              </a:defRPr>
            </a:lvl5pPr>
            <a:lvl6pPr algn="l">
              <a:buNone/>
              <a:defRPr sz="2850" b="1">
                <a:solidFill>
                  <a:srgbClr val="162B3A"/>
                </a:solidFill>
                <a:latin typeface="Arial"/>
                <a:ea typeface="Arial"/>
                <a:cs typeface="Arial"/>
              </a:defRPr>
            </a:lvl6pPr>
            <a:lvl7pPr algn="l">
              <a:buNone/>
              <a:defRPr sz="2850" b="1">
                <a:solidFill>
                  <a:srgbClr val="162B3A"/>
                </a:solidFill>
                <a:latin typeface="Arial"/>
                <a:ea typeface="Arial"/>
                <a:cs typeface="Arial"/>
              </a:defRPr>
            </a:lvl7pPr>
            <a:lvl8pPr algn="l">
              <a:buNone/>
              <a:defRPr sz="2850" b="1">
                <a:solidFill>
                  <a:srgbClr val="162B3A"/>
                </a:solidFill>
                <a:latin typeface="Arial"/>
                <a:ea typeface="Arial"/>
                <a:cs typeface="Arial"/>
              </a:defRPr>
            </a:lvl8pPr>
            <a:lvl9pPr algn="l">
              <a:buNone/>
              <a:defRPr sz="2850" b="1">
                <a:solidFill>
                  <a:srgbClr val="162B3A"/>
                </a:solidFill>
                <a:latin typeface="Arial"/>
                <a:ea typeface="Arial"/>
                <a:cs typeface="Arial"/>
              </a:defRPr>
            </a:lvl9pPr>
          </a:lstStyle>
          <a:p xmlns:a="http://schemas.openxmlformats.org/drawingml/2006/main">
            <a:pPr algn="l">
              <a:buNone/>
              <a:defRPr sz="2850" b="1">
                <a:solidFill>
                  <a:srgbClr val="162B3A"/>
                </a:solidFill>
                <a:latin typeface="Arial"/>
                <a:ea typeface="Arial"/>
                <a:cs typeface="Arial"/>
              </a:defRPr>
            </a:pPr>
            <a:r>
              <a:rPr sz="2850" b="1">
                <a:solidFill>
                  <a:srgbClr val="162B3A"/>
                </a:solidFill>
                <a:latin typeface="Arial"/>
                <a:ea typeface="Arial"/>
                <a:cs typeface="Arial"/>
              </a:rPr>
              <a:t>7/30 vs 6/30</a:t>
            </a:r>
          </a:p>
        </p:txBody>
      </p:sp>
      <p:sp>
        <p:nvSpPr>
          <p:cNvPr id="7" name="">
            <a:extLst xmlns:a="http://schemas.openxmlformats.org/drawingml/2006/main">
              <a:ext uri="{FF2B5EF4-FFF2-40B4-BE49-F238E27FC236}">
                <a16:creationId xmlns:a16="http://schemas.microsoft.com/office/drawing/2014/main" id="{CD56A278-23CB-437E-BACC-E6F2D7100E33}"/>
              </a:ext>
            </a:extLst>
          </p:cNvPr>
          <p:cNvSpPr>
            <a:spLocks xmlns:a="http://schemas.openxmlformats.org/drawingml/2006/main" noGrp="1"/>
          </p:cNvSpPr>
          <p:nvPr/>
        </p:nvSpPr>
        <p:spPr>
          <a:xfrm xmlns:a="http://schemas.openxmlformats.org/drawingml/2006/main">
            <a:off x="8439150" y="4581525"/>
            <a:ext cx="3095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B3A"/>
                </a:solidFill>
                <a:latin typeface="Arial"/>
                <a:ea typeface="Arial"/>
                <a:cs typeface="Arial"/>
              </a:defRPr>
            </a:defPPr>
            <a:lvl1pPr algn="l">
              <a:buNone/>
              <a:defRPr sz="1950" b="0">
                <a:solidFill>
                  <a:srgbClr val="162B3A"/>
                </a:solidFill>
                <a:latin typeface="Arial"/>
                <a:ea typeface="Arial"/>
                <a:cs typeface="Arial"/>
              </a:defRPr>
            </a:lvl1pPr>
            <a:lvl2pPr algn="l">
              <a:buNone/>
              <a:defRPr sz="1950" b="0">
                <a:solidFill>
                  <a:srgbClr val="162B3A"/>
                </a:solidFill>
                <a:latin typeface="Arial"/>
                <a:ea typeface="Arial"/>
                <a:cs typeface="Arial"/>
              </a:defRPr>
            </a:lvl2pPr>
            <a:lvl3pPr algn="l">
              <a:buNone/>
              <a:defRPr sz="1950" b="0">
                <a:solidFill>
                  <a:srgbClr val="162B3A"/>
                </a:solidFill>
                <a:latin typeface="Arial"/>
                <a:ea typeface="Arial"/>
                <a:cs typeface="Arial"/>
              </a:defRPr>
            </a:lvl3pPr>
            <a:lvl4pPr algn="l">
              <a:buNone/>
              <a:defRPr sz="1950" b="0">
                <a:solidFill>
                  <a:srgbClr val="162B3A"/>
                </a:solidFill>
                <a:latin typeface="Arial"/>
                <a:ea typeface="Arial"/>
                <a:cs typeface="Arial"/>
              </a:defRPr>
            </a:lvl4pPr>
            <a:lvl5pPr algn="l">
              <a:buNone/>
              <a:defRPr sz="1950" b="0">
                <a:solidFill>
                  <a:srgbClr val="162B3A"/>
                </a:solidFill>
                <a:latin typeface="Arial"/>
                <a:ea typeface="Arial"/>
                <a:cs typeface="Arial"/>
              </a:defRPr>
            </a:lvl5pPr>
            <a:lvl6pPr algn="l">
              <a:buNone/>
              <a:defRPr sz="1950" b="0">
                <a:solidFill>
                  <a:srgbClr val="162B3A"/>
                </a:solidFill>
                <a:latin typeface="Arial"/>
                <a:ea typeface="Arial"/>
                <a:cs typeface="Arial"/>
              </a:defRPr>
            </a:lvl6pPr>
            <a:lvl7pPr algn="l">
              <a:buNone/>
              <a:defRPr sz="1950" b="0">
                <a:solidFill>
                  <a:srgbClr val="162B3A"/>
                </a:solidFill>
                <a:latin typeface="Arial"/>
                <a:ea typeface="Arial"/>
                <a:cs typeface="Arial"/>
              </a:defRPr>
            </a:lvl7pPr>
            <a:lvl8pPr algn="l">
              <a:buNone/>
              <a:defRPr sz="1950" b="0">
                <a:solidFill>
                  <a:srgbClr val="162B3A"/>
                </a:solidFill>
                <a:latin typeface="Arial"/>
                <a:ea typeface="Arial"/>
                <a:cs typeface="Arial"/>
              </a:defRPr>
            </a:lvl8pPr>
            <a:lvl9pPr algn="l">
              <a:buNone/>
              <a:defRPr sz="1950" b="0">
                <a:solidFill>
                  <a:srgbClr val="162B3A"/>
                </a:solidFill>
                <a:latin typeface="Arial"/>
                <a:ea typeface="Arial"/>
                <a:cs typeface="Arial"/>
              </a:defRPr>
            </a:lvl9pPr>
          </a:lstStyle>
          <a:p xmlns:a="http://schemas.openxmlformats.org/drawingml/2006/main">
            <a:pPr algn="l">
              <a:buNone/>
              <a:defRPr sz="1950" b="0">
                <a:solidFill>
                  <a:srgbClr val="162B3A"/>
                </a:solidFill>
                <a:latin typeface="Arial"/>
                <a:ea typeface="Arial"/>
                <a:cs typeface="Arial"/>
              </a:defRPr>
            </a:pPr>
            <a:r>
              <a:rPr sz="1950" b="0">
                <a:solidFill>
                  <a:srgbClr val="162B3A"/>
                </a:solidFill>
                <a:latin typeface="Arial"/>
                <a:ea typeface="Arial"/>
                <a:cs typeface="Arial"/>
              </a:rPr>
              <a:t>Best-bin success:</a:t>
            </a:r>
          </a:p>
          <a:p xmlns:a="http://schemas.openxmlformats.org/drawingml/2006/main">
            <a:pPr algn="l">
              <a:buNone/>
              <a:defRPr sz="1950" b="0">
                <a:solidFill>
                  <a:srgbClr val="162B3A"/>
                </a:solidFill>
                <a:latin typeface="Arial"/>
                <a:ea typeface="Arial"/>
                <a:cs typeface="Arial"/>
              </a:defRPr>
            </a:pPr>
            <a:r>
              <a:rPr sz="1950" b="0">
                <a:solidFill>
                  <a:srgbClr val="162B3A"/>
                </a:solidFill>
                <a:latin typeface="Arial"/>
                <a:ea typeface="Arial"/>
                <a:cs typeface="Arial"/>
              </a:rPr>
              <a:t>iterative vs random</a:t>
            </a:r>
          </a:p>
        </p:txBody>
      </p:sp>
      <p:sp>
        <p:nvSpPr>
          <p:cNvPr id="8" name="">
            <a:extLst xmlns:a="http://schemas.openxmlformats.org/drawingml/2006/main">
              <a:ext uri="{FF2B5EF4-FFF2-40B4-BE49-F238E27FC236}">
                <a16:creationId xmlns:a16="http://schemas.microsoft.com/office/drawing/2014/main" id="{64B9A33A-1253-445D-947C-F0624546F0CA}"/>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A useful acceptance result, with no demonstrated gain in finding the optimum or saving expensive computation.</a:t>
            </a:r>
          </a:p>
        </p:txBody>
      </p:sp>
    </p:spTree>
    <p:extLst>
      <p:ext uri="{BB962C8B-B14F-4D97-AF65-F5344CB8AC3E}">
        <p14:creationId xmlns:p14="http://schemas.microsoft.com/office/powerpoint/2010/main" val="655322629"/>
      </p:ext>
    </p:extLst>
  </p:cSld>
</p:sld>
</file>

<file path=ppt/slides/slide10.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55A926-8BC6-45AF-9CCF-C33E8E0DD5DB}"/>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electrolyte changes the search landscape</a:t>
            </a:r>
          </a:p>
        </p:txBody>
      </p:sp>
      <p:sp>
        <p:nvSpPr>
          <p:cNvPr id="2" name="">
            <a:extLst xmlns:a="http://schemas.openxmlformats.org/drawingml/2006/main">
              <a:ext uri="{FF2B5EF4-FFF2-40B4-BE49-F238E27FC236}">
                <a16:creationId xmlns:a16="http://schemas.microsoft.com/office/drawing/2014/main" id="{E4FF7880-2322-4DD6-B143-64D6FDC7970A}"/>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651A340-6DA3-4C31-B86D-C35AAD092BB9}"/>
              </a:ext>
            </a:extLst>
          </p:cNvPr>
          <p:cNvSpPr>
            <a:spLocks xmlns:a="http://schemas.openxmlformats.org/drawingml/2006/main" noGrp="1"/>
          </p:cNvSpPr>
          <p:nvPr/>
        </p:nvSpPr>
        <p:spPr>
          <a:xfrm xmlns:a="http://schemas.openxmlformats.org/drawingml/2006/main">
            <a:off x="609600" y="15906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F8C"/>
                </a:solidFill>
                <a:latin typeface="Arial"/>
                <a:ea typeface="Arial"/>
                <a:cs typeface="Arial"/>
              </a:defRPr>
            </a:defPPr>
            <a:lvl1pPr algn="l">
              <a:buNone/>
              <a:defRPr sz="2625" b="1">
                <a:solidFill>
                  <a:srgbClr val="087F8C"/>
                </a:solidFill>
                <a:latin typeface="Arial"/>
                <a:ea typeface="Arial"/>
                <a:cs typeface="Arial"/>
              </a:defRPr>
            </a:lvl1pPr>
            <a:lvl2pPr algn="l">
              <a:buNone/>
              <a:defRPr sz="2625" b="1">
                <a:solidFill>
                  <a:srgbClr val="087F8C"/>
                </a:solidFill>
                <a:latin typeface="Arial"/>
                <a:ea typeface="Arial"/>
                <a:cs typeface="Arial"/>
              </a:defRPr>
            </a:lvl2pPr>
            <a:lvl3pPr algn="l">
              <a:buNone/>
              <a:defRPr sz="2625" b="1">
                <a:solidFill>
                  <a:srgbClr val="087F8C"/>
                </a:solidFill>
                <a:latin typeface="Arial"/>
                <a:ea typeface="Arial"/>
                <a:cs typeface="Arial"/>
              </a:defRPr>
            </a:lvl3pPr>
            <a:lvl4pPr algn="l">
              <a:buNone/>
              <a:defRPr sz="2625" b="1">
                <a:solidFill>
                  <a:srgbClr val="087F8C"/>
                </a:solidFill>
                <a:latin typeface="Arial"/>
                <a:ea typeface="Arial"/>
                <a:cs typeface="Arial"/>
              </a:defRPr>
            </a:lvl4pPr>
            <a:lvl5pPr algn="l">
              <a:buNone/>
              <a:defRPr sz="2625" b="1">
                <a:solidFill>
                  <a:srgbClr val="087F8C"/>
                </a:solidFill>
                <a:latin typeface="Arial"/>
                <a:ea typeface="Arial"/>
                <a:cs typeface="Arial"/>
              </a:defRPr>
            </a:lvl5pPr>
            <a:lvl6pPr algn="l">
              <a:buNone/>
              <a:defRPr sz="2625" b="1">
                <a:solidFill>
                  <a:srgbClr val="087F8C"/>
                </a:solidFill>
                <a:latin typeface="Arial"/>
                <a:ea typeface="Arial"/>
                <a:cs typeface="Arial"/>
              </a:defRPr>
            </a:lvl6pPr>
            <a:lvl7pPr algn="l">
              <a:buNone/>
              <a:defRPr sz="2625" b="1">
                <a:solidFill>
                  <a:srgbClr val="087F8C"/>
                </a:solidFill>
                <a:latin typeface="Arial"/>
                <a:ea typeface="Arial"/>
                <a:cs typeface="Arial"/>
              </a:defRPr>
            </a:lvl7pPr>
            <a:lvl8pPr algn="l">
              <a:buNone/>
              <a:defRPr sz="2625" b="1">
                <a:solidFill>
                  <a:srgbClr val="087F8C"/>
                </a:solidFill>
                <a:latin typeface="Arial"/>
                <a:ea typeface="Arial"/>
                <a:cs typeface="Arial"/>
              </a:defRPr>
            </a:lvl8pPr>
            <a:lvl9pPr algn="l">
              <a:buNone/>
              <a:defRPr sz="2625" b="1">
                <a:solidFill>
                  <a:srgbClr val="087F8C"/>
                </a:solidFill>
                <a:latin typeface="Arial"/>
                <a:ea typeface="Arial"/>
                <a:cs typeface="Arial"/>
              </a:defRPr>
            </a:lvl9pPr>
          </a:lstStyle>
          <a:p xmlns:a="http://schemas.openxmlformats.org/drawingml/2006/main">
            <a:pPr algn="l">
              <a:buNone/>
              <a:defRPr sz="2625" b="1">
                <a:solidFill>
                  <a:srgbClr val="087F8C"/>
                </a:solidFill>
                <a:latin typeface="Arial"/>
                <a:ea typeface="Arial"/>
                <a:cs typeface="Arial"/>
              </a:defRPr>
            </a:pPr>
            <a:r>
              <a:rPr sz="2625" b="1">
                <a:solidFill>
                  <a:srgbClr val="087F8C"/>
                </a:solidFill>
                <a:latin typeface="Arial"/>
                <a:ea typeface="Arial"/>
                <a:cs typeface="Arial"/>
              </a:rPr>
              <a:t>141 structures × 3 environments = 423 outcomes</a:t>
            </a:r>
          </a:p>
        </p:txBody>
      </p:sp>
      <p:graphicFrame>
        <p:nvGraphicFramePr>
          <p:cNvPr id="4" name="">
            <a:extLst xmlns:a="http://schemas.openxmlformats.org/drawingml/2006/main">
              <a:ext uri="{FF2B5EF4-FFF2-40B4-BE49-F238E27FC236}">
                <a16:creationId xmlns:a16="http://schemas.microsoft.com/office/drawing/2014/main" id="{4AFAFA15-858C-4771-9D47-22DD22515250}"/>
              </a:ext>
            </a:extLst>
          </p:cNvPr>
          <p:cNvGraphicFramePr/>
          <p:nvPr/>
        </p:nvGraphicFramePr>
        <p:xfrm>
          <a:off xmlns:a="http://schemas.openxmlformats.org/drawingml/2006/main" x="609600" y="2466975"/>
          <a:ext xmlns:a="http://schemas.openxmlformats.org/drawingml/2006/main" cx="10972800" cy="2590800"/>
        </p:xfrm>
        <a:graphic xmlns:a="http://schemas.openxmlformats.org/drawingml/2006/main">
          <a:graphicData uri="http://schemas.openxmlformats.org/drawingml/2006/table">
            <a:tbl>
              <a:tblPr/>
              <a:tblGrid>
                <a:gridCol w="3143250"/>
                <a:gridCol w="2095500"/>
                <a:gridCol w="2857500"/>
                <a:gridCol w="2876550"/>
              </a:tblGrid>
              <a:tr h="647700">
                <a:tc>
                  <a:txBody>
                    <a:bodyPr/>
                    <a:lstStyle/>
                    <a:p>
                      <a:r>
                        <a:rPr sz="1875" b="1">
                          <a:solidFill>
                            <a:srgbClr val="FFFFFF"/>
                          </a:solidFill>
                          <a:latin typeface="Arial"/>
                          <a:ea typeface="Arial"/>
                          <a:cs typeface="Arial"/>
                        </a:rPr>
                        <a:t>Electrolyte</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Acceptable</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Random pass by 10</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Random best bin by 10</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647700">
                <a:tc>
                  <a:txBody>
                    <a:bodyPr/>
                    <a:lstStyle/>
                    <a:p>
                      <a:r>
                        <a:rPr sz="1875" b="0">
                          <a:solidFill>
                            <a:srgbClr val="162B3A"/>
                          </a:solidFill>
                          <a:latin typeface="Arial"/>
                          <a:ea typeface="Arial"/>
                          <a:cs typeface="Arial"/>
                        </a:rPr>
                        <a:t>Li₆PS₅Cl</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4 / 141</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25.7%</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19.9%</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647700">
                <a:tc>
                  <a:txBody>
                    <a:bodyPr/>
                    <a:lstStyle/>
                    <a:p>
                      <a:r>
                        <a:rPr sz="1875" b="0">
                          <a:solidFill>
                            <a:srgbClr val="162B3A"/>
                          </a:solidFill>
                          <a:latin typeface="Arial"/>
                          <a:ea typeface="Arial"/>
                          <a:cs typeface="Arial"/>
                        </a:rPr>
                        <a:t>Li₃InCl₆</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55 / 141</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99.4%</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96.2%</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647700">
                <a:tc>
                  <a:txBody>
                    <a:bodyPr/>
                    <a:lstStyle/>
                    <a:p>
                      <a:r>
                        <a:rPr sz="1875" b="0">
                          <a:solidFill>
                            <a:srgbClr val="162B3A"/>
                          </a:solidFill>
                          <a:latin typeface="Arial"/>
                          <a:ea typeface="Arial"/>
                          <a:cs typeface="Arial"/>
                        </a:rPr>
                        <a:t>Tetragonal LLZO</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17 / 141</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73.6%</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7.1%</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5" name="">
            <a:extLst xmlns:a="http://schemas.openxmlformats.org/drawingml/2006/main">
              <a:ext uri="{FF2B5EF4-FFF2-40B4-BE49-F238E27FC236}">
                <a16:creationId xmlns:a16="http://schemas.microsoft.com/office/drawing/2014/main" id="{E2FDC85E-94A0-4833-B08A-75E561C54998}"/>
              </a:ext>
            </a:extLst>
          </p:cNvPr>
          <p:cNvSpPr>
            <a:spLocks xmlns:a="http://schemas.openxmlformats.org/drawingml/2006/main" noGrp="1"/>
          </p:cNvSpPr>
          <p:nvPr/>
        </p:nvSpPr>
        <p:spPr>
          <a:xfrm xmlns:a="http://schemas.openxmlformats.org/drawingml/2006/main">
            <a:off x="609600" y="5381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B3A"/>
                </a:solidFill>
                <a:latin typeface="Arial"/>
                <a:ea typeface="Arial"/>
                <a:cs typeface="Arial"/>
              </a:defRPr>
            </a:defPPr>
            <a:lvl1pPr algn="l">
              <a:buNone/>
              <a:defRPr sz="2250" b="1">
                <a:solidFill>
                  <a:srgbClr val="162B3A"/>
                </a:solidFill>
                <a:latin typeface="Arial"/>
                <a:ea typeface="Arial"/>
                <a:cs typeface="Arial"/>
              </a:defRPr>
            </a:lvl1pPr>
            <a:lvl2pPr algn="l">
              <a:buNone/>
              <a:defRPr sz="2250" b="1">
                <a:solidFill>
                  <a:srgbClr val="162B3A"/>
                </a:solidFill>
                <a:latin typeface="Arial"/>
                <a:ea typeface="Arial"/>
                <a:cs typeface="Arial"/>
              </a:defRPr>
            </a:lvl2pPr>
            <a:lvl3pPr algn="l">
              <a:buNone/>
              <a:defRPr sz="2250" b="1">
                <a:solidFill>
                  <a:srgbClr val="162B3A"/>
                </a:solidFill>
                <a:latin typeface="Arial"/>
                <a:ea typeface="Arial"/>
                <a:cs typeface="Arial"/>
              </a:defRPr>
            </a:lvl3pPr>
            <a:lvl4pPr algn="l">
              <a:buNone/>
              <a:defRPr sz="2250" b="1">
                <a:solidFill>
                  <a:srgbClr val="162B3A"/>
                </a:solidFill>
                <a:latin typeface="Arial"/>
                <a:ea typeface="Arial"/>
                <a:cs typeface="Arial"/>
              </a:defRPr>
            </a:lvl4pPr>
            <a:lvl5pPr algn="l">
              <a:buNone/>
              <a:defRPr sz="2250" b="1">
                <a:solidFill>
                  <a:srgbClr val="162B3A"/>
                </a:solidFill>
                <a:latin typeface="Arial"/>
                <a:ea typeface="Arial"/>
                <a:cs typeface="Arial"/>
              </a:defRPr>
            </a:lvl5pPr>
            <a:lvl6pPr algn="l">
              <a:buNone/>
              <a:defRPr sz="2250" b="1">
                <a:solidFill>
                  <a:srgbClr val="162B3A"/>
                </a:solidFill>
                <a:latin typeface="Arial"/>
                <a:ea typeface="Arial"/>
                <a:cs typeface="Arial"/>
              </a:defRPr>
            </a:lvl6pPr>
            <a:lvl7pPr algn="l">
              <a:buNone/>
              <a:defRPr sz="2250" b="1">
                <a:solidFill>
                  <a:srgbClr val="162B3A"/>
                </a:solidFill>
                <a:latin typeface="Arial"/>
                <a:ea typeface="Arial"/>
                <a:cs typeface="Arial"/>
              </a:defRPr>
            </a:lvl7pPr>
            <a:lvl8pPr algn="l">
              <a:buNone/>
              <a:defRPr sz="2250" b="1">
                <a:solidFill>
                  <a:srgbClr val="162B3A"/>
                </a:solidFill>
                <a:latin typeface="Arial"/>
                <a:ea typeface="Arial"/>
                <a:cs typeface="Arial"/>
              </a:defRPr>
            </a:lvl8pPr>
            <a:lvl9pPr algn="l">
              <a:buNone/>
              <a:defRPr sz="2250" b="1">
                <a:solidFill>
                  <a:srgbClr val="162B3A"/>
                </a:solidFill>
                <a:latin typeface="Arial"/>
                <a:ea typeface="Arial"/>
                <a:cs typeface="Arial"/>
              </a:defRPr>
            </a:lvl9pPr>
          </a:lstStyle>
          <a:p xmlns:a="http://schemas.openxmlformats.org/drawingml/2006/main">
            <a:pPr algn="l">
              <a:buNone/>
              <a:defRPr sz="2250" b="1">
                <a:solidFill>
                  <a:srgbClr val="162B3A"/>
                </a:solidFill>
                <a:latin typeface="Arial"/>
                <a:ea typeface="Arial"/>
                <a:cs typeface="Arial"/>
              </a:defRPr>
            </a:pPr>
            <a:r>
              <a:rPr sz="2250" b="1">
                <a:solidFill>
                  <a:srgbClr val="162B3A"/>
                </a:solidFill>
                <a:latin typeface="Arial"/>
                <a:ea typeface="Arial"/>
                <a:cs typeface="Arial"/>
              </a:rPr>
              <a:t>Chloride is near ceiling. LLZO keeps a difficult optimum.</a:t>
            </a:r>
          </a:p>
        </p:txBody>
      </p:sp>
      <p:sp>
        <p:nvSpPr>
          <p:cNvPr id="6" name="">
            <a:extLst xmlns:a="http://schemas.openxmlformats.org/drawingml/2006/main">
              <a:ext uri="{FF2B5EF4-FFF2-40B4-BE49-F238E27FC236}">
                <a16:creationId xmlns:a16="http://schemas.microsoft.com/office/drawing/2014/main" id="{FCB7F5EE-87CA-4D49-AF9F-6FA02096D4B0}"/>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Frozen tables are published. Only the 30-call smoke batch is approved. Production awaits cost review.</a:t>
            </a:r>
          </a:p>
        </p:txBody>
      </p:sp>
    </p:spTree>
    <p:extLst>
      <p:ext uri="{BB962C8B-B14F-4D97-AF65-F5344CB8AC3E}">
        <p14:creationId xmlns:p14="http://schemas.microsoft.com/office/powerpoint/2010/main" val="1501188931"/>
      </p:ext>
    </p:extLst>
  </p:cSld>
</p:sld>
</file>

<file path=ppt/slides/slide11.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A80172-C354-41CD-8AA6-2A3D3CDAFD0F}"/>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fluoride shortcut fails in the LLZO screen</a:t>
            </a:r>
          </a:p>
        </p:txBody>
      </p:sp>
      <p:sp>
        <p:nvSpPr>
          <p:cNvPr id="2" name="">
            <a:extLst xmlns:a="http://schemas.openxmlformats.org/drawingml/2006/main">
              <a:ext uri="{FF2B5EF4-FFF2-40B4-BE49-F238E27FC236}">
                <a16:creationId xmlns:a16="http://schemas.microsoft.com/office/drawing/2014/main" id="{42B29A71-E86A-44F1-9978-BE4AAA4CD9B1}"/>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88711E00-29C0-410A-826A-763546F91319}"/>
              </a:ext>
            </a:extLst>
          </p:cNvPr>
          <p:cNvGraphicFramePr/>
          <p:nvPr/>
        </p:nvGraphicFramePr>
        <p:xfrm>
          <a:off xmlns:a="http://schemas.openxmlformats.org/drawingml/2006/main" x="609600" y="1581150"/>
          <a:ext xmlns:a="http://schemas.openxmlformats.org/drawingml/2006/main" cx="10972800" cy="3733800"/>
        </p:xfrm>
        <a:graphic xmlns:a="http://schemas.openxmlformats.org/drawingml/2006/main">
          <a:graphicData uri="http://schemas.openxmlformats.org/drawingml/2006/table">
            <a:tbl>
              <a:tblPr/>
              <a:tblGrid>
                <a:gridCol w="3143250"/>
                <a:gridCol w="2609850"/>
                <a:gridCol w="2609850"/>
                <a:gridCol w="2609850"/>
              </a:tblGrid>
              <a:tr h="533400">
                <a:tc>
                  <a:txBody>
                    <a:bodyPr/>
                    <a:lstStyle/>
                    <a:p>
                      <a:r>
                        <a:rPr sz="1950" b="1">
                          <a:solidFill>
                            <a:srgbClr val="FFFFFF"/>
                          </a:solidFill>
                          <a:latin typeface="Arial"/>
                          <a:ea typeface="Arial"/>
                          <a:cs typeface="Arial"/>
                        </a:rPr>
                        <a:t>Coating</a:t>
                      </a:r>
                    </a:p>
                  </a:txBody>
                  <a:tcPr marL="133350" marR="114300" marT="76200" marB="571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Sulfide bin</a:t>
                      </a:r>
                    </a:p>
                  </a:txBody>
                  <a:tcPr marL="133350" marR="114300" marT="76200" marB="571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Chloride bin</a:t>
                      </a:r>
                    </a:p>
                  </a:txBody>
                  <a:tcPr marL="133350" marR="114300" marT="76200" marB="571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LLZO bin</a:t>
                      </a:r>
                    </a:p>
                  </a:txBody>
                  <a:tcPr marL="133350" marR="114300" marT="76200" marB="571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533400">
                <a:tc>
                  <a:txBody>
                    <a:bodyPr/>
                    <a:lstStyle/>
                    <a:p>
                      <a:r>
                        <a:rPr sz="1950" b="0">
                          <a:solidFill>
                            <a:srgbClr val="162B3A"/>
                          </a:solidFill>
                          <a:latin typeface="Arial"/>
                          <a:ea typeface="Arial"/>
                          <a:cs typeface="Arial"/>
                        </a:rPr>
                        <a:t>LiNbF6</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1">
                          <a:solidFill>
                            <a:srgbClr val="087F8C"/>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D9EEE9"/>
                    </a:solidFill>
                  </a:tcPr>
                </a:tc>
                <a:tc>
                  <a:txBody>
                    <a:bodyPr/>
                    <a:lstStyle/>
                    <a:p>
                      <a:r>
                        <a:rPr sz="1950" b="0">
                          <a:solidFill>
                            <a:srgbClr val="162B3A"/>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9</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r>
              <a:tr h="533400">
                <a:tc>
                  <a:txBody>
                    <a:bodyPr/>
                    <a:lstStyle/>
                    <a:p>
                      <a:r>
                        <a:rPr sz="1950" b="0">
                          <a:solidFill>
                            <a:srgbClr val="162B3A"/>
                          </a:solidFill>
                          <a:latin typeface="Arial"/>
                          <a:ea typeface="Arial"/>
                          <a:cs typeface="Arial"/>
                        </a:rPr>
                        <a:t>LiTaF6</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1">
                          <a:solidFill>
                            <a:srgbClr val="087F8C"/>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D9EEE9"/>
                    </a:solidFill>
                  </a:tcPr>
                </a:tc>
                <a:tc>
                  <a:txBody>
                    <a:bodyPr/>
                    <a:lstStyle/>
                    <a:p>
                      <a:r>
                        <a:rPr sz="1950" b="0">
                          <a:solidFill>
                            <a:srgbClr val="162B3A"/>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8</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r>
              <a:tr h="533400">
                <a:tc>
                  <a:txBody>
                    <a:bodyPr/>
                    <a:lstStyle/>
                    <a:p>
                      <a:r>
                        <a:rPr sz="1950" b="0">
                          <a:solidFill>
                            <a:srgbClr val="162B3A"/>
                          </a:solidFill>
                          <a:latin typeface="Arial"/>
                          <a:ea typeface="Arial"/>
                          <a:cs typeface="Arial"/>
                        </a:rPr>
                        <a:t>LiF</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15</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0</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5</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r>
              <a:tr h="533400">
                <a:tc>
                  <a:txBody>
                    <a:bodyPr/>
                    <a:lstStyle/>
                    <a:p>
                      <a:r>
                        <a:rPr sz="1950" b="0">
                          <a:solidFill>
                            <a:srgbClr val="162B3A"/>
                          </a:solidFill>
                          <a:latin typeface="Arial"/>
                          <a:ea typeface="Arial"/>
                          <a:cs typeface="Arial"/>
                        </a:rPr>
                        <a:t>Li3PO4</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16</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0</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4</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r>
              <a:tr h="533400">
                <a:tc>
                  <a:txBody>
                    <a:bodyPr/>
                    <a:lstStyle/>
                    <a:p>
                      <a:r>
                        <a:rPr sz="1950" b="0">
                          <a:solidFill>
                            <a:srgbClr val="162B3A"/>
                          </a:solidFill>
                          <a:latin typeface="Arial"/>
                          <a:ea typeface="Arial"/>
                          <a:cs typeface="Arial"/>
                        </a:rPr>
                        <a:t>LiAlSiO4</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10</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a:t>
                      </a:r>
                    </a:p>
                  </a:txBody>
                  <a:tcPr marL="133350" marR="114300" marT="76200" marB="57150" anchor="ctr">
                    <a:lnR w="9525">
                      <a:solidFill>
                        <a:srgbClr val="F7F8F7"/>
                      </a:solidFill>
                      <a:prstDash val="solid"/>
                    </a:lnR>
                    <a:lnB w="9525">
                      <a:solidFill>
                        <a:srgbClr val="F7F8F7"/>
                      </a:solidFill>
                      <a:prstDash val="solid"/>
                    </a:lnB>
                    <a:solidFill>
                      <a:srgbClr val="EBF0F1"/>
                    </a:solidFill>
                  </a:tcPr>
                </a:tc>
              </a:tr>
              <a:tr h="533400">
                <a:tc>
                  <a:txBody>
                    <a:bodyPr/>
                    <a:lstStyle/>
                    <a:p>
                      <a:r>
                        <a:rPr sz="1950" b="0">
                          <a:solidFill>
                            <a:srgbClr val="162B3A"/>
                          </a:solidFill>
                          <a:latin typeface="Arial"/>
                          <a:ea typeface="Arial"/>
                          <a:cs typeface="Arial"/>
                        </a:rPr>
                        <a:t>LiClO4</a:t>
                      </a:r>
                    </a:p>
                  </a:txBody>
                  <a:tcPr marL="133350" marR="114300" marT="76200" marB="571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55</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0</a:t>
                      </a:r>
                    </a:p>
                  </a:txBody>
                  <a:tcPr marL="133350" marR="114300" marT="76200" marB="57150" anchor="ctr">
                    <a:lnR w="9525">
                      <a:solidFill>
                        <a:srgbClr val="F7F8F7"/>
                      </a:solidFill>
                      <a:prstDash val="solid"/>
                    </a:lnR>
                    <a:lnB w="9525">
                      <a:solidFill>
                        <a:srgbClr val="F7F8F7"/>
                      </a:solidFill>
                      <a:prstDash val="solid"/>
                    </a:lnB>
                    <a:solidFill>
                      <a:srgbClr val="FFFFFF"/>
                    </a:solidFill>
                  </a:tcPr>
                </a:tc>
                <a:tc>
                  <a:txBody>
                    <a:bodyPr/>
                    <a:lstStyle/>
                    <a:p>
                      <a:r>
                        <a:rPr sz="1950" b="1">
                          <a:solidFill>
                            <a:srgbClr val="087F8C"/>
                          </a:solidFill>
                          <a:latin typeface="Arial"/>
                          <a:ea typeface="Arial"/>
                          <a:cs typeface="Arial"/>
                        </a:rPr>
                        <a:t>0</a:t>
                      </a:r>
                    </a:p>
                  </a:txBody>
                  <a:tcPr marL="133350" marR="114300" marT="76200" marB="57150" anchor="ctr">
                    <a:lnR w="9525">
                      <a:solidFill>
                        <a:srgbClr val="F7F8F7"/>
                      </a:solidFill>
                      <a:prstDash val="solid"/>
                    </a:lnR>
                    <a:lnB w="9525">
                      <a:solidFill>
                        <a:srgbClr val="F7F8F7"/>
                      </a:solidFill>
                      <a:prstDash val="solid"/>
                    </a:lnB>
                    <a:solidFill>
                      <a:srgbClr val="D9EEE9"/>
                    </a:solidFill>
                  </a:tcPr>
                </a:tc>
              </a:tr>
            </a:tbl>
          </a:graphicData>
        </a:graphic>
      </p:graphicFrame>
      <p:sp>
        <p:nvSpPr>
          <p:cNvPr id="4" name="">
            <a:extLst xmlns:a="http://schemas.openxmlformats.org/drawingml/2006/main">
              <a:ext uri="{FF2B5EF4-FFF2-40B4-BE49-F238E27FC236}">
                <a16:creationId xmlns:a16="http://schemas.microsoft.com/office/drawing/2014/main" id="{3AD49CC1-7738-4CF8-BB8D-19939E7852B4}"/>
              </a:ext>
            </a:extLst>
          </p:cNvPr>
          <p:cNvSpPr>
            <a:spLocks xmlns:a="http://schemas.openxmlformats.org/drawingml/2006/main" noGrp="1"/>
          </p:cNvSpPr>
          <p:nvPr/>
        </p:nvSpPr>
        <p:spPr>
          <a:xfrm xmlns:a="http://schemas.openxmlformats.org/drawingml/2006/main">
            <a:off x="609600" y="5514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All sulfide passes contain F. No LLZO pass contains F.</a:t>
            </a:r>
          </a:p>
        </p:txBody>
      </p:sp>
      <p:sp>
        <p:nvSpPr>
          <p:cNvPr id="5" name="">
            <a:extLst xmlns:a="http://schemas.openxmlformats.org/drawingml/2006/main">
              <a:ext uri="{FF2B5EF4-FFF2-40B4-BE49-F238E27FC236}">
                <a16:creationId xmlns:a16="http://schemas.microsoft.com/office/drawing/2014/main" id="{F4356EF3-271E-4C97-A2C4-D0B160598E2B}"/>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Lower bins are better. Illustrative polymorphs selected after inspection; each bin spans 0.020 eV/non-Li atom.</a:t>
            </a:r>
          </a:p>
        </p:txBody>
      </p:sp>
    </p:spTree>
    <p:extLst>
      <p:ext uri="{BB962C8B-B14F-4D97-AF65-F5344CB8AC3E}">
        <p14:creationId xmlns:p14="http://schemas.microsoft.com/office/powerpoint/2010/main" val="67991796"/>
      </p:ext>
    </p:extLst>
  </p:cSld>
</p:sld>
</file>

<file path=ppt/slides/slide12.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5E4ECE-60DF-4DB4-B6FB-675DDBF4E74D}"/>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Bulk validation changed the interface models</a:t>
            </a:r>
          </a:p>
        </p:txBody>
      </p:sp>
      <p:sp>
        <p:nvSpPr>
          <p:cNvPr id="2" name="">
            <a:extLst xmlns:a="http://schemas.openxmlformats.org/drawingml/2006/main">
              <a:ext uri="{FF2B5EF4-FFF2-40B4-BE49-F238E27FC236}">
                <a16:creationId xmlns:a16="http://schemas.microsoft.com/office/drawing/2014/main" id="{8F55F4C0-821A-4AE4-9122-42C071EAF87B}"/>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0CDE779-051C-4EB5-A851-6DADEEAF43F9}"/>
              </a:ext>
            </a:extLst>
          </p:cNvPr>
          <p:cNvSpPr>
            <a:spLocks xmlns:a="http://schemas.openxmlformats.org/drawingml/2006/main" noGrp="1"/>
          </p:cNvSpPr>
          <p:nvPr/>
        </p:nvSpPr>
        <p:spPr>
          <a:xfrm xmlns:a="http://schemas.openxmlformats.org/drawingml/2006/main">
            <a:off x="609600" y="1724025"/>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87F8C"/>
                </a:solidFill>
                <a:latin typeface="Arial"/>
                <a:ea typeface="Arial"/>
                <a:cs typeface="Arial"/>
              </a:defRPr>
            </a:defPPr>
            <a:lvl1pPr algn="l">
              <a:buNone/>
              <a:defRPr sz="4200" b="1">
                <a:solidFill>
                  <a:srgbClr val="087F8C"/>
                </a:solidFill>
                <a:latin typeface="Arial"/>
                <a:ea typeface="Arial"/>
                <a:cs typeface="Arial"/>
              </a:defRPr>
            </a:lvl1pPr>
            <a:lvl2pPr algn="l">
              <a:buNone/>
              <a:defRPr sz="4200" b="1">
                <a:solidFill>
                  <a:srgbClr val="087F8C"/>
                </a:solidFill>
                <a:latin typeface="Arial"/>
                <a:ea typeface="Arial"/>
                <a:cs typeface="Arial"/>
              </a:defRPr>
            </a:lvl2pPr>
            <a:lvl3pPr algn="l">
              <a:buNone/>
              <a:defRPr sz="4200" b="1">
                <a:solidFill>
                  <a:srgbClr val="087F8C"/>
                </a:solidFill>
                <a:latin typeface="Arial"/>
                <a:ea typeface="Arial"/>
                <a:cs typeface="Arial"/>
              </a:defRPr>
            </a:lvl3pPr>
            <a:lvl4pPr algn="l">
              <a:buNone/>
              <a:defRPr sz="4200" b="1">
                <a:solidFill>
                  <a:srgbClr val="087F8C"/>
                </a:solidFill>
                <a:latin typeface="Arial"/>
                <a:ea typeface="Arial"/>
                <a:cs typeface="Arial"/>
              </a:defRPr>
            </a:lvl4pPr>
            <a:lvl5pPr algn="l">
              <a:buNone/>
              <a:defRPr sz="4200" b="1">
                <a:solidFill>
                  <a:srgbClr val="087F8C"/>
                </a:solidFill>
                <a:latin typeface="Arial"/>
                <a:ea typeface="Arial"/>
                <a:cs typeface="Arial"/>
              </a:defRPr>
            </a:lvl5pPr>
            <a:lvl6pPr algn="l">
              <a:buNone/>
              <a:defRPr sz="4200" b="1">
                <a:solidFill>
                  <a:srgbClr val="087F8C"/>
                </a:solidFill>
                <a:latin typeface="Arial"/>
                <a:ea typeface="Arial"/>
                <a:cs typeface="Arial"/>
              </a:defRPr>
            </a:lvl6pPr>
            <a:lvl7pPr algn="l">
              <a:buNone/>
              <a:defRPr sz="4200" b="1">
                <a:solidFill>
                  <a:srgbClr val="087F8C"/>
                </a:solidFill>
                <a:latin typeface="Arial"/>
                <a:ea typeface="Arial"/>
                <a:cs typeface="Arial"/>
              </a:defRPr>
            </a:lvl7pPr>
            <a:lvl8pPr algn="l">
              <a:buNone/>
              <a:defRPr sz="4200" b="1">
                <a:solidFill>
                  <a:srgbClr val="087F8C"/>
                </a:solidFill>
                <a:latin typeface="Arial"/>
                <a:ea typeface="Arial"/>
                <a:cs typeface="Arial"/>
              </a:defRPr>
            </a:lvl8pPr>
            <a:lvl9pPr algn="l">
              <a:buNone/>
              <a:defRPr sz="4200" b="1">
                <a:solidFill>
                  <a:srgbClr val="087F8C"/>
                </a:solidFill>
                <a:latin typeface="Arial"/>
                <a:ea typeface="Arial"/>
                <a:cs typeface="Arial"/>
              </a:defRPr>
            </a:lvl9pPr>
          </a:lstStyle>
          <a:p xmlns:a="http://schemas.openxmlformats.org/drawingml/2006/main">
            <a:pPr algn="l">
              <a:buNone/>
              <a:defRPr sz="4200" b="1">
                <a:solidFill>
                  <a:srgbClr val="087F8C"/>
                </a:solidFill>
                <a:latin typeface="Arial"/>
                <a:ea typeface="Arial"/>
                <a:cs typeface="Arial"/>
              </a:defRPr>
            </a:pPr>
            <a:r>
              <a:rPr sz="4200" b="1">
                <a:solidFill>
                  <a:srgbClr val="087F8C"/>
                </a:solidFill>
                <a:latin typeface="Arial"/>
                <a:ea typeface="Arial"/>
                <a:cs typeface="Arial"/>
              </a:rPr>
              <a:t>−63.8 meV/atom</a:t>
            </a:r>
          </a:p>
        </p:txBody>
      </p:sp>
      <p:sp>
        <p:nvSpPr>
          <p:cNvPr id="4" name="">
            <a:extLst xmlns:a="http://schemas.openxmlformats.org/drawingml/2006/main">
              <a:ext uri="{FF2B5EF4-FFF2-40B4-BE49-F238E27FC236}">
                <a16:creationId xmlns:a16="http://schemas.microsoft.com/office/drawing/2014/main" id="{0D4D9699-33BC-42E8-BD6F-FBBBD3AC1365}"/>
              </a:ext>
            </a:extLst>
          </p:cNvPr>
          <p:cNvSpPr>
            <a:spLocks xmlns:a="http://schemas.openxmlformats.org/drawingml/2006/main" noGrp="1"/>
          </p:cNvSpPr>
          <p:nvPr/>
        </p:nvSpPr>
        <p:spPr>
          <a:xfrm xmlns:a="http://schemas.openxmlformats.org/drawingml/2006/main">
            <a:off x="609600" y="26860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2B3A"/>
                </a:solidFill>
                <a:latin typeface="Arial"/>
                <a:ea typeface="Arial"/>
                <a:cs typeface="Arial"/>
              </a:defRPr>
            </a:defPPr>
            <a:lvl1pPr algn="l">
              <a:buNone/>
              <a:defRPr sz="2400" b="0">
                <a:solidFill>
                  <a:srgbClr val="162B3A"/>
                </a:solidFill>
                <a:latin typeface="Arial"/>
                <a:ea typeface="Arial"/>
                <a:cs typeface="Arial"/>
              </a:defRPr>
            </a:lvl1pPr>
            <a:lvl2pPr algn="l">
              <a:buNone/>
              <a:defRPr sz="2400" b="0">
                <a:solidFill>
                  <a:srgbClr val="162B3A"/>
                </a:solidFill>
                <a:latin typeface="Arial"/>
                <a:ea typeface="Arial"/>
                <a:cs typeface="Arial"/>
              </a:defRPr>
            </a:lvl2pPr>
            <a:lvl3pPr algn="l">
              <a:buNone/>
              <a:defRPr sz="2400" b="0">
                <a:solidFill>
                  <a:srgbClr val="162B3A"/>
                </a:solidFill>
                <a:latin typeface="Arial"/>
                <a:ea typeface="Arial"/>
                <a:cs typeface="Arial"/>
              </a:defRPr>
            </a:lvl3pPr>
            <a:lvl4pPr algn="l">
              <a:buNone/>
              <a:defRPr sz="2400" b="0">
                <a:solidFill>
                  <a:srgbClr val="162B3A"/>
                </a:solidFill>
                <a:latin typeface="Arial"/>
                <a:ea typeface="Arial"/>
                <a:cs typeface="Arial"/>
              </a:defRPr>
            </a:lvl4pPr>
            <a:lvl5pPr algn="l">
              <a:buNone/>
              <a:defRPr sz="2400" b="0">
                <a:solidFill>
                  <a:srgbClr val="162B3A"/>
                </a:solidFill>
                <a:latin typeface="Arial"/>
                <a:ea typeface="Arial"/>
                <a:cs typeface="Arial"/>
              </a:defRPr>
            </a:lvl5pPr>
            <a:lvl6pPr algn="l">
              <a:buNone/>
              <a:defRPr sz="2400" b="0">
                <a:solidFill>
                  <a:srgbClr val="162B3A"/>
                </a:solidFill>
                <a:latin typeface="Arial"/>
                <a:ea typeface="Arial"/>
                <a:cs typeface="Arial"/>
              </a:defRPr>
            </a:lvl6pPr>
            <a:lvl7pPr algn="l">
              <a:buNone/>
              <a:defRPr sz="2400" b="0">
                <a:solidFill>
                  <a:srgbClr val="162B3A"/>
                </a:solidFill>
                <a:latin typeface="Arial"/>
                <a:ea typeface="Arial"/>
                <a:cs typeface="Arial"/>
              </a:defRPr>
            </a:lvl7pPr>
            <a:lvl8pPr algn="l">
              <a:buNone/>
              <a:defRPr sz="2400" b="0">
                <a:solidFill>
                  <a:srgbClr val="162B3A"/>
                </a:solidFill>
                <a:latin typeface="Arial"/>
                <a:ea typeface="Arial"/>
                <a:cs typeface="Arial"/>
              </a:defRPr>
            </a:lvl8pPr>
            <a:lvl9pPr algn="l">
              <a:buNone/>
              <a:defRPr sz="2400" b="0">
                <a:solidFill>
                  <a:srgbClr val="162B3A"/>
                </a:solidFill>
                <a:latin typeface="Arial"/>
                <a:ea typeface="Arial"/>
                <a:cs typeface="Arial"/>
              </a:defRPr>
            </a:lvl9pPr>
          </a:lstStyle>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Li₆PS₅Cl energy decrease</a:t>
            </a:r>
          </a:p>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after releasing symmetry</a:t>
            </a:r>
          </a:p>
        </p:txBody>
      </p:sp>
      <p:sp>
        <p:nvSpPr>
          <p:cNvPr id="5" name="">
            <a:extLst xmlns:a="http://schemas.openxmlformats.org/drawingml/2006/main">
              <a:ext uri="{FF2B5EF4-FFF2-40B4-BE49-F238E27FC236}">
                <a16:creationId xmlns:a16="http://schemas.microsoft.com/office/drawing/2014/main" id="{2C3B24FB-9BAD-4704-961D-CC791AEEE197}"/>
              </a:ext>
            </a:extLst>
          </p:cNvPr>
          <p:cNvSpPr>
            <a:spLocks xmlns:a="http://schemas.openxmlformats.org/drawingml/2006/main" noGrp="1"/>
          </p:cNvSpPr>
          <p:nvPr/>
        </p:nvSpPr>
        <p:spPr>
          <a:xfrm xmlns:a="http://schemas.openxmlformats.org/drawingml/2006/main">
            <a:off x="609600" y="41052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2B3A"/>
                </a:solidFill>
                <a:latin typeface="Arial"/>
                <a:ea typeface="Arial"/>
                <a:cs typeface="Arial"/>
              </a:defRPr>
            </a:defPPr>
            <a:lvl1pPr algn="l">
              <a:buNone/>
              <a:defRPr sz="2400" b="1">
                <a:solidFill>
                  <a:srgbClr val="162B3A"/>
                </a:solidFill>
                <a:latin typeface="Arial"/>
                <a:ea typeface="Arial"/>
                <a:cs typeface="Arial"/>
              </a:defRPr>
            </a:lvl1pPr>
            <a:lvl2pPr algn="l">
              <a:buNone/>
              <a:defRPr sz="2400" b="1">
                <a:solidFill>
                  <a:srgbClr val="162B3A"/>
                </a:solidFill>
                <a:latin typeface="Arial"/>
                <a:ea typeface="Arial"/>
                <a:cs typeface="Arial"/>
              </a:defRPr>
            </a:lvl2pPr>
            <a:lvl3pPr algn="l">
              <a:buNone/>
              <a:defRPr sz="2400" b="1">
                <a:solidFill>
                  <a:srgbClr val="162B3A"/>
                </a:solidFill>
                <a:latin typeface="Arial"/>
                <a:ea typeface="Arial"/>
                <a:cs typeface="Arial"/>
              </a:defRPr>
            </a:lvl3pPr>
            <a:lvl4pPr algn="l">
              <a:buNone/>
              <a:defRPr sz="2400" b="1">
                <a:solidFill>
                  <a:srgbClr val="162B3A"/>
                </a:solidFill>
                <a:latin typeface="Arial"/>
                <a:ea typeface="Arial"/>
                <a:cs typeface="Arial"/>
              </a:defRPr>
            </a:lvl4pPr>
            <a:lvl5pPr algn="l">
              <a:buNone/>
              <a:defRPr sz="2400" b="1">
                <a:solidFill>
                  <a:srgbClr val="162B3A"/>
                </a:solidFill>
                <a:latin typeface="Arial"/>
                <a:ea typeface="Arial"/>
                <a:cs typeface="Arial"/>
              </a:defRPr>
            </a:lvl5pPr>
            <a:lvl6pPr algn="l">
              <a:buNone/>
              <a:defRPr sz="2400" b="1">
                <a:solidFill>
                  <a:srgbClr val="162B3A"/>
                </a:solidFill>
                <a:latin typeface="Arial"/>
                <a:ea typeface="Arial"/>
                <a:cs typeface="Arial"/>
              </a:defRPr>
            </a:lvl6pPr>
            <a:lvl7pPr algn="l">
              <a:buNone/>
              <a:defRPr sz="2400" b="1">
                <a:solidFill>
                  <a:srgbClr val="162B3A"/>
                </a:solidFill>
                <a:latin typeface="Arial"/>
                <a:ea typeface="Arial"/>
                <a:cs typeface="Arial"/>
              </a:defRPr>
            </a:lvl7pPr>
            <a:lvl8pPr algn="l">
              <a:buNone/>
              <a:defRPr sz="2400" b="1">
                <a:solidFill>
                  <a:srgbClr val="162B3A"/>
                </a:solidFill>
                <a:latin typeface="Arial"/>
                <a:ea typeface="Arial"/>
                <a:cs typeface="Arial"/>
              </a:defRPr>
            </a:lvl8pPr>
            <a:lvl9pPr algn="l">
              <a:buNone/>
              <a:defRPr sz="2400" b="1">
                <a:solidFill>
                  <a:srgbClr val="162B3A"/>
                </a:solidFill>
                <a:latin typeface="Arial"/>
                <a:ea typeface="Arial"/>
                <a:cs typeface="Arial"/>
              </a:defRPr>
            </a:lvl9pPr>
          </a:lstStyle>
          <a:p xmlns:a="http://schemas.openxmlformats.org/drawingml/2006/main">
            <a:pPr algn="l">
              <a:buNone/>
              <a:defRPr sz="2400" b="1">
                <a:solidFill>
                  <a:srgbClr val="162B3A"/>
                </a:solidFill>
                <a:latin typeface="Arial"/>
                <a:ea typeface="Arial"/>
                <a:cs typeface="Arial"/>
              </a:defRPr>
            </a:pPr>
            <a:r>
              <a:rPr sz="2400" b="1">
                <a:solidFill>
                  <a:srgbClr val="162B3A"/>
                </a:solidFill>
                <a:latin typeface="Arial"/>
                <a:ea typeface="Arial"/>
                <a:cs typeface="Arial"/>
              </a:rPr>
              <a:t>Six distinct converged minima</a:t>
            </a:r>
          </a:p>
        </p:txBody>
      </p:sp>
      <p:sp>
        <p:nvSpPr>
          <p:cNvPr id="6" name="">
            <a:extLst xmlns:a="http://schemas.openxmlformats.org/drawingml/2006/main">
              <a:ext uri="{FF2B5EF4-FFF2-40B4-BE49-F238E27FC236}">
                <a16:creationId xmlns:a16="http://schemas.microsoft.com/office/drawing/2014/main" id="{E3DBC572-526D-4983-AD81-842C3E783BA4}"/>
              </a:ext>
            </a:extLst>
          </p:cNvPr>
          <p:cNvSpPr>
            <a:spLocks xmlns:a="http://schemas.openxmlformats.org/drawingml/2006/main" noGrp="1"/>
          </p:cNvSpPr>
          <p:nvPr/>
        </p:nvSpPr>
        <p:spPr>
          <a:xfrm xmlns:a="http://schemas.openxmlformats.org/drawingml/2006/main">
            <a:off x="609600" y="4772025"/>
            <a:ext cx="576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B3A"/>
                </a:solidFill>
                <a:latin typeface="Arial"/>
                <a:ea typeface="Arial"/>
                <a:cs typeface="Arial"/>
              </a:defRPr>
            </a:defPPr>
            <a:lvl1pPr algn="l">
              <a:buNone/>
              <a:defRPr sz="2175" b="0">
                <a:solidFill>
                  <a:srgbClr val="162B3A"/>
                </a:solidFill>
                <a:latin typeface="Arial"/>
                <a:ea typeface="Arial"/>
                <a:cs typeface="Arial"/>
              </a:defRPr>
            </a:lvl1pPr>
            <a:lvl2pPr algn="l">
              <a:buNone/>
              <a:defRPr sz="2175" b="0">
                <a:solidFill>
                  <a:srgbClr val="162B3A"/>
                </a:solidFill>
                <a:latin typeface="Arial"/>
                <a:ea typeface="Arial"/>
                <a:cs typeface="Arial"/>
              </a:defRPr>
            </a:lvl2pPr>
            <a:lvl3pPr algn="l">
              <a:buNone/>
              <a:defRPr sz="2175" b="0">
                <a:solidFill>
                  <a:srgbClr val="162B3A"/>
                </a:solidFill>
                <a:latin typeface="Arial"/>
                <a:ea typeface="Arial"/>
                <a:cs typeface="Arial"/>
              </a:defRPr>
            </a:lvl3pPr>
            <a:lvl4pPr algn="l">
              <a:buNone/>
              <a:defRPr sz="2175" b="0">
                <a:solidFill>
                  <a:srgbClr val="162B3A"/>
                </a:solidFill>
                <a:latin typeface="Arial"/>
                <a:ea typeface="Arial"/>
                <a:cs typeface="Arial"/>
              </a:defRPr>
            </a:lvl4pPr>
            <a:lvl5pPr algn="l">
              <a:buNone/>
              <a:defRPr sz="2175" b="0">
                <a:solidFill>
                  <a:srgbClr val="162B3A"/>
                </a:solidFill>
                <a:latin typeface="Arial"/>
                <a:ea typeface="Arial"/>
                <a:cs typeface="Arial"/>
              </a:defRPr>
            </a:lvl5pPr>
            <a:lvl6pPr algn="l">
              <a:buNone/>
              <a:defRPr sz="2175" b="0">
                <a:solidFill>
                  <a:srgbClr val="162B3A"/>
                </a:solidFill>
                <a:latin typeface="Arial"/>
                <a:ea typeface="Arial"/>
                <a:cs typeface="Arial"/>
              </a:defRPr>
            </a:lvl6pPr>
            <a:lvl7pPr algn="l">
              <a:buNone/>
              <a:defRPr sz="2175" b="0">
                <a:solidFill>
                  <a:srgbClr val="162B3A"/>
                </a:solidFill>
                <a:latin typeface="Arial"/>
                <a:ea typeface="Arial"/>
                <a:cs typeface="Arial"/>
              </a:defRPr>
            </a:lvl7pPr>
            <a:lvl8pPr algn="l">
              <a:buNone/>
              <a:defRPr sz="2175" b="0">
                <a:solidFill>
                  <a:srgbClr val="162B3A"/>
                </a:solidFill>
                <a:latin typeface="Arial"/>
                <a:ea typeface="Arial"/>
                <a:cs typeface="Arial"/>
              </a:defRPr>
            </a:lvl8pPr>
            <a:lvl9pPr algn="l">
              <a:buNone/>
              <a:defRPr sz="2175" b="0">
                <a:solidFill>
                  <a:srgbClr val="162B3A"/>
                </a:solidFill>
                <a:latin typeface="Arial"/>
                <a:ea typeface="Arial"/>
                <a:cs typeface="Arial"/>
              </a:defRPr>
            </a:lvl9pPr>
          </a:lstStyle>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The sampled bulk arrangement changes</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the lattice and the feasible contact cell.</a:t>
            </a:r>
          </a:p>
        </p:txBody>
      </p:sp>
      <p:sp>
        <p:nvSpPr>
          <p:cNvPr id="7" name="">
            <a:extLst xmlns:a="http://schemas.openxmlformats.org/drawingml/2006/main">
              <a:ext uri="{FF2B5EF4-FFF2-40B4-BE49-F238E27FC236}">
                <a16:creationId xmlns:a16="http://schemas.microsoft.com/office/drawing/2014/main" id="{1986B909-D290-4961-B538-F7D1809771CF}"/>
              </a:ext>
            </a:extLst>
          </p:cNvPr>
          <p:cNvSpPr>
            <a:spLocks xmlns:a="http://schemas.openxmlformats.org/drawingml/2006/main" noGrp="1"/>
          </p:cNvSpPr>
          <p:nvPr/>
        </p:nvSpPr>
        <p:spPr>
          <a:xfrm xmlns:a="http://schemas.openxmlformats.org/drawingml/2006/main">
            <a:off x="7315200" y="1752600"/>
            <a:ext cx="4229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2B3A"/>
                </a:solidFill>
                <a:latin typeface="Arial"/>
                <a:ea typeface="Arial"/>
                <a:cs typeface="Arial"/>
              </a:defRPr>
            </a:defPPr>
            <a:lvl1pPr algn="l">
              <a:buNone/>
              <a:defRPr sz="2475" b="1">
                <a:solidFill>
                  <a:srgbClr val="162B3A"/>
                </a:solidFill>
                <a:latin typeface="Arial"/>
                <a:ea typeface="Arial"/>
                <a:cs typeface="Arial"/>
              </a:defRPr>
            </a:lvl1pPr>
            <a:lvl2pPr algn="l">
              <a:buNone/>
              <a:defRPr sz="2475" b="1">
                <a:solidFill>
                  <a:srgbClr val="162B3A"/>
                </a:solidFill>
                <a:latin typeface="Arial"/>
                <a:ea typeface="Arial"/>
                <a:cs typeface="Arial"/>
              </a:defRPr>
            </a:lvl2pPr>
            <a:lvl3pPr algn="l">
              <a:buNone/>
              <a:defRPr sz="2475" b="1">
                <a:solidFill>
                  <a:srgbClr val="162B3A"/>
                </a:solidFill>
                <a:latin typeface="Arial"/>
                <a:ea typeface="Arial"/>
                <a:cs typeface="Arial"/>
              </a:defRPr>
            </a:lvl3pPr>
            <a:lvl4pPr algn="l">
              <a:buNone/>
              <a:defRPr sz="2475" b="1">
                <a:solidFill>
                  <a:srgbClr val="162B3A"/>
                </a:solidFill>
                <a:latin typeface="Arial"/>
                <a:ea typeface="Arial"/>
                <a:cs typeface="Arial"/>
              </a:defRPr>
            </a:lvl4pPr>
            <a:lvl5pPr algn="l">
              <a:buNone/>
              <a:defRPr sz="2475" b="1">
                <a:solidFill>
                  <a:srgbClr val="162B3A"/>
                </a:solidFill>
                <a:latin typeface="Arial"/>
                <a:ea typeface="Arial"/>
                <a:cs typeface="Arial"/>
              </a:defRPr>
            </a:lvl5pPr>
            <a:lvl6pPr algn="l">
              <a:buNone/>
              <a:defRPr sz="2475" b="1">
                <a:solidFill>
                  <a:srgbClr val="162B3A"/>
                </a:solidFill>
                <a:latin typeface="Arial"/>
                <a:ea typeface="Arial"/>
                <a:cs typeface="Arial"/>
              </a:defRPr>
            </a:lvl6pPr>
            <a:lvl7pPr algn="l">
              <a:buNone/>
              <a:defRPr sz="2475" b="1">
                <a:solidFill>
                  <a:srgbClr val="162B3A"/>
                </a:solidFill>
                <a:latin typeface="Arial"/>
                <a:ea typeface="Arial"/>
                <a:cs typeface="Arial"/>
              </a:defRPr>
            </a:lvl7pPr>
            <a:lvl8pPr algn="l">
              <a:buNone/>
              <a:defRPr sz="2475" b="1">
                <a:solidFill>
                  <a:srgbClr val="162B3A"/>
                </a:solidFill>
                <a:latin typeface="Arial"/>
                <a:ea typeface="Arial"/>
                <a:cs typeface="Arial"/>
              </a:defRPr>
            </a:lvl8pPr>
            <a:lvl9pPr algn="l">
              <a:buNone/>
              <a:defRPr sz="2475" b="1">
                <a:solidFill>
                  <a:srgbClr val="162B3A"/>
                </a:solidFill>
                <a:latin typeface="Arial"/>
                <a:ea typeface="Arial"/>
                <a:cs typeface="Arial"/>
              </a:defRPr>
            </a:lvl9pPr>
          </a:lstStyle>
          <a:p xmlns:a="http://schemas.openxmlformats.org/drawingml/2006/main">
            <a:pPr algn="l">
              <a:buNone/>
              <a:defRPr sz="2475" b="1">
                <a:solidFill>
                  <a:srgbClr val="162B3A"/>
                </a:solidFill>
                <a:latin typeface="Arial"/>
                <a:ea typeface="Arial"/>
                <a:cs typeface="Arial"/>
              </a:defRPr>
            </a:pPr>
            <a:r>
              <a:rPr sz="2475" b="1">
                <a:solidFill>
                  <a:srgbClr val="162B3A"/>
                </a:solidFill>
                <a:latin typeface="Arial"/>
                <a:ea typeface="Arial"/>
                <a:cs typeface="Arial"/>
              </a:rPr>
              <a:t>Rebuilt primary contacts</a:t>
            </a:r>
          </a:p>
        </p:txBody>
      </p:sp>
      <p:sp>
        <p:nvSpPr>
          <p:cNvPr id="8" name="">
            <a:extLst xmlns:a="http://schemas.openxmlformats.org/drawingml/2006/main">
              <a:ext uri="{FF2B5EF4-FFF2-40B4-BE49-F238E27FC236}">
                <a16:creationId xmlns:a16="http://schemas.microsoft.com/office/drawing/2014/main" id="{D6A31367-BE6C-4379-A839-501A2A8F1B84}"/>
              </a:ext>
            </a:extLst>
          </p:cNvPr>
          <p:cNvSpPr>
            <a:spLocks xmlns:a="http://schemas.openxmlformats.org/drawingml/2006/main" noGrp="1"/>
          </p:cNvSpPr>
          <p:nvPr/>
        </p:nvSpPr>
        <p:spPr>
          <a:xfrm xmlns:a="http://schemas.openxmlformats.org/drawingml/2006/main">
            <a:off x="7315200" y="2876550"/>
            <a:ext cx="42291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2B3A"/>
                </a:solidFill>
                <a:latin typeface="Arial"/>
                <a:ea typeface="Arial"/>
                <a:cs typeface="Arial"/>
              </a:defRPr>
            </a:defPPr>
            <a:lvl1pPr algn="l">
              <a:buNone/>
              <a:defRPr sz="2400" b="0">
                <a:solidFill>
                  <a:srgbClr val="162B3A"/>
                </a:solidFill>
                <a:latin typeface="Arial"/>
                <a:ea typeface="Arial"/>
                <a:cs typeface="Arial"/>
              </a:defRPr>
            </a:lvl1pPr>
            <a:lvl2pPr algn="l">
              <a:buNone/>
              <a:defRPr sz="2400" b="0">
                <a:solidFill>
                  <a:srgbClr val="162B3A"/>
                </a:solidFill>
                <a:latin typeface="Arial"/>
                <a:ea typeface="Arial"/>
                <a:cs typeface="Arial"/>
              </a:defRPr>
            </a:lvl2pPr>
            <a:lvl3pPr algn="l">
              <a:buNone/>
              <a:defRPr sz="2400" b="0">
                <a:solidFill>
                  <a:srgbClr val="162B3A"/>
                </a:solidFill>
                <a:latin typeface="Arial"/>
                <a:ea typeface="Arial"/>
                <a:cs typeface="Arial"/>
              </a:defRPr>
            </a:lvl3pPr>
            <a:lvl4pPr algn="l">
              <a:buNone/>
              <a:defRPr sz="2400" b="0">
                <a:solidFill>
                  <a:srgbClr val="162B3A"/>
                </a:solidFill>
                <a:latin typeface="Arial"/>
                <a:ea typeface="Arial"/>
                <a:cs typeface="Arial"/>
              </a:defRPr>
            </a:lvl4pPr>
            <a:lvl5pPr algn="l">
              <a:buNone/>
              <a:defRPr sz="2400" b="0">
                <a:solidFill>
                  <a:srgbClr val="162B3A"/>
                </a:solidFill>
                <a:latin typeface="Arial"/>
                <a:ea typeface="Arial"/>
                <a:cs typeface="Arial"/>
              </a:defRPr>
            </a:lvl5pPr>
            <a:lvl6pPr algn="l">
              <a:buNone/>
              <a:defRPr sz="2400" b="0">
                <a:solidFill>
                  <a:srgbClr val="162B3A"/>
                </a:solidFill>
                <a:latin typeface="Arial"/>
                <a:ea typeface="Arial"/>
                <a:cs typeface="Arial"/>
              </a:defRPr>
            </a:lvl6pPr>
            <a:lvl7pPr algn="l">
              <a:buNone/>
              <a:defRPr sz="2400" b="0">
                <a:solidFill>
                  <a:srgbClr val="162B3A"/>
                </a:solidFill>
                <a:latin typeface="Arial"/>
                <a:ea typeface="Arial"/>
                <a:cs typeface="Arial"/>
              </a:defRPr>
            </a:lvl7pPr>
            <a:lvl8pPr algn="l">
              <a:buNone/>
              <a:defRPr sz="2400" b="0">
                <a:solidFill>
                  <a:srgbClr val="162B3A"/>
                </a:solidFill>
                <a:latin typeface="Arial"/>
                <a:ea typeface="Arial"/>
                <a:cs typeface="Arial"/>
              </a:defRPr>
            </a:lvl8pPr>
            <a:lvl9pPr algn="l">
              <a:buNone/>
              <a:defRPr sz="2400" b="0">
                <a:solidFill>
                  <a:srgbClr val="162B3A"/>
                </a:solidFill>
                <a:latin typeface="Arial"/>
                <a:ea typeface="Arial"/>
                <a:cs typeface="Arial"/>
              </a:defRPr>
            </a:lvl9pPr>
          </a:lstStyle>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504 atoms</a:t>
            </a:r>
          </a:p>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Cathode / LiNbF₆</a:t>
            </a:r>
          </a:p>
        </p:txBody>
      </p:sp>
      <p:sp>
        <p:nvSpPr>
          <p:cNvPr id="9" name="">
            <a:extLst xmlns:a="http://schemas.openxmlformats.org/drawingml/2006/main">
              <a:ext uri="{FF2B5EF4-FFF2-40B4-BE49-F238E27FC236}">
                <a16:creationId xmlns:a16="http://schemas.microsoft.com/office/drawing/2014/main" id="{BE77F934-7C4A-4482-B9B0-33B391BA9A60}"/>
              </a:ext>
            </a:extLst>
          </p:cNvPr>
          <p:cNvSpPr>
            <a:spLocks xmlns:a="http://schemas.openxmlformats.org/drawingml/2006/main" noGrp="1"/>
          </p:cNvSpPr>
          <p:nvPr/>
        </p:nvSpPr>
        <p:spPr>
          <a:xfrm xmlns:a="http://schemas.openxmlformats.org/drawingml/2006/main">
            <a:off x="7315200" y="4400550"/>
            <a:ext cx="42291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2B3A"/>
                </a:solidFill>
                <a:latin typeface="Arial"/>
                <a:ea typeface="Arial"/>
                <a:cs typeface="Arial"/>
              </a:defRPr>
            </a:defPPr>
            <a:lvl1pPr algn="l">
              <a:buNone/>
              <a:defRPr sz="2400" b="0">
                <a:solidFill>
                  <a:srgbClr val="162B3A"/>
                </a:solidFill>
                <a:latin typeface="Arial"/>
                <a:ea typeface="Arial"/>
                <a:cs typeface="Arial"/>
              </a:defRPr>
            </a:lvl1pPr>
            <a:lvl2pPr algn="l">
              <a:buNone/>
              <a:defRPr sz="2400" b="0">
                <a:solidFill>
                  <a:srgbClr val="162B3A"/>
                </a:solidFill>
                <a:latin typeface="Arial"/>
                <a:ea typeface="Arial"/>
                <a:cs typeface="Arial"/>
              </a:defRPr>
            </a:lvl2pPr>
            <a:lvl3pPr algn="l">
              <a:buNone/>
              <a:defRPr sz="2400" b="0">
                <a:solidFill>
                  <a:srgbClr val="162B3A"/>
                </a:solidFill>
                <a:latin typeface="Arial"/>
                <a:ea typeface="Arial"/>
                <a:cs typeface="Arial"/>
              </a:defRPr>
            </a:lvl3pPr>
            <a:lvl4pPr algn="l">
              <a:buNone/>
              <a:defRPr sz="2400" b="0">
                <a:solidFill>
                  <a:srgbClr val="162B3A"/>
                </a:solidFill>
                <a:latin typeface="Arial"/>
                <a:ea typeface="Arial"/>
                <a:cs typeface="Arial"/>
              </a:defRPr>
            </a:lvl4pPr>
            <a:lvl5pPr algn="l">
              <a:buNone/>
              <a:defRPr sz="2400" b="0">
                <a:solidFill>
                  <a:srgbClr val="162B3A"/>
                </a:solidFill>
                <a:latin typeface="Arial"/>
                <a:ea typeface="Arial"/>
                <a:cs typeface="Arial"/>
              </a:defRPr>
            </a:lvl5pPr>
            <a:lvl6pPr algn="l">
              <a:buNone/>
              <a:defRPr sz="2400" b="0">
                <a:solidFill>
                  <a:srgbClr val="162B3A"/>
                </a:solidFill>
                <a:latin typeface="Arial"/>
                <a:ea typeface="Arial"/>
                <a:cs typeface="Arial"/>
              </a:defRPr>
            </a:lvl6pPr>
            <a:lvl7pPr algn="l">
              <a:buNone/>
              <a:defRPr sz="2400" b="0">
                <a:solidFill>
                  <a:srgbClr val="162B3A"/>
                </a:solidFill>
                <a:latin typeface="Arial"/>
                <a:ea typeface="Arial"/>
                <a:cs typeface="Arial"/>
              </a:defRPr>
            </a:lvl7pPr>
            <a:lvl8pPr algn="l">
              <a:buNone/>
              <a:defRPr sz="2400" b="0">
                <a:solidFill>
                  <a:srgbClr val="162B3A"/>
                </a:solidFill>
                <a:latin typeface="Arial"/>
                <a:ea typeface="Arial"/>
                <a:cs typeface="Arial"/>
              </a:defRPr>
            </a:lvl8pPr>
            <a:lvl9pPr algn="l">
              <a:buNone/>
              <a:defRPr sz="2400" b="0">
                <a:solidFill>
                  <a:srgbClr val="162B3A"/>
                </a:solidFill>
                <a:latin typeface="Arial"/>
                <a:ea typeface="Arial"/>
                <a:cs typeface="Arial"/>
              </a:defRPr>
            </a:lvl9pPr>
          </a:lstStyle>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440 atoms initially</a:t>
            </a:r>
          </a:p>
          <a:p xmlns:a="http://schemas.openxmlformats.org/drawingml/2006/main">
            <a:pPr algn="l">
              <a:buNone/>
              <a:defRPr sz="2400" b="0">
                <a:solidFill>
                  <a:srgbClr val="162B3A"/>
                </a:solidFill>
                <a:latin typeface="Arial"/>
                <a:ea typeface="Arial"/>
                <a:cs typeface="Arial"/>
              </a:defRPr>
            </a:pPr>
            <a:r>
              <a:rPr sz="2400" b="0">
                <a:solidFill>
                  <a:srgbClr val="162B3A"/>
                </a:solidFill>
                <a:latin typeface="Arial"/>
                <a:ea typeface="Arial"/>
                <a:cs typeface="Arial"/>
              </a:rPr>
              <a:t>Electrolyte / LiNbF₆</a:t>
            </a:r>
          </a:p>
        </p:txBody>
      </p:sp>
      <p:sp>
        <p:nvSpPr>
          <p:cNvPr id="10" name="">
            <a:extLst xmlns:a="http://schemas.openxmlformats.org/drawingml/2006/main">
              <a:ext uri="{FF2B5EF4-FFF2-40B4-BE49-F238E27FC236}">
                <a16:creationId xmlns:a16="http://schemas.microsoft.com/office/drawing/2014/main" id="{CE6862AC-6893-410E-A9C7-421E5CEFFB56}"/>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PET-MAD model minima guide the geometry. Materials Project energies remain the basis of the thermodynamic score.</a:t>
            </a:r>
          </a:p>
        </p:txBody>
      </p:sp>
    </p:spTree>
    <p:extLst>
      <p:ext uri="{BB962C8B-B14F-4D97-AF65-F5344CB8AC3E}">
        <p14:creationId xmlns:p14="http://schemas.microsoft.com/office/powerpoint/2010/main" val="1721126774"/>
      </p:ext>
    </p:extLst>
  </p:cSld>
</p:sld>
</file>

<file path=ppt/slides/slide13.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9BFB62-9114-4DA2-89E8-0C18BF1998BE}"/>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Explicit contacts make the modelling choices visible</a:t>
            </a:r>
          </a:p>
        </p:txBody>
      </p:sp>
      <p:sp>
        <p:nvSpPr>
          <p:cNvPr id="2" name="">
            <a:extLst xmlns:a="http://schemas.openxmlformats.org/drawingml/2006/main">
              <a:ext uri="{FF2B5EF4-FFF2-40B4-BE49-F238E27FC236}">
                <a16:creationId xmlns:a16="http://schemas.microsoft.com/office/drawing/2014/main" id="{277BCC1F-E06F-416B-BE19-BBC5FC432E33}"/>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7473CBC6-0171-4349-834F-43538DEA9B4A}"/>
              </a:ext>
            </a:extLst>
          </p:cNvPr>
          <p:cNvPicPr>
            <a:picLocks xmlns:a="http://schemas.openxmlformats.org/drawingml/2006/main" noChangeAspect="1"/>
          </p:cNvPicPr>
          <p:nvPr/>
        </p:nvPicPr>
        <p:blipFill>
          <a:blip xmlns:r="http://schemas.openxmlformats.org/officeDocument/2006/relationships" xmlns:a="http://schemas.openxmlformats.org/drawingml/2006/main" r:embed="Ra251c48d2dff47f6"/>
          <a:stretch xmlns:a="http://schemas.openxmlformats.org/drawingml/2006/main"/>
        </p:blipFill>
        <p:spPr>
          <a:xfrm xmlns:a="http://schemas.openxmlformats.org/drawingml/2006/main">
            <a:off x="2000250" y="1552575"/>
            <a:ext cx="8191500" cy="4095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83E339F-1C17-426A-A477-F6F1F12DF501}"/>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Primary cathode contact, 504 atoms. Free atoms converge below 0.05 eV/Å; polar surfaces remain unresolved.</a:t>
            </a:r>
          </a:p>
        </p:txBody>
      </p:sp>
    </p:spTree>
    <p:extLst>
      <p:ext uri="{BB962C8B-B14F-4D97-AF65-F5344CB8AC3E}">
        <p14:creationId xmlns:p14="http://schemas.microsoft.com/office/powerpoint/2010/main" val="1866320410"/>
      </p:ext>
    </p:extLst>
  </p:cSld>
</p:sld>
</file>

<file path=ppt/slides/slide14.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CE205B-A886-42C1-993E-CCA5D0EA35A1}"/>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Four electrolyte layers meet the chosen tolerance</a:t>
            </a:r>
          </a:p>
        </p:txBody>
      </p:sp>
      <p:sp>
        <p:nvSpPr>
          <p:cNvPr id="2" name="">
            <a:extLst xmlns:a="http://schemas.openxmlformats.org/drawingml/2006/main">
              <a:ext uri="{FF2B5EF4-FFF2-40B4-BE49-F238E27FC236}">
                <a16:creationId xmlns:a16="http://schemas.microsoft.com/office/drawing/2014/main" id="{866BF7AE-A78C-4777-86EC-B0A31C2E6D11}"/>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14</a:t>
            </a:r>
          </a:p>
        </p:txBody>
      </p:sp>
      <p:graphicFrame>
        <p:nvGraphicFramePr>
          <p:cNvPr id="3" name="Chart">
            <a:extLst xmlns:a="http://schemas.openxmlformats.org/drawingml/2006/main">
              <a:ext uri="{FF2B5EF4-FFF2-40B4-BE49-F238E27FC236}">
                <a16:creationId xmlns:a16="http://schemas.microsoft.com/office/drawing/2014/main" id="{6563E4FE-A7E8-4BD0-B91A-1B1F59DA0880}"/>
              </a:ext>
            </a:extLst>
          </p:cNvPr>
          <p:cNvGraphicFramePr/>
          <p:nvPr/>
        </p:nvGraphicFramePr>
        <p:xfrm>
          <a:off xmlns:a="http://schemas.openxmlformats.org/drawingml/2006/main" x="495300" y="1676400"/>
          <a:ext xmlns:a="http://schemas.openxmlformats.org/drawingml/2006/main" cx="7591425" cy="4048125"/>
        </p:xfrm>
        <a:graphic xmlns:a="http://schemas.openxmlformats.org/drawingml/2006/main">
          <a:graphicData uri="http://schemas.openxmlformats.org/drawingml/2006/chart">
            <c:chart xmlns:r="http://schemas.openxmlformats.org/officeDocument/2006/relationships" xmlns:c="http://schemas.openxmlformats.org/drawingml/2006/chart" r:id="R5e2847a7d8ad4091"/>
          </a:graphicData>
        </a:graphic>
      </p:graphicFrame>
      <p:sp>
        <p:nvSpPr>
          <p:cNvPr id="4" name="">
            <a:extLst xmlns:a="http://schemas.openxmlformats.org/drawingml/2006/main">
              <a:ext uri="{FF2B5EF4-FFF2-40B4-BE49-F238E27FC236}">
                <a16:creationId xmlns:a16="http://schemas.microsoft.com/office/drawing/2014/main" id="{E487881D-B820-4427-8F29-02A9DB1B4F65}"/>
              </a:ext>
            </a:extLst>
          </p:cNvPr>
          <p:cNvSpPr>
            <a:spLocks xmlns:a="http://schemas.openxmlformats.org/drawingml/2006/main" noGrp="1"/>
          </p:cNvSpPr>
          <p:nvPr/>
        </p:nvSpPr>
        <p:spPr>
          <a:xfrm xmlns:a="http://schemas.openxmlformats.org/drawingml/2006/main">
            <a:off x="8572500" y="1857375"/>
            <a:ext cx="29622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87F8C"/>
                </a:solidFill>
                <a:latin typeface="Arial"/>
                <a:ea typeface="Arial"/>
                <a:cs typeface="Arial"/>
              </a:defRPr>
            </a:defPPr>
            <a:lvl1pPr algn="l">
              <a:buNone/>
              <a:defRPr sz="3375" b="1">
                <a:solidFill>
                  <a:srgbClr val="087F8C"/>
                </a:solidFill>
                <a:latin typeface="Arial"/>
                <a:ea typeface="Arial"/>
                <a:cs typeface="Arial"/>
              </a:defRPr>
            </a:lvl1pPr>
            <a:lvl2pPr algn="l">
              <a:buNone/>
              <a:defRPr sz="3375" b="1">
                <a:solidFill>
                  <a:srgbClr val="087F8C"/>
                </a:solidFill>
                <a:latin typeface="Arial"/>
                <a:ea typeface="Arial"/>
                <a:cs typeface="Arial"/>
              </a:defRPr>
            </a:lvl2pPr>
            <a:lvl3pPr algn="l">
              <a:buNone/>
              <a:defRPr sz="3375" b="1">
                <a:solidFill>
                  <a:srgbClr val="087F8C"/>
                </a:solidFill>
                <a:latin typeface="Arial"/>
                <a:ea typeface="Arial"/>
                <a:cs typeface="Arial"/>
              </a:defRPr>
            </a:lvl3pPr>
            <a:lvl4pPr algn="l">
              <a:buNone/>
              <a:defRPr sz="3375" b="1">
                <a:solidFill>
                  <a:srgbClr val="087F8C"/>
                </a:solidFill>
                <a:latin typeface="Arial"/>
                <a:ea typeface="Arial"/>
                <a:cs typeface="Arial"/>
              </a:defRPr>
            </a:lvl4pPr>
            <a:lvl5pPr algn="l">
              <a:buNone/>
              <a:defRPr sz="3375" b="1">
                <a:solidFill>
                  <a:srgbClr val="087F8C"/>
                </a:solidFill>
                <a:latin typeface="Arial"/>
                <a:ea typeface="Arial"/>
                <a:cs typeface="Arial"/>
              </a:defRPr>
            </a:lvl5pPr>
            <a:lvl6pPr algn="l">
              <a:buNone/>
              <a:defRPr sz="3375" b="1">
                <a:solidFill>
                  <a:srgbClr val="087F8C"/>
                </a:solidFill>
                <a:latin typeface="Arial"/>
                <a:ea typeface="Arial"/>
                <a:cs typeface="Arial"/>
              </a:defRPr>
            </a:lvl6pPr>
            <a:lvl7pPr algn="l">
              <a:buNone/>
              <a:defRPr sz="3375" b="1">
                <a:solidFill>
                  <a:srgbClr val="087F8C"/>
                </a:solidFill>
                <a:latin typeface="Arial"/>
                <a:ea typeface="Arial"/>
                <a:cs typeface="Arial"/>
              </a:defRPr>
            </a:lvl7pPr>
            <a:lvl8pPr algn="l">
              <a:buNone/>
              <a:defRPr sz="3375" b="1">
                <a:solidFill>
                  <a:srgbClr val="087F8C"/>
                </a:solidFill>
                <a:latin typeface="Arial"/>
                <a:ea typeface="Arial"/>
                <a:cs typeface="Arial"/>
              </a:defRPr>
            </a:lvl8pPr>
            <a:lvl9pPr algn="l">
              <a:buNone/>
              <a:defRPr sz="3375" b="1">
                <a:solidFill>
                  <a:srgbClr val="087F8C"/>
                </a:solidFill>
                <a:latin typeface="Arial"/>
                <a:ea typeface="Arial"/>
                <a:cs typeface="Arial"/>
              </a:defRPr>
            </a:lvl9pPr>
          </a:lstStyle>
          <a:p xmlns:a="http://schemas.openxmlformats.org/drawingml/2006/main">
            <a:pPr algn="l">
              <a:buNone/>
              <a:defRPr sz="3375" b="1">
                <a:solidFill>
                  <a:srgbClr val="087F8C"/>
                </a:solidFill>
                <a:latin typeface="Arial"/>
                <a:ea typeface="Arial"/>
                <a:cs typeface="Arial"/>
              </a:defRPr>
            </a:pPr>
            <a:r>
              <a:rPr sz="3375" b="1">
                <a:solidFill>
                  <a:srgbClr val="087F8C"/>
                </a:solidFill>
                <a:latin typeface="Arial"/>
                <a:ea typeface="Arial"/>
                <a:cs typeface="Arial"/>
              </a:rPr>
              <a:t>1.53 J/m²</a:t>
            </a:r>
          </a:p>
        </p:txBody>
      </p:sp>
      <p:sp>
        <p:nvSpPr>
          <p:cNvPr id="5" name="">
            <a:extLst xmlns:a="http://schemas.openxmlformats.org/drawingml/2006/main">
              <a:ext uri="{FF2B5EF4-FFF2-40B4-BE49-F238E27FC236}">
                <a16:creationId xmlns:a16="http://schemas.microsoft.com/office/drawing/2014/main" id="{BBADE833-59B5-4003-81EE-D53E7F28FE17}"/>
              </a:ext>
            </a:extLst>
          </p:cNvPr>
          <p:cNvSpPr>
            <a:spLocks xmlns:a="http://schemas.openxmlformats.org/drawingml/2006/main" noGrp="1"/>
          </p:cNvSpPr>
          <p:nvPr/>
        </p:nvSpPr>
        <p:spPr>
          <a:xfrm xmlns:a="http://schemas.openxmlformats.org/drawingml/2006/main">
            <a:off x="8572500" y="2600325"/>
            <a:ext cx="2962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B3A"/>
                </a:solidFill>
                <a:latin typeface="Arial"/>
                <a:ea typeface="Arial"/>
                <a:cs typeface="Arial"/>
              </a:defRPr>
            </a:defPPr>
            <a:lvl1pPr algn="l">
              <a:buNone/>
              <a:defRPr sz="2025" b="0">
                <a:solidFill>
                  <a:srgbClr val="162B3A"/>
                </a:solidFill>
                <a:latin typeface="Arial"/>
                <a:ea typeface="Arial"/>
                <a:cs typeface="Arial"/>
              </a:defRPr>
            </a:lvl1pPr>
            <a:lvl2pPr algn="l">
              <a:buNone/>
              <a:defRPr sz="2025" b="0">
                <a:solidFill>
                  <a:srgbClr val="162B3A"/>
                </a:solidFill>
                <a:latin typeface="Arial"/>
                <a:ea typeface="Arial"/>
                <a:cs typeface="Arial"/>
              </a:defRPr>
            </a:lvl2pPr>
            <a:lvl3pPr algn="l">
              <a:buNone/>
              <a:defRPr sz="2025" b="0">
                <a:solidFill>
                  <a:srgbClr val="162B3A"/>
                </a:solidFill>
                <a:latin typeface="Arial"/>
                <a:ea typeface="Arial"/>
                <a:cs typeface="Arial"/>
              </a:defRPr>
            </a:lvl3pPr>
            <a:lvl4pPr algn="l">
              <a:buNone/>
              <a:defRPr sz="2025" b="0">
                <a:solidFill>
                  <a:srgbClr val="162B3A"/>
                </a:solidFill>
                <a:latin typeface="Arial"/>
                <a:ea typeface="Arial"/>
                <a:cs typeface="Arial"/>
              </a:defRPr>
            </a:lvl4pPr>
            <a:lvl5pPr algn="l">
              <a:buNone/>
              <a:defRPr sz="2025" b="0">
                <a:solidFill>
                  <a:srgbClr val="162B3A"/>
                </a:solidFill>
                <a:latin typeface="Arial"/>
                <a:ea typeface="Arial"/>
                <a:cs typeface="Arial"/>
              </a:defRPr>
            </a:lvl5pPr>
            <a:lvl6pPr algn="l">
              <a:buNone/>
              <a:defRPr sz="2025" b="0">
                <a:solidFill>
                  <a:srgbClr val="162B3A"/>
                </a:solidFill>
                <a:latin typeface="Arial"/>
                <a:ea typeface="Arial"/>
                <a:cs typeface="Arial"/>
              </a:defRPr>
            </a:lvl6pPr>
            <a:lvl7pPr algn="l">
              <a:buNone/>
              <a:defRPr sz="2025" b="0">
                <a:solidFill>
                  <a:srgbClr val="162B3A"/>
                </a:solidFill>
                <a:latin typeface="Arial"/>
                <a:ea typeface="Arial"/>
                <a:cs typeface="Arial"/>
              </a:defRPr>
            </a:lvl7pPr>
            <a:lvl8pPr algn="l">
              <a:buNone/>
              <a:defRPr sz="2025" b="0">
                <a:solidFill>
                  <a:srgbClr val="162B3A"/>
                </a:solidFill>
                <a:latin typeface="Arial"/>
                <a:ea typeface="Arial"/>
                <a:cs typeface="Arial"/>
              </a:defRPr>
            </a:lvl8pPr>
            <a:lvl9pPr algn="l">
              <a:buNone/>
              <a:defRPr sz="2025" b="0">
                <a:solidFill>
                  <a:srgbClr val="162B3A"/>
                </a:solidFill>
                <a:latin typeface="Arial"/>
                <a:ea typeface="Arial"/>
                <a:cs typeface="Arial"/>
              </a:defRPr>
            </a:lvl9pPr>
          </a:lstStyle>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Relaxed adhesion</a:t>
            </a:r>
          </a:p>
          <a:p xmlns:a="http://schemas.openxmlformats.org/drawingml/2006/main">
            <a:pPr algn="l">
              <a:buNone/>
              <a:defRPr sz="2025" b="0">
                <a:solidFill>
                  <a:srgbClr val="162B3A"/>
                </a:solidFill>
                <a:latin typeface="Arial"/>
                <a:ea typeface="Arial"/>
                <a:cs typeface="Arial"/>
              </a:defRPr>
            </a:pPr>
            <a:r>
              <a:rPr sz="2025" b="0">
                <a:solidFill>
                  <a:srgbClr val="162B3A"/>
                </a:solidFill>
                <a:latin typeface="Arial"/>
                <a:ea typeface="Arial"/>
                <a:cs typeface="Arial"/>
              </a:rPr>
              <a:t>at four layers</a:t>
            </a:r>
          </a:p>
        </p:txBody>
      </p:sp>
      <p:sp>
        <p:nvSpPr>
          <p:cNvPr id="6" name="">
            <a:extLst xmlns:a="http://schemas.openxmlformats.org/drawingml/2006/main">
              <a:ext uri="{FF2B5EF4-FFF2-40B4-BE49-F238E27FC236}">
                <a16:creationId xmlns:a16="http://schemas.microsoft.com/office/drawing/2014/main" id="{EDBBD623-0832-4FF7-AF39-5346037E5AAC}"/>
              </a:ext>
            </a:extLst>
          </p:cNvPr>
          <p:cNvSpPr>
            <a:spLocks xmlns:a="http://schemas.openxmlformats.org/drawingml/2006/main" noGrp="1"/>
          </p:cNvSpPr>
          <p:nvPr/>
        </p:nvSpPr>
        <p:spPr>
          <a:xfrm xmlns:a="http://schemas.openxmlformats.org/drawingml/2006/main">
            <a:off x="8572500" y="4019550"/>
            <a:ext cx="29622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2B3A"/>
                </a:solidFill>
                <a:latin typeface="Arial"/>
                <a:ea typeface="Arial"/>
                <a:cs typeface="Arial"/>
              </a:defRPr>
            </a:defPPr>
            <a:lvl1pPr algn="l">
              <a:buNone/>
              <a:defRPr sz="2625" b="1">
                <a:solidFill>
                  <a:srgbClr val="162B3A"/>
                </a:solidFill>
                <a:latin typeface="Arial"/>
                <a:ea typeface="Arial"/>
                <a:cs typeface="Arial"/>
              </a:defRPr>
            </a:lvl1pPr>
            <a:lvl2pPr algn="l">
              <a:buNone/>
              <a:defRPr sz="2625" b="1">
                <a:solidFill>
                  <a:srgbClr val="162B3A"/>
                </a:solidFill>
                <a:latin typeface="Arial"/>
                <a:ea typeface="Arial"/>
                <a:cs typeface="Arial"/>
              </a:defRPr>
            </a:lvl2pPr>
            <a:lvl3pPr algn="l">
              <a:buNone/>
              <a:defRPr sz="2625" b="1">
                <a:solidFill>
                  <a:srgbClr val="162B3A"/>
                </a:solidFill>
                <a:latin typeface="Arial"/>
                <a:ea typeface="Arial"/>
                <a:cs typeface="Arial"/>
              </a:defRPr>
            </a:lvl3pPr>
            <a:lvl4pPr algn="l">
              <a:buNone/>
              <a:defRPr sz="2625" b="1">
                <a:solidFill>
                  <a:srgbClr val="162B3A"/>
                </a:solidFill>
                <a:latin typeface="Arial"/>
                <a:ea typeface="Arial"/>
                <a:cs typeface="Arial"/>
              </a:defRPr>
            </a:lvl4pPr>
            <a:lvl5pPr algn="l">
              <a:buNone/>
              <a:defRPr sz="2625" b="1">
                <a:solidFill>
                  <a:srgbClr val="162B3A"/>
                </a:solidFill>
                <a:latin typeface="Arial"/>
                <a:ea typeface="Arial"/>
                <a:cs typeface="Arial"/>
              </a:defRPr>
            </a:lvl5pPr>
            <a:lvl6pPr algn="l">
              <a:buNone/>
              <a:defRPr sz="2625" b="1">
                <a:solidFill>
                  <a:srgbClr val="162B3A"/>
                </a:solidFill>
                <a:latin typeface="Arial"/>
                <a:ea typeface="Arial"/>
                <a:cs typeface="Arial"/>
              </a:defRPr>
            </a:lvl6pPr>
            <a:lvl7pPr algn="l">
              <a:buNone/>
              <a:defRPr sz="2625" b="1">
                <a:solidFill>
                  <a:srgbClr val="162B3A"/>
                </a:solidFill>
                <a:latin typeface="Arial"/>
                <a:ea typeface="Arial"/>
                <a:cs typeface="Arial"/>
              </a:defRPr>
            </a:lvl7pPr>
            <a:lvl8pPr algn="l">
              <a:buNone/>
              <a:defRPr sz="2625" b="1">
                <a:solidFill>
                  <a:srgbClr val="162B3A"/>
                </a:solidFill>
                <a:latin typeface="Arial"/>
                <a:ea typeface="Arial"/>
                <a:cs typeface="Arial"/>
              </a:defRPr>
            </a:lvl8pPr>
            <a:lvl9pPr algn="l">
              <a:buNone/>
              <a:defRPr sz="2625" b="1">
                <a:solidFill>
                  <a:srgbClr val="162B3A"/>
                </a:solidFill>
                <a:latin typeface="Arial"/>
                <a:ea typeface="Arial"/>
                <a:cs typeface="Arial"/>
              </a:defRPr>
            </a:lvl9pPr>
          </a:lstStyle>
          <a:p xmlns:a="http://schemas.openxmlformats.org/drawingml/2006/main">
            <a:pPr algn="l">
              <a:buNone/>
              <a:defRPr sz="2625" b="1">
                <a:solidFill>
                  <a:srgbClr val="162B3A"/>
                </a:solidFill>
                <a:latin typeface="Arial"/>
                <a:ea typeface="Arial"/>
                <a:cs typeface="Arial"/>
              </a:defRPr>
            </a:pPr>
            <a:r>
              <a:rPr sz="2625" b="1">
                <a:solidFill>
                  <a:srgbClr val="162B3A"/>
                </a:solidFill>
                <a:latin typeface="Arial"/>
                <a:ea typeface="Arial"/>
                <a:cs typeface="Arial"/>
              </a:rPr>
              <a:t>+0.067 J/m²</a:t>
            </a:r>
          </a:p>
        </p:txBody>
      </p:sp>
      <p:sp>
        <p:nvSpPr>
          <p:cNvPr id="7" name="">
            <a:extLst xmlns:a="http://schemas.openxmlformats.org/drawingml/2006/main">
              <a:ext uri="{FF2B5EF4-FFF2-40B4-BE49-F238E27FC236}">
                <a16:creationId xmlns:a16="http://schemas.microsoft.com/office/drawing/2014/main" id="{CF8C3ECB-2516-473B-AC82-5D583802EE18}"/>
              </a:ext>
            </a:extLst>
          </p:cNvPr>
          <p:cNvSpPr>
            <a:spLocks xmlns:a="http://schemas.openxmlformats.org/drawingml/2006/main" noGrp="1"/>
          </p:cNvSpPr>
          <p:nvPr/>
        </p:nvSpPr>
        <p:spPr>
          <a:xfrm xmlns:a="http://schemas.openxmlformats.org/drawingml/2006/main">
            <a:off x="8572500" y="4657725"/>
            <a:ext cx="29622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B3A"/>
                </a:solidFill>
                <a:latin typeface="Arial"/>
                <a:ea typeface="Arial"/>
                <a:cs typeface="Arial"/>
              </a:defRPr>
            </a:defPPr>
            <a:lvl1pPr algn="l">
              <a:buNone/>
              <a:defRPr sz="1950" b="0">
                <a:solidFill>
                  <a:srgbClr val="162B3A"/>
                </a:solidFill>
                <a:latin typeface="Arial"/>
                <a:ea typeface="Arial"/>
                <a:cs typeface="Arial"/>
              </a:defRPr>
            </a:lvl1pPr>
            <a:lvl2pPr algn="l">
              <a:buNone/>
              <a:defRPr sz="1950" b="0">
                <a:solidFill>
                  <a:srgbClr val="162B3A"/>
                </a:solidFill>
                <a:latin typeface="Arial"/>
                <a:ea typeface="Arial"/>
                <a:cs typeface="Arial"/>
              </a:defRPr>
            </a:lvl2pPr>
            <a:lvl3pPr algn="l">
              <a:buNone/>
              <a:defRPr sz="1950" b="0">
                <a:solidFill>
                  <a:srgbClr val="162B3A"/>
                </a:solidFill>
                <a:latin typeface="Arial"/>
                <a:ea typeface="Arial"/>
                <a:cs typeface="Arial"/>
              </a:defRPr>
            </a:lvl3pPr>
            <a:lvl4pPr algn="l">
              <a:buNone/>
              <a:defRPr sz="1950" b="0">
                <a:solidFill>
                  <a:srgbClr val="162B3A"/>
                </a:solidFill>
                <a:latin typeface="Arial"/>
                <a:ea typeface="Arial"/>
                <a:cs typeface="Arial"/>
              </a:defRPr>
            </a:lvl4pPr>
            <a:lvl5pPr algn="l">
              <a:buNone/>
              <a:defRPr sz="1950" b="0">
                <a:solidFill>
                  <a:srgbClr val="162B3A"/>
                </a:solidFill>
                <a:latin typeface="Arial"/>
                <a:ea typeface="Arial"/>
                <a:cs typeface="Arial"/>
              </a:defRPr>
            </a:lvl5pPr>
            <a:lvl6pPr algn="l">
              <a:buNone/>
              <a:defRPr sz="1950" b="0">
                <a:solidFill>
                  <a:srgbClr val="162B3A"/>
                </a:solidFill>
                <a:latin typeface="Arial"/>
                <a:ea typeface="Arial"/>
                <a:cs typeface="Arial"/>
              </a:defRPr>
            </a:lvl6pPr>
            <a:lvl7pPr algn="l">
              <a:buNone/>
              <a:defRPr sz="1950" b="0">
                <a:solidFill>
                  <a:srgbClr val="162B3A"/>
                </a:solidFill>
                <a:latin typeface="Arial"/>
                <a:ea typeface="Arial"/>
                <a:cs typeface="Arial"/>
              </a:defRPr>
            </a:lvl7pPr>
            <a:lvl8pPr algn="l">
              <a:buNone/>
              <a:defRPr sz="1950" b="0">
                <a:solidFill>
                  <a:srgbClr val="162B3A"/>
                </a:solidFill>
                <a:latin typeface="Arial"/>
                <a:ea typeface="Arial"/>
                <a:cs typeface="Arial"/>
              </a:defRPr>
            </a:lvl8pPr>
            <a:lvl9pPr algn="l">
              <a:buNone/>
              <a:defRPr sz="1950" b="0">
                <a:solidFill>
                  <a:srgbClr val="162B3A"/>
                </a:solidFill>
                <a:latin typeface="Arial"/>
                <a:ea typeface="Arial"/>
                <a:cs typeface="Arial"/>
              </a:defRPr>
            </a:lvl9pPr>
          </a:lstStyle>
          <a:p xmlns:a="http://schemas.openxmlformats.org/drawingml/2006/main">
            <a:pPr algn="l">
              <a:buNone/>
              <a:defRPr sz="1950" b="0">
                <a:solidFill>
                  <a:srgbClr val="162B3A"/>
                </a:solidFill>
                <a:latin typeface="Arial"/>
                <a:ea typeface="Arial"/>
                <a:cs typeface="Arial"/>
              </a:defRPr>
            </a:pPr>
            <a:r>
              <a:rPr sz="1950" b="0">
                <a:solidFill>
                  <a:srgbClr val="162B3A"/>
                </a:solidFill>
                <a:latin typeface="Arial"/>
                <a:ea typeface="Arial"/>
                <a:cs typeface="Arial"/>
              </a:rPr>
              <a:t>Change from</a:t>
            </a:r>
          </a:p>
          <a:p xmlns:a="http://schemas.openxmlformats.org/drawingml/2006/main">
            <a:pPr algn="l">
              <a:buNone/>
              <a:defRPr sz="1950" b="0">
                <a:solidFill>
                  <a:srgbClr val="162B3A"/>
                </a:solidFill>
                <a:latin typeface="Arial"/>
                <a:ea typeface="Arial"/>
                <a:cs typeface="Arial"/>
              </a:defRPr>
            </a:pPr>
            <a:r>
              <a:rPr sz="1950" b="0">
                <a:solidFill>
                  <a:srgbClr val="162B3A"/>
                </a:solidFill>
                <a:latin typeface="Arial"/>
                <a:ea typeface="Arial"/>
                <a:cs typeface="Arial"/>
              </a:rPr>
              <a:t>three to four layers</a:t>
            </a:r>
          </a:p>
        </p:txBody>
      </p:sp>
      <p:sp>
        <p:nvSpPr>
          <p:cNvPr id="8" name="">
            <a:extLst xmlns:a="http://schemas.openxmlformats.org/drawingml/2006/main">
              <a:ext uri="{FF2B5EF4-FFF2-40B4-BE49-F238E27FC236}">
                <a16:creationId xmlns:a16="http://schemas.microsoft.com/office/drawing/2014/main" id="{0E6F29BF-2762-473A-BE14-FDA57C55E097}"/>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Constraint spreads at four layers: 0.048 J/m² (adhesion), 0.024 J/m² (separation).</a:t>
            </a:r>
          </a:p>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Tolerance met over tested settings. Adhesion still rises and both contacts remain formally polar.</a:t>
            </a:r>
          </a:p>
        </p:txBody>
      </p:sp>
    </p:spTree>
    <p:extLst>
      <p:ext uri="{BB962C8B-B14F-4D97-AF65-F5344CB8AC3E}">
        <p14:creationId xmlns:p14="http://schemas.microsoft.com/office/powerpoint/2010/main" val="1917785846"/>
      </p:ext>
    </p:extLst>
  </p:cSld>
</p:sld>
</file>

<file path=ppt/slides/slide15.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0E19AD-DCEB-4C9A-A1F7-1CC29A5AD249}"/>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The results remain inspectable and reproducible</a:t>
            </a:r>
          </a:p>
        </p:txBody>
      </p:sp>
      <p:sp>
        <p:nvSpPr>
          <p:cNvPr id="2" name="">
            <a:extLst xmlns:a="http://schemas.openxmlformats.org/drawingml/2006/main">
              <a:ext uri="{FF2B5EF4-FFF2-40B4-BE49-F238E27FC236}">
                <a16:creationId xmlns:a16="http://schemas.microsoft.com/office/drawing/2014/main" id="{65A38BFB-3BDD-4D17-8FEA-465A3883965C}"/>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2A83BF36-2290-4068-A9FC-F99850E31959}"/>
              </a:ext>
            </a:extLst>
          </p:cNvPr>
          <p:cNvSpPr>
            <a:spLocks xmlns:a="http://schemas.openxmlformats.org/drawingml/2006/main" noGrp="1"/>
          </p:cNvSpPr>
          <p:nvPr/>
        </p:nvSpPr>
        <p:spPr>
          <a:xfrm xmlns:a="http://schemas.openxmlformats.org/drawingml/2006/main">
            <a:off x="609600" y="1657350"/>
            <a:ext cx="4572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87F8C"/>
                </a:solidFill>
                <a:latin typeface="Arial"/>
                <a:ea typeface="Arial"/>
                <a:cs typeface="Arial"/>
              </a:defRPr>
            </a:defPPr>
            <a:lvl1pPr algn="l">
              <a:buNone/>
              <a:defRPr sz="4875" b="1">
                <a:solidFill>
                  <a:srgbClr val="087F8C"/>
                </a:solidFill>
                <a:latin typeface="Arial"/>
                <a:ea typeface="Arial"/>
                <a:cs typeface="Arial"/>
              </a:defRPr>
            </a:lvl1pPr>
            <a:lvl2pPr algn="l">
              <a:buNone/>
              <a:defRPr sz="4875" b="1">
                <a:solidFill>
                  <a:srgbClr val="087F8C"/>
                </a:solidFill>
                <a:latin typeface="Arial"/>
                <a:ea typeface="Arial"/>
                <a:cs typeface="Arial"/>
              </a:defRPr>
            </a:lvl2pPr>
            <a:lvl3pPr algn="l">
              <a:buNone/>
              <a:defRPr sz="4875" b="1">
                <a:solidFill>
                  <a:srgbClr val="087F8C"/>
                </a:solidFill>
                <a:latin typeface="Arial"/>
                <a:ea typeface="Arial"/>
                <a:cs typeface="Arial"/>
              </a:defRPr>
            </a:lvl3pPr>
            <a:lvl4pPr algn="l">
              <a:buNone/>
              <a:defRPr sz="4875" b="1">
                <a:solidFill>
                  <a:srgbClr val="087F8C"/>
                </a:solidFill>
                <a:latin typeface="Arial"/>
                <a:ea typeface="Arial"/>
                <a:cs typeface="Arial"/>
              </a:defRPr>
            </a:lvl4pPr>
            <a:lvl5pPr algn="l">
              <a:buNone/>
              <a:defRPr sz="4875" b="1">
                <a:solidFill>
                  <a:srgbClr val="087F8C"/>
                </a:solidFill>
                <a:latin typeface="Arial"/>
                <a:ea typeface="Arial"/>
                <a:cs typeface="Arial"/>
              </a:defRPr>
            </a:lvl5pPr>
            <a:lvl6pPr algn="l">
              <a:buNone/>
              <a:defRPr sz="4875" b="1">
                <a:solidFill>
                  <a:srgbClr val="087F8C"/>
                </a:solidFill>
                <a:latin typeface="Arial"/>
                <a:ea typeface="Arial"/>
                <a:cs typeface="Arial"/>
              </a:defRPr>
            </a:lvl6pPr>
            <a:lvl7pPr algn="l">
              <a:buNone/>
              <a:defRPr sz="4875" b="1">
                <a:solidFill>
                  <a:srgbClr val="087F8C"/>
                </a:solidFill>
                <a:latin typeface="Arial"/>
                <a:ea typeface="Arial"/>
                <a:cs typeface="Arial"/>
              </a:defRPr>
            </a:lvl7pPr>
            <a:lvl8pPr algn="l">
              <a:buNone/>
              <a:defRPr sz="4875" b="1">
                <a:solidFill>
                  <a:srgbClr val="087F8C"/>
                </a:solidFill>
                <a:latin typeface="Arial"/>
                <a:ea typeface="Arial"/>
                <a:cs typeface="Arial"/>
              </a:defRPr>
            </a:lvl8pPr>
            <a:lvl9pPr algn="l">
              <a:buNone/>
              <a:defRPr sz="4875" b="1">
                <a:solidFill>
                  <a:srgbClr val="087F8C"/>
                </a:solidFill>
                <a:latin typeface="Arial"/>
                <a:ea typeface="Arial"/>
                <a:cs typeface="Arial"/>
              </a:defRPr>
            </a:lvl9pPr>
          </a:lstStyle>
          <a:p xmlns:a="http://schemas.openxmlformats.org/drawingml/2006/main">
            <a:pPr algn="l">
              <a:buNone/>
              <a:defRPr sz="4875" b="1">
                <a:solidFill>
                  <a:srgbClr val="087F8C"/>
                </a:solidFill>
                <a:latin typeface="Arial"/>
                <a:ea typeface="Arial"/>
                <a:cs typeface="Arial"/>
              </a:defRPr>
            </a:pPr>
            <a:r>
              <a:rPr sz="4875" b="1">
                <a:solidFill>
                  <a:srgbClr val="087F8C"/>
                </a:solidFill>
                <a:latin typeface="Arial"/>
                <a:ea typeface="Arial"/>
                <a:cs typeface="Arial"/>
              </a:rPr>
              <a:t>1,500</a:t>
            </a:r>
          </a:p>
        </p:txBody>
      </p:sp>
      <p:sp>
        <p:nvSpPr>
          <p:cNvPr id="4" name="">
            <a:extLst xmlns:a="http://schemas.openxmlformats.org/drawingml/2006/main">
              <a:ext uri="{FF2B5EF4-FFF2-40B4-BE49-F238E27FC236}">
                <a16:creationId xmlns:a16="http://schemas.microsoft.com/office/drawing/2014/main" id="{025B73DF-C1E5-4562-A34B-CC23C3C3911E}"/>
              </a:ext>
            </a:extLst>
          </p:cNvPr>
          <p:cNvSpPr>
            <a:spLocks xmlns:a="http://schemas.openxmlformats.org/drawingml/2006/main" noGrp="1"/>
          </p:cNvSpPr>
          <p:nvPr/>
        </p:nvSpPr>
        <p:spPr>
          <a:xfrm xmlns:a="http://schemas.openxmlformats.org/drawingml/2006/main">
            <a:off x="609600" y="26193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B3A"/>
                </a:solidFill>
                <a:latin typeface="Arial"/>
                <a:ea typeface="Arial"/>
                <a:cs typeface="Arial"/>
              </a:defRPr>
            </a:defPPr>
            <a:lvl1pPr algn="l">
              <a:buNone/>
              <a:defRPr sz="2250" b="0">
                <a:solidFill>
                  <a:srgbClr val="162B3A"/>
                </a:solidFill>
                <a:latin typeface="Arial"/>
                <a:ea typeface="Arial"/>
                <a:cs typeface="Arial"/>
              </a:defRPr>
            </a:lvl1pPr>
            <a:lvl2pPr algn="l">
              <a:buNone/>
              <a:defRPr sz="2250" b="0">
                <a:solidFill>
                  <a:srgbClr val="162B3A"/>
                </a:solidFill>
                <a:latin typeface="Arial"/>
                <a:ea typeface="Arial"/>
                <a:cs typeface="Arial"/>
              </a:defRPr>
            </a:lvl2pPr>
            <a:lvl3pPr algn="l">
              <a:buNone/>
              <a:defRPr sz="2250" b="0">
                <a:solidFill>
                  <a:srgbClr val="162B3A"/>
                </a:solidFill>
                <a:latin typeface="Arial"/>
                <a:ea typeface="Arial"/>
                <a:cs typeface="Arial"/>
              </a:defRPr>
            </a:lvl3pPr>
            <a:lvl4pPr algn="l">
              <a:buNone/>
              <a:defRPr sz="2250" b="0">
                <a:solidFill>
                  <a:srgbClr val="162B3A"/>
                </a:solidFill>
                <a:latin typeface="Arial"/>
                <a:ea typeface="Arial"/>
                <a:cs typeface="Arial"/>
              </a:defRPr>
            </a:lvl4pPr>
            <a:lvl5pPr algn="l">
              <a:buNone/>
              <a:defRPr sz="2250" b="0">
                <a:solidFill>
                  <a:srgbClr val="162B3A"/>
                </a:solidFill>
                <a:latin typeface="Arial"/>
                <a:ea typeface="Arial"/>
                <a:cs typeface="Arial"/>
              </a:defRPr>
            </a:lvl5pPr>
            <a:lvl6pPr algn="l">
              <a:buNone/>
              <a:defRPr sz="2250" b="0">
                <a:solidFill>
                  <a:srgbClr val="162B3A"/>
                </a:solidFill>
                <a:latin typeface="Arial"/>
                <a:ea typeface="Arial"/>
                <a:cs typeface="Arial"/>
              </a:defRPr>
            </a:lvl6pPr>
            <a:lvl7pPr algn="l">
              <a:buNone/>
              <a:defRPr sz="2250" b="0">
                <a:solidFill>
                  <a:srgbClr val="162B3A"/>
                </a:solidFill>
                <a:latin typeface="Arial"/>
                <a:ea typeface="Arial"/>
                <a:cs typeface="Arial"/>
              </a:defRPr>
            </a:lvl7pPr>
            <a:lvl8pPr algn="l">
              <a:buNone/>
              <a:defRPr sz="2250" b="0">
                <a:solidFill>
                  <a:srgbClr val="162B3A"/>
                </a:solidFill>
                <a:latin typeface="Arial"/>
                <a:ea typeface="Arial"/>
                <a:cs typeface="Arial"/>
              </a:defRPr>
            </a:lvl8pPr>
            <a:lvl9pPr algn="l">
              <a:buNone/>
              <a:defRPr sz="2250" b="0">
                <a:solidFill>
                  <a:srgbClr val="162B3A"/>
                </a:solidFill>
                <a:latin typeface="Arial"/>
                <a:ea typeface="Arial"/>
                <a:cs typeface="Arial"/>
              </a:defRPr>
            </a:lvl9pPr>
          </a:lstStyle>
          <a:p xmlns:a="http://schemas.openxmlformats.org/drawingml/2006/main">
            <a:pPr algn="l">
              <a:buNone/>
              <a:defRPr sz="2250" b="0">
                <a:solidFill>
                  <a:srgbClr val="162B3A"/>
                </a:solidFill>
                <a:latin typeface="Arial"/>
                <a:ea typeface="Arial"/>
                <a:cs typeface="Arial"/>
              </a:defRPr>
            </a:pPr>
            <a:r>
              <a:rPr sz="2250" b="0">
                <a:solidFill>
                  <a:srgbClr val="162B3A"/>
                </a:solidFill>
                <a:latin typeface="Arial"/>
                <a:ea typeface="Arial"/>
                <a:cs typeface="Arial"/>
              </a:rPr>
              <a:t>query outcomes independently replayed</a:t>
            </a:r>
          </a:p>
        </p:txBody>
      </p:sp>
      <p:sp>
        <p:nvSpPr>
          <p:cNvPr id="5" name="">
            <a:extLst xmlns:a="http://schemas.openxmlformats.org/drawingml/2006/main">
              <a:ext uri="{FF2B5EF4-FFF2-40B4-BE49-F238E27FC236}">
                <a16:creationId xmlns:a16="http://schemas.microsoft.com/office/drawing/2014/main" id="{03B623A3-8542-4969-B8AB-8112525A3FD7}"/>
              </a:ext>
            </a:extLst>
          </p:cNvPr>
          <p:cNvSpPr>
            <a:spLocks xmlns:a="http://schemas.openxmlformats.org/drawingml/2006/main" noGrp="1"/>
          </p:cNvSpPr>
          <p:nvPr/>
        </p:nvSpPr>
        <p:spPr>
          <a:xfrm xmlns:a="http://schemas.openxmlformats.org/drawingml/2006/main">
            <a:off x="609600" y="3943350"/>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2B3A"/>
                </a:solidFill>
                <a:latin typeface="Arial"/>
                <a:ea typeface="Arial"/>
                <a:cs typeface="Arial"/>
              </a:defRPr>
            </a:defPPr>
            <a:lvl1pPr algn="l">
              <a:buNone/>
              <a:defRPr sz="2100" b="0">
                <a:solidFill>
                  <a:srgbClr val="162B3A"/>
                </a:solidFill>
                <a:latin typeface="Arial"/>
                <a:ea typeface="Arial"/>
                <a:cs typeface="Arial"/>
              </a:defRPr>
            </a:lvl1pPr>
            <a:lvl2pPr algn="l">
              <a:buNone/>
              <a:defRPr sz="2100" b="0">
                <a:solidFill>
                  <a:srgbClr val="162B3A"/>
                </a:solidFill>
                <a:latin typeface="Arial"/>
                <a:ea typeface="Arial"/>
                <a:cs typeface="Arial"/>
              </a:defRPr>
            </a:lvl2pPr>
            <a:lvl3pPr algn="l">
              <a:buNone/>
              <a:defRPr sz="2100" b="0">
                <a:solidFill>
                  <a:srgbClr val="162B3A"/>
                </a:solidFill>
                <a:latin typeface="Arial"/>
                <a:ea typeface="Arial"/>
                <a:cs typeface="Arial"/>
              </a:defRPr>
            </a:lvl3pPr>
            <a:lvl4pPr algn="l">
              <a:buNone/>
              <a:defRPr sz="2100" b="0">
                <a:solidFill>
                  <a:srgbClr val="162B3A"/>
                </a:solidFill>
                <a:latin typeface="Arial"/>
                <a:ea typeface="Arial"/>
                <a:cs typeface="Arial"/>
              </a:defRPr>
            </a:lvl4pPr>
            <a:lvl5pPr algn="l">
              <a:buNone/>
              <a:defRPr sz="2100" b="0">
                <a:solidFill>
                  <a:srgbClr val="162B3A"/>
                </a:solidFill>
                <a:latin typeface="Arial"/>
                <a:ea typeface="Arial"/>
                <a:cs typeface="Arial"/>
              </a:defRPr>
            </a:lvl5pPr>
            <a:lvl6pPr algn="l">
              <a:buNone/>
              <a:defRPr sz="2100" b="0">
                <a:solidFill>
                  <a:srgbClr val="162B3A"/>
                </a:solidFill>
                <a:latin typeface="Arial"/>
                <a:ea typeface="Arial"/>
                <a:cs typeface="Arial"/>
              </a:defRPr>
            </a:lvl6pPr>
            <a:lvl7pPr algn="l">
              <a:buNone/>
              <a:defRPr sz="2100" b="0">
                <a:solidFill>
                  <a:srgbClr val="162B3A"/>
                </a:solidFill>
                <a:latin typeface="Arial"/>
                <a:ea typeface="Arial"/>
                <a:cs typeface="Arial"/>
              </a:defRPr>
            </a:lvl7pPr>
            <a:lvl8pPr algn="l">
              <a:buNone/>
              <a:defRPr sz="2100" b="0">
                <a:solidFill>
                  <a:srgbClr val="162B3A"/>
                </a:solidFill>
                <a:latin typeface="Arial"/>
                <a:ea typeface="Arial"/>
                <a:cs typeface="Arial"/>
              </a:defRPr>
            </a:lvl8pPr>
            <a:lvl9pPr algn="l">
              <a:buNone/>
              <a:defRPr sz="2100" b="0">
                <a:solidFill>
                  <a:srgbClr val="162B3A"/>
                </a:solidFill>
                <a:latin typeface="Arial"/>
                <a:ea typeface="Arial"/>
                <a:cs typeface="Arial"/>
              </a:defRPr>
            </a:lvl9pPr>
          </a:lstStyle>
          <a:p xmlns:a="http://schemas.openxmlformats.org/drawingml/2006/main">
            <a:pPr algn="l">
              <a:buNone/>
              <a:defRPr sz="2100" b="0">
                <a:solidFill>
                  <a:srgbClr val="162B3A"/>
                </a:solidFill>
                <a:latin typeface="Arial"/>
                <a:ea typeface="Arial"/>
                <a:cs typeface="Arial"/>
              </a:defRPr>
            </a:pPr>
            <a:r>
              <a:rPr sz="2100" b="0">
                <a:solidFill>
                  <a:srgbClr val="162B3A"/>
                </a:solidFill>
                <a:latin typeface="Arial"/>
                <a:ea typeface="Arial"/>
                <a:cs typeface="Arial"/>
              </a:rPr>
              <a:t>Frozen data and objective hashes</a:t>
            </a:r>
          </a:p>
          <a:p xmlns:a="http://schemas.openxmlformats.org/drawingml/2006/main">
            <a:pPr algn="l">
              <a:buNone/>
              <a:defRPr sz="2100" b="0">
                <a:solidFill>
                  <a:srgbClr val="162B3A"/>
                </a:solidFill>
                <a:latin typeface="Arial"/>
                <a:ea typeface="Arial"/>
                <a:cs typeface="Arial"/>
              </a:defRPr>
            </a:pPr>
            <a:r>
              <a:rPr sz="2100" b="0">
                <a:solidFill>
                  <a:srgbClr val="162B3A"/>
                </a:solidFill>
                <a:latin typeface="Arial"/>
                <a:ea typeface="Arial"/>
                <a:cs typeface="Arial"/>
              </a:rPr>
              <a:t>Failed queries retained</a:t>
            </a:r>
          </a:p>
          <a:p xmlns:a="http://schemas.openxmlformats.org/drawingml/2006/main">
            <a:pPr algn="l">
              <a:buNone/>
              <a:defRPr sz="2100" b="0">
                <a:solidFill>
                  <a:srgbClr val="162B3A"/>
                </a:solidFill>
                <a:latin typeface="Arial"/>
                <a:ea typeface="Arial"/>
                <a:cs typeface="Arial"/>
              </a:defRPr>
            </a:pPr>
            <a:r>
              <a:rPr sz="2100" b="0">
                <a:solidFill>
                  <a:srgbClr val="162B3A"/>
                </a:solidFill>
                <a:latin typeface="Arial"/>
                <a:ea typeface="Arial"/>
                <a:cs typeface="Arial"/>
              </a:rPr>
              <a:t>Prompts and usage archived</a:t>
            </a:r>
          </a:p>
        </p:txBody>
      </p:sp>
      <p:pic>
        <p:nvPicPr>
          <p:cNvPr id="6" name="">
            <a:extLst xmlns:a="http://schemas.openxmlformats.org/drawingml/2006/main">
              <a:ext uri="{FF2B5EF4-FFF2-40B4-BE49-F238E27FC236}">
                <a16:creationId xmlns:a16="http://schemas.microsoft.com/office/drawing/2014/main" id="{10C20C8C-F4F9-439D-8333-CA860D67E517}"/>
              </a:ext>
            </a:extLst>
          </p:cNvPr>
          <p:cNvPicPr>
            <a:picLocks xmlns:a="http://schemas.openxmlformats.org/drawingml/2006/main" noChangeAspect="1"/>
          </p:cNvPicPr>
          <p:nvPr/>
        </p:nvPicPr>
        <p:blipFill>
          <a:blip xmlns:r="http://schemas.openxmlformats.org/officeDocument/2006/relationships" xmlns:a="http://schemas.openxmlformats.org/drawingml/2006/main" r:embed="Re5cd44ec145c4507"/>
          <a:stretch xmlns:a="http://schemas.openxmlformats.org/drawingml/2006/main"/>
        </p:blipFill>
        <p:spPr>
          <a:xfrm xmlns:a="http://schemas.openxmlformats.org/drawingml/2006/main">
            <a:off x="6578251" y="1562100"/>
            <a:ext cx="4483798"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7194A3E-A155-41BF-BD19-DB47139D8AC6}"/>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Offline structure viewer shown with the earlier pilot geometries. Numerical reproducibility does not establish physical validity.</a:t>
            </a:r>
          </a:p>
        </p:txBody>
      </p:sp>
    </p:spTree>
    <p:extLst>
      <p:ext uri="{BB962C8B-B14F-4D97-AF65-F5344CB8AC3E}">
        <p14:creationId xmlns:p14="http://schemas.microsoft.com/office/powerpoint/2010/main" val="2126471089"/>
      </p:ext>
    </p:extLst>
  </p:cSld>
</p:sld>
</file>

<file path=ppt/slides/slide16.xml><?xml version="1.0" encoding="utf-8"?>
<p:sld xmlns:p="http://schemas.openxmlformats.org/presentationml/2006/main">
  <p:cSld>
    <p:bg>
      <p:bgPr>
        <a:solidFill xmlns:a="http://schemas.openxmlformats.org/drawingml/2006/main">
          <a:srgbClr val="101C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BC1443-FD70-4D3B-9CD7-EB95BDCAC02F}"/>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buNone/>
              <a:defRPr sz="3300" b="1">
                <a:solidFill>
                  <a:srgbClr val="FFFFFF"/>
                </a:solidFill>
                <a:latin typeface="Arial"/>
                <a:ea typeface="Arial"/>
                <a:cs typeface="Arial"/>
              </a:defRPr>
            </a:lvl1pPr>
            <a:lvl2pPr algn="l">
              <a:buNone/>
              <a:defRPr sz="3300" b="1">
                <a:solidFill>
                  <a:srgbClr val="FFFFFF"/>
                </a:solidFill>
                <a:latin typeface="Arial"/>
                <a:ea typeface="Arial"/>
                <a:cs typeface="Arial"/>
              </a:defRPr>
            </a:lvl2pPr>
            <a:lvl3pPr algn="l">
              <a:buNone/>
              <a:defRPr sz="3300" b="1">
                <a:solidFill>
                  <a:srgbClr val="FFFFFF"/>
                </a:solidFill>
                <a:latin typeface="Arial"/>
                <a:ea typeface="Arial"/>
                <a:cs typeface="Arial"/>
              </a:defRPr>
            </a:lvl3pPr>
            <a:lvl4pPr algn="l">
              <a:buNone/>
              <a:defRPr sz="3300" b="1">
                <a:solidFill>
                  <a:srgbClr val="FFFFFF"/>
                </a:solidFill>
                <a:latin typeface="Arial"/>
                <a:ea typeface="Arial"/>
                <a:cs typeface="Arial"/>
              </a:defRPr>
            </a:lvl4pPr>
            <a:lvl5pPr algn="l">
              <a:buNone/>
              <a:defRPr sz="3300" b="1">
                <a:solidFill>
                  <a:srgbClr val="FFFFFF"/>
                </a:solidFill>
                <a:latin typeface="Arial"/>
                <a:ea typeface="Arial"/>
                <a:cs typeface="Arial"/>
              </a:defRPr>
            </a:lvl5pPr>
            <a:lvl6pPr algn="l">
              <a:buNone/>
              <a:defRPr sz="3300" b="1">
                <a:solidFill>
                  <a:srgbClr val="FFFFFF"/>
                </a:solidFill>
                <a:latin typeface="Arial"/>
                <a:ea typeface="Arial"/>
                <a:cs typeface="Arial"/>
              </a:defRPr>
            </a:lvl6pPr>
            <a:lvl7pPr algn="l">
              <a:buNone/>
              <a:defRPr sz="3300" b="1">
                <a:solidFill>
                  <a:srgbClr val="FFFFFF"/>
                </a:solidFill>
                <a:latin typeface="Arial"/>
                <a:ea typeface="Arial"/>
                <a:cs typeface="Arial"/>
              </a:defRPr>
            </a:lvl7pPr>
            <a:lvl8pPr algn="l">
              <a:buNone/>
              <a:defRPr sz="3300" b="1">
                <a:solidFill>
                  <a:srgbClr val="FFFFFF"/>
                </a:solidFill>
                <a:latin typeface="Arial"/>
                <a:ea typeface="Arial"/>
                <a:cs typeface="Arial"/>
              </a:defRPr>
            </a:lvl8pPr>
            <a:lvl9pPr algn="l">
              <a:buNone/>
              <a:defRPr sz="3300" b="1">
                <a:solidFill>
                  <a:srgbClr val="FFFFFF"/>
                </a:solidFill>
                <a:latin typeface="Arial"/>
                <a:ea typeface="Arial"/>
                <a:cs typeface="Arial"/>
              </a:defRPr>
            </a:lvl9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What the project establishes</a:t>
            </a:r>
          </a:p>
        </p:txBody>
      </p:sp>
      <p:sp>
        <p:nvSpPr>
          <p:cNvPr id="2" name="">
            <a:extLst xmlns:a="http://schemas.openxmlformats.org/drawingml/2006/main">
              <a:ext uri="{FF2B5EF4-FFF2-40B4-BE49-F238E27FC236}">
                <a16:creationId xmlns:a16="http://schemas.microsoft.com/office/drawing/2014/main" id="{C23AE899-819E-4FD5-8430-154A05C316E6}"/>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94A9B9"/>
                </a:solidFill>
                <a:latin typeface="Arial"/>
                <a:ea typeface="Arial"/>
                <a:cs typeface="Arial"/>
              </a:defRPr>
            </a:defPPr>
            <a:lvl1pPr algn="r">
              <a:buNone/>
              <a:defRPr sz="1275" b="0">
                <a:solidFill>
                  <a:srgbClr val="94A9B9"/>
                </a:solidFill>
                <a:latin typeface="Arial"/>
                <a:ea typeface="Arial"/>
                <a:cs typeface="Arial"/>
              </a:defRPr>
            </a:lvl1pPr>
            <a:lvl2pPr algn="r">
              <a:buNone/>
              <a:defRPr sz="1275" b="0">
                <a:solidFill>
                  <a:srgbClr val="94A9B9"/>
                </a:solidFill>
                <a:latin typeface="Arial"/>
                <a:ea typeface="Arial"/>
                <a:cs typeface="Arial"/>
              </a:defRPr>
            </a:lvl2pPr>
            <a:lvl3pPr algn="r">
              <a:buNone/>
              <a:defRPr sz="1275" b="0">
                <a:solidFill>
                  <a:srgbClr val="94A9B9"/>
                </a:solidFill>
                <a:latin typeface="Arial"/>
                <a:ea typeface="Arial"/>
                <a:cs typeface="Arial"/>
              </a:defRPr>
            </a:lvl3pPr>
            <a:lvl4pPr algn="r">
              <a:buNone/>
              <a:defRPr sz="1275" b="0">
                <a:solidFill>
                  <a:srgbClr val="94A9B9"/>
                </a:solidFill>
                <a:latin typeface="Arial"/>
                <a:ea typeface="Arial"/>
                <a:cs typeface="Arial"/>
              </a:defRPr>
            </a:lvl4pPr>
            <a:lvl5pPr algn="r">
              <a:buNone/>
              <a:defRPr sz="1275" b="0">
                <a:solidFill>
                  <a:srgbClr val="94A9B9"/>
                </a:solidFill>
                <a:latin typeface="Arial"/>
                <a:ea typeface="Arial"/>
                <a:cs typeface="Arial"/>
              </a:defRPr>
            </a:lvl5pPr>
            <a:lvl6pPr algn="r">
              <a:buNone/>
              <a:defRPr sz="1275" b="0">
                <a:solidFill>
                  <a:srgbClr val="94A9B9"/>
                </a:solidFill>
                <a:latin typeface="Arial"/>
                <a:ea typeface="Arial"/>
                <a:cs typeface="Arial"/>
              </a:defRPr>
            </a:lvl6pPr>
            <a:lvl7pPr algn="r">
              <a:buNone/>
              <a:defRPr sz="1275" b="0">
                <a:solidFill>
                  <a:srgbClr val="94A9B9"/>
                </a:solidFill>
                <a:latin typeface="Arial"/>
                <a:ea typeface="Arial"/>
                <a:cs typeface="Arial"/>
              </a:defRPr>
            </a:lvl7pPr>
            <a:lvl8pPr algn="r">
              <a:buNone/>
              <a:defRPr sz="1275" b="0">
                <a:solidFill>
                  <a:srgbClr val="94A9B9"/>
                </a:solidFill>
                <a:latin typeface="Arial"/>
                <a:ea typeface="Arial"/>
                <a:cs typeface="Arial"/>
              </a:defRPr>
            </a:lvl8pPr>
            <a:lvl9pPr algn="r">
              <a:buNone/>
              <a:defRPr sz="1275" b="0">
                <a:solidFill>
                  <a:srgbClr val="94A9B9"/>
                </a:solidFill>
                <a:latin typeface="Arial"/>
                <a:ea typeface="Arial"/>
                <a:cs typeface="Arial"/>
              </a:defRPr>
            </a:lvl9pPr>
          </a:lstStyle>
          <a:p xmlns:a="http://schemas.openxmlformats.org/drawingml/2006/main">
            <a:pPr algn="r">
              <a:buNone/>
              <a:defRPr sz="1275" b="0">
                <a:solidFill>
                  <a:srgbClr val="94A9B9"/>
                </a:solidFill>
                <a:latin typeface="Arial"/>
                <a:ea typeface="Arial"/>
                <a:cs typeface="Arial"/>
              </a:defRPr>
            </a:pPr>
            <a:r>
              <a:rPr sz="1275" b="0">
                <a:solidFill>
                  <a:srgbClr val="94A9B9"/>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C75E9410-7F78-4AE5-A06F-3236D24C02DA}"/>
              </a:ext>
            </a:extLst>
          </p:cNvPr>
          <p:cNvSpPr>
            <a:spLocks xmlns:a="http://schemas.openxmlformats.org/drawingml/2006/main" noGrp="1"/>
          </p:cNvSpPr>
          <p:nvPr/>
        </p:nvSpPr>
        <p:spPr>
          <a:xfrm xmlns:a="http://schemas.openxmlformats.org/drawingml/2006/main">
            <a:off x="609600" y="1685925"/>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75D8CC"/>
                </a:solidFill>
                <a:latin typeface="Arial"/>
                <a:ea typeface="Arial"/>
                <a:cs typeface="Arial"/>
              </a:defRPr>
            </a:defPPr>
            <a:lvl1pPr algn="l">
              <a:buNone/>
              <a:defRPr sz="2850" b="1">
                <a:solidFill>
                  <a:srgbClr val="75D8CC"/>
                </a:solidFill>
                <a:latin typeface="Arial"/>
                <a:ea typeface="Arial"/>
                <a:cs typeface="Arial"/>
              </a:defRPr>
            </a:lvl1pPr>
            <a:lvl2pPr algn="l">
              <a:buNone/>
              <a:defRPr sz="2850" b="1">
                <a:solidFill>
                  <a:srgbClr val="75D8CC"/>
                </a:solidFill>
                <a:latin typeface="Arial"/>
                <a:ea typeface="Arial"/>
                <a:cs typeface="Arial"/>
              </a:defRPr>
            </a:lvl2pPr>
            <a:lvl3pPr algn="l">
              <a:buNone/>
              <a:defRPr sz="2850" b="1">
                <a:solidFill>
                  <a:srgbClr val="75D8CC"/>
                </a:solidFill>
                <a:latin typeface="Arial"/>
                <a:ea typeface="Arial"/>
                <a:cs typeface="Arial"/>
              </a:defRPr>
            </a:lvl3pPr>
            <a:lvl4pPr algn="l">
              <a:buNone/>
              <a:defRPr sz="2850" b="1">
                <a:solidFill>
                  <a:srgbClr val="75D8CC"/>
                </a:solidFill>
                <a:latin typeface="Arial"/>
                <a:ea typeface="Arial"/>
                <a:cs typeface="Arial"/>
              </a:defRPr>
            </a:lvl4pPr>
            <a:lvl5pPr algn="l">
              <a:buNone/>
              <a:defRPr sz="2850" b="1">
                <a:solidFill>
                  <a:srgbClr val="75D8CC"/>
                </a:solidFill>
                <a:latin typeface="Arial"/>
                <a:ea typeface="Arial"/>
                <a:cs typeface="Arial"/>
              </a:defRPr>
            </a:lvl5pPr>
            <a:lvl6pPr algn="l">
              <a:buNone/>
              <a:defRPr sz="2850" b="1">
                <a:solidFill>
                  <a:srgbClr val="75D8CC"/>
                </a:solidFill>
                <a:latin typeface="Arial"/>
                <a:ea typeface="Arial"/>
                <a:cs typeface="Arial"/>
              </a:defRPr>
            </a:lvl6pPr>
            <a:lvl7pPr algn="l">
              <a:buNone/>
              <a:defRPr sz="2850" b="1">
                <a:solidFill>
                  <a:srgbClr val="75D8CC"/>
                </a:solidFill>
                <a:latin typeface="Arial"/>
                <a:ea typeface="Arial"/>
                <a:cs typeface="Arial"/>
              </a:defRPr>
            </a:lvl7pPr>
            <a:lvl8pPr algn="l">
              <a:buNone/>
              <a:defRPr sz="2850" b="1">
                <a:solidFill>
                  <a:srgbClr val="75D8CC"/>
                </a:solidFill>
                <a:latin typeface="Arial"/>
                <a:ea typeface="Arial"/>
                <a:cs typeface="Arial"/>
              </a:defRPr>
            </a:lvl8pPr>
            <a:lvl9pPr algn="l">
              <a:buNone/>
              <a:defRPr sz="2850" b="1">
                <a:solidFill>
                  <a:srgbClr val="75D8CC"/>
                </a:solidFill>
                <a:latin typeface="Arial"/>
                <a:ea typeface="Arial"/>
                <a:cs typeface="Arial"/>
              </a:defRPr>
            </a:lvl9pPr>
          </a:lstStyle>
          <a:p xmlns:a="http://schemas.openxmlformats.org/drawingml/2006/main">
            <a:pPr algn="l">
              <a:buNone/>
              <a:defRPr sz="2850" b="1">
                <a:solidFill>
                  <a:srgbClr val="75D8CC"/>
                </a:solidFill>
                <a:latin typeface="Arial"/>
                <a:ea typeface="Arial"/>
                <a:cs typeface="Arial"/>
              </a:defRPr>
            </a:pPr>
            <a:r>
              <a:rPr sz="2850" b="1">
                <a:solidFill>
                  <a:srgbClr val="75D8CC"/>
                </a:solidFill>
                <a:latin typeface="Arial"/>
                <a:ea typeface="Arial"/>
                <a:cs typeface="Arial"/>
              </a:rPr>
              <a:t>Feedback helps within the frozen benchmark</a:t>
            </a:r>
          </a:p>
        </p:txBody>
      </p:sp>
      <p:sp>
        <p:nvSpPr>
          <p:cNvPr id="4" name="">
            <a:extLst xmlns:a="http://schemas.openxmlformats.org/drawingml/2006/main">
              <a:ext uri="{FF2B5EF4-FFF2-40B4-BE49-F238E27FC236}">
                <a16:creationId xmlns:a16="http://schemas.microsoft.com/office/drawing/2014/main" id="{16647C40-2339-4B7C-B5E1-74144F50FB9D}"/>
              </a:ext>
            </a:extLst>
          </p:cNvPr>
          <p:cNvSpPr>
            <a:spLocks xmlns:a="http://schemas.openxmlformats.org/drawingml/2006/main" noGrp="1"/>
          </p:cNvSpPr>
          <p:nvPr/>
        </p:nvSpPr>
        <p:spPr>
          <a:xfrm xmlns:a="http://schemas.openxmlformats.org/drawingml/2006/main">
            <a:off x="609600" y="233362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19/30 successes, compared with 4/30 without results and 6/30 with shuffled results.</a:t>
            </a:r>
          </a:p>
        </p:txBody>
      </p:sp>
      <p:sp>
        <p:nvSpPr>
          <p:cNvPr id="5" name="">
            <a:extLst xmlns:a="http://schemas.openxmlformats.org/drawingml/2006/main">
              <a:ext uri="{FF2B5EF4-FFF2-40B4-BE49-F238E27FC236}">
                <a16:creationId xmlns:a16="http://schemas.microsoft.com/office/drawing/2014/main" id="{A2FCCE59-A20E-41BE-8AB6-FC362631DDD1}"/>
              </a:ext>
            </a:extLst>
          </p:cNvPr>
          <p:cNvSpPr>
            <a:spLocks xmlns:a="http://schemas.openxmlformats.org/drawingml/2006/main" noGrp="1"/>
          </p:cNvSpPr>
          <p:nvPr/>
        </p:nvSpPr>
        <p:spPr>
          <a:xfrm xmlns:a="http://schemas.openxmlformats.org/drawingml/2006/main">
            <a:off x="609600" y="3400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75D8CC"/>
                </a:solidFill>
                <a:latin typeface="Arial"/>
                <a:ea typeface="Arial"/>
                <a:cs typeface="Arial"/>
              </a:defRPr>
            </a:defPPr>
            <a:lvl1pPr algn="l">
              <a:buNone/>
              <a:defRPr sz="2700" b="1">
                <a:solidFill>
                  <a:srgbClr val="75D8CC"/>
                </a:solidFill>
                <a:latin typeface="Arial"/>
                <a:ea typeface="Arial"/>
                <a:cs typeface="Arial"/>
              </a:defRPr>
            </a:lvl1pPr>
            <a:lvl2pPr algn="l">
              <a:buNone/>
              <a:defRPr sz="2700" b="1">
                <a:solidFill>
                  <a:srgbClr val="75D8CC"/>
                </a:solidFill>
                <a:latin typeface="Arial"/>
                <a:ea typeface="Arial"/>
                <a:cs typeface="Arial"/>
              </a:defRPr>
            </a:lvl2pPr>
            <a:lvl3pPr algn="l">
              <a:buNone/>
              <a:defRPr sz="2700" b="1">
                <a:solidFill>
                  <a:srgbClr val="75D8CC"/>
                </a:solidFill>
                <a:latin typeface="Arial"/>
                <a:ea typeface="Arial"/>
                <a:cs typeface="Arial"/>
              </a:defRPr>
            </a:lvl3pPr>
            <a:lvl4pPr algn="l">
              <a:buNone/>
              <a:defRPr sz="2700" b="1">
                <a:solidFill>
                  <a:srgbClr val="75D8CC"/>
                </a:solidFill>
                <a:latin typeface="Arial"/>
                <a:ea typeface="Arial"/>
                <a:cs typeface="Arial"/>
              </a:defRPr>
            </a:lvl4pPr>
            <a:lvl5pPr algn="l">
              <a:buNone/>
              <a:defRPr sz="2700" b="1">
                <a:solidFill>
                  <a:srgbClr val="75D8CC"/>
                </a:solidFill>
                <a:latin typeface="Arial"/>
                <a:ea typeface="Arial"/>
                <a:cs typeface="Arial"/>
              </a:defRPr>
            </a:lvl5pPr>
            <a:lvl6pPr algn="l">
              <a:buNone/>
              <a:defRPr sz="2700" b="1">
                <a:solidFill>
                  <a:srgbClr val="75D8CC"/>
                </a:solidFill>
                <a:latin typeface="Arial"/>
                <a:ea typeface="Arial"/>
                <a:cs typeface="Arial"/>
              </a:defRPr>
            </a:lvl6pPr>
            <a:lvl7pPr algn="l">
              <a:buNone/>
              <a:defRPr sz="2700" b="1">
                <a:solidFill>
                  <a:srgbClr val="75D8CC"/>
                </a:solidFill>
                <a:latin typeface="Arial"/>
                <a:ea typeface="Arial"/>
                <a:cs typeface="Arial"/>
              </a:defRPr>
            </a:lvl7pPr>
            <a:lvl8pPr algn="l">
              <a:buNone/>
              <a:defRPr sz="2700" b="1">
                <a:solidFill>
                  <a:srgbClr val="75D8CC"/>
                </a:solidFill>
                <a:latin typeface="Arial"/>
                <a:ea typeface="Arial"/>
                <a:cs typeface="Arial"/>
              </a:defRPr>
            </a:lvl8pPr>
            <a:lvl9pPr algn="l">
              <a:buNone/>
              <a:defRPr sz="2700" b="1">
                <a:solidFill>
                  <a:srgbClr val="75D8CC"/>
                </a:solidFill>
                <a:latin typeface="Arial"/>
                <a:ea typeface="Arial"/>
                <a:cs typeface="Arial"/>
              </a:defRPr>
            </a:lvl9pPr>
          </a:lstStyle>
          <a:p xmlns:a="http://schemas.openxmlformats.org/drawingml/2006/main">
            <a:pPr algn="l">
              <a:buNone/>
              <a:defRPr sz="2700" b="1">
                <a:solidFill>
                  <a:srgbClr val="75D8CC"/>
                </a:solidFill>
                <a:latin typeface="Arial"/>
                <a:ea typeface="Arial"/>
                <a:cs typeface="Arial"/>
              </a:defRPr>
            </a:pPr>
            <a:r>
              <a:rPr sz="2700" b="1">
                <a:solidFill>
                  <a:srgbClr val="75D8CC"/>
                </a:solidFill>
                <a:latin typeface="Arial"/>
                <a:ea typeface="Arial"/>
                <a:cs typeface="Arial"/>
              </a:rPr>
              <a:t>The chemical environment changes the answer</a:t>
            </a:r>
          </a:p>
        </p:txBody>
      </p:sp>
      <p:sp>
        <p:nvSpPr>
          <p:cNvPr id="6" name="">
            <a:extLst xmlns:a="http://schemas.openxmlformats.org/drawingml/2006/main">
              <a:ext uri="{FF2B5EF4-FFF2-40B4-BE49-F238E27FC236}">
                <a16:creationId xmlns:a16="http://schemas.microsoft.com/office/drawing/2014/main" id="{02AF7524-91B8-4E74-8E64-B89F7EEB3FCC}"/>
              </a:ext>
            </a:extLst>
          </p:cNvPr>
          <p:cNvSpPr>
            <a:spLocks xmlns:a="http://schemas.openxmlformats.org/drawingml/2006/main" noGrp="1"/>
          </p:cNvSpPr>
          <p:nvPr/>
        </p:nvSpPr>
        <p:spPr>
          <a:xfrm xmlns:a="http://schemas.openxmlformats.org/drawingml/2006/main">
            <a:off x="609600" y="4048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Sulfide favors fluorides in this proxy. LLZO challenges that shortcut.</a:t>
            </a:r>
          </a:p>
        </p:txBody>
      </p:sp>
      <p:sp>
        <p:nvSpPr>
          <p:cNvPr id="7" name="">
            <a:extLst xmlns:a="http://schemas.openxmlformats.org/drawingml/2006/main">
              <a:ext uri="{FF2B5EF4-FFF2-40B4-BE49-F238E27FC236}">
                <a16:creationId xmlns:a16="http://schemas.microsoft.com/office/drawing/2014/main" id="{09AA1274-19F7-4DB2-8DFD-A0FDF19B941F}"/>
              </a:ext>
            </a:extLst>
          </p:cNvPr>
          <p:cNvSpPr>
            <a:spLocks xmlns:a="http://schemas.openxmlformats.org/drawingml/2006/main" noGrp="1"/>
          </p:cNvSpPr>
          <p:nvPr/>
        </p:nvSpPr>
        <p:spPr>
          <a:xfrm xmlns:a="http://schemas.openxmlformats.org/drawingml/2006/main">
            <a:off x="609600" y="51625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buNone/>
              <a:defRPr sz="2400" b="1">
                <a:solidFill>
                  <a:srgbClr val="FFFFFF"/>
                </a:solidFill>
                <a:latin typeface="Arial"/>
                <a:ea typeface="Arial"/>
                <a:cs typeface="Arial"/>
              </a:defRPr>
            </a:lvl1pPr>
            <a:lvl2pPr algn="l">
              <a:buNone/>
              <a:defRPr sz="2400" b="1">
                <a:solidFill>
                  <a:srgbClr val="FFFFFF"/>
                </a:solidFill>
                <a:latin typeface="Arial"/>
                <a:ea typeface="Arial"/>
                <a:cs typeface="Arial"/>
              </a:defRPr>
            </a:lvl2pPr>
            <a:lvl3pPr algn="l">
              <a:buNone/>
              <a:defRPr sz="2400" b="1">
                <a:solidFill>
                  <a:srgbClr val="FFFFFF"/>
                </a:solidFill>
                <a:latin typeface="Arial"/>
                <a:ea typeface="Arial"/>
                <a:cs typeface="Arial"/>
              </a:defRPr>
            </a:lvl3pPr>
            <a:lvl4pPr algn="l">
              <a:buNone/>
              <a:defRPr sz="2400" b="1">
                <a:solidFill>
                  <a:srgbClr val="FFFFFF"/>
                </a:solidFill>
                <a:latin typeface="Arial"/>
                <a:ea typeface="Arial"/>
                <a:cs typeface="Arial"/>
              </a:defRPr>
            </a:lvl4pPr>
            <a:lvl5pPr algn="l">
              <a:buNone/>
              <a:defRPr sz="2400" b="1">
                <a:solidFill>
                  <a:srgbClr val="FFFFFF"/>
                </a:solidFill>
                <a:latin typeface="Arial"/>
                <a:ea typeface="Arial"/>
                <a:cs typeface="Arial"/>
              </a:defRPr>
            </a:lvl5pPr>
            <a:lvl6pPr algn="l">
              <a:buNone/>
              <a:defRPr sz="2400" b="1">
                <a:solidFill>
                  <a:srgbClr val="FFFFFF"/>
                </a:solidFill>
                <a:latin typeface="Arial"/>
                <a:ea typeface="Arial"/>
                <a:cs typeface="Arial"/>
              </a:defRPr>
            </a:lvl6pPr>
            <a:lvl7pPr algn="l">
              <a:buNone/>
              <a:defRPr sz="2400" b="1">
                <a:solidFill>
                  <a:srgbClr val="FFFFFF"/>
                </a:solidFill>
                <a:latin typeface="Arial"/>
                <a:ea typeface="Arial"/>
                <a:cs typeface="Arial"/>
              </a:defRPr>
            </a:lvl7pPr>
            <a:lvl8pPr algn="l">
              <a:buNone/>
              <a:defRPr sz="2400" b="1">
                <a:solidFill>
                  <a:srgbClr val="FFFFFF"/>
                </a:solidFill>
                <a:latin typeface="Arial"/>
                <a:ea typeface="Arial"/>
                <a:cs typeface="Arial"/>
              </a:defRPr>
            </a:lvl8pPr>
            <a:lvl9pPr algn="l">
              <a:buNone/>
              <a:defRPr sz="2400" b="1">
                <a:solidFill>
                  <a:srgbClr val="FFFFFF"/>
                </a:solidFill>
                <a:latin typeface="Arial"/>
                <a:ea typeface="Arial"/>
                <a:cs typeface="Arial"/>
              </a:defRPr>
            </a:lvl9pPr>
          </a:lstStyle>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Next: environment smoke batch and cathode thickness</a:t>
            </a:r>
          </a:p>
        </p:txBody>
      </p:sp>
      <p:sp>
        <p:nvSpPr>
          <p:cNvPr id="8" name="">
            <a:extLst xmlns:a="http://schemas.openxmlformats.org/drawingml/2006/main">
              <a:ext uri="{FF2B5EF4-FFF2-40B4-BE49-F238E27FC236}">
                <a16:creationId xmlns:a16="http://schemas.microsoft.com/office/drawing/2014/main" id="{C2C75433-D5E1-45D4-B784-FE3D82456CA8}"/>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9CCD7"/>
                </a:solidFill>
                <a:latin typeface="Arial"/>
                <a:ea typeface="Arial"/>
                <a:cs typeface="Arial"/>
              </a:defRPr>
            </a:defPPr>
            <a:lvl1pPr algn="l">
              <a:buNone/>
              <a:defRPr sz="1425" b="0">
                <a:solidFill>
                  <a:srgbClr val="B9CCD7"/>
                </a:solidFill>
                <a:latin typeface="Arial"/>
                <a:ea typeface="Arial"/>
                <a:cs typeface="Arial"/>
              </a:defRPr>
            </a:lvl1pPr>
            <a:lvl2pPr algn="l">
              <a:buNone/>
              <a:defRPr sz="1425" b="0">
                <a:solidFill>
                  <a:srgbClr val="B9CCD7"/>
                </a:solidFill>
                <a:latin typeface="Arial"/>
                <a:ea typeface="Arial"/>
                <a:cs typeface="Arial"/>
              </a:defRPr>
            </a:lvl2pPr>
            <a:lvl3pPr algn="l">
              <a:buNone/>
              <a:defRPr sz="1425" b="0">
                <a:solidFill>
                  <a:srgbClr val="B9CCD7"/>
                </a:solidFill>
                <a:latin typeface="Arial"/>
                <a:ea typeface="Arial"/>
                <a:cs typeface="Arial"/>
              </a:defRPr>
            </a:lvl3pPr>
            <a:lvl4pPr algn="l">
              <a:buNone/>
              <a:defRPr sz="1425" b="0">
                <a:solidFill>
                  <a:srgbClr val="B9CCD7"/>
                </a:solidFill>
                <a:latin typeface="Arial"/>
                <a:ea typeface="Arial"/>
                <a:cs typeface="Arial"/>
              </a:defRPr>
            </a:lvl4pPr>
            <a:lvl5pPr algn="l">
              <a:buNone/>
              <a:defRPr sz="1425" b="0">
                <a:solidFill>
                  <a:srgbClr val="B9CCD7"/>
                </a:solidFill>
                <a:latin typeface="Arial"/>
                <a:ea typeface="Arial"/>
                <a:cs typeface="Arial"/>
              </a:defRPr>
            </a:lvl5pPr>
            <a:lvl6pPr algn="l">
              <a:buNone/>
              <a:defRPr sz="1425" b="0">
                <a:solidFill>
                  <a:srgbClr val="B9CCD7"/>
                </a:solidFill>
                <a:latin typeface="Arial"/>
                <a:ea typeface="Arial"/>
                <a:cs typeface="Arial"/>
              </a:defRPr>
            </a:lvl6pPr>
            <a:lvl7pPr algn="l">
              <a:buNone/>
              <a:defRPr sz="1425" b="0">
                <a:solidFill>
                  <a:srgbClr val="B9CCD7"/>
                </a:solidFill>
                <a:latin typeface="Arial"/>
                <a:ea typeface="Arial"/>
                <a:cs typeface="Arial"/>
              </a:defRPr>
            </a:lvl7pPr>
            <a:lvl8pPr algn="l">
              <a:buNone/>
              <a:defRPr sz="1425" b="0">
                <a:solidFill>
                  <a:srgbClr val="B9CCD7"/>
                </a:solidFill>
                <a:latin typeface="Arial"/>
                <a:ea typeface="Arial"/>
                <a:cs typeface="Arial"/>
              </a:defRPr>
            </a:lvl8pPr>
            <a:lvl9pPr algn="l">
              <a:buNone/>
              <a:defRPr sz="1425" b="0">
                <a:solidFill>
                  <a:srgbClr val="B9CCD7"/>
                </a:solidFill>
                <a:latin typeface="Arial"/>
                <a:ea typeface="Arial"/>
                <a:cs typeface="Arial"/>
              </a:defRPr>
            </a:lvl9pPr>
          </a:lstStyle>
          <a:p xmlns:a="http://schemas.openxmlformats.org/drawingml/2006/main">
            <a:pPr algn="l">
              <a:buNone/>
              <a:defRPr sz="1425" b="0">
                <a:solidFill>
                  <a:srgbClr val="B9CCD7"/>
                </a:solidFill>
                <a:latin typeface="Arial"/>
                <a:ea typeface="Arial"/>
                <a:cs typeface="Arial"/>
              </a:defRPr>
            </a:pPr>
            <a:r>
              <a:rPr sz="1425" b="0">
                <a:solidFill>
                  <a:srgbClr val="B9CCD7"/>
                </a:solidFill>
                <a:latin typeface="Arial"/>
                <a:ea typeface="Arial"/>
                <a:cs typeface="Arial"/>
              </a:rPr>
              <a:t>A controlled selection result and an auditable modelling workflow. Experimental coating performance remains open.</a:t>
            </a:r>
          </a:p>
        </p:txBody>
      </p:sp>
    </p:spTree>
    <p:extLst>
      <p:ext uri="{BB962C8B-B14F-4D97-AF65-F5344CB8AC3E}">
        <p14:creationId xmlns:p14="http://schemas.microsoft.com/office/powerpoint/2010/main" val="451761988"/>
      </p:ext>
    </p:extLst>
  </p:cSld>
</p:sld>
</file>

<file path=ppt/slides/slide17.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B32820-2DDB-48EA-A9A2-64994C20D3FA}"/>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Backup: uncertainty and paired comparisons</a:t>
            </a:r>
          </a:p>
        </p:txBody>
      </p:sp>
      <p:sp>
        <p:nvSpPr>
          <p:cNvPr id="2" name="">
            <a:extLst xmlns:a="http://schemas.openxmlformats.org/drawingml/2006/main">
              <a:ext uri="{FF2B5EF4-FFF2-40B4-BE49-F238E27FC236}">
                <a16:creationId xmlns:a16="http://schemas.microsoft.com/office/drawing/2014/main" id="{CA31036C-0BF5-4EDC-AB56-18DA70A7AFFC}"/>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BC58C014-DD53-49D2-94F9-716004888F10}"/>
              </a:ext>
            </a:extLst>
          </p:cNvPr>
          <p:cNvGraphicFramePr/>
          <p:nvPr/>
        </p:nvGraphicFramePr>
        <p:xfrm>
          <a:off xmlns:a="http://schemas.openxmlformats.org/drawingml/2006/main" x="609600" y="1619250"/>
          <a:ext xmlns:a="http://schemas.openxmlformats.org/drawingml/2006/main" cx="10972800" cy="3352800"/>
        </p:xfrm>
        <a:graphic xmlns:a="http://schemas.openxmlformats.org/drawingml/2006/main">
          <a:graphicData uri="http://schemas.openxmlformats.org/drawingml/2006/table">
            <a:tbl>
              <a:tblPr/>
              <a:tblGrid>
                <a:gridCol w="2857500"/>
                <a:gridCol w="2190750"/>
                <a:gridCol w="2095500"/>
                <a:gridCol w="3829050"/>
              </a:tblGrid>
              <a:tr h="558800">
                <a:tc>
                  <a:txBody>
                    <a:bodyPr/>
                    <a:lstStyle/>
                    <a:p>
                      <a:r>
                        <a:rPr sz="1950" b="1">
                          <a:solidFill>
                            <a:srgbClr val="FFFFFF"/>
                          </a:solidFill>
                          <a:latin typeface="Arial"/>
                          <a:ea typeface="Arial"/>
                          <a:cs typeface="Arial"/>
                        </a:rPr>
                        <a:t>Arm</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Successes</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Rate</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950" b="1">
                          <a:solidFill>
                            <a:srgbClr val="FFFFFF"/>
                          </a:solidFill>
                          <a:latin typeface="Arial"/>
                          <a:ea typeface="Arial"/>
                          <a:cs typeface="Arial"/>
                        </a:rPr>
                        <a:t>95% Wilson interval</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558800">
                <a:tc>
                  <a:txBody>
                    <a:bodyPr/>
                    <a:lstStyle/>
                    <a:p>
                      <a:r>
                        <a:rPr sz="1950" b="0">
                          <a:solidFill>
                            <a:srgbClr val="162B3A"/>
                          </a:solidFill>
                          <a:latin typeface="Arial"/>
                          <a:ea typeface="Arial"/>
                          <a:cs typeface="Arial"/>
                        </a:rPr>
                        <a:t>Iterative</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19/30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63.3%</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45.5% to 78.1%</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58800">
                <a:tc>
                  <a:txBody>
                    <a:bodyPr/>
                    <a:lstStyle/>
                    <a:p>
                      <a:r>
                        <a:rPr sz="1950" b="0">
                          <a:solidFill>
                            <a:srgbClr val="162B3A"/>
                          </a:solidFill>
                          <a:latin typeface="Arial"/>
                          <a:ea typeface="Arial"/>
                          <a:cs typeface="Arial"/>
                        </a:rPr>
                        <a:t>Upfront</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4/30</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13.3%</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5.3% to 29.7%</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58800">
                <a:tc>
                  <a:txBody>
                    <a:bodyPr/>
                    <a:lstStyle/>
                    <a:p>
                      <a:r>
                        <a:rPr sz="1950" b="0">
                          <a:solidFill>
                            <a:srgbClr val="162B3A"/>
                          </a:solidFill>
                          <a:latin typeface="Arial"/>
                          <a:ea typeface="Arial"/>
                          <a:cs typeface="Arial"/>
                        </a:rPr>
                        <a:t>Sequential</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4/30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13.3%</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5.3% to 29.7%</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58800">
                <a:tc>
                  <a:txBody>
                    <a:bodyPr/>
                    <a:lstStyle/>
                    <a:p>
                      <a:r>
                        <a:rPr sz="1950" b="0">
                          <a:solidFill>
                            <a:srgbClr val="162B3A"/>
                          </a:solidFill>
                          <a:latin typeface="Arial"/>
                          <a:ea typeface="Arial"/>
                          <a:cs typeface="Arial"/>
                        </a:rPr>
                        <a:t>Random</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10/30</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33.3%</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950" b="0">
                          <a:solidFill>
                            <a:srgbClr val="162B3A"/>
                          </a:solidFill>
                          <a:latin typeface="Arial"/>
                          <a:ea typeface="Arial"/>
                          <a:cs typeface="Arial"/>
                        </a:rPr>
                        <a:t>19.2% to 51.2%</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58800">
                <a:tc>
                  <a:txBody>
                    <a:bodyPr/>
                    <a:lstStyle/>
                    <a:p>
                      <a:r>
                        <a:rPr sz="1950" b="0">
                          <a:solidFill>
                            <a:srgbClr val="162B3A"/>
                          </a:solidFill>
                          <a:latin typeface="Arial"/>
                          <a:ea typeface="Arial"/>
                          <a:cs typeface="Arial"/>
                        </a:rPr>
                        <a:t>Shuffled</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6/30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20.0%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950" b="0">
                          <a:solidFill>
                            <a:srgbClr val="162B3A"/>
                          </a:solidFill>
                          <a:latin typeface="Arial"/>
                          <a:ea typeface="Arial"/>
                          <a:cs typeface="Arial"/>
                        </a:rPr>
                        <a:t>9.5% to 37.3%</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4" name="">
            <a:extLst xmlns:a="http://schemas.openxmlformats.org/drawingml/2006/main">
              <a:ext uri="{FF2B5EF4-FFF2-40B4-BE49-F238E27FC236}">
                <a16:creationId xmlns:a16="http://schemas.microsoft.com/office/drawing/2014/main" id="{760E5ADF-359D-4B6C-A84A-77B5A8091263}"/>
              </a:ext>
            </a:extLst>
          </p:cNvPr>
          <p:cNvSpPr>
            <a:spLocks xmlns:a="http://schemas.openxmlformats.org/drawingml/2006/main" noGrp="1"/>
          </p:cNvSpPr>
          <p:nvPr/>
        </p:nvSpPr>
        <p:spPr>
          <a:xfrm xmlns:a="http://schemas.openxmlformats.org/drawingml/2006/main">
            <a:off x="609600" y="52578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B3A"/>
                </a:solidFill>
                <a:latin typeface="Arial"/>
                <a:ea typeface="Arial"/>
                <a:cs typeface="Arial"/>
              </a:defRPr>
            </a:defPPr>
            <a:lvl1pPr algn="l">
              <a:buNone/>
              <a:defRPr sz="1875" b="0">
                <a:solidFill>
                  <a:srgbClr val="162B3A"/>
                </a:solidFill>
                <a:latin typeface="Arial"/>
                <a:ea typeface="Arial"/>
                <a:cs typeface="Arial"/>
              </a:defRPr>
            </a:lvl1pPr>
            <a:lvl2pPr algn="l">
              <a:buNone/>
              <a:defRPr sz="1875" b="0">
                <a:solidFill>
                  <a:srgbClr val="162B3A"/>
                </a:solidFill>
                <a:latin typeface="Arial"/>
                <a:ea typeface="Arial"/>
                <a:cs typeface="Arial"/>
              </a:defRPr>
            </a:lvl2pPr>
            <a:lvl3pPr algn="l">
              <a:buNone/>
              <a:defRPr sz="1875" b="0">
                <a:solidFill>
                  <a:srgbClr val="162B3A"/>
                </a:solidFill>
                <a:latin typeface="Arial"/>
                <a:ea typeface="Arial"/>
                <a:cs typeface="Arial"/>
              </a:defRPr>
            </a:lvl3pPr>
            <a:lvl4pPr algn="l">
              <a:buNone/>
              <a:defRPr sz="1875" b="0">
                <a:solidFill>
                  <a:srgbClr val="162B3A"/>
                </a:solidFill>
                <a:latin typeface="Arial"/>
                <a:ea typeface="Arial"/>
                <a:cs typeface="Arial"/>
              </a:defRPr>
            </a:lvl4pPr>
            <a:lvl5pPr algn="l">
              <a:buNone/>
              <a:defRPr sz="1875" b="0">
                <a:solidFill>
                  <a:srgbClr val="162B3A"/>
                </a:solidFill>
                <a:latin typeface="Arial"/>
                <a:ea typeface="Arial"/>
                <a:cs typeface="Arial"/>
              </a:defRPr>
            </a:lvl5pPr>
            <a:lvl6pPr algn="l">
              <a:buNone/>
              <a:defRPr sz="1875" b="0">
                <a:solidFill>
                  <a:srgbClr val="162B3A"/>
                </a:solidFill>
                <a:latin typeface="Arial"/>
                <a:ea typeface="Arial"/>
                <a:cs typeface="Arial"/>
              </a:defRPr>
            </a:lvl6pPr>
            <a:lvl7pPr algn="l">
              <a:buNone/>
              <a:defRPr sz="1875" b="0">
                <a:solidFill>
                  <a:srgbClr val="162B3A"/>
                </a:solidFill>
                <a:latin typeface="Arial"/>
                <a:ea typeface="Arial"/>
                <a:cs typeface="Arial"/>
              </a:defRPr>
            </a:lvl7pPr>
            <a:lvl8pPr algn="l">
              <a:buNone/>
              <a:defRPr sz="1875" b="0">
                <a:solidFill>
                  <a:srgbClr val="162B3A"/>
                </a:solidFill>
                <a:latin typeface="Arial"/>
                <a:ea typeface="Arial"/>
                <a:cs typeface="Arial"/>
              </a:defRPr>
            </a:lvl8pPr>
            <a:lvl9pPr algn="l">
              <a:buNone/>
              <a:defRPr sz="1875" b="0">
                <a:solidFill>
                  <a:srgbClr val="162B3A"/>
                </a:solidFill>
                <a:latin typeface="Arial"/>
                <a:ea typeface="Arial"/>
                <a:cs typeface="Arial"/>
              </a:defRPr>
            </a:lvl9pPr>
          </a:lstStyle>
          <a:p xmlns:a="http://schemas.openxmlformats.org/drawingml/2006/main">
            <a:pPr algn="l">
              <a:buNone/>
              <a:defRPr sz="1875" b="0">
                <a:solidFill>
                  <a:srgbClr val="162B3A"/>
                </a:solidFill>
                <a:latin typeface="Arial"/>
                <a:ea typeface="Arial"/>
                <a:cs typeface="Arial"/>
              </a:defRPr>
            </a:pPr>
            <a:r>
              <a:rPr sz="1875" b="0">
                <a:solidFill>
                  <a:srgbClr val="162B3A"/>
                </a:solidFill>
                <a:latin typeface="Arial"/>
                <a:ea typeface="Arial"/>
                <a:cs typeface="Arial"/>
              </a:rPr>
              <a:t>Paired exact p: sequential 0.000729, upfront 0.000275,</a:t>
            </a:r>
          </a:p>
          <a:p xmlns:a="http://schemas.openxmlformats.org/drawingml/2006/main">
            <a:pPr algn="l">
              <a:buNone/>
              <a:defRPr sz="1875" b="0">
                <a:solidFill>
                  <a:srgbClr val="162B3A"/>
                </a:solidFill>
                <a:latin typeface="Arial"/>
                <a:ea typeface="Arial"/>
                <a:cs typeface="Arial"/>
              </a:defRPr>
            </a:pPr>
            <a:r>
              <a:rPr sz="1875" b="0">
                <a:solidFill>
                  <a:srgbClr val="162B3A"/>
                </a:solidFill>
                <a:latin typeface="Arial"/>
                <a:ea typeface="Arial"/>
                <a:cs typeface="Arial"/>
              </a:rPr>
              <a:t>random 0.0490, shuffled 0.004425.</a:t>
            </a:r>
          </a:p>
        </p:txBody>
      </p:sp>
      <p:sp>
        <p:nvSpPr>
          <p:cNvPr id="5" name="">
            <a:extLst xmlns:a="http://schemas.openxmlformats.org/drawingml/2006/main">
              <a:ext uri="{FF2B5EF4-FFF2-40B4-BE49-F238E27FC236}">
                <a16:creationId xmlns:a16="http://schemas.microsoft.com/office/drawing/2014/main" id="{D697933F-0E68-4A20-A9BE-3BF1883EE415}"/>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Reported p-values are unadjusted; the comparison with sampled random is especially uncertain.</a:t>
            </a:r>
          </a:p>
        </p:txBody>
      </p:sp>
    </p:spTree>
    <p:extLst>
      <p:ext uri="{BB962C8B-B14F-4D97-AF65-F5344CB8AC3E}">
        <p14:creationId xmlns:p14="http://schemas.microsoft.com/office/powerpoint/2010/main" val="1772883483"/>
      </p:ext>
    </p:extLst>
  </p:cSld>
</p:sld>
</file>

<file path=ppt/slides/slide18.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60F2C9-E609-4554-94A2-B8B9EB0B54D6}"/>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Backup: the frozen v3 thermodynamic objective</a:t>
            </a:r>
          </a:p>
        </p:txBody>
      </p:sp>
      <p:sp>
        <p:nvSpPr>
          <p:cNvPr id="2" name="">
            <a:extLst xmlns:a="http://schemas.openxmlformats.org/drawingml/2006/main">
              <a:ext uri="{FF2B5EF4-FFF2-40B4-BE49-F238E27FC236}">
                <a16:creationId xmlns:a16="http://schemas.microsoft.com/office/drawing/2014/main" id="{C7360B48-DF28-4042-970C-472FF05E6CC3}"/>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029EEDAA-2806-443A-8B0B-090C61D09717}"/>
              </a:ext>
            </a:extLst>
          </p:cNvPr>
          <p:cNvSpPr>
            <a:spLocks xmlns:a="http://schemas.openxmlformats.org/drawingml/2006/main" noGrp="1"/>
          </p:cNvSpPr>
          <p:nvPr/>
        </p:nvSpPr>
        <p:spPr>
          <a:xfrm xmlns:a="http://schemas.openxmlformats.org/drawingml/2006/main">
            <a:off x="609600" y="16478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7F8C"/>
                </a:solidFill>
                <a:latin typeface="Arial"/>
                <a:ea typeface="Arial"/>
                <a:cs typeface="Arial"/>
              </a:defRPr>
            </a:defPPr>
            <a:lvl1pPr algn="l">
              <a:buNone/>
              <a:defRPr sz="2775" b="1">
                <a:solidFill>
                  <a:srgbClr val="087F8C"/>
                </a:solidFill>
                <a:latin typeface="Arial"/>
                <a:ea typeface="Arial"/>
                <a:cs typeface="Arial"/>
              </a:defRPr>
            </a:lvl1pPr>
            <a:lvl2pPr algn="l">
              <a:buNone/>
              <a:defRPr sz="2775" b="1">
                <a:solidFill>
                  <a:srgbClr val="087F8C"/>
                </a:solidFill>
                <a:latin typeface="Arial"/>
                <a:ea typeface="Arial"/>
                <a:cs typeface="Arial"/>
              </a:defRPr>
            </a:lvl2pPr>
            <a:lvl3pPr algn="l">
              <a:buNone/>
              <a:defRPr sz="2775" b="1">
                <a:solidFill>
                  <a:srgbClr val="087F8C"/>
                </a:solidFill>
                <a:latin typeface="Arial"/>
                <a:ea typeface="Arial"/>
                <a:cs typeface="Arial"/>
              </a:defRPr>
            </a:lvl3pPr>
            <a:lvl4pPr algn="l">
              <a:buNone/>
              <a:defRPr sz="2775" b="1">
                <a:solidFill>
                  <a:srgbClr val="087F8C"/>
                </a:solidFill>
                <a:latin typeface="Arial"/>
                <a:ea typeface="Arial"/>
                <a:cs typeface="Arial"/>
              </a:defRPr>
            </a:lvl4pPr>
            <a:lvl5pPr algn="l">
              <a:buNone/>
              <a:defRPr sz="2775" b="1">
                <a:solidFill>
                  <a:srgbClr val="087F8C"/>
                </a:solidFill>
                <a:latin typeface="Arial"/>
                <a:ea typeface="Arial"/>
                <a:cs typeface="Arial"/>
              </a:defRPr>
            </a:lvl5pPr>
            <a:lvl6pPr algn="l">
              <a:buNone/>
              <a:defRPr sz="2775" b="1">
                <a:solidFill>
                  <a:srgbClr val="087F8C"/>
                </a:solidFill>
                <a:latin typeface="Arial"/>
                <a:ea typeface="Arial"/>
                <a:cs typeface="Arial"/>
              </a:defRPr>
            </a:lvl6pPr>
            <a:lvl7pPr algn="l">
              <a:buNone/>
              <a:defRPr sz="2775" b="1">
                <a:solidFill>
                  <a:srgbClr val="087F8C"/>
                </a:solidFill>
                <a:latin typeface="Arial"/>
                <a:ea typeface="Arial"/>
                <a:cs typeface="Arial"/>
              </a:defRPr>
            </a:lvl7pPr>
            <a:lvl8pPr algn="l">
              <a:buNone/>
              <a:defRPr sz="2775" b="1">
                <a:solidFill>
                  <a:srgbClr val="087F8C"/>
                </a:solidFill>
                <a:latin typeface="Arial"/>
                <a:ea typeface="Arial"/>
                <a:cs typeface="Arial"/>
              </a:defRPr>
            </a:lvl8pPr>
            <a:lvl9pPr algn="l">
              <a:buNone/>
              <a:defRPr sz="2775" b="1">
                <a:solidFill>
                  <a:srgbClr val="087F8C"/>
                </a:solidFill>
                <a:latin typeface="Arial"/>
                <a:ea typeface="Arial"/>
                <a:cs typeface="Arial"/>
              </a:defRPr>
            </a:lvl9pPr>
          </a:lstStyle>
          <a:p xmlns:a="http://schemas.openxmlformats.org/drawingml/2006/main">
            <a:pPr algn="l">
              <a:buNone/>
              <a:defRPr sz="2775" b="1">
                <a:solidFill>
                  <a:srgbClr val="087F8C"/>
                </a:solidFill>
                <a:latin typeface="Arial"/>
                <a:ea typeface="Arial"/>
                <a:cs typeface="Arial"/>
              </a:defRPr>
            </a:pPr>
            <a:r>
              <a:rPr sz="2775" b="1">
                <a:solidFill>
                  <a:srgbClr val="087F8C"/>
                </a:solidFill>
                <a:latin typeface="Arial"/>
                <a:ea typeface="Arial"/>
                <a:cs typeface="Arial"/>
              </a:rPr>
              <a:t>Penalty = max(self, cathode contact, electrolyte contact)</a:t>
            </a:r>
          </a:p>
        </p:txBody>
      </p:sp>
      <p:graphicFrame>
        <p:nvGraphicFramePr>
          <p:cNvPr id="4" name="">
            <a:extLst xmlns:a="http://schemas.openxmlformats.org/drawingml/2006/main">
              <a:ext uri="{FF2B5EF4-FFF2-40B4-BE49-F238E27FC236}">
                <a16:creationId xmlns:a16="http://schemas.microsoft.com/office/drawing/2014/main" id="{10AEB204-0A1B-4612-BF0A-1338CD4C5391}"/>
              </a:ext>
            </a:extLst>
          </p:cNvPr>
          <p:cNvGraphicFramePr/>
          <p:nvPr/>
        </p:nvGraphicFramePr>
        <p:xfrm>
          <a:off xmlns:a="http://schemas.openxmlformats.org/drawingml/2006/main" x="609600" y="2657475"/>
          <a:ext xmlns:a="http://schemas.openxmlformats.org/drawingml/2006/main" cx="10972800" cy="3009900"/>
        </p:xfrm>
        <a:graphic xmlns:a="http://schemas.openxmlformats.org/drawingml/2006/main">
          <a:graphicData uri="http://schemas.openxmlformats.org/drawingml/2006/table">
            <a:tbl>
              <a:tblPr/>
              <a:tblGrid>
                <a:gridCol w="2571750"/>
                <a:gridCol w="8401050"/>
              </a:tblGrid>
              <a:tr h="501650">
                <a:tc>
                  <a:txBody>
                    <a:bodyPr/>
                    <a:lstStyle/>
                    <a:p>
                      <a:r>
                        <a:rPr sz="1800" b="1">
                          <a:solidFill>
                            <a:srgbClr val="FFFFFF"/>
                          </a:solidFill>
                          <a:latin typeface="Arial"/>
                          <a:ea typeface="Arial"/>
                          <a:cs typeface="Arial"/>
                        </a:rPr>
                        <a:t>Choice</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00" b="1">
                          <a:solidFill>
                            <a:srgbClr val="FFFFFF"/>
                          </a:solidFill>
                          <a:latin typeface="Arial"/>
                          <a:ea typeface="Arial"/>
                          <a:cs typeface="Arial"/>
                        </a:rPr>
                        <a:t>Frozen definition</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501650">
                <a:tc>
                  <a:txBody>
                    <a:bodyPr/>
                    <a:lstStyle/>
                    <a:p>
                      <a:r>
                        <a:rPr sz="1800" b="0">
                          <a:solidFill>
                            <a:srgbClr val="162B3A"/>
                          </a:solidFill>
                          <a:latin typeface="Arial"/>
                          <a:ea typeface="Arial"/>
                          <a:cs typeface="Arial"/>
                        </a:rPr>
                        <a:t>Reference</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Extra mixing reaction between equilibrated endpoints</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01650">
                <a:tc>
                  <a:txBody>
                    <a:bodyPr/>
                    <a:lstStyle/>
                    <a:p>
                      <a:r>
                        <a:rPr sz="1800" b="0">
                          <a:solidFill>
                            <a:srgbClr val="162B3A"/>
                          </a:solidFill>
                          <a:latin typeface="Arial"/>
                          <a:ea typeface="Arial"/>
                          <a:cs typeface="Arial"/>
                        </a:rPr>
                        <a:t>Eligibility</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Known band gap ≥ 2 eV</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01650">
                <a:tc>
                  <a:txBody>
                    <a:bodyPr/>
                    <a:lstStyle/>
                    <a:p>
                      <a:r>
                        <a:rPr sz="1800" b="0">
                          <a:solidFill>
                            <a:srgbClr val="162B3A"/>
                          </a:solidFill>
                          <a:latin typeface="Arial"/>
                          <a:ea typeface="Arial"/>
                          <a:cs typeface="Arial"/>
                        </a:rPr>
                        <a:t>Acceptance</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Penalty ≤ 0.050 eV/non-Li atom</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01650">
                <a:tc>
                  <a:txBody>
                    <a:bodyPr/>
                    <a:lstStyle/>
                    <a:p>
                      <a:r>
                        <a:rPr sz="1800" b="0">
                          <a:solidFill>
                            <a:srgbClr val="162B3A"/>
                          </a:solidFill>
                          <a:latin typeface="Arial"/>
                          <a:ea typeface="Arial"/>
                          <a:cs typeface="Arial"/>
                        </a:rPr>
                        <a:t>Ranking</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0.020 eV/non-Li atom bins, with ties preserved</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01650">
                <a:tc>
                  <a:txBody>
                    <a:bodyPr/>
                    <a:lstStyle/>
                    <a:p>
                      <a:r>
                        <a:rPr sz="1800" b="0">
                          <a:solidFill>
                            <a:srgbClr val="162B3A"/>
                          </a:solidFill>
                          <a:latin typeface="Arial"/>
                          <a:ea typeface="Arial"/>
                          <a:cs typeface="Arial"/>
                        </a:rPr>
                        <a:t>Data</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Corrected GGA/GGA+U, MP database 2026.09.28</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5" name="">
            <a:extLst xmlns:a="http://schemas.openxmlformats.org/drawingml/2006/main">
              <a:ext uri="{FF2B5EF4-FFF2-40B4-BE49-F238E27FC236}">
                <a16:creationId xmlns:a16="http://schemas.microsoft.com/office/drawing/2014/main" id="{151D0E2C-494F-4F40-BD03-3026DD599967}"/>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No transport, synthesis, kinetics or finite-temperature prediction. Endpoint instability stays visible as a diagnostic.</a:t>
            </a:r>
          </a:p>
        </p:txBody>
      </p:sp>
    </p:spTree>
    <p:extLst>
      <p:ext uri="{BB962C8B-B14F-4D97-AF65-F5344CB8AC3E}">
        <p14:creationId xmlns:p14="http://schemas.microsoft.com/office/powerpoint/2010/main" val="534090200"/>
      </p:ext>
    </p:extLst>
  </p:cSld>
</p:sld>
</file>

<file path=ppt/slides/slide19.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19A388-DFE3-49A2-A49E-9873E93264FF}"/>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Backup: bulk reference validation</a:t>
            </a:r>
          </a:p>
        </p:txBody>
      </p:sp>
      <p:sp>
        <p:nvSpPr>
          <p:cNvPr id="2" name="">
            <a:extLst xmlns:a="http://schemas.openxmlformats.org/drawingml/2006/main">
              <a:ext uri="{FF2B5EF4-FFF2-40B4-BE49-F238E27FC236}">
                <a16:creationId xmlns:a16="http://schemas.microsoft.com/office/drawing/2014/main" id="{0BD43F2F-79EA-492F-8F32-59D9B725606F}"/>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E5393D57-E575-4605-A322-56BA7472C848}"/>
              </a:ext>
            </a:extLst>
          </p:cNvPr>
          <p:cNvGraphicFramePr/>
          <p:nvPr/>
        </p:nvGraphicFramePr>
        <p:xfrm>
          <a:off xmlns:a="http://schemas.openxmlformats.org/drawingml/2006/main" x="609600" y="1685925"/>
          <a:ext xmlns:a="http://schemas.openxmlformats.org/drawingml/2006/main" cx="10972800" cy="3571875"/>
        </p:xfrm>
        <a:graphic xmlns:a="http://schemas.openxmlformats.org/drawingml/2006/main">
          <a:graphicData uri="http://schemas.openxmlformats.org/drawingml/2006/table">
            <a:tbl>
              <a:tblPr/>
              <a:tblGrid>
                <a:gridCol w="2857500"/>
                <a:gridCol w="2333625"/>
                <a:gridCol w="3162300"/>
                <a:gridCol w="2619375"/>
              </a:tblGrid>
              <a:tr h="595313">
                <a:tc>
                  <a:txBody>
                    <a:bodyPr/>
                    <a:lstStyle/>
                    <a:p>
                      <a:r>
                        <a:rPr sz="1800" b="1">
                          <a:solidFill>
                            <a:srgbClr val="FFFFFF"/>
                          </a:solidFill>
                          <a:latin typeface="Arial"/>
                          <a:ea typeface="Arial"/>
                          <a:cs typeface="Arial"/>
                        </a:rPr>
                        <a:t>Material</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00" b="1">
                          <a:solidFill>
                            <a:srgbClr val="FFFFFF"/>
                          </a:solidFill>
                          <a:latin typeface="Arial"/>
                          <a:ea typeface="Arial"/>
                          <a:cs typeface="Arial"/>
                        </a:rPr>
                        <a:t>Volume change</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00" b="1">
                          <a:solidFill>
                            <a:srgbClr val="FFFFFF"/>
                          </a:solidFill>
                          <a:latin typeface="Arial"/>
                          <a:ea typeface="Arial"/>
                          <a:cs typeface="Arial"/>
                        </a:rPr>
                        <a:t>Seed-0 ΔE (meV/atom)</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00" b="1">
                          <a:solidFill>
                            <a:srgbClr val="FFFFFF"/>
                          </a:solidFill>
                          <a:latin typeface="Arial"/>
                          <a:ea typeface="Arial"/>
                          <a:cs typeface="Arial"/>
                        </a:rPr>
                        <a:t>Follow-up</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595313">
                <a:tc>
                  <a:txBody>
                    <a:bodyPr/>
                    <a:lstStyle/>
                    <a:p>
                      <a:r>
                        <a:rPr sz="1800" b="0">
                          <a:solidFill>
                            <a:srgbClr val="162B3A"/>
                          </a:solidFill>
                          <a:latin typeface="Arial"/>
                          <a:ea typeface="Arial"/>
                          <a:cs typeface="Arial"/>
                        </a:rPr>
                        <a:t>LiCoO₂</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−3.10%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−0.003</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Small change</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95313">
                <a:tc>
                  <a:txBody>
                    <a:bodyPr/>
                    <a:lstStyle/>
                    <a:p>
                      <a:r>
                        <a:rPr sz="1800" b="0">
                          <a:solidFill>
                            <a:srgbClr val="162B3A"/>
                          </a:solidFill>
                          <a:latin typeface="Arial"/>
                          <a:ea typeface="Arial"/>
                          <a:cs typeface="Arial"/>
                        </a:rPr>
                        <a:t>Li₆PS₅Cl</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−2.04%</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00" b="1">
                          <a:solidFill>
                            <a:srgbClr val="087F8C"/>
                          </a:solidFill>
                          <a:latin typeface="Arial"/>
                          <a:ea typeface="Arial"/>
                          <a:cs typeface="Arial"/>
                        </a:rPr>
                        <a:t>−63.81</a:t>
                      </a:r>
                    </a:p>
                  </a:txBody>
                  <a:tcPr marL="133350" marR="114300" marT="114300" marB="95250" anchor="ctr">
                    <a:lnR w="9525">
                      <a:solidFill>
                        <a:srgbClr val="F7F8F7"/>
                      </a:solidFill>
                      <a:prstDash val="solid"/>
                    </a:lnR>
                    <a:lnB w="9525">
                      <a:solidFill>
                        <a:srgbClr val="F7F8F7"/>
                      </a:solidFill>
                      <a:prstDash val="solid"/>
                    </a:lnB>
                    <a:solidFill>
                      <a:srgbClr val="D9EEE9"/>
                    </a:solidFill>
                  </a:tcPr>
                </a:tc>
                <a:tc>
                  <a:txBody>
                    <a:bodyPr/>
                    <a:lstStyle/>
                    <a:p>
                      <a:r>
                        <a:rPr sz="1800" b="0">
                          <a:solidFill>
                            <a:srgbClr val="162B3A"/>
                          </a:solidFill>
                          <a:latin typeface="Arial"/>
                          <a:ea typeface="Arial"/>
                          <a:cs typeface="Arial"/>
                        </a:rPr>
                        <a:t>6/6 starts converge</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95313">
                <a:tc>
                  <a:txBody>
                    <a:bodyPr/>
                    <a:lstStyle/>
                    <a:p>
                      <a:r>
                        <a:rPr sz="1800" b="0">
                          <a:solidFill>
                            <a:srgbClr val="162B3A"/>
                          </a:solidFill>
                          <a:latin typeface="Arial"/>
                          <a:ea typeface="Arial"/>
                          <a:cs typeface="Arial"/>
                        </a:rPr>
                        <a:t>LiNbF₆</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−7.30%</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−0.049</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Small change</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595313">
                <a:tc>
                  <a:txBody>
                    <a:bodyPr/>
                    <a:lstStyle/>
                    <a:p>
                      <a:r>
                        <a:rPr sz="1800" b="0">
                          <a:solidFill>
                            <a:srgbClr val="162B3A"/>
                          </a:solidFill>
                          <a:latin typeface="Arial"/>
                          <a:ea typeface="Arial"/>
                          <a:cs typeface="Arial"/>
                        </a:rPr>
                        <a:t>LiCaAlF₆</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−4.39%</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+0.012</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00" b="0">
                          <a:solidFill>
                            <a:srgbClr val="162B3A"/>
                          </a:solidFill>
                          <a:latin typeface="Arial"/>
                          <a:ea typeface="Arial"/>
                          <a:cs typeface="Arial"/>
                        </a:rPr>
                        <a:t>Small change</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595313">
                <a:tc>
                  <a:txBody>
                    <a:bodyPr/>
                    <a:lstStyle/>
                    <a:p>
                      <a:r>
                        <a:rPr sz="1800" b="0">
                          <a:solidFill>
                            <a:srgbClr val="162B3A"/>
                          </a:solidFill>
                          <a:latin typeface="Arial"/>
                          <a:ea typeface="Arial"/>
                          <a:cs typeface="Arial"/>
                        </a:rPr>
                        <a:t>LiZr₂(PO₄)₃</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00" b="0">
                          <a:solidFill>
                            <a:srgbClr val="162B3A"/>
                          </a:solidFill>
                          <a:latin typeface="Arial"/>
                          <a:ea typeface="Arial"/>
                          <a:cs typeface="Arial"/>
                        </a:rPr>
                        <a:t>−3.88%</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00" b="1">
                          <a:solidFill>
                            <a:srgbClr val="087F8C"/>
                          </a:solidFill>
                          <a:latin typeface="Arial"/>
                          <a:ea typeface="Arial"/>
                          <a:cs typeface="Arial"/>
                        </a:rPr>
                        <a:t>−7.57</a:t>
                      </a:r>
                    </a:p>
                  </a:txBody>
                  <a:tcPr marL="133350" marR="114300" marT="114300" marB="95250" anchor="ctr">
                    <a:lnR w="9525">
                      <a:solidFill>
                        <a:srgbClr val="F7F8F7"/>
                      </a:solidFill>
                      <a:prstDash val="solid"/>
                    </a:lnR>
                    <a:lnB w="9525">
                      <a:solidFill>
                        <a:srgbClr val="F7F8F7"/>
                      </a:solidFill>
                      <a:prstDash val="solid"/>
                    </a:lnB>
                    <a:solidFill>
                      <a:srgbClr val="D9EEE9"/>
                    </a:solidFill>
                  </a:tcPr>
                </a:tc>
                <a:tc>
                  <a:txBody>
                    <a:bodyPr/>
                    <a:lstStyle/>
                    <a:p>
                      <a:r>
                        <a:rPr sz="1800" b="0">
                          <a:solidFill>
                            <a:srgbClr val="162B3A"/>
                          </a:solidFill>
                          <a:latin typeface="Arial"/>
                          <a:ea typeface="Arial"/>
                          <a:cs typeface="Arial"/>
                        </a:rPr>
                        <a:t>5/6 starts converge</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4" name="">
            <a:extLst xmlns:a="http://schemas.openxmlformats.org/drawingml/2006/main">
              <a:ext uri="{FF2B5EF4-FFF2-40B4-BE49-F238E27FC236}">
                <a16:creationId xmlns:a16="http://schemas.microsoft.com/office/drawing/2014/main" id="{A99304CF-B350-40FF-BDD1-1AF9AE57D1BE}"/>
              </a:ext>
            </a:extLst>
          </p:cNvPr>
          <p:cNvSpPr>
            <a:spLocks xmlns:a="http://schemas.openxmlformats.org/drawingml/2006/main" noGrp="1"/>
          </p:cNvSpPr>
          <p:nvPr/>
        </p:nvSpPr>
        <p:spPr>
          <a:xfrm xmlns:a="http://schemas.openxmlformats.org/drawingml/2006/main">
            <a:off x="609600" y="5524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Seed 0 is lowest in both sampled multistart sets.</a:t>
            </a:r>
          </a:p>
        </p:txBody>
      </p:sp>
      <p:sp>
        <p:nvSpPr>
          <p:cNvPr id="5" name="">
            <a:extLst xmlns:a="http://schemas.openxmlformats.org/drawingml/2006/main">
              <a:ext uri="{FF2B5EF4-FFF2-40B4-BE49-F238E27FC236}">
                <a16:creationId xmlns:a16="http://schemas.microsoft.com/office/drawing/2014/main" id="{771E6E65-FF12-4493-87A5-FDF751C4F186}"/>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Sampled model minima are not established experimental phases or proven global minima.</a:t>
            </a:r>
          </a:p>
        </p:txBody>
      </p:sp>
    </p:spTree>
    <p:extLst>
      <p:ext uri="{BB962C8B-B14F-4D97-AF65-F5344CB8AC3E}">
        <p14:creationId xmlns:p14="http://schemas.microsoft.com/office/powerpoint/2010/main" val="1447071039"/>
      </p:ext>
    </p:extLst>
  </p:cSld>
</p:sld>
</file>

<file path=ppt/slides/slide20.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639048-DF70-449D-A1D6-0968CAA1C7DD}"/>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Backup: adhesion depends on the reference state</a:t>
            </a:r>
          </a:p>
        </p:txBody>
      </p:sp>
      <p:sp>
        <p:nvSpPr>
          <p:cNvPr id="2" name="">
            <a:extLst xmlns:a="http://schemas.openxmlformats.org/drawingml/2006/main">
              <a:ext uri="{FF2B5EF4-FFF2-40B4-BE49-F238E27FC236}">
                <a16:creationId xmlns:a16="http://schemas.microsoft.com/office/drawing/2014/main" id="{9E524BA1-A727-48E2-8D98-8101A5232F65}"/>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20</a:t>
            </a:r>
          </a:p>
        </p:txBody>
      </p:sp>
      <p:graphicFrame>
        <p:nvGraphicFramePr>
          <p:cNvPr id="3" name="">
            <a:extLst xmlns:a="http://schemas.openxmlformats.org/drawingml/2006/main">
              <a:ext uri="{FF2B5EF4-FFF2-40B4-BE49-F238E27FC236}">
                <a16:creationId xmlns:a16="http://schemas.microsoft.com/office/drawing/2014/main" id="{C576FDFF-56C8-407E-A11A-BCFC02052C3E}"/>
              </a:ext>
            </a:extLst>
          </p:cNvPr>
          <p:cNvGraphicFramePr/>
          <p:nvPr/>
        </p:nvGraphicFramePr>
        <p:xfrm>
          <a:off xmlns:a="http://schemas.openxmlformats.org/drawingml/2006/main" x="609600" y="1704975"/>
          <a:ext xmlns:a="http://schemas.openxmlformats.org/drawingml/2006/main" cx="10972800" cy="2647950"/>
        </p:xfrm>
        <a:graphic xmlns:a="http://schemas.openxmlformats.org/drawingml/2006/main">
          <a:graphicData uri="http://schemas.openxmlformats.org/drawingml/2006/table">
            <a:tbl>
              <a:tblPr/>
              <a:tblGrid>
                <a:gridCol w="6191250"/>
                <a:gridCol w="2390775"/>
                <a:gridCol w="2390775"/>
              </a:tblGrid>
              <a:tr h="661988">
                <a:tc>
                  <a:txBody>
                    <a:bodyPr/>
                    <a:lstStyle/>
                    <a:p>
                      <a:r>
                        <a:rPr sz="1875" b="1">
                          <a:solidFill>
                            <a:srgbClr val="FFFFFF"/>
                          </a:solidFill>
                          <a:latin typeface="Arial"/>
                          <a:ea typeface="Arial"/>
                          <a:cs typeface="Arial"/>
                        </a:rPr>
                        <a:t>Contact / protocol</a:t>
                      </a:r>
                    </a:p>
                  </a:txBody>
                  <a:tcPr marL="133350" marR="114300" marT="114300" marB="95250" anchor="ctr">
                    <a:lnL w="9525">
                      <a:solidFill>
                        <a:srgbClr val="F7F8F7"/>
                      </a:solidFill>
                      <a:prstDash val="solid"/>
                    </a:lnL>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Relaxed Wadh</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c>
                  <a:txBody>
                    <a:bodyPr/>
                    <a:lstStyle/>
                    <a:p>
                      <a:r>
                        <a:rPr sz="1875" b="1">
                          <a:solidFill>
                            <a:srgbClr val="FFFFFF"/>
                          </a:solidFill>
                          <a:latin typeface="Arial"/>
                          <a:ea typeface="Arial"/>
                          <a:cs typeface="Arial"/>
                        </a:rPr>
                        <a:t>Fixed-geometry Wsep</a:t>
                      </a:r>
                    </a:p>
                  </a:txBody>
                  <a:tcPr marL="133350" marR="114300" marT="114300" marB="95250" anchor="ctr">
                    <a:lnR w="9525">
                      <a:solidFill>
                        <a:srgbClr val="F7F8F7"/>
                      </a:solidFill>
                      <a:prstDash val="solid"/>
                    </a:lnR>
                    <a:lnT w="9525">
                      <a:solidFill>
                        <a:srgbClr val="F7F8F7"/>
                      </a:solidFill>
                      <a:prstDash val="solid"/>
                    </a:lnT>
                    <a:lnB w="9525">
                      <a:solidFill>
                        <a:srgbClr val="F7F8F7"/>
                      </a:solidFill>
                      <a:prstDash val="solid"/>
                    </a:lnB>
                    <a:solidFill>
                      <a:srgbClr val="101C2C"/>
                    </a:solidFill>
                  </a:tcPr>
                </a:tc>
              </a:tr>
              <a:tr h="661988">
                <a:tc>
                  <a:txBody>
                    <a:bodyPr/>
                    <a:lstStyle/>
                    <a:p>
                      <a:r>
                        <a:rPr sz="1875" b="0">
                          <a:solidFill>
                            <a:srgbClr val="162B3A"/>
                          </a:solidFill>
                          <a:latin typeface="Arial"/>
                          <a:ea typeface="Arial"/>
                          <a:cs typeface="Arial"/>
                        </a:rPr>
                        <a:t>Cathode, 504 atoms, 104 fixed</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3.479</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5.055</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r h="661988">
                <a:tc>
                  <a:txBody>
                    <a:bodyPr/>
                    <a:lstStyle/>
                    <a:p>
                      <a:r>
                        <a:rPr sz="1875" b="0">
                          <a:solidFill>
                            <a:srgbClr val="162B3A"/>
                          </a:solidFill>
                          <a:latin typeface="Arial"/>
                          <a:ea typeface="Arial"/>
                          <a:cs typeface="Arial"/>
                        </a:rPr>
                        <a:t>Electrolyte, 440 atoms, 2 layers</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1.329</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c>
                  <a:txBody>
                    <a:bodyPr/>
                    <a:lstStyle/>
                    <a:p>
                      <a:r>
                        <a:rPr sz="1875" b="0">
                          <a:solidFill>
                            <a:srgbClr val="162B3A"/>
                          </a:solidFill>
                          <a:latin typeface="Arial"/>
                          <a:ea typeface="Arial"/>
                          <a:cs typeface="Arial"/>
                        </a:rPr>
                        <a:t>2.519</a:t>
                      </a:r>
                    </a:p>
                  </a:txBody>
                  <a:tcPr marL="133350" marR="114300" marT="114300" marB="95250" anchor="ctr">
                    <a:lnR w="9525">
                      <a:solidFill>
                        <a:srgbClr val="F7F8F7"/>
                      </a:solidFill>
                      <a:prstDash val="solid"/>
                    </a:lnR>
                    <a:lnB w="9525">
                      <a:solidFill>
                        <a:srgbClr val="F7F8F7"/>
                      </a:solidFill>
                      <a:prstDash val="solid"/>
                    </a:lnB>
                    <a:solidFill>
                      <a:srgbClr val="FFFFFF"/>
                    </a:solidFill>
                  </a:tcPr>
                </a:tc>
              </a:tr>
              <a:tr h="661988">
                <a:tc>
                  <a:txBody>
                    <a:bodyPr/>
                    <a:lstStyle/>
                    <a:p>
                      <a:r>
                        <a:rPr sz="1875" b="0">
                          <a:solidFill>
                            <a:srgbClr val="162B3A"/>
                          </a:solidFill>
                          <a:latin typeface="Arial"/>
                          <a:ea typeface="Arial"/>
                          <a:cs typeface="Arial"/>
                        </a:rPr>
                        <a:t>Electrolyte, 544 atoms, 4 layers</a:t>
                      </a:r>
                    </a:p>
                  </a:txBody>
                  <a:tcPr marL="133350" marR="114300" marT="114300" marB="95250" anchor="ctr">
                    <a:lnL w="9525">
                      <a:solidFill>
                        <a:srgbClr val="F7F8F7"/>
                      </a:solidFill>
                      <a:prstDash val="solid"/>
                    </a:lnL>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1.532</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c>
                  <a:txBody>
                    <a:bodyPr/>
                    <a:lstStyle/>
                    <a:p>
                      <a:r>
                        <a:rPr sz="1875" b="0">
                          <a:solidFill>
                            <a:srgbClr val="162B3A"/>
                          </a:solidFill>
                          <a:latin typeface="Arial"/>
                          <a:ea typeface="Arial"/>
                          <a:cs typeface="Arial"/>
                        </a:rPr>
                        <a:t>2.858</a:t>
                      </a:r>
                    </a:p>
                  </a:txBody>
                  <a:tcPr marL="133350" marR="114300" marT="114300" marB="95250" anchor="ctr">
                    <a:lnR w="9525">
                      <a:solidFill>
                        <a:srgbClr val="F7F8F7"/>
                      </a:solidFill>
                      <a:prstDash val="solid"/>
                    </a:lnR>
                    <a:lnB w="9525">
                      <a:solidFill>
                        <a:srgbClr val="F7F8F7"/>
                      </a:solidFill>
                      <a:prstDash val="solid"/>
                    </a:lnB>
                    <a:solidFill>
                      <a:srgbClr val="EBF0F1"/>
                    </a:solidFill>
                  </a:tcPr>
                </a:tc>
              </a:tr>
            </a:tbl>
          </a:graphicData>
        </a:graphic>
      </p:graphicFrame>
      <p:sp>
        <p:nvSpPr>
          <p:cNvPr id="4" name="">
            <a:extLst xmlns:a="http://schemas.openxmlformats.org/drawingml/2006/main">
              <a:ext uri="{FF2B5EF4-FFF2-40B4-BE49-F238E27FC236}">
                <a16:creationId xmlns:a16="http://schemas.microsoft.com/office/drawing/2014/main" id="{42251C37-B73E-4150-B870-F57DFDDB4BAE}"/>
              </a:ext>
            </a:extLst>
          </p:cNvPr>
          <p:cNvSpPr>
            <a:spLocks xmlns:a="http://schemas.openxmlformats.org/drawingml/2006/main" noGrp="1"/>
          </p:cNvSpPr>
          <p:nvPr/>
        </p:nvSpPr>
        <p:spPr>
          <a:xfrm xmlns:a="http://schemas.openxmlformats.org/drawingml/2006/main">
            <a:off x="609600" y="4610100"/>
            <a:ext cx="3810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574"/>
                </a:solidFill>
                <a:latin typeface="Arial"/>
                <a:ea typeface="Arial"/>
                <a:cs typeface="Arial"/>
              </a:defRPr>
            </a:defPPr>
            <a:lvl1pPr algn="l">
              <a:buNone/>
              <a:defRPr sz="1950" b="0">
                <a:solidFill>
                  <a:srgbClr val="536574"/>
                </a:solidFill>
                <a:latin typeface="Arial"/>
                <a:ea typeface="Arial"/>
                <a:cs typeface="Arial"/>
              </a:defRPr>
            </a:lvl1pPr>
            <a:lvl2pPr algn="l">
              <a:buNone/>
              <a:defRPr sz="1950" b="0">
                <a:solidFill>
                  <a:srgbClr val="536574"/>
                </a:solidFill>
                <a:latin typeface="Arial"/>
                <a:ea typeface="Arial"/>
                <a:cs typeface="Arial"/>
              </a:defRPr>
            </a:lvl2pPr>
            <a:lvl3pPr algn="l">
              <a:buNone/>
              <a:defRPr sz="1950" b="0">
                <a:solidFill>
                  <a:srgbClr val="536574"/>
                </a:solidFill>
                <a:latin typeface="Arial"/>
                <a:ea typeface="Arial"/>
                <a:cs typeface="Arial"/>
              </a:defRPr>
            </a:lvl3pPr>
            <a:lvl4pPr algn="l">
              <a:buNone/>
              <a:defRPr sz="1950" b="0">
                <a:solidFill>
                  <a:srgbClr val="536574"/>
                </a:solidFill>
                <a:latin typeface="Arial"/>
                <a:ea typeface="Arial"/>
                <a:cs typeface="Arial"/>
              </a:defRPr>
            </a:lvl4pPr>
            <a:lvl5pPr algn="l">
              <a:buNone/>
              <a:defRPr sz="1950" b="0">
                <a:solidFill>
                  <a:srgbClr val="536574"/>
                </a:solidFill>
                <a:latin typeface="Arial"/>
                <a:ea typeface="Arial"/>
                <a:cs typeface="Arial"/>
              </a:defRPr>
            </a:lvl5pPr>
            <a:lvl6pPr algn="l">
              <a:buNone/>
              <a:defRPr sz="1950" b="0">
                <a:solidFill>
                  <a:srgbClr val="536574"/>
                </a:solidFill>
                <a:latin typeface="Arial"/>
                <a:ea typeface="Arial"/>
                <a:cs typeface="Arial"/>
              </a:defRPr>
            </a:lvl6pPr>
            <a:lvl7pPr algn="l">
              <a:buNone/>
              <a:defRPr sz="1950" b="0">
                <a:solidFill>
                  <a:srgbClr val="536574"/>
                </a:solidFill>
                <a:latin typeface="Arial"/>
                <a:ea typeface="Arial"/>
                <a:cs typeface="Arial"/>
              </a:defRPr>
            </a:lvl7pPr>
            <a:lvl8pPr algn="l">
              <a:buNone/>
              <a:defRPr sz="1950" b="0">
                <a:solidFill>
                  <a:srgbClr val="536574"/>
                </a:solidFill>
                <a:latin typeface="Arial"/>
                <a:ea typeface="Arial"/>
                <a:cs typeface="Arial"/>
              </a:defRPr>
            </a:lvl8pPr>
            <a:lvl9pPr algn="l">
              <a:buNone/>
              <a:defRPr sz="1950" b="0">
                <a:solidFill>
                  <a:srgbClr val="536574"/>
                </a:solidFill>
                <a:latin typeface="Arial"/>
                <a:ea typeface="Arial"/>
                <a:cs typeface="Arial"/>
              </a:defRPr>
            </a:lvl9pPr>
          </a:lstStyle>
          <a:p xmlns:a="http://schemas.openxmlformats.org/drawingml/2006/main">
            <a:pPr algn="l">
              <a:buNone/>
              <a:defRPr sz="1950" b="0">
                <a:solidFill>
                  <a:srgbClr val="536574"/>
                </a:solidFill>
                <a:latin typeface="Arial"/>
                <a:ea typeface="Arial"/>
                <a:cs typeface="Arial"/>
              </a:defRPr>
            </a:pPr>
            <a:r>
              <a:rPr sz="1950" b="0">
                <a:solidFill>
                  <a:srgbClr val="536574"/>
                </a:solidFill>
                <a:latin typeface="Arial"/>
                <a:ea typeface="Arial"/>
                <a:cs typeface="Arial"/>
              </a:rPr>
              <a:t>Units: J/m²</a:t>
            </a:r>
          </a:p>
        </p:txBody>
      </p:sp>
      <p:sp>
        <p:nvSpPr>
          <p:cNvPr id="5" name="">
            <a:extLst xmlns:a="http://schemas.openxmlformats.org/drawingml/2006/main">
              <a:ext uri="{FF2B5EF4-FFF2-40B4-BE49-F238E27FC236}">
                <a16:creationId xmlns:a16="http://schemas.microsoft.com/office/drawing/2014/main" id="{C63566FB-A50A-4C73-852F-3133C1D19DCD}"/>
              </a:ext>
            </a:extLst>
          </p:cNvPr>
          <p:cNvSpPr>
            <a:spLocks xmlns:a="http://schemas.openxmlformats.org/drawingml/2006/main" noGrp="1"/>
          </p:cNvSpPr>
          <p:nvPr/>
        </p:nvSpPr>
        <p:spPr>
          <a:xfrm xmlns:a="http://schemas.openxmlformats.org/drawingml/2006/main">
            <a:off x="609600" y="52292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At four layers, changing the fixed depth gives spreads of</a:t>
            </a:r>
          </a:p>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0.048 J/m² in adhesion and 0.024 J/m² in separation.</a:t>
            </a:r>
          </a:p>
        </p:txBody>
      </p:sp>
      <p:sp>
        <p:nvSpPr>
          <p:cNvPr id="6" name="">
            <a:extLst xmlns:a="http://schemas.openxmlformats.org/drawingml/2006/main">
              <a:ext uri="{FF2B5EF4-FFF2-40B4-BE49-F238E27FC236}">
                <a16:creationId xmlns:a16="http://schemas.microsoft.com/office/drawing/2014/main" id="{01806B40-EA46-4DBA-AC27-6F8E94F19A78}"/>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Polarity, cathode film thickness, vacuum, registry and bulk-seed sensitivity still limit physical interpretation.</a:t>
            </a:r>
          </a:p>
        </p:txBody>
      </p:sp>
    </p:spTree>
    <p:extLst>
      <p:ext uri="{BB962C8B-B14F-4D97-AF65-F5344CB8AC3E}">
        <p14:creationId xmlns:p14="http://schemas.microsoft.com/office/powerpoint/2010/main" val="921043198"/>
      </p:ext>
    </p:extLst>
  </p:cSld>
</p:sld>
</file>

<file path=ppt/slides/slide21.xml><?xml version="1.0" encoding="utf-8"?>
<p:sld xmlns:p="http://schemas.openxmlformats.org/presentationml/2006/main">
  <p:cSld>
    <p:bg>
      <p:bgPr>
        <a:solidFill xmlns:a="http://schemas.openxmlformats.org/drawingml/2006/main">
          <a:srgbClr val="F7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583BAC-3BF1-486F-8901-75C62524FF16}"/>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B3A"/>
                </a:solidFill>
                <a:latin typeface="Arial"/>
                <a:ea typeface="Arial"/>
                <a:cs typeface="Arial"/>
              </a:defRPr>
            </a:defPPr>
            <a:lvl1pPr algn="l">
              <a:buNone/>
              <a:defRPr sz="3300" b="1">
                <a:solidFill>
                  <a:srgbClr val="162B3A"/>
                </a:solidFill>
                <a:latin typeface="Arial"/>
                <a:ea typeface="Arial"/>
                <a:cs typeface="Arial"/>
              </a:defRPr>
            </a:lvl1pPr>
            <a:lvl2pPr algn="l">
              <a:buNone/>
              <a:defRPr sz="3300" b="1">
                <a:solidFill>
                  <a:srgbClr val="162B3A"/>
                </a:solidFill>
                <a:latin typeface="Arial"/>
                <a:ea typeface="Arial"/>
                <a:cs typeface="Arial"/>
              </a:defRPr>
            </a:lvl2pPr>
            <a:lvl3pPr algn="l">
              <a:buNone/>
              <a:defRPr sz="3300" b="1">
                <a:solidFill>
                  <a:srgbClr val="162B3A"/>
                </a:solidFill>
                <a:latin typeface="Arial"/>
                <a:ea typeface="Arial"/>
                <a:cs typeface="Arial"/>
              </a:defRPr>
            </a:lvl3pPr>
            <a:lvl4pPr algn="l">
              <a:buNone/>
              <a:defRPr sz="3300" b="1">
                <a:solidFill>
                  <a:srgbClr val="162B3A"/>
                </a:solidFill>
                <a:latin typeface="Arial"/>
                <a:ea typeface="Arial"/>
                <a:cs typeface="Arial"/>
              </a:defRPr>
            </a:lvl4pPr>
            <a:lvl5pPr algn="l">
              <a:buNone/>
              <a:defRPr sz="3300" b="1">
                <a:solidFill>
                  <a:srgbClr val="162B3A"/>
                </a:solidFill>
                <a:latin typeface="Arial"/>
                <a:ea typeface="Arial"/>
                <a:cs typeface="Arial"/>
              </a:defRPr>
            </a:lvl5pPr>
            <a:lvl6pPr algn="l">
              <a:buNone/>
              <a:defRPr sz="3300" b="1">
                <a:solidFill>
                  <a:srgbClr val="162B3A"/>
                </a:solidFill>
                <a:latin typeface="Arial"/>
                <a:ea typeface="Arial"/>
                <a:cs typeface="Arial"/>
              </a:defRPr>
            </a:lvl6pPr>
            <a:lvl7pPr algn="l">
              <a:buNone/>
              <a:defRPr sz="3300" b="1">
                <a:solidFill>
                  <a:srgbClr val="162B3A"/>
                </a:solidFill>
                <a:latin typeface="Arial"/>
                <a:ea typeface="Arial"/>
                <a:cs typeface="Arial"/>
              </a:defRPr>
            </a:lvl7pPr>
            <a:lvl8pPr algn="l">
              <a:buNone/>
              <a:defRPr sz="3300" b="1">
                <a:solidFill>
                  <a:srgbClr val="162B3A"/>
                </a:solidFill>
                <a:latin typeface="Arial"/>
                <a:ea typeface="Arial"/>
                <a:cs typeface="Arial"/>
              </a:defRPr>
            </a:lvl8pPr>
            <a:lvl9pPr algn="l">
              <a:buNone/>
              <a:defRPr sz="3300" b="1">
                <a:solidFill>
                  <a:srgbClr val="162B3A"/>
                </a:solidFill>
                <a:latin typeface="Arial"/>
                <a:ea typeface="Arial"/>
                <a:cs typeface="Arial"/>
              </a:defRPr>
            </a:lvl9pPr>
          </a:lstStyle>
          <a:p xmlns:a="http://schemas.openxmlformats.org/drawingml/2006/main">
            <a:pPr algn="l">
              <a:buNone/>
              <a:defRPr sz="3300" b="1">
                <a:solidFill>
                  <a:srgbClr val="162B3A"/>
                </a:solidFill>
                <a:latin typeface="Arial"/>
                <a:ea typeface="Arial"/>
                <a:cs typeface="Arial"/>
              </a:defRPr>
            </a:pPr>
            <a:r>
              <a:rPr sz="3300" b="1">
                <a:solidFill>
                  <a:srgbClr val="162B3A"/>
                </a:solidFill>
                <a:latin typeface="Arial"/>
                <a:ea typeface="Arial"/>
                <a:cs typeface="Arial"/>
              </a:rPr>
              <a:t>Backup: cost, provenance and next experiment</a:t>
            </a:r>
          </a:p>
        </p:txBody>
      </p:sp>
      <p:sp>
        <p:nvSpPr>
          <p:cNvPr id="2" name="">
            <a:extLst xmlns:a="http://schemas.openxmlformats.org/drawingml/2006/main">
              <a:ext uri="{FF2B5EF4-FFF2-40B4-BE49-F238E27FC236}">
                <a16:creationId xmlns:a16="http://schemas.microsoft.com/office/drawing/2014/main" id="{46EC8678-726D-41DB-851E-BB4C12C69301}"/>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6574"/>
                </a:solidFill>
                <a:latin typeface="Arial"/>
                <a:ea typeface="Arial"/>
                <a:cs typeface="Arial"/>
              </a:defRPr>
            </a:defPPr>
            <a:lvl1pPr algn="r">
              <a:buNone/>
              <a:defRPr sz="1275" b="0">
                <a:solidFill>
                  <a:srgbClr val="536574"/>
                </a:solidFill>
                <a:latin typeface="Arial"/>
                <a:ea typeface="Arial"/>
                <a:cs typeface="Arial"/>
              </a:defRPr>
            </a:lvl1pPr>
            <a:lvl2pPr algn="r">
              <a:buNone/>
              <a:defRPr sz="1275" b="0">
                <a:solidFill>
                  <a:srgbClr val="536574"/>
                </a:solidFill>
                <a:latin typeface="Arial"/>
                <a:ea typeface="Arial"/>
                <a:cs typeface="Arial"/>
              </a:defRPr>
            </a:lvl2pPr>
            <a:lvl3pPr algn="r">
              <a:buNone/>
              <a:defRPr sz="1275" b="0">
                <a:solidFill>
                  <a:srgbClr val="536574"/>
                </a:solidFill>
                <a:latin typeface="Arial"/>
                <a:ea typeface="Arial"/>
                <a:cs typeface="Arial"/>
              </a:defRPr>
            </a:lvl3pPr>
            <a:lvl4pPr algn="r">
              <a:buNone/>
              <a:defRPr sz="1275" b="0">
                <a:solidFill>
                  <a:srgbClr val="536574"/>
                </a:solidFill>
                <a:latin typeface="Arial"/>
                <a:ea typeface="Arial"/>
                <a:cs typeface="Arial"/>
              </a:defRPr>
            </a:lvl4pPr>
            <a:lvl5pPr algn="r">
              <a:buNone/>
              <a:defRPr sz="1275" b="0">
                <a:solidFill>
                  <a:srgbClr val="536574"/>
                </a:solidFill>
                <a:latin typeface="Arial"/>
                <a:ea typeface="Arial"/>
                <a:cs typeface="Arial"/>
              </a:defRPr>
            </a:lvl5pPr>
            <a:lvl6pPr algn="r">
              <a:buNone/>
              <a:defRPr sz="1275" b="0">
                <a:solidFill>
                  <a:srgbClr val="536574"/>
                </a:solidFill>
                <a:latin typeface="Arial"/>
                <a:ea typeface="Arial"/>
                <a:cs typeface="Arial"/>
              </a:defRPr>
            </a:lvl6pPr>
            <a:lvl7pPr algn="r">
              <a:buNone/>
              <a:defRPr sz="1275" b="0">
                <a:solidFill>
                  <a:srgbClr val="536574"/>
                </a:solidFill>
                <a:latin typeface="Arial"/>
                <a:ea typeface="Arial"/>
                <a:cs typeface="Arial"/>
              </a:defRPr>
            </a:lvl7pPr>
            <a:lvl8pPr algn="r">
              <a:buNone/>
              <a:defRPr sz="1275" b="0">
                <a:solidFill>
                  <a:srgbClr val="536574"/>
                </a:solidFill>
                <a:latin typeface="Arial"/>
                <a:ea typeface="Arial"/>
                <a:cs typeface="Arial"/>
              </a:defRPr>
            </a:lvl8pPr>
            <a:lvl9pPr algn="r">
              <a:buNone/>
              <a:defRPr sz="1275" b="0">
                <a:solidFill>
                  <a:srgbClr val="536574"/>
                </a:solidFill>
                <a:latin typeface="Arial"/>
                <a:ea typeface="Arial"/>
                <a:cs typeface="Arial"/>
              </a:defRPr>
            </a:lvl9pPr>
          </a:lstStyle>
          <a:p xmlns:a="http://schemas.openxmlformats.org/drawingml/2006/main">
            <a:pPr algn="r">
              <a:buNone/>
              <a:defRPr sz="1275" b="0">
                <a:solidFill>
                  <a:srgbClr val="536574"/>
                </a:solidFill>
                <a:latin typeface="Arial"/>
                <a:ea typeface="Arial"/>
                <a:cs typeface="Arial"/>
              </a:defRPr>
            </a:pPr>
            <a:r>
              <a:rPr sz="1275" b="0">
                <a:solidFill>
                  <a:srgbClr val="536574"/>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09D9F91D-490C-4A67-8A8F-95251D7094BC}"/>
              </a:ext>
            </a:extLst>
          </p:cNvPr>
          <p:cNvSpPr>
            <a:spLocks xmlns:a="http://schemas.openxmlformats.org/drawingml/2006/main" noGrp="1"/>
          </p:cNvSpPr>
          <p:nvPr/>
        </p:nvSpPr>
        <p:spPr>
          <a:xfrm xmlns:a="http://schemas.openxmlformats.org/drawingml/2006/main">
            <a:off x="609600" y="1704975"/>
            <a:ext cx="609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F8C"/>
                </a:solidFill>
                <a:latin typeface="Arial"/>
                <a:ea typeface="Arial"/>
                <a:cs typeface="Arial"/>
              </a:defRPr>
            </a:defPPr>
            <a:lvl1pPr algn="l">
              <a:buNone/>
              <a:defRPr sz="3900" b="1">
                <a:solidFill>
                  <a:srgbClr val="087F8C"/>
                </a:solidFill>
                <a:latin typeface="Arial"/>
                <a:ea typeface="Arial"/>
                <a:cs typeface="Arial"/>
              </a:defRPr>
            </a:lvl1pPr>
            <a:lvl2pPr algn="l">
              <a:buNone/>
              <a:defRPr sz="3900" b="1">
                <a:solidFill>
                  <a:srgbClr val="087F8C"/>
                </a:solidFill>
                <a:latin typeface="Arial"/>
                <a:ea typeface="Arial"/>
                <a:cs typeface="Arial"/>
              </a:defRPr>
            </a:lvl2pPr>
            <a:lvl3pPr algn="l">
              <a:buNone/>
              <a:defRPr sz="3900" b="1">
                <a:solidFill>
                  <a:srgbClr val="087F8C"/>
                </a:solidFill>
                <a:latin typeface="Arial"/>
                <a:ea typeface="Arial"/>
                <a:cs typeface="Arial"/>
              </a:defRPr>
            </a:lvl3pPr>
            <a:lvl4pPr algn="l">
              <a:buNone/>
              <a:defRPr sz="3900" b="1">
                <a:solidFill>
                  <a:srgbClr val="087F8C"/>
                </a:solidFill>
                <a:latin typeface="Arial"/>
                <a:ea typeface="Arial"/>
                <a:cs typeface="Arial"/>
              </a:defRPr>
            </a:lvl4pPr>
            <a:lvl5pPr algn="l">
              <a:buNone/>
              <a:defRPr sz="3900" b="1">
                <a:solidFill>
                  <a:srgbClr val="087F8C"/>
                </a:solidFill>
                <a:latin typeface="Arial"/>
                <a:ea typeface="Arial"/>
                <a:cs typeface="Arial"/>
              </a:defRPr>
            </a:lvl5pPr>
            <a:lvl6pPr algn="l">
              <a:buNone/>
              <a:defRPr sz="3900" b="1">
                <a:solidFill>
                  <a:srgbClr val="087F8C"/>
                </a:solidFill>
                <a:latin typeface="Arial"/>
                <a:ea typeface="Arial"/>
                <a:cs typeface="Arial"/>
              </a:defRPr>
            </a:lvl6pPr>
            <a:lvl7pPr algn="l">
              <a:buNone/>
              <a:defRPr sz="3900" b="1">
                <a:solidFill>
                  <a:srgbClr val="087F8C"/>
                </a:solidFill>
                <a:latin typeface="Arial"/>
                <a:ea typeface="Arial"/>
                <a:cs typeface="Arial"/>
              </a:defRPr>
            </a:lvl7pPr>
            <a:lvl8pPr algn="l">
              <a:buNone/>
              <a:defRPr sz="3900" b="1">
                <a:solidFill>
                  <a:srgbClr val="087F8C"/>
                </a:solidFill>
                <a:latin typeface="Arial"/>
                <a:ea typeface="Arial"/>
                <a:cs typeface="Arial"/>
              </a:defRPr>
            </a:lvl8pPr>
            <a:lvl9pPr algn="l">
              <a:buNone/>
              <a:defRPr sz="3900" b="1">
                <a:solidFill>
                  <a:srgbClr val="087F8C"/>
                </a:solidFill>
                <a:latin typeface="Arial"/>
                <a:ea typeface="Arial"/>
                <a:cs typeface="Arial"/>
              </a:defRPr>
            </a:lvl9pPr>
          </a:lstStyle>
          <a:p xmlns:a="http://schemas.openxmlformats.org/drawingml/2006/main">
            <a:pPr algn="l">
              <a:buNone/>
              <a:defRPr sz="3900" b="1">
                <a:solidFill>
                  <a:srgbClr val="087F8C"/>
                </a:solidFill>
                <a:latin typeface="Arial"/>
                <a:ea typeface="Arial"/>
                <a:cs typeface="Arial"/>
              </a:defRPr>
            </a:pPr>
            <a:r>
              <a:rPr sz="3900" b="1">
                <a:solidFill>
                  <a:srgbClr val="087F8C"/>
                </a:solidFill>
                <a:latin typeface="Arial"/>
                <a:ea typeface="Arial"/>
                <a:cs typeface="Arial"/>
              </a:rPr>
              <a:t>931 proposal calls</a:t>
            </a:r>
          </a:p>
        </p:txBody>
      </p:sp>
      <p:sp>
        <p:nvSpPr>
          <p:cNvPr id="4" name="">
            <a:extLst xmlns:a="http://schemas.openxmlformats.org/drawingml/2006/main">
              <a:ext uri="{FF2B5EF4-FFF2-40B4-BE49-F238E27FC236}">
                <a16:creationId xmlns:a16="http://schemas.microsoft.com/office/drawing/2014/main" id="{C33B5FD9-FCD2-4909-9CF4-CC21DDE9B4C2}"/>
              </a:ext>
            </a:extLst>
          </p:cNvPr>
          <p:cNvSpPr>
            <a:spLocks xmlns:a="http://schemas.openxmlformats.org/drawingml/2006/main" noGrp="1"/>
          </p:cNvSpPr>
          <p:nvPr/>
        </p:nvSpPr>
        <p:spPr>
          <a:xfrm xmlns:a="http://schemas.openxmlformats.org/drawingml/2006/main">
            <a:off x="609600" y="2562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62B3A"/>
                </a:solidFill>
                <a:latin typeface="Arial"/>
                <a:ea typeface="Arial"/>
                <a:cs typeface="Arial"/>
              </a:defRPr>
            </a:defPPr>
            <a:lvl1pPr algn="l">
              <a:buNone/>
              <a:defRPr sz="2550" b="0">
                <a:solidFill>
                  <a:srgbClr val="162B3A"/>
                </a:solidFill>
                <a:latin typeface="Arial"/>
                <a:ea typeface="Arial"/>
                <a:cs typeface="Arial"/>
              </a:defRPr>
            </a:lvl1pPr>
            <a:lvl2pPr algn="l">
              <a:buNone/>
              <a:defRPr sz="2550" b="0">
                <a:solidFill>
                  <a:srgbClr val="162B3A"/>
                </a:solidFill>
                <a:latin typeface="Arial"/>
                <a:ea typeface="Arial"/>
                <a:cs typeface="Arial"/>
              </a:defRPr>
            </a:lvl2pPr>
            <a:lvl3pPr algn="l">
              <a:buNone/>
              <a:defRPr sz="2550" b="0">
                <a:solidFill>
                  <a:srgbClr val="162B3A"/>
                </a:solidFill>
                <a:latin typeface="Arial"/>
                <a:ea typeface="Arial"/>
                <a:cs typeface="Arial"/>
              </a:defRPr>
            </a:lvl3pPr>
            <a:lvl4pPr algn="l">
              <a:buNone/>
              <a:defRPr sz="2550" b="0">
                <a:solidFill>
                  <a:srgbClr val="162B3A"/>
                </a:solidFill>
                <a:latin typeface="Arial"/>
                <a:ea typeface="Arial"/>
                <a:cs typeface="Arial"/>
              </a:defRPr>
            </a:lvl4pPr>
            <a:lvl5pPr algn="l">
              <a:buNone/>
              <a:defRPr sz="2550" b="0">
                <a:solidFill>
                  <a:srgbClr val="162B3A"/>
                </a:solidFill>
                <a:latin typeface="Arial"/>
                <a:ea typeface="Arial"/>
                <a:cs typeface="Arial"/>
              </a:defRPr>
            </a:lvl5pPr>
            <a:lvl6pPr algn="l">
              <a:buNone/>
              <a:defRPr sz="2550" b="0">
                <a:solidFill>
                  <a:srgbClr val="162B3A"/>
                </a:solidFill>
                <a:latin typeface="Arial"/>
                <a:ea typeface="Arial"/>
                <a:cs typeface="Arial"/>
              </a:defRPr>
            </a:lvl6pPr>
            <a:lvl7pPr algn="l">
              <a:buNone/>
              <a:defRPr sz="2550" b="0">
                <a:solidFill>
                  <a:srgbClr val="162B3A"/>
                </a:solidFill>
                <a:latin typeface="Arial"/>
                <a:ea typeface="Arial"/>
                <a:cs typeface="Arial"/>
              </a:defRPr>
            </a:lvl7pPr>
            <a:lvl8pPr algn="l">
              <a:buNone/>
              <a:defRPr sz="2550" b="0">
                <a:solidFill>
                  <a:srgbClr val="162B3A"/>
                </a:solidFill>
                <a:latin typeface="Arial"/>
                <a:ea typeface="Arial"/>
                <a:cs typeface="Arial"/>
              </a:defRPr>
            </a:lvl8pPr>
            <a:lvl9pPr algn="l">
              <a:buNone/>
              <a:defRPr sz="2550" b="0">
                <a:solidFill>
                  <a:srgbClr val="162B3A"/>
                </a:solidFill>
                <a:latin typeface="Arial"/>
                <a:ea typeface="Arial"/>
                <a:cs typeface="Arial"/>
              </a:defRPr>
            </a:lvl9pPr>
          </a:lstStyle>
          <a:p xmlns:a="http://schemas.openxmlformats.org/drawingml/2006/main">
            <a:pPr algn="l">
              <a:buNone/>
              <a:defRPr sz="2550" b="0">
                <a:solidFill>
                  <a:srgbClr val="162B3A"/>
                </a:solidFill>
                <a:latin typeface="Arial"/>
                <a:ea typeface="Arial"/>
                <a:cs typeface="Arial"/>
              </a:defRPr>
            </a:pPr>
            <a:r>
              <a:rPr sz="2550" b="0">
                <a:solidFill>
                  <a:srgbClr val="162B3A"/>
                </a:solidFill>
                <a:latin typeface="Arial"/>
                <a:ea typeface="Arial"/>
                <a:cs typeface="Arial"/>
              </a:rPr>
              <a:t>4.37M input + 0.835M output tokens</a:t>
            </a:r>
          </a:p>
        </p:txBody>
      </p:sp>
      <p:sp>
        <p:nvSpPr>
          <p:cNvPr id="5" name="">
            <a:extLst xmlns:a="http://schemas.openxmlformats.org/drawingml/2006/main">
              <a:ext uri="{FF2B5EF4-FFF2-40B4-BE49-F238E27FC236}">
                <a16:creationId xmlns:a16="http://schemas.microsoft.com/office/drawing/2014/main" id="{0A691977-CE5D-443F-B582-453FB8A43570}"/>
              </a:ext>
            </a:extLst>
          </p:cNvPr>
          <p:cNvSpPr>
            <a:spLocks xmlns:a="http://schemas.openxmlformats.org/drawingml/2006/main" noGrp="1"/>
          </p:cNvSpPr>
          <p:nvPr/>
        </p:nvSpPr>
        <p:spPr>
          <a:xfrm xmlns:a="http://schemas.openxmlformats.org/drawingml/2006/main">
            <a:off x="609600" y="32099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574"/>
                </a:solidFill>
                <a:latin typeface="Arial"/>
                <a:ea typeface="Arial"/>
                <a:cs typeface="Arial"/>
              </a:defRPr>
            </a:defPPr>
            <a:lvl1pPr algn="l">
              <a:buNone/>
              <a:defRPr sz="1875" b="0">
                <a:solidFill>
                  <a:srgbClr val="536574"/>
                </a:solidFill>
                <a:latin typeface="Arial"/>
                <a:ea typeface="Arial"/>
                <a:cs typeface="Arial"/>
              </a:defRPr>
            </a:lvl1pPr>
            <a:lvl2pPr algn="l">
              <a:buNone/>
              <a:defRPr sz="1875" b="0">
                <a:solidFill>
                  <a:srgbClr val="536574"/>
                </a:solidFill>
                <a:latin typeface="Arial"/>
                <a:ea typeface="Arial"/>
                <a:cs typeface="Arial"/>
              </a:defRPr>
            </a:lvl2pPr>
            <a:lvl3pPr algn="l">
              <a:buNone/>
              <a:defRPr sz="1875" b="0">
                <a:solidFill>
                  <a:srgbClr val="536574"/>
                </a:solidFill>
                <a:latin typeface="Arial"/>
                <a:ea typeface="Arial"/>
                <a:cs typeface="Arial"/>
              </a:defRPr>
            </a:lvl3pPr>
            <a:lvl4pPr algn="l">
              <a:buNone/>
              <a:defRPr sz="1875" b="0">
                <a:solidFill>
                  <a:srgbClr val="536574"/>
                </a:solidFill>
                <a:latin typeface="Arial"/>
                <a:ea typeface="Arial"/>
                <a:cs typeface="Arial"/>
              </a:defRPr>
            </a:lvl4pPr>
            <a:lvl5pPr algn="l">
              <a:buNone/>
              <a:defRPr sz="1875" b="0">
                <a:solidFill>
                  <a:srgbClr val="536574"/>
                </a:solidFill>
                <a:latin typeface="Arial"/>
                <a:ea typeface="Arial"/>
                <a:cs typeface="Arial"/>
              </a:defRPr>
            </a:lvl5pPr>
            <a:lvl6pPr algn="l">
              <a:buNone/>
              <a:defRPr sz="1875" b="0">
                <a:solidFill>
                  <a:srgbClr val="536574"/>
                </a:solidFill>
                <a:latin typeface="Arial"/>
                <a:ea typeface="Arial"/>
                <a:cs typeface="Arial"/>
              </a:defRPr>
            </a:lvl6pPr>
            <a:lvl7pPr algn="l">
              <a:buNone/>
              <a:defRPr sz="1875" b="0">
                <a:solidFill>
                  <a:srgbClr val="536574"/>
                </a:solidFill>
                <a:latin typeface="Arial"/>
                <a:ea typeface="Arial"/>
                <a:cs typeface="Arial"/>
              </a:defRPr>
            </a:lvl7pPr>
            <a:lvl8pPr algn="l">
              <a:buNone/>
              <a:defRPr sz="1875" b="0">
                <a:solidFill>
                  <a:srgbClr val="536574"/>
                </a:solidFill>
                <a:latin typeface="Arial"/>
                <a:ea typeface="Arial"/>
                <a:cs typeface="Arial"/>
              </a:defRPr>
            </a:lvl8pPr>
            <a:lvl9pPr algn="l">
              <a:buNone/>
              <a:defRPr sz="1875" b="0">
                <a:solidFill>
                  <a:srgbClr val="536574"/>
                </a:solidFill>
                <a:latin typeface="Arial"/>
                <a:ea typeface="Arial"/>
                <a:cs typeface="Arial"/>
              </a:defRPr>
            </a:lvl9pPr>
          </a:lstStyle>
          <a:p xmlns:a="http://schemas.openxmlformats.org/drawingml/2006/main">
            <a:pPr algn="l">
              <a:buNone/>
              <a:defRPr sz="1875" b="0">
                <a:solidFill>
                  <a:srgbClr val="536574"/>
                </a:solidFill>
                <a:latin typeface="Arial"/>
                <a:ea typeface="Arial"/>
                <a:cs typeface="Arial"/>
              </a:defRPr>
            </a:pPr>
            <a:r>
              <a:rPr sz="1875" b="0">
                <a:solidFill>
                  <a:srgbClr val="536574"/>
                </a:solidFill>
                <a:latin typeface="Arial"/>
                <a:ea typeface="Arial"/>
                <a:cs typeface="Arial"/>
              </a:rPr>
              <a:t>Original four-arm batch + shuffled follow-up, excluding pilots.</a:t>
            </a:r>
          </a:p>
        </p:txBody>
      </p:sp>
      <p:sp>
        <p:nvSpPr>
          <p:cNvPr id="6" name="">
            <a:extLst xmlns:a="http://schemas.openxmlformats.org/drawingml/2006/main">
              <a:ext uri="{FF2B5EF4-FFF2-40B4-BE49-F238E27FC236}">
                <a16:creationId xmlns:a16="http://schemas.microsoft.com/office/drawing/2014/main" id="{6D3B40F2-81AB-445B-A129-62977D043001}"/>
              </a:ext>
            </a:extLst>
          </p:cNvPr>
          <p:cNvSpPr>
            <a:spLocks xmlns:a="http://schemas.openxmlformats.org/drawingml/2006/main" noGrp="1"/>
          </p:cNvSpPr>
          <p:nvPr/>
        </p:nvSpPr>
        <p:spPr>
          <a:xfrm xmlns:a="http://schemas.openxmlformats.org/drawingml/2006/main">
            <a:off x="609600" y="41433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2B3A"/>
                </a:solidFill>
                <a:latin typeface="Arial"/>
                <a:ea typeface="Arial"/>
                <a:cs typeface="Arial"/>
              </a:defRPr>
            </a:defPPr>
            <a:lvl1pPr algn="l">
              <a:buNone/>
              <a:defRPr sz="2400" b="1">
                <a:solidFill>
                  <a:srgbClr val="162B3A"/>
                </a:solidFill>
                <a:latin typeface="Arial"/>
                <a:ea typeface="Arial"/>
                <a:cs typeface="Arial"/>
              </a:defRPr>
            </a:lvl1pPr>
            <a:lvl2pPr algn="l">
              <a:buNone/>
              <a:defRPr sz="2400" b="1">
                <a:solidFill>
                  <a:srgbClr val="162B3A"/>
                </a:solidFill>
                <a:latin typeface="Arial"/>
                <a:ea typeface="Arial"/>
                <a:cs typeface="Arial"/>
              </a:defRPr>
            </a:lvl2pPr>
            <a:lvl3pPr algn="l">
              <a:buNone/>
              <a:defRPr sz="2400" b="1">
                <a:solidFill>
                  <a:srgbClr val="162B3A"/>
                </a:solidFill>
                <a:latin typeface="Arial"/>
                <a:ea typeface="Arial"/>
                <a:cs typeface="Arial"/>
              </a:defRPr>
            </a:lvl3pPr>
            <a:lvl4pPr algn="l">
              <a:buNone/>
              <a:defRPr sz="2400" b="1">
                <a:solidFill>
                  <a:srgbClr val="162B3A"/>
                </a:solidFill>
                <a:latin typeface="Arial"/>
                <a:ea typeface="Arial"/>
                <a:cs typeface="Arial"/>
              </a:defRPr>
            </a:lvl4pPr>
            <a:lvl5pPr algn="l">
              <a:buNone/>
              <a:defRPr sz="2400" b="1">
                <a:solidFill>
                  <a:srgbClr val="162B3A"/>
                </a:solidFill>
                <a:latin typeface="Arial"/>
                <a:ea typeface="Arial"/>
                <a:cs typeface="Arial"/>
              </a:defRPr>
            </a:lvl5pPr>
            <a:lvl6pPr algn="l">
              <a:buNone/>
              <a:defRPr sz="2400" b="1">
                <a:solidFill>
                  <a:srgbClr val="162B3A"/>
                </a:solidFill>
                <a:latin typeface="Arial"/>
                <a:ea typeface="Arial"/>
                <a:cs typeface="Arial"/>
              </a:defRPr>
            </a:lvl6pPr>
            <a:lvl7pPr algn="l">
              <a:buNone/>
              <a:defRPr sz="2400" b="1">
                <a:solidFill>
                  <a:srgbClr val="162B3A"/>
                </a:solidFill>
                <a:latin typeface="Arial"/>
                <a:ea typeface="Arial"/>
                <a:cs typeface="Arial"/>
              </a:defRPr>
            </a:lvl7pPr>
            <a:lvl8pPr algn="l">
              <a:buNone/>
              <a:defRPr sz="2400" b="1">
                <a:solidFill>
                  <a:srgbClr val="162B3A"/>
                </a:solidFill>
                <a:latin typeface="Arial"/>
                <a:ea typeface="Arial"/>
                <a:cs typeface="Arial"/>
              </a:defRPr>
            </a:lvl8pPr>
            <a:lvl9pPr algn="l">
              <a:buNone/>
              <a:defRPr sz="2400" b="1">
                <a:solidFill>
                  <a:srgbClr val="162B3A"/>
                </a:solidFill>
                <a:latin typeface="Arial"/>
                <a:ea typeface="Arial"/>
                <a:cs typeface="Arial"/>
              </a:defRPr>
            </a:lvl9pPr>
          </a:lstStyle>
          <a:p xmlns:a="http://schemas.openxmlformats.org/drawingml/2006/main">
            <a:pPr algn="l">
              <a:buNone/>
              <a:defRPr sz="2400" b="1">
                <a:solidFill>
                  <a:srgbClr val="162B3A"/>
                </a:solidFill>
                <a:latin typeface="Arial"/>
                <a:ea typeface="Arial"/>
                <a:cs typeface="Arial"/>
              </a:defRPr>
            </a:pPr>
            <a:r>
              <a:rPr sz="2400" b="1">
                <a:solidFill>
                  <a:srgbClr val="162B3A"/>
                </a:solidFill>
                <a:latin typeface="Arial"/>
                <a:ea typeface="Arial"/>
                <a:cs typeface="Arial"/>
              </a:rPr>
              <a:t>Agreed next study</a:t>
            </a:r>
          </a:p>
        </p:txBody>
      </p:sp>
      <p:sp>
        <p:nvSpPr>
          <p:cNvPr id="7" name="">
            <a:extLst xmlns:a="http://schemas.openxmlformats.org/drawingml/2006/main">
              <a:ext uri="{FF2B5EF4-FFF2-40B4-BE49-F238E27FC236}">
                <a16:creationId xmlns:a16="http://schemas.microsoft.com/office/drawing/2014/main" id="{EA0E7FE0-17BD-430C-BAAA-A0FD28795252}"/>
              </a:ext>
            </a:extLst>
          </p:cNvPr>
          <p:cNvSpPr>
            <a:spLocks xmlns:a="http://schemas.openxmlformats.org/drawingml/2006/main" noGrp="1"/>
          </p:cNvSpPr>
          <p:nvPr/>
        </p:nvSpPr>
        <p:spPr>
          <a:xfrm xmlns:a="http://schemas.openxmlformats.org/drawingml/2006/main">
            <a:off x="609600" y="4762500"/>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B3A"/>
                </a:solidFill>
                <a:latin typeface="Arial"/>
                <a:ea typeface="Arial"/>
                <a:cs typeface="Arial"/>
              </a:defRPr>
            </a:defPPr>
            <a:lvl1pPr algn="l">
              <a:buNone/>
              <a:defRPr sz="2175" b="0">
                <a:solidFill>
                  <a:srgbClr val="162B3A"/>
                </a:solidFill>
                <a:latin typeface="Arial"/>
                <a:ea typeface="Arial"/>
                <a:cs typeface="Arial"/>
              </a:defRPr>
            </a:lvl1pPr>
            <a:lvl2pPr algn="l">
              <a:buNone/>
              <a:defRPr sz="2175" b="0">
                <a:solidFill>
                  <a:srgbClr val="162B3A"/>
                </a:solidFill>
                <a:latin typeface="Arial"/>
                <a:ea typeface="Arial"/>
                <a:cs typeface="Arial"/>
              </a:defRPr>
            </a:lvl2pPr>
            <a:lvl3pPr algn="l">
              <a:buNone/>
              <a:defRPr sz="2175" b="0">
                <a:solidFill>
                  <a:srgbClr val="162B3A"/>
                </a:solidFill>
                <a:latin typeface="Arial"/>
                <a:ea typeface="Arial"/>
                <a:cs typeface="Arial"/>
              </a:defRPr>
            </a:lvl3pPr>
            <a:lvl4pPr algn="l">
              <a:buNone/>
              <a:defRPr sz="2175" b="0">
                <a:solidFill>
                  <a:srgbClr val="162B3A"/>
                </a:solidFill>
                <a:latin typeface="Arial"/>
                <a:ea typeface="Arial"/>
                <a:cs typeface="Arial"/>
              </a:defRPr>
            </a:lvl4pPr>
            <a:lvl5pPr algn="l">
              <a:buNone/>
              <a:defRPr sz="2175" b="0">
                <a:solidFill>
                  <a:srgbClr val="162B3A"/>
                </a:solidFill>
                <a:latin typeface="Arial"/>
                <a:ea typeface="Arial"/>
                <a:cs typeface="Arial"/>
              </a:defRPr>
            </a:lvl5pPr>
            <a:lvl6pPr algn="l">
              <a:buNone/>
              <a:defRPr sz="2175" b="0">
                <a:solidFill>
                  <a:srgbClr val="162B3A"/>
                </a:solidFill>
                <a:latin typeface="Arial"/>
                <a:ea typeface="Arial"/>
                <a:cs typeface="Arial"/>
              </a:defRPr>
            </a:lvl6pPr>
            <a:lvl7pPr algn="l">
              <a:buNone/>
              <a:defRPr sz="2175" b="0">
                <a:solidFill>
                  <a:srgbClr val="162B3A"/>
                </a:solidFill>
                <a:latin typeface="Arial"/>
                <a:ea typeface="Arial"/>
                <a:cs typeface="Arial"/>
              </a:defRPr>
            </a:lvl7pPr>
            <a:lvl8pPr algn="l">
              <a:buNone/>
              <a:defRPr sz="2175" b="0">
                <a:solidFill>
                  <a:srgbClr val="162B3A"/>
                </a:solidFill>
                <a:latin typeface="Arial"/>
                <a:ea typeface="Arial"/>
                <a:cs typeface="Arial"/>
              </a:defRPr>
            </a:lvl8pPr>
            <a:lvl9pPr algn="l">
              <a:buNone/>
              <a:defRPr sz="2175" b="0">
                <a:solidFill>
                  <a:srgbClr val="162B3A"/>
                </a:solidFill>
                <a:latin typeface="Arial"/>
                <a:ea typeface="Arial"/>
                <a:cs typeface="Arial"/>
              </a:defRPr>
            </a:lvl9pPr>
          </a:lstStyle>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Five arms, 30 repeats, three environments.</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Smoke batch approved: about 30 calls.</a:t>
            </a:r>
          </a:p>
          <a:p xmlns:a="http://schemas.openxmlformats.org/drawingml/2006/main">
            <a:pPr algn="l">
              <a:buNone/>
              <a:defRPr sz="2175" b="0">
                <a:solidFill>
                  <a:srgbClr val="162B3A"/>
                </a:solidFill>
                <a:latin typeface="Arial"/>
                <a:ea typeface="Arial"/>
                <a:cs typeface="Arial"/>
              </a:defRPr>
            </a:pPr>
            <a:r>
              <a:rPr sz="2175" b="0">
                <a:solidFill>
                  <a:srgbClr val="162B3A"/>
                </a:solidFill>
                <a:latin typeface="Arial"/>
                <a:ea typeface="Arial"/>
                <a:cs typeface="Arial"/>
              </a:rPr>
              <a:t>Production: 2,790 calls, pending cost review.</a:t>
            </a:r>
          </a:p>
        </p:txBody>
      </p:sp>
      <p:sp>
        <p:nvSpPr>
          <p:cNvPr id="8" name="">
            <a:extLst xmlns:a="http://schemas.openxmlformats.org/drawingml/2006/main">
              <a:ext uri="{FF2B5EF4-FFF2-40B4-BE49-F238E27FC236}">
                <a16:creationId xmlns:a16="http://schemas.microsoft.com/office/drawing/2014/main" id="{7177E858-BBDC-48F2-A960-78CEF06FF0B1}"/>
              </a:ext>
            </a:extLst>
          </p:cNvPr>
          <p:cNvSpPr>
            <a:spLocks xmlns:a="http://schemas.openxmlformats.org/drawingml/2006/main" noGrp="1"/>
          </p:cNvSpPr>
          <p:nvPr/>
        </p:nvSpPr>
        <p:spPr>
          <a:xfrm xmlns:a="http://schemas.openxmlformats.org/drawingml/2006/main">
            <a:off x="609600" y="6010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574"/>
                </a:solidFill>
                <a:latin typeface="Arial"/>
                <a:ea typeface="Arial"/>
                <a:cs typeface="Arial"/>
              </a:defRPr>
            </a:defPPr>
            <a:lvl1pPr algn="l">
              <a:buNone/>
              <a:defRPr sz="1425" b="0">
                <a:solidFill>
                  <a:srgbClr val="536574"/>
                </a:solidFill>
                <a:latin typeface="Arial"/>
                <a:ea typeface="Arial"/>
                <a:cs typeface="Arial"/>
              </a:defRPr>
            </a:lvl1pPr>
            <a:lvl2pPr algn="l">
              <a:buNone/>
              <a:defRPr sz="1425" b="0">
                <a:solidFill>
                  <a:srgbClr val="536574"/>
                </a:solidFill>
                <a:latin typeface="Arial"/>
                <a:ea typeface="Arial"/>
                <a:cs typeface="Arial"/>
              </a:defRPr>
            </a:lvl2pPr>
            <a:lvl3pPr algn="l">
              <a:buNone/>
              <a:defRPr sz="1425" b="0">
                <a:solidFill>
                  <a:srgbClr val="536574"/>
                </a:solidFill>
                <a:latin typeface="Arial"/>
                <a:ea typeface="Arial"/>
                <a:cs typeface="Arial"/>
              </a:defRPr>
            </a:lvl3pPr>
            <a:lvl4pPr algn="l">
              <a:buNone/>
              <a:defRPr sz="1425" b="0">
                <a:solidFill>
                  <a:srgbClr val="536574"/>
                </a:solidFill>
                <a:latin typeface="Arial"/>
                <a:ea typeface="Arial"/>
                <a:cs typeface="Arial"/>
              </a:defRPr>
            </a:lvl4pPr>
            <a:lvl5pPr algn="l">
              <a:buNone/>
              <a:defRPr sz="1425" b="0">
                <a:solidFill>
                  <a:srgbClr val="536574"/>
                </a:solidFill>
                <a:latin typeface="Arial"/>
                <a:ea typeface="Arial"/>
                <a:cs typeface="Arial"/>
              </a:defRPr>
            </a:lvl5pPr>
            <a:lvl6pPr algn="l">
              <a:buNone/>
              <a:defRPr sz="1425" b="0">
                <a:solidFill>
                  <a:srgbClr val="536574"/>
                </a:solidFill>
                <a:latin typeface="Arial"/>
                <a:ea typeface="Arial"/>
                <a:cs typeface="Arial"/>
              </a:defRPr>
            </a:lvl6pPr>
            <a:lvl7pPr algn="l">
              <a:buNone/>
              <a:defRPr sz="1425" b="0">
                <a:solidFill>
                  <a:srgbClr val="536574"/>
                </a:solidFill>
                <a:latin typeface="Arial"/>
                <a:ea typeface="Arial"/>
                <a:cs typeface="Arial"/>
              </a:defRPr>
            </a:lvl7pPr>
            <a:lvl8pPr algn="l">
              <a:buNone/>
              <a:defRPr sz="1425" b="0">
                <a:solidFill>
                  <a:srgbClr val="536574"/>
                </a:solidFill>
                <a:latin typeface="Arial"/>
                <a:ea typeface="Arial"/>
                <a:cs typeface="Arial"/>
              </a:defRPr>
            </a:lvl8pPr>
            <a:lvl9pPr algn="l">
              <a:buNone/>
              <a:defRPr sz="1425" b="0">
                <a:solidFill>
                  <a:srgbClr val="536574"/>
                </a:solidFill>
                <a:latin typeface="Arial"/>
                <a:ea typeface="Arial"/>
                <a:cs typeface="Arial"/>
              </a:defRPr>
            </a:lvl9pPr>
          </a:lstStyle>
          <a:p xmlns:a="http://schemas.openxmlformats.org/drawingml/2006/main">
            <a:pPr algn="l">
              <a:buNone/>
              <a:defRPr sz="1425" b="0">
                <a:solidFill>
                  <a:srgbClr val="536574"/>
                </a:solidFill>
                <a:latin typeface="Arial"/>
                <a:ea typeface="Arial"/>
                <a:cs typeface="Arial"/>
              </a:defRPr>
            </a:pPr>
            <a:r>
              <a:rPr sz="1425" b="0">
                <a:solidFill>
                  <a:srgbClr val="536574"/>
                </a:solidFill>
                <a:latin typeface="Arial"/>
                <a:ea typeface="Arial"/>
                <a:cs typeface="Arial"/>
              </a:rPr>
              <a:t>Adem will report measured usage and projected production costs. Account billing remains unverified.</a:t>
            </a:r>
          </a:p>
        </p:txBody>
      </p:sp>
    </p:spTree>
    <p:extLst>
      <p:ext uri="{BB962C8B-B14F-4D97-AF65-F5344CB8AC3E}">
        <p14:creationId xmlns:p14="http://schemas.microsoft.com/office/powerpoint/2010/main" val="585206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2026-10-21T16:02:17.0670000Z</dcterms:created>
  <dcterms:modified xsi:type="dcterms:W3CDTF">2026-10-21T16:02:17.0670000Z</dcterms:modified>
</coreProperties>
</file>